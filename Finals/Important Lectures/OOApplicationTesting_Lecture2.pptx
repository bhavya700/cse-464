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475" r:id="rId3"/>
    <p:sldId id="462" r:id="rId4"/>
    <p:sldId id="463" r:id="rId5"/>
    <p:sldId id="464" r:id="rId6"/>
    <p:sldId id="465" r:id="rId7"/>
    <p:sldId id="466" r:id="rId8"/>
    <p:sldId id="476" r:id="rId9"/>
    <p:sldId id="467" r:id="rId10"/>
    <p:sldId id="477" r:id="rId11"/>
    <p:sldId id="468" r:id="rId12"/>
    <p:sldId id="478" r:id="rId13"/>
    <p:sldId id="469" r:id="rId14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Testing Object Oriented Applications </a:t>
            </a:r>
            <a:r>
              <a:rPr lang="en-US" b="1" dirty="0">
                <a:solidFill>
                  <a:srgbClr val="000099"/>
                </a:solidFill>
              </a:rPr>
              <a:t>Janaka Balasooriya</a:t>
            </a:r>
          </a:p>
        </p:txBody>
      </p:sp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15"/>
            <a:ext cx="8229600" cy="436485"/>
          </a:xfrm>
        </p:spPr>
        <p:txBody>
          <a:bodyPr>
            <a:noAutofit/>
          </a:bodyPr>
          <a:lstStyle/>
          <a:p>
            <a:r>
              <a:rPr lang="en-US" sz="2400" b="1" dirty="0"/>
              <a:t>How do we Test This Application – Integration Testing?</a:t>
            </a:r>
          </a:p>
        </p:txBody>
      </p:sp>
      <p:sp>
        <p:nvSpPr>
          <p:cNvPr id="40965" name="Footer Placeholder 20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charset="0"/>
              </a:rPr>
              <a:t>Copyright © 2012 Pearson Education, Inc.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10" y="533400"/>
            <a:ext cx="7961790" cy="560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0600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Integration Testing : A Quick Review</a:t>
            </a:r>
          </a:p>
        </p:txBody>
      </p:sp>
    </p:spTree>
    <p:extLst>
      <p:ext uri="{BB962C8B-B14F-4D97-AF65-F5344CB8AC3E}">
        <p14:creationId xmlns:p14="http://schemas.microsoft.com/office/powerpoint/2010/main" val="6294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EC615CC-7117-4691-9294-AA9C123704FD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582613" y="387550"/>
            <a:ext cx="8158162" cy="646509"/>
          </a:xfrm>
          <a:noFill/>
        </p:spPr>
        <p:txBody>
          <a:bodyPr lIns="90487" tIns="44450" rIns="90487" bIns="44450">
            <a:normAutofit fontScale="90000"/>
          </a:bodyPr>
          <a:lstStyle/>
          <a:p>
            <a:pPr eaLnBrk="1" hangingPunct="1"/>
            <a:r>
              <a:rPr lang="en-US"/>
              <a:t>Integration Testing Strategies</a:t>
            </a:r>
          </a:p>
        </p:txBody>
      </p:sp>
      <p:pic>
        <p:nvPicPr>
          <p:cNvPr id="3076" name="Picture 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614" y="3877271"/>
            <a:ext cx="4594225" cy="2436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684" name="Rectangle 4"/>
          <p:cNvSpPr>
            <a:spLocks noChangeArrowheads="1"/>
          </p:cNvSpPr>
          <p:nvPr/>
        </p:nvSpPr>
        <p:spPr bwMode="auto">
          <a:xfrm>
            <a:off x="1539875" y="2386013"/>
            <a:ext cx="6509794" cy="11977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Options:</a:t>
            </a:r>
          </a:p>
          <a:p>
            <a:pPr lvl="1" eaLnBrk="0" hangingPunct="0">
              <a:defRPr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•	the “big bang” approach</a:t>
            </a:r>
          </a:p>
          <a:p>
            <a:pPr lvl="1" eaLnBrk="0" hangingPunct="0">
              <a:defRPr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•	an incremental construction strategy</a:t>
            </a: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198813" y="1244887"/>
            <a:ext cx="89178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Integration testing is a systematic technique for constructing the software architecture</a:t>
            </a:r>
          </a:p>
          <a:p>
            <a:pPr eaLnBrk="1" hangingPunct="1"/>
            <a:r>
              <a:rPr lang="en-US" dirty="0"/>
              <a:t> while at the same time conducting tests to uncover errors associated with interfacing.</a:t>
            </a:r>
          </a:p>
        </p:txBody>
      </p:sp>
    </p:spTree>
    <p:extLst>
      <p:ext uri="{BB962C8B-B14F-4D97-AF65-F5344CB8AC3E}">
        <p14:creationId xmlns:p14="http://schemas.microsoft.com/office/powerpoint/2010/main" val="237754593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43764A5-DBA1-4607-9702-AAFB22A59423}" type="slidenum">
              <a:rPr lang="en-US" smtClean="0"/>
              <a:pPr eaLnBrk="1" hangingPunct="1"/>
              <a:t>5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"/>
            <a:ext cx="8229600" cy="932259"/>
          </a:xfrm>
        </p:spPr>
        <p:txBody>
          <a:bodyPr/>
          <a:lstStyle/>
          <a:p>
            <a:pPr eaLnBrk="1" hangingPunct="1"/>
            <a:r>
              <a:rPr lang="en-US"/>
              <a:t>Incremental Integration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989410"/>
            <a:ext cx="8229600" cy="4525566"/>
          </a:xfrm>
        </p:spPr>
        <p:txBody>
          <a:bodyPr/>
          <a:lstStyle/>
          <a:p>
            <a:pPr eaLnBrk="1" hangingPunct="1"/>
            <a:r>
              <a:rPr lang="en-US"/>
              <a:t>The program is constructed and tested in small increments, where errors are easier to isolate and correct. </a:t>
            </a:r>
          </a:p>
          <a:p>
            <a:pPr eaLnBrk="1" hangingPunct="1">
              <a:buFontTx/>
              <a:buNone/>
            </a:pPr>
            <a:r>
              <a:rPr lang="en-US"/>
              <a:t>Three main approaches:</a:t>
            </a:r>
          </a:p>
          <a:p>
            <a:pPr eaLnBrk="1" hangingPunct="1"/>
            <a:r>
              <a:rPr lang="en-US"/>
              <a:t>Top-down </a:t>
            </a:r>
          </a:p>
          <a:p>
            <a:pPr eaLnBrk="1" hangingPunct="1"/>
            <a:r>
              <a:rPr lang="en-US"/>
              <a:t>Bottom-up</a:t>
            </a:r>
          </a:p>
          <a:p>
            <a:pPr eaLnBrk="1" hangingPunct="1"/>
            <a:r>
              <a:rPr lang="en-US"/>
              <a:t>Sandwich </a:t>
            </a:r>
          </a:p>
        </p:txBody>
      </p:sp>
    </p:spTree>
    <p:extLst>
      <p:ext uri="{BB962C8B-B14F-4D97-AF65-F5344CB8AC3E}">
        <p14:creationId xmlns:p14="http://schemas.microsoft.com/office/powerpoint/2010/main" val="2135847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9077E74-FC82-47CC-B5BB-733AA34E3ED7}" type="slidenum">
              <a:rPr lang="en-US" smtClean="0"/>
              <a:pPr eaLnBrk="1" hangingPunct="1"/>
              <a:t>6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597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Top Down Integration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96604"/>
            <a:ext cx="8229600" cy="4947047"/>
          </a:xfrm>
        </p:spPr>
        <p:txBody>
          <a:bodyPr/>
          <a:lstStyle/>
          <a:p>
            <a:pPr eaLnBrk="1" hangingPunct="1"/>
            <a:r>
              <a:rPr lang="en-US" sz="2800"/>
              <a:t>Top Down Integration is an </a:t>
            </a:r>
            <a:r>
              <a:rPr lang="en-US" sz="2800" b="1">
                <a:solidFill>
                  <a:srgbClr val="FF0000"/>
                </a:solidFill>
              </a:rPr>
              <a:t>incremental approach</a:t>
            </a:r>
            <a:r>
              <a:rPr lang="en-US" sz="2800"/>
              <a:t> to construction of the software architecture. </a:t>
            </a:r>
          </a:p>
          <a:p>
            <a:pPr eaLnBrk="1" hangingPunct="1"/>
            <a:r>
              <a:rPr lang="en-US" sz="2800"/>
              <a:t>Modules are integrated by moving downward through the control hierarchy, beginning with the main control module (main program.)</a:t>
            </a:r>
          </a:p>
          <a:p>
            <a:pPr eaLnBrk="1" hangingPunct="1"/>
            <a:r>
              <a:rPr lang="en-US" sz="2800"/>
              <a:t>Modules subordinate to the main control module are incorporated into the structure in either a depth-first or breadth-first manner.</a:t>
            </a:r>
          </a:p>
        </p:txBody>
      </p:sp>
    </p:spTree>
    <p:extLst>
      <p:ext uri="{BB962C8B-B14F-4D97-AF65-F5344CB8AC3E}">
        <p14:creationId xmlns:p14="http://schemas.microsoft.com/office/powerpoint/2010/main" val="1245146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0F99A1E-C132-49B0-A6BF-49A4CCAB8582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439864" y="510778"/>
            <a:ext cx="6511925" cy="301824"/>
          </a:xfrm>
          <a:noFill/>
        </p:spPr>
        <p:txBody>
          <a:bodyPr lIns="90487" tIns="44450" rIns="90487" bIns="44450">
            <a:normAutofit fontScale="90000"/>
          </a:bodyPr>
          <a:lstStyle/>
          <a:p>
            <a:pPr eaLnBrk="1" hangingPunct="1"/>
            <a:r>
              <a:rPr lang="en-US"/>
              <a:t>Top Down Integration</a:t>
            </a: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3911600" y="1528763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3162300" y="2614613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2400300" y="3714750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1917700" y="4800600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Rectangle 7"/>
          <p:cNvSpPr>
            <a:spLocks noChangeArrowheads="1"/>
          </p:cNvSpPr>
          <p:nvPr/>
        </p:nvSpPr>
        <p:spPr bwMode="auto">
          <a:xfrm>
            <a:off x="2819400" y="4800600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Rectangle 8"/>
          <p:cNvSpPr>
            <a:spLocks noChangeArrowheads="1"/>
          </p:cNvSpPr>
          <p:nvPr/>
        </p:nvSpPr>
        <p:spPr bwMode="auto">
          <a:xfrm>
            <a:off x="4025900" y="2614613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Rectangle 9"/>
          <p:cNvSpPr>
            <a:spLocks noChangeArrowheads="1"/>
          </p:cNvSpPr>
          <p:nvPr/>
        </p:nvSpPr>
        <p:spPr bwMode="auto">
          <a:xfrm>
            <a:off x="4876800" y="2614613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Line 10"/>
          <p:cNvSpPr>
            <a:spLocks noChangeShapeType="1"/>
          </p:cNvSpPr>
          <p:nvPr/>
        </p:nvSpPr>
        <p:spPr bwMode="auto">
          <a:xfrm>
            <a:off x="2730500" y="4271963"/>
            <a:ext cx="3810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Line 11"/>
          <p:cNvSpPr>
            <a:spLocks noChangeShapeType="1"/>
          </p:cNvSpPr>
          <p:nvPr/>
        </p:nvSpPr>
        <p:spPr bwMode="auto">
          <a:xfrm>
            <a:off x="4279900" y="2085975"/>
            <a:ext cx="38100" cy="528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7" name="Line 12"/>
          <p:cNvSpPr>
            <a:spLocks noChangeShapeType="1"/>
          </p:cNvSpPr>
          <p:nvPr/>
        </p:nvSpPr>
        <p:spPr bwMode="auto">
          <a:xfrm>
            <a:off x="4254500" y="2114550"/>
            <a:ext cx="9779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717" name="Rectangle 13"/>
          <p:cNvSpPr>
            <a:spLocks noChangeArrowheads="1"/>
          </p:cNvSpPr>
          <p:nvPr/>
        </p:nvSpPr>
        <p:spPr bwMode="auto">
          <a:xfrm>
            <a:off x="5014914" y="1703784"/>
            <a:ext cx="3016851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top module is tested with </a:t>
            </a:r>
          </a:p>
        </p:txBody>
      </p:sp>
      <p:sp>
        <p:nvSpPr>
          <p:cNvPr id="840718" name="Rectangle 14"/>
          <p:cNvSpPr>
            <a:spLocks noChangeArrowheads="1"/>
          </p:cNvSpPr>
          <p:nvPr/>
        </p:nvSpPr>
        <p:spPr bwMode="auto">
          <a:xfrm>
            <a:off x="5014914" y="1960960"/>
            <a:ext cx="79829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stubs</a:t>
            </a:r>
          </a:p>
        </p:txBody>
      </p:sp>
      <p:sp>
        <p:nvSpPr>
          <p:cNvPr id="840719" name="Rectangle 15"/>
          <p:cNvSpPr>
            <a:spLocks noChangeArrowheads="1"/>
          </p:cNvSpPr>
          <p:nvPr/>
        </p:nvSpPr>
        <p:spPr bwMode="auto">
          <a:xfrm>
            <a:off x="3694114" y="3318272"/>
            <a:ext cx="302967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stubs are replaced one at </a:t>
            </a:r>
          </a:p>
        </p:txBody>
      </p:sp>
      <p:sp>
        <p:nvSpPr>
          <p:cNvPr id="840720" name="Rectangle 16"/>
          <p:cNvSpPr>
            <a:spLocks noChangeArrowheads="1"/>
          </p:cNvSpPr>
          <p:nvPr/>
        </p:nvSpPr>
        <p:spPr bwMode="auto">
          <a:xfrm>
            <a:off x="3694114" y="3575447"/>
            <a:ext cx="232435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a time, "depth first"</a:t>
            </a:r>
          </a:p>
        </p:txBody>
      </p:sp>
      <p:sp>
        <p:nvSpPr>
          <p:cNvPr id="840721" name="Rectangle 17"/>
          <p:cNvSpPr>
            <a:spLocks noChangeArrowheads="1"/>
          </p:cNvSpPr>
          <p:nvPr/>
        </p:nvSpPr>
        <p:spPr bwMode="auto">
          <a:xfrm>
            <a:off x="3668714" y="4232672"/>
            <a:ext cx="3683700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as new modules are integrated, </a:t>
            </a:r>
          </a:p>
        </p:txBody>
      </p:sp>
      <p:sp>
        <p:nvSpPr>
          <p:cNvPr id="840722" name="Rectangle 18"/>
          <p:cNvSpPr>
            <a:spLocks noChangeArrowheads="1"/>
          </p:cNvSpPr>
          <p:nvPr/>
        </p:nvSpPr>
        <p:spPr bwMode="auto">
          <a:xfrm>
            <a:off x="3668714" y="4489847"/>
            <a:ext cx="3465691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some subset of tests is re-run</a:t>
            </a:r>
          </a:p>
        </p:txBody>
      </p:sp>
      <p:sp>
        <p:nvSpPr>
          <p:cNvPr id="840723" name="Rectangle 19"/>
          <p:cNvSpPr>
            <a:spLocks noChangeArrowheads="1"/>
          </p:cNvSpPr>
          <p:nvPr/>
        </p:nvSpPr>
        <p:spPr bwMode="auto">
          <a:xfrm>
            <a:off x="4138614" y="1560910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A</a:t>
            </a:r>
          </a:p>
        </p:txBody>
      </p:sp>
      <p:sp>
        <p:nvSpPr>
          <p:cNvPr id="840724" name="Rectangle 20"/>
          <p:cNvSpPr>
            <a:spLocks noChangeArrowheads="1"/>
          </p:cNvSpPr>
          <p:nvPr/>
        </p:nvSpPr>
        <p:spPr bwMode="auto">
          <a:xfrm>
            <a:off x="3351214" y="2703910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B</a:t>
            </a:r>
          </a:p>
        </p:txBody>
      </p:sp>
      <p:sp>
        <p:nvSpPr>
          <p:cNvPr id="840725" name="Rectangle 21"/>
          <p:cNvSpPr>
            <a:spLocks noChangeArrowheads="1"/>
          </p:cNvSpPr>
          <p:nvPr/>
        </p:nvSpPr>
        <p:spPr bwMode="auto">
          <a:xfrm>
            <a:off x="2627314" y="3804047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C</a:t>
            </a:r>
          </a:p>
        </p:txBody>
      </p:sp>
      <p:sp>
        <p:nvSpPr>
          <p:cNvPr id="840726" name="Rectangle 22"/>
          <p:cNvSpPr>
            <a:spLocks noChangeArrowheads="1"/>
          </p:cNvSpPr>
          <p:nvPr/>
        </p:nvSpPr>
        <p:spPr bwMode="auto">
          <a:xfrm>
            <a:off x="2093914" y="4847035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D</a:t>
            </a:r>
          </a:p>
        </p:txBody>
      </p:sp>
      <p:sp>
        <p:nvSpPr>
          <p:cNvPr id="840727" name="Rectangle 23"/>
          <p:cNvSpPr>
            <a:spLocks noChangeArrowheads="1"/>
          </p:cNvSpPr>
          <p:nvPr/>
        </p:nvSpPr>
        <p:spPr bwMode="auto">
          <a:xfrm>
            <a:off x="3021013" y="4847035"/>
            <a:ext cx="336630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E</a:t>
            </a:r>
          </a:p>
        </p:txBody>
      </p:sp>
      <p:sp>
        <p:nvSpPr>
          <p:cNvPr id="840728" name="Rectangle 24"/>
          <p:cNvSpPr>
            <a:spLocks noChangeArrowheads="1"/>
          </p:cNvSpPr>
          <p:nvPr/>
        </p:nvSpPr>
        <p:spPr bwMode="auto">
          <a:xfrm>
            <a:off x="4214814" y="2718197"/>
            <a:ext cx="323806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F</a:t>
            </a:r>
          </a:p>
        </p:txBody>
      </p:sp>
      <p:sp>
        <p:nvSpPr>
          <p:cNvPr id="840729" name="Rectangle 25"/>
          <p:cNvSpPr>
            <a:spLocks noChangeArrowheads="1"/>
          </p:cNvSpPr>
          <p:nvPr/>
        </p:nvSpPr>
        <p:spPr bwMode="auto">
          <a:xfrm>
            <a:off x="5040314" y="2718197"/>
            <a:ext cx="362278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G</a:t>
            </a:r>
          </a:p>
        </p:txBody>
      </p:sp>
      <p:sp>
        <p:nvSpPr>
          <p:cNvPr id="6171" name="Line 26"/>
          <p:cNvSpPr>
            <a:spLocks noChangeShapeType="1"/>
          </p:cNvSpPr>
          <p:nvPr/>
        </p:nvSpPr>
        <p:spPr bwMode="auto">
          <a:xfrm flipH="1">
            <a:off x="3530600" y="2100263"/>
            <a:ext cx="7239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2" name="Line 27"/>
          <p:cNvSpPr>
            <a:spLocks noChangeShapeType="1"/>
          </p:cNvSpPr>
          <p:nvPr/>
        </p:nvSpPr>
        <p:spPr bwMode="auto">
          <a:xfrm flipH="1">
            <a:off x="2755900" y="3186113"/>
            <a:ext cx="7239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3" name="Line 28"/>
          <p:cNvSpPr>
            <a:spLocks noChangeShapeType="1"/>
          </p:cNvSpPr>
          <p:nvPr/>
        </p:nvSpPr>
        <p:spPr bwMode="auto">
          <a:xfrm flipH="1">
            <a:off x="2273300" y="4286250"/>
            <a:ext cx="4572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" name="Text Box 30"/>
          <p:cNvSpPr txBox="1">
            <a:spLocks noChangeArrowheads="1"/>
          </p:cNvSpPr>
          <p:nvPr/>
        </p:nvSpPr>
        <p:spPr bwMode="auto">
          <a:xfrm>
            <a:off x="177800" y="5497116"/>
            <a:ext cx="476297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Depth-First Integration – A, B, C, D, E, F, G</a:t>
            </a:r>
          </a:p>
          <a:p>
            <a:pPr eaLnBrk="1" hangingPunct="1"/>
            <a:r>
              <a:rPr lang="en-US"/>
              <a:t>Breadth First Integration – A, B, F, G, C, D, E</a:t>
            </a:r>
          </a:p>
        </p:txBody>
      </p:sp>
    </p:spTree>
    <p:extLst>
      <p:ext uri="{BB962C8B-B14F-4D97-AF65-F5344CB8AC3E}">
        <p14:creationId xmlns:p14="http://schemas.microsoft.com/office/powerpoint/2010/main" val="101762259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4B6D-4AAD-47AD-A25E-EC6AC6DB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Top down Approach</a:t>
            </a:r>
          </a:p>
        </p:txBody>
      </p:sp>
    </p:spTree>
    <p:extLst>
      <p:ext uri="{BB962C8B-B14F-4D97-AF65-F5344CB8AC3E}">
        <p14:creationId xmlns:p14="http://schemas.microsoft.com/office/powerpoint/2010/main" val="407158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E64025-6C6F-4704-853A-55AB15FF0137}" type="slidenum">
              <a:rPr lang="en-US" smtClean="0"/>
              <a:pPr eaLnBrk="1" hangingPunct="1"/>
              <a:t>9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279525" y="475059"/>
            <a:ext cx="6891338" cy="301824"/>
          </a:xfrm>
          <a:noFill/>
        </p:spPr>
        <p:txBody>
          <a:bodyPr lIns="90487" tIns="44450" rIns="90487" bIns="44450">
            <a:normAutofit fontScale="90000"/>
          </a:bodyPr>
          <a:lstStyle/>
          <a:p>
            <a:pPr eaLnBrk="1" hangingPunct="1"/>
            <a:r>
              <a:rPr lang="en-US"/>
              <a:t>Bottom-Up Integration</a:t>
            </a:r>
          </a:p>
        </p:txBody>
      </p:sp>
      <p:sp>
        <p:nvSpPr>
          <p:cNvPr id="12292" name="Freeform 3"/>
          <p:cNvSpPr>
            <a:spLocks/>
          </p:cNvSpPr>
          <p:nvPr/>
        </p:nvSpPr>
        <p:spPr bwMode="auto">
          <a:xfrm>
            <a:off x="1790700" y="3157538"/>
            <a:ext cx="2020888" cy="2416374"/>
          </a:xfrm>
          <a:custGeom>
            <a:avLst/>
            <a:gdLst>
              <a:gd name="T0" fmla="*/ 2147483647 w 1273"/>
              <a:gd name="T1" fmla="*/ 2147483647 h 1353"/>
              <a:gd name="T2" fmla="*/ 2147483647 w 1273"/>
              <a:gd name="T3" fmla="*/ 2147483647 h 1353"/>
              <a:gd name="T4" fmla="*/ 2147483647 w 1273"/>
              <a:gd name="T5" fmla="*/ 2147483647 h 1353"/>
              <a:gd name="T6" fmla="*/ 2147483647 w 1273"/>
              <a:gd name="T7" fmla="*/ 2147483647 h 1353"/>
              <a:gd name="T8" fmla="*/ 2147483647 w 1273"/>
              <a:gd name="T9" fmla="*/ 2147483647 h 1353"/>
              <a:gd name="T10" fmla="*/ 2147483647 w 1273"/>
              <a:gd name="T11" fmla="*/ 2147483647 h 1353"/>
              <a:gd name="T12" fmla="*/ 2147483647 w 1273"/>
              <a:gd name="T13" fmla="*/ 0 h 1353"/>
              <a:gd name="T14" fmla="*/ 2147483647 w 1273"/>
              <a:gd name="T15" fmla="*/ 0 h 1353"/>
              <a:gd name="T16" fmla="*/ 2147483647 w 1273"/>
              <a:gd name="T17" fmla="*/ 2147483647 h 1353"/>
              <a:gd name="T18" fmla="*/ 2147483647 w 1273"/>
              <a:gd name="T19" fmla="*/ 2147483647 h 1353"/>
              <a:gd name="T20" fmla="*/ 2147483647 w 1273"/>
              <a:gd name="T21" fmla="*/ 2147483647 h 1353"/>
              <a:gd name="T22" fmla="*/ 2147483647 w 1273"/>
              <a:gd name="T23" fmla="*/ 2147483647 h 1353"/>
              <a:gd name="T24" fmla="*/ 2147483647 w 1273"/>
              <a:gd name="T25" fmla="*/ 2147483647 h 1353"/>
              <a:gd name="T26" fmla="*/ 2147483647 w 1273"/>
              <a:gd name="T27" fmla="*/ 2147483647 h 1353"/>
              <a:gd name="T28" fmla="*/ 2147483647 w 1273"/>
              <a:gd name="T29" fmla="*/ 2147483647 h 1353"/>
              <a:gd name="T30" fmla="*/ 2147483647 w 1273"/>
              <a:gd name="T31" fmla="*/ 2147483647 h 1353"/>
              <a:gd name="T32" fmla="*/ 2147483647 w 1273"/>
              <a:gd name="T33" fmla="*/ 2147483647 h 1353"/>
              <a:gd name="T34" fmla="*/ 2147483647 w 1273"/>
              <a:gd name="T35" fmla="*/ 2147483647 h 1353"/>
              <a:gd name="T36" fmla="*/ 2147483647 w 1273"/>
              <a:gd name="T37" fmla="*/ 2147483647 h 1353"/>
              <a:gd name="T38" fmla="*/ 2147483647 w 1273"/>
              <a:gd name="T39" fmla="*/ 2147483647 h 1353"/>
              <a:gd name="T40" fmla="*/ 2147483647 w 1273"/>
              <a:gd name="T41" fmla="*/ 2147483647 h 1353"/>
              <a:gd name="T42" fmla="*/ 2147483647 w 1273"/>
              <a:gd name="T43" fmla="*/ 2147483647 h 1353"/>
              <a:gd name="T44" fmla="*/ 2147483647 w 1273"/>
              <a:gd name="T45" fmla="*/ 2147483647 h 1353"/>
              <a:gd name="T46" fmla="*/ 2147483647 w 1273"/>
              <a:gd name="T47" fmla="*/ 2147483647 h 1353"/>
              <a:gd name="T48" fmla="*/ 2147483647 w 1273"/>
              <a:gd name="T49" fmla="*/ 2147483647 h 1353"/>
              <a:gd name="T50" fmla="*/ 0 w 1273"/>
              <a:gd name="T51" fmla="*/ 2147483647 h 1353"/>
              <a:gd name="T52" fmla="*/ 0 w 1273"/>
              <a:gd name="T53" fmla="*/ 2147483647 h 1353"/>
              <a:gd name="T54" fmla="*/ 2147483647 w 1273"/>
              <a:gd name="T55" fmla="*/ 2147483647 h 1353"/>
              <a:gd name="T56" fmla="*/ 2147483647 w 1273"/>
              <a:gd name="T57" fmla="*/ 2147483647 h 1353"/>
              <a:gd name="T58" fmla="*/ 2147483647 w 1273"/>
              <a:gd name="T59" fmla="*/ 2147483647 h 1353"/>
              <a:gd name="T60" fmla="*/ 2147483647 w 1273"/>
              <a:gd name="T61" fmla="*/ 2147483647 h 1353"/>
              <a:gd name="T62" fmla="*/ 2147483647 w 1273"/>
              <a:gd name="T63" fmla="*/ 2147483647 h 1353"/>
              <a:gd name="T64" fmla="*/ 2147483647 w 1273"/>
              <a:gd name="T65" fmla="*/ 2147483647 h 1353"/>
              <a:gd name="T66" fmla="*/ 2147483647 w 1273"/>
              <a:gd name="T67" fmla="*/ 2147483647 h 1353"/>
              <a:gd name="T68" fmla="*/ 2147483647 w 1273"/>
              <a:gd name="T69" fmla="*/ 2147483647 h 1353"/>
              <a:gd name="T70" fmla="*/ 2147483647 w 1273"/>
              <a:gd name="T71" fmla="*/ 2147483647 h 1353"/>
              <a:gd name="T72" fmla="*/ 2147483647 w 1273"/>
              <a:gd name="T73" fmla="*/ 2147483647 h 1353"/>
              <a:gd name="T74" fmla="*/ 2147483647 w 1273"/>
              <a:gd name="T75" fmla="*/ 2147483647 h 1353"/>
              <a:gd name="T76" fmla="*/ 2147483647 w 1273"/>
              <a:gd name="T77" fmla="*/ 2147483647 h 1353"/>
              <a:gd name="T78" fmla="*/ 2147483647 w 1273"/>
              <a:gd name="T79" fmla="*/ 2147483647 h 1353"/>
              <a:gd name="T80" fmla="*/ 2147483647 w 1273"/>
              <a:gd name="T81" fmla="*/ 2147483647 h 1353"/>
              <a:gd name="T82" fmla="*/ 2147483647 w 1273"/>
              <a:gd name="T83" fmla="*/ 2147483647 h 1353"/>
              <a:gd name="T84" fmla="*/ 2147483647 w 1273"/>
              <a:gd name="T85" fmla="*/ 2147483647 h 1353"/>
              <a:gd name="T86" fmla="*/ 2147483647 w 1273"/>
              <a:gd name="T87" fmla="*/ 2147483647 h 1353"/>
              <a:gd name="T88" fmla="*/ 2147483647 w 1273"/>
              <a:gd name="T89" fmla="*/ 2147483647 h 1353"/>
              <a:gd name="T90" fmla="*/ 2147483647 w 1273"/>
              <a:gd name="T91" fmla="*/ 2147483647 h 1353"/>
              <a:gd name="T92" fmla="*/ 2147483647 w 1273"/>
              <a:gd name="T93" fmla="*/ 2147483647 h 1353"/>
              <a:gd name="T94" fmla="*/ 2147483647 w 1273"/>
              <a:gd name="T95" fmla="*/ 2147483647 h 1353"/>
              <a:gd name="T96" fmla="*/ 2147483647 w 1273"/>
              <a:gd name="T97" fmla="*/ 2147483647 h 1353"/>
              <a:gd name="T98" fmla="*/ 2147483647 w 1273"/>
              <a:gd name="T99" fmla="*/ 2147483647 h 1353"/>
              <a:gd name="T100" fmla="*/ 2147483647 w 1273"/>
              <a:gd name="T101" fmla="*/ 2147483647 h 1353"/>
              <a:gd name="T102" fmla="*/ 2147483647 w 1273"/>
              <a:gd name="T103" fmla="*/ 2147483647 h 1353"/>
              <a:gd name="T104" fmla="*/ 2147483647 w 1273"/>
              <a:gd name="T105" fmla="*/ 2147483647 h 1353"/>
              <a:gd name="T106" fmla="*/ 2147483647 w 1273"/>
              <a:gd name="T107" fmla="*/ 2147483647 h 1353"/>
              <a:gd name="T108" fmla="*/ 2147483647 w 1273"/>
              <a:gd name="T109" fmla="*/ 2147483647 h 1353"/>
              <a:gd name="T110" fmla="*/ 2147483647 w 1273"/>
              <a:gd name="T111" fmla="*/ 2147483647 h 1353"/>
              <a:gd name="T112" fmla="*/ 2147483647 w 1273"/>
              <a:gd name="T113" fmla="*/ 2147483647 h 1353"/>
              <a:gd name="T114" fmla="*/ 2147483647 w 1273"/>
              <a:gd name="T115" fmla="*/ 2147483647 h 1353"/>
              <a:gd name="T116" fmla="*/ 2147483647 w 1273"/>
              <a:gd name="T117" fmla="*/ 2147483647 h 1353"/>
              <a:gd name="T118" fmla="*/ 2147483647 w 1273"/>
              <a:gd name="T119" fmla="*/ 2147483647 h 1353"/>
              <a:gd name="T120" fmla="*/ 2147483647 w 1273"/>
              <a:gd name="T121" fmla="*/ 2147483647 h 1353"/>
              <a:gd name="T122" fmla="*/ 2147483647 w 1273"/>
              <a:gd name="T123" fmla="*/ 2147483647 h 135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1273"/>
              <a:gd name="T187" fmla="*/ 0 h 1353"/>
              <a:gd name="T188" fmla="*/ 1273 w 1273"/>
              <a:gd name="T189" fmla="*/ 1353 h 1353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1273" h="1353">
                <a:moveTo>
                  <a:pt x="962" y="119"/>
                </a:moveTo>
                <a:lnTo>
                  <a:pt x="946" y="111"/>
                </a:lnTo>
                <a:lnTo>
                  <a:pt x="906" y="95"/>
                </a:lnTo>
                <a:lnTo>
                  <a:pt x="875" y="80"/>
                </a:lnTo>
                <a:lnTo>
                  <a:pt x="851" y="72"/>
                </a:lnTo>
                <a:lnTo>
                  <a:pt x="819" y="56"/>
                </a:lnTo>
                <a:lnTo>
                  <a:pt x="803" y="48"/>
                </a:lnTo>
                <a:lnTo>
                  <a:pt x="779" y="40"/>
                </a:lnTo>
                <a:lnTo>
                  <a:pt x="763" y="32"/>
                </a:lnTo>
                <a:lnTo>
                  <a:pt x="755" y="24"/>
                </a:lnTo>
                <a:lnTo>
                  <a:pt x="739" y="16"/>
                </a:lnTo>
                <a:lnTo>
                  <a:pt x="716" y="8"/>
                </a:lnTo>
                <a:lnTo>
                  <a:pt x="684" y="0"/>
                </a:lnTo>
                <a:lnTo>
                  <a:pt x="652" y="0"/>
                </a:lnTo>
                <a:lnTo>
                  <a:pt x="636" y="0"/>
                </a:lnTo>
                <a:lnTo>
                  <a:pt x="620" y="0"/>
                </a:lnTo>
                <a:lnTo>
                  <a:pt x="580" y="8"/>
                </a:lnTo>
                <a:lnTo>
                  <a:pt x="549" y="16"/>
                </a:lnTo>
                <a:lnTo>
                  <a:pt x="517" y="32"/>
                </a:lnTo>
                <a:lnTo>
                  <a:pt x="501" y="40"/>
                </a:lnTo>
                <a:lnTo>
                  <a:pt x="485" y="48"/>
                </a:lnTo>
                <a:lnTo>
                  <a:pt x="445" y="72"/>
                </a:lnTo>
                <a:lnTo>
                  <a:pt x="398" y="95"/>
                </a:lnTo>
                <a:lnTo>
                  <a:pt x="350" y="119"/>
                </a:lnTo>
                <a:lnTo>
                  <a:pt x="326" y="127"/>
                </a:lnTo>
                <a:lnTo>
                  <a:pt x="302" y="135"/>
                </a:lnTo>
                <a:lnTo>
                  <a:pt x="254" y="159"/>
                </a:lnTo>
                <a:lnTo>
                  <a:pt x="207" y="191"/>
                </a:lnTo>
                <a:lnTo>
                  <a:pt x="167" y="223"/>
                </a:lnTo>
                <a:lnTo>
                  <a:pt x="159" y="239"/>
                </a:lnTo>
                <a:lnTo>
                  <a:pt x="143" y="254"/>
                </a:lnTo>
                <a:lnTo>
                  <a:pt x="119" y="286"/>
                </a:lnTo>
                <a:lnTo>
                  <a:pt x="95" y="326"/>
                </a:lnTo>
                <a:lnTo>
                  <a:pt x="87" y="358"/>
                </a:lnTo>
                <a:lnTo>
                  <a:pt x="80" y="374"/>
                </a:lnTo>
                <a:lnTo>
                  <a:pt x="72" y="390"/>
                </a:lnTo>
                <a:lnTo>
                  <a:pt x="72" y="422"/>
                </a:lnTo>
                <a:lnTo>
                  <a:pt x="72" y="469"/>
                </a:lnTo>
                <a:lnTo>
                  <a:pt x="72" y="525"/>
                </a:lnTo>
                <a:lnTo>
                  <a:pt x="80" y="557"/>
                </a:lnTo>
                <a:lnTo>
                  <a:pt x="80" y="565"/>
                </a:lnTo>
                <a:lnTo>
                  <a:pt x="87" y="604"/>
                </a:lnTo>
                <a:lnTo>
                  <a:pt x="87" y="636"/>
                </a:lnTo>
                <a:lnTo>
                  <a:pt x="87" y="660"/>
                </a:lnTo>
                <a:lnTo>
                  <a:pt x="80" y="692"/>
                </a:lnTo>
                <a:lnTo>
                  <a:pt x="72" y="732"/>
                </a:lnTo>
                <a:lnTo>
                  <a:pt x="64" y="763"/>
                </a:lnTo>
                <a:lnTo>
                  <a:pt x="56" y="787"/>
                </a:lnTo>
                <a:lnTo>
                  <a:pt x="48" y="811"/>
                </a:lnTo>
                <a:lnTo>
                  <a:pt x="32" y="851"/>
                </a:lnTo>
                <a:lnTo>
                  <a:pt x="16" y="907"/>
                </a:lnTo>
                <a:lnTo>
                  <a:pt x="0" y="970"/>
                </a:lnTo>
                <a:lnTo>
                  <a:pt x="0" y="1018"/>
                </a:lnTo>
                <a:lnTo>
                  <a:pt x="0" y="1042"/>
                </a:lnTo>
                <a:lnTo>
                  <a:pt x="0" y="1066"/>
                </a:lnTo>
                <a:lnTo>
                  <a:pt x="8" y="1113"/>
                </a:lnTo>
                <a:lnTo>
                  <a:pt x="16" y="1153"/>
                </a:lnTo>
                <a:lnTo>
                  <a:pt x="32" y="1185"/>
                </a:lnTo>
                <a:lnTo>
                  <a:pt x="40" y="1201"/>
                </a:lnTo>
                <a:lnTo>
                  <a:pt x="48" y="1217"/>
                </a:lnTo>
                <a:lnTo>
                  <a:pt x="64" y="1233"/>
                </a:lnTo>
                <a:lnTo>
                  <a:pt x="87" y="1257"/>
                </a:lnTo>
                <a:lnTo>
                  <a:pt x="111" y="1272"/>
                </a:lnTo>
                <a:lnTo>
                  <a:pt x="127" y="1280"/>
                </a:lnTo>
                <a:lnTo>
                  <a:pt x="159" y="1288"/>
                </a:lnTo>
                <a:lnTo>
                  <a:pt x="183" y="1288"/>
                </a:lnTo>
                <a:lnTo>
                  <a:pt x="215" y="1288"/>
                </a:lnTo>
                <a:lnTo>
                  <a:pt x="254" y="1288"/>
                </a:lnTo>
                <a:lnTo>
                  <a:pt x="294" y="1288"/>
                </a:lnTo>
                <a:lnTo>
                  <a:pt x="358" y="1288"/>
                </a:lnTo>
                <a:lnTo>
                  <a:pt x="413" y="1288"/>
                </a:lnTo>
                <a:lnTo>
                  <a:pt x="445" y="1288"/>
                </a:lnTo>
                <a:lnTo>
                  <a:pt x="477" y="1288"/>
                </a:lnTo>
                <a:lnTo>
                  <a:pt x="533" y="1288"/>
                </a:lnTo>
                <a:lnTo>
                  <a:pt x="596" y="1288"/>
                </a:lnTo>
                <a:lnTo>
                  <a:pt x="636" y="1288"/>
                </a:lnTo>
                <a:lnTo>
                  <a:pt x="684" y="1288"/>
                </a:lnTo>
                <a:lnTo>
                  <a:pt x="739" y="1296"/>
                </a:lnTo>
                <a:lnTo>
                  <a:pt x="771" y="1304"/>
                </a:lnTo>
                <a:lnTo>
                  <a:pt x="811" y="1312"/>
                </a:lnTo>
                <a:lnTo>
                  <a:pt x="819" y="1312"/>
                </a:lnTo>
                <a:lnTo>
                  <a:pt x="851" y="1320"/>
                </a:lnTo>
                <a:lnTo>
                  <a:pt x="898" y="1328"/>
                </a:lnTo>
                <a:lnTo>
                  <a:pt x="954" y="1336"/>
                </a:lnTo>
                <a:lnTo>
                  <a:pt x="1010" y="1352"/>
                </a:lnTo>
                <a:lnTo>
                  <a:pt x="1034" y="1352"/>
                </a:lnTo>
                <a:lnTo>
                  <a:pt x="1049" y="1352"/>
                </a:lnTo>
                <a:lnTo>
                  <a:pt x="1097" y="1352"/>
                </a:lnTo>
                <a:lnTo>
                  <a:pt x="1129" y="1352"/>
                </a:lnTo>
                <a:lnTo>
                  <a:pt x="1169" y="1344"/>
                </a:lnTo>
                <a:lnTo>
                  <a:pt x="1185" y="1336"/>
                </a:lnTo>
                <a:lnTo>
                  <a:pt x="1200" y="1328"/>
                </a:lnTo>
                <a:lnTo>
                  <a:pt x="1232" y="1304"/>
                </a:lnTo>
                <a:lnTo>
                  <a:pt x="1248" y="1280"/>
                </a:lnTo>
                <a:lnTo>
                  <a:pt x="1264" y="1249"/>
                </a:lnTo>
                <a:lnTo>
                  <a:pt x="1264" y="1233"/>
                </a:lnTo>
                <a:lnTo>
                  <a:pt x="1272" y="1209"/>
                </a:lnTo>
                <a:lnTo>
                  <a:pt x="1272" y="1169"/>
                </a:lnTo>
                <a:lnTo>
                  <a:pt x="1264" y="1129"/>
                </a:lnTo>
                <a:lnTo>
                  <a:pt x="1256" y="1082"/>
                </a:lnTo>
                <a:lnTo>
                  <a:pt x="1248" y="1058"/>
                </a:lnTo>
                <a:lnTo>
                  <a:pt x="1240" y="1034"/>
                </a:lnTo>
                <a:lnTo>
                  <a:pt x="1224" y="986"/>
                </a:lnTo>
                <a:lnTo>
                  <a:pt x="1208" y="938"/>
                </a:lnTo>
                <a:lnTo>
                  <a:pt x="1193" y="899"/>
                </a:lnTo>
                <a:lnTo>
                  <a:pt x="1185" y="875"/>
                </a:lnTo>
                <a:lnTo>
                  <a:pt x="1177" y="859"/>
                </a:lnTo>
                <a:lnTo>
                  <a:pt x="1161" y="811"/>
                </a:lnTo>
                <a:lnTo>
                  <a:pt x="1153" y="763"/>
                </a:lnTo>
                <a:lnTo>
                  <a:pt x="1145" y="708"/>
                </a:lnTo>
                <a:lnTo>
                  <a:pt x="1145" y="684"/>
                </a:lnTo>
                <a:lnTo>
                  <a:pt x="1145" y="636"/>
                </a:lnTo>
                <a:lnTo>
                  <a:pt x="1137" y="533"/>
                </a:lnTo>
                <a:lnTo>
                  <a:pt x="1137" y="477"/>
                </a:lnTo>
                <a:lnTo>
                  <a:pt x="1137" y="453"/>
                </a:lnTo>
                <a:lnTo>
                  <a:pt x="1129" y="398"/>
                </a:lnTo>
                <a:lnTo>
                  <a:pt x="1121" y="350"/>
                </a:lnTo>
                <a:lnTo>
                  <a:pt x="1105" y="310"/>
                </a:lnTo>
                <a:lnTo>
                  <a:pt x="1097" y="294"/>
                </a:lnTo>
                <a:lnTo>
                  <a:pt x="1089" y="278"/>
                </a:lnTo>
                <a:lnTo>
                  <a:pt x="1057" y="231"/>
                </a:lnTo>
                <a:lnTo>
                  <a:pt x="1018" y="183"/>
                </a:lnTo>
                <a:lnTo>
                  <a:pt x="970" y="135"/>
                </a:lnTo>
                <a:lnTo>
                  <a:pt x="946" y="111"/>
                </a:lnTo>
                <a:lnTo>
                  <a:pt x="962" y="119"/>
                </a:lnTo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3962400" y="1328738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3200400" y="2414588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Rectangle 6"/>
          <p:cNvSpPr>
            <a:spLocks noChangeArrowheads="1"/>
          </p:cNvSpPr>
          <p:nvPr/>
        </p:nvSpPr>
        <p:spPr bwMode="auto">
          <a:xfrm>
            <a:off x="2451100" y="3514725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Rectangle 7"/>
          <p:cNvSpPr>
            <a:spLocks noChangeArrowheads="1"/>
          </p:cNvSpPr>
          <p:nvPr/>
        </p:nvSpPr>
        <p:spPr bwMode="auto">
          <a:xfrm>
            <a:off x="1968500" y="4600575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Rectangle 8"/>
          <p:cNvSpPr>
            <a:spLocks noChangeArrowheads="1"/>
          </p:cNvSpPr>
          <p:nvPr/>
        </p:nvSpPr>
        <p:spPr bwMode="auto">
          <a:xfrm>
            <a:off x="2870200" y="4600575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Rectangle 9"/>
          <p:cNvSpPr>
            <a:spLocks noChangeArrowheads="1"/>
          </p:cNvSpPr>
          <p:nvPr/>
        </p:nvSpPr>
        <p:spPr bwMode="auto">
          <a:xfrm>
            <a:off x="4064000" y="2414588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Rectangle 10"/>
          <p:cNvSpPr>
            <a:spLocks noChangeArrowheads="1"/>
          </p:cNvSpPr>
          <p:nvPr/>
        </p:nvSpPr>
        <p:spPr bwMode="auto">
          <a:xfrm>
            <a:off x="4927600" y="2414588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300" name="Group 11"/>
          <p:cNvGrpSpPr>
            <a:grpSpLocks/>
          </p:cNvGrpSpPr>
          <p:nvPr/>
        </p:nvGrpSpPr>
        <p:grpSpPr bwMode="auto">
          <a:xfrm>
            <a:off x="3581400" y="1885950"/>
            <a:ext cx="725488" cy="514350"/>
            <a:chOff x="2256" y="1056"/>
            <a:chExt cx="457" cy="288"/>
          </a:xfrm>
        </p:grpSpPr>
        <p:sp>
          <p:nvSpPr>
            <p:cNvPr id="12321" name="Freeform 12"/>
            <p:cNvSpPr>
              <a:spLocks/>
            </p:cNvSpPr>
            <p:nvPr/>
          </p:nvSpPr>
          <p:spPr bwMode="auto">
            <a:xfrm>
              <a:off x="2584" y="1056"/>
              <a:ext cx="129" cy="97"/>
            </a:xfrm>
            <a:custGeom>
              <a:avLst/>
              <a:gdLst>
                <a:gd name="T0" fmla="*/ 128 w 129"/>
                <a:gd name="T1" fmla="*/ 0 h 97"/>
                <a:gd name="T2" fmla="*/ 38 w 129"/>
                <a:gd name="T3" fmla="*/ 96 h 97"/>
                <a:gd name="T4" fmla="*/ 23 w 129"/>
                <a:gd name="T5" fmla="*/ 66 h 97"/>
                <a:gd name="T6" fmla="*/ 0 w 129"/>
                <a:gd name="T7" fmla="*/ 37 h 97"/>
                <a:gd name="T8" fmla="*/ 128 w 129"/>
                <a:gd name="T9" fmla="*/ 0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"/>
                <a:gd name="T16" fmla="*/ 0 h 97"/>
                <a:gd name="T17" fmla="*/ 129 w 129"/>
                <a:gd name="T18" fmla="*/ 97 h 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" h="97">
                  <a:moveTo>
                    <a:pt x="128" y="0"/>
                  </a:moveTo>
                  <a:lnTo>
                    <a:pt x="38" y="96"/>
                  </a:lnTo>
                  <a:lnTo>
                    <a:pt x="23" y="66"/>
                  </a:lnTo>
                  <a:lnTo>
                    <a:pt x="0" y="37"/>
                  </a:lnTo>
                  <a:lnTo>
                    <a:pt x="128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Line 13"/>
            <p:cNvSpPr>
              <a:spLocks noChangeShapeType="1"/>
            </p:cNvSpPr>
            <p:nvPr/>
          </p:nvSpPr>
          <p:spPr bwMode="auto">
            <a:xfrm flipH="1">
              <a:off x="2256" y="1128"/>
              <a:ext cx="360" cy="2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301" name="Group 14"/>
          <p:cNvGrpSpPr>
            <a:grpSpLocks/>
          </p:cNvGrpSpPr>
          <p:nvPr/>
        </p:nvGrpSpPr>
        <p:grpSpPr bwMode="auto">
          <a:xfrm>
            <a:off x="2806700" y="2971800"/>
            <a:ext cx="712788" cy="528638"/>
            <a:chOff x="1768" y="1664"/>
            <a:chExt cx="449" cy="296"/>
          </a:xfrm>
        </p:grpSpPr>
        <p:sp>
          <p:nvSpPr>
            <p:cNvPr id="12319" name="Freeform 15"/>
            <p:cNvSpPr>
              <a:spLocks/>
            </p:cNvSpPr>
            <p:nvPr/>
          </p:nvSpPr>
          <p:spPr bwMode="auto">
            <a:xfrm>
              <a:off x="2096" y="1664"/>
              <a:ext cx="121" cy="97"/>
            </a:xfrm>
            <a:custGeom>
              <a:avLst/>
              <a:gdLst>
                <a:gd name="T0" fmla="*/ 120 w 121"/>
                <a:gd name="T1" fmla="*/ 0 h 97"/>
                <a:gd name="T2" fmla="*/ 30 w 121"/>
                <a:gd name="T3" fmla="*/ 96 h 97"/>
                <a:gd name="T4" fmla="*/ 15 w 121"/>
                <a:gd name="T5" fmla="*/ 66 h 97"/>
                <a:gd name="T6" fmla="*/ 0 w 121"/>
                <a:gd name="T7" fmla="*/ 44 h 97"/>
                <a:gd name="T8" fmla="*/ 120 w 121"/>
                <a:gd name="T9" fmla="*/ 0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1"/>
                <a:gd name="T16" fmla="*/ 0 h 97"/>
                <a:gd name="T17" fmla="*/ 121 w 121"/>
                <a:gd name="T18" fmla="*/ 97 h 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1" h="97">
                  <a:moveTo>
                    <a:pt x="120" y="0"/>
                  </a:moveTo>
                  <a:lnTo>
                    <a:pt x="30" y="96"/>
                  </a:lnTo>
                  <a:lnTo>
                    <a:pt x="15" y="66"/>
                  </a:lnTo>
                  <a:lnTo>
                    <a:pt x="0" y="44"/>
                  </a:lnTo>
                  <a:lnTo>
                    <a:pt x="120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Line 16"/>
            <p:cNvSpPr>
              <a:spLocks noChangeShapeType="1"/>
            </p:cNvSpPr>
            <p:nvPr/>
          </p:nvSpPr>
          <p:spPr bwMode="auto">
            <a:xfrm flipH="1">
              <a:off x="1768" y="1736"/>
              <a:ext cx="352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02" name="Line 17"/>
          <p:cNvSpPr>
            <a:spLocks noChangeShapeType="1"/>
          </p:cNvSpPr>
          <p:nvPr/>
        </p:nvSpPr>
        <p:spPr bwMode="auto">
          <a:xfrm flipH="1">
            <a:off x="2286000" y="4071937"/>
            <a:ext cx="520700" cy="5286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Line 18"/>
          <p:cNvSpPr>
            <a:spLocks noChangeShapeType="1"/>
          </p:cNvSpPr>
          <p:nvPr/>
        </p:nvSpPr>
        <p:spPr bwMode="auto">
          <a:xfrm>
            <a:off x="2781300" y="4071938"/>
            <a:ext cx="444500" cy="5429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Line 19"/>
          <p:cNvSpPr>
            <a:spLocks noChangeShapeType="1"/>
          </p:cNvSpPr>
          <p:nvPr/>
        </p:nvSpPr>
        <p:spPr bwMode="auto">
          <a:xfrm>
            <a:off x="4330700" y="1885950"/>
            <a:ext cx="38100" cy="528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Line 20"/>
          <p:cNvSpPr>
            <a:spLocks noChangeShapeType="1"/>
          </p:cNvSpPr>
          <p:nvPr/>
        </p:nvSpPr>
        <p:spPr bwMode="auto">
          <a:xfrm>
            <a:off x="4305300" y="1914525"/>
            <a:ext cx="9779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1749" name="Rectangle 21"/>
          <p:cNvSpPr>
            <a:spLocks noChangeArrowheads="1"/>
          </p:cNvSpPr>
          <p:nvPr/>
        </p:nvSpPr>
        <p:spPr bwMode="auto">
          <a:xfrm>
            <a:off x="3884614" y="3175397"/>
            <a:ext cx="337592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drivers are replaced one at a </a:t>
            </a:r>
          </a:p>
        </p:txBody>
      </p:sp>
      <p:sp>
        <p:nvSpPr>
          <p:cNvPr id="841750" name="Rectangle 22"/>
          <p:cNvSpPr>
            <a:spLocks noChangeArrowheads="1"/>
          </p:cNvSpPr>
          <p:nvPr/>
        </p:nvSpPr>
        <p:spPr bwMode="auto">
          <a:xfrm>
            <a:off x="3884614" y="3432572"/>
            <a:ext cx="213199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time, "depth first"</a:t>
            </a:r>
          </a:p>
        </p:txBody>
      </p:sp>
      <p:sp>
        <p:nvSpPr>
          <p:cNvPr id="841751" name="Rectangle 23"/>
          <p:cNvSpPr>
            <a:spLocks noChangeArrowheads="1"/>
          </p:cNvSpPr>
          <p:nvPr/>
        </p:nvSpPr>
        <p:spPr bwMode="auto">
          <a:xfrm>
            <a:off x="3783014" y="4161235"/>
            <a:ext cx="3901708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worker modules are grouped into </a:t>
            </a:r>
          </a:p>
        </p:txBody>
      </p:sp>
      <p:sp>
        <p:nvSpPr>
          <p:cNvPr id="841752" name="Rectangle 24"/>
          <p:cNvSpPr>
            <a:spLocks noChangeArrowheads="1"/>
          </p:cNvSpPr>
          <p:nvPr/>
        </p:nvSpPr>
        <p:spPr bwMode="auto">
          <a:xfrm>
            <a:off x="3783014" y="4418410"/>
            <a:ext cx="251671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builds and integrated</a:t>
            </a:r>
          </a:p>
        </p:txBody>
      </p:sp>
      <p:sp>
        <p:nvSpPr>
          <p:cNvPr id="841753" name="Rectangle 25"/>
          <p:cNvSpPr>
            <a:spLocks noChangeArrowheads="1"/>
          </p:cNvSpPr>
          <p:nvPr/>
        </p:nvSpPr>
        <p:spPr bwMode="auto">
          <a:xfrm>
            <a:off x="4189414" y="1360885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A</a:t>
            </a:r>
          </a:p>
        </p:txBody>
      </p:sp>
      <p:sp>
        <p:nvSpPr>
          <p:cNvPr id="841754" name="Rectangle 26"/>
          <p:cNvSpPr>
            <a:spLocks noChangeArrowheads="1"/>
          </p:cNvSpPr>
          <p:nvPr/>
        </p:nvSpPr>
        <p:spPr bwMode="auto">
          <a:xfrm>
            <a:off x="3402014" y="2503885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B</a:t>
            </a:r>
          </a:p>
        </p:txBody>
      </p:sp>
      <p:sp>
        <p:nvSpPr>
          <p:cNvPr id="841755" name="Rectangle 27"/>
          <p:cNvSpPr>
            <a:spLocks noChangeArrowheads="1"/>
          </p:cNvSpPr>
          <p:nvPr/>
        </p:nvSpPr>
        <p:spPr bwMode="auto">
          <a:xfrm>
            <a:off x="2678114" y="3604022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C</a:t>
            </a:r>
          </a:p>
        </p:txBody>
      </p:sp>
      <p:sp>
        <p:nvSpPr>
          <p:cNvPr id="841756" name="Rectangle 28"/>
          <p:cNvSpPr>
            <a:spLocks noChangeArrowheads="1"/>
          </p:cNvSpPr>
          <p:nvPr/>
        </p:nvSpPr>
        <p:spPr bwMode="auto">
          <a:xfrm>
            <a:off x="2144714" y="4647010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D</a:t>
            </a:r>
          </a:p>
        </p:txBody>
      </p:sp>
      <p:sp>
        <p:nvSpPr>
          <p:cNvPr id="841757" name="Rectangle 29"/>
          <p:cNvSpPr>
            <a:spLocks noChangeArrowheads="1"/>
          </p:cNvSpPr>
          <p:nvPr/>
        </p:nvSpPr>
        <p:spPr bwMode="auto">
          <a:xfrm>
            <a:off x="3071814" y="4647010"/>
            <a:ext cx="336630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E</a:t>
            </a:r>
          </a:p>
        </p:txBody>
      </p:sp>
      <p:sp>
        <p:nvSpPr>
          <p:cNvPr id="841758" name="Rectangle 30"/>
          <p:cNvSpPr>
            <a:spLocks noChangeArrowheads="1"/>
          </p:cNvSpPr>
          <p:nvPr/>
        </p:nvSpPr>
        <p:spPr bwMode="auto">
          <a:xfrm>
            <a:off x="4265614" y="2518172"/>
            <a:ext cx="323806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F</a:t>
            </a:r>
          </a:p>
        </p:txBody>
      </p:sp>
      <p:sp>
        <p:nvSpPr>
          <p:cNvPr id="841759" name="Rectangle 31"/>
          <p:cNvSpPr>
            <a:spLocks noChangeArrowheads="1"/>
          </p:cNvSpPr>
          <p:nvPr/>
        </p:nvSpPr>
        <p:spPr bwMode="auto">
          <a:xfrm>
            <a:off x="5091114" y="2518172"/>
            <a:ext cx="362278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G</a:t>
            </a:r>
          </a:p>
        </p:txBody>
      </p:sp>
      <p:sp>
        <p:nvSpPr>
          <p:cNvPr id="841760" name="Rectangle 32"/>
          <p:cNvSpPr>
            <a:spLocks noChangeArrowheads="1"/>
          </p:cNvSpPr>
          <p:nvPr/>
        </p:nvSpPr>
        <p:spPr bwMode="auto">
          <a:xfrm>
            <a:off x="2182813" y="5484615"/>
            <a:ext cx="1192633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cluster</a:t>
            </a:r>
          </a:p>
        </p:txBody>
      </p:sp>
      <p:sp>
        <p:nvSpPr>
          <p:cNvPr id="12318" name="Line 33"/>
          <p:cNvSpPr>
            <a:spLocks noChangeShapeType="1"/>
          </p:cNvSpPr>
          <p:nvPr/>
        </p:nvSpPr>
        <p:spPr bwMode="auto">
          <a:xfrm>
            <a:off x="3651250" y="3050381"/>
            <a:ext cx="279400" cy="257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6975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4B6D-4AAD-47AD-A25E-EC6AC6DB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Bottom Up Approach</a:t>
            </a:r>
          </a:p>
        </p:txBody>
      </p:sp>
    </p:spTree>
    <p:extLst>
      <p:ext uri="{BB962C8B-B14F-4D97-AF65-F5344CB8AC3E}">
        <p14:creationId xmlns:p14="http://schemas.microsoft.com/office/powerpoint/2010/main" val="1726246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C562BE9-3018-42EB-9073-4B309BE43C2C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908051" y="555428"/>
            <a:ext cx="7142163" cy="301823"/>
          </a:xfrm>
          <a:noFill/>
        </p:spPr>
        <p:txBody>
          <a:bodyPr lIns="90487" tIns="44450" rIns="90487" bIns="44450">
            <a:normAutofit fontScale="90000"/>
          </a:bodyPr>
          <a:lstStyle/>
          <a:p>
            <a:pPr eaLnBrk="1" hangingPunct="1"/>
            <a:r>
              <a:rPr lang="en-US"/>
              <a:t>Sandwich Testing</a:t>
            </a:r>
          </a:p>
        </p:txBody>
      </p:sp>
      <p:sp>
        <p:nvSpPr>
          <p:cNvPr id="15364" name="Freeform 3"/>
          <p:cNvSpPr>
            <a:spLocks/>
          </p:cNvSpPr>
          <p:nvPr/>
        </p:nvSpPr>
        <p:spPr bwMode="auto">
          <a:xfrm>
            <a:off x="1790700" y="3157538"/>
            <a:ext cx="2020888" cy="2416374"/>
          </a:xfrm>
          <a:custGeom>
            <a:avLst/>
            <a:gdLst>
              <a:gd name="T0" fmla="*/ 2147483647 w 1273"/>
              <a:gd name="T1" fmla="*/ 2147483647 h 1353"/>
              <a:gd name="T2" fmla="*/ 2147483647 w 1273"/>
              <a:gd name="T3" fmla="*/ 2147483647 h 1353"/>
              <a:gd name="T4" fmla="*/ 2147483647 w 1273"/>
              <a:gd name="T5" fmla="*/ 2147483647 h 1353"/>
              <a:gd name="T6" fmla="*/ 2147483647 w 1273"/>
              <a:gd name="T7" fmla="*/ 2147483647 h 1353"/>
              <a:gd name="T8" fmla="*/ 2147483647 w 1273"/>
              <a:gd name="T9" fmla="*/ 2147483647 h 1353"/>
              <a:gd name="T10" fmla="*/ 2147483647 w 1273"/>
              <a:gd name="T11" fmla="*/ 2147483647 h 1353"/>
              <a:gd name="T12" fmla="*/ 2147483647 w 1273"/>
              <a:gd name="T13" fmla="*/ 0 h 1353"/>
              <a:gd name="T14" fmla="*/ 2147483647 w 1273"/>
              <a:gd name="T15" fmla="*/ 0 h 1353"/>
              <a:gd name="T16" fmla="*/ 2147483647 w 1273"/>
              <a:gd name="T17" fmla="*/ 2147483647 h 1353"/>
              <a:gd name="T18" fmla="*/ 2147483647 w 1273"/>
              <a:gd name="T19" fmla="*/ 2147483647 h 1353"/>
              <a:gd name="T20" fmla="*/ 2147483647 w 1273"/>
              <a:gd name="T21" fmla="*/ 2147483647 h 1353"/>
              <a:gd name="T22" fmla="*/ 2147483647 w 1273"/>
              <a:gd name="T23" fmla="*/ 2147483647 h 1353"/>
              <a:gd name="T24" fmla="*/ 2147483647 w 1273"/>
              <a:gd name="T25" fmla="*/ 2147483647 h 1353"/>
              <a:gd name="T26" fmla="*/ 2147483647 w 1273"/>
              <a:gd name="T27" fmla="*/ 2147483647 h 1353"/>
              <a:gd name="T28" fmla="*/ 2147483647 w 1273"/>
              <a:gd name="T29" fmla="*/ 2147483647 h 1353"/>
              <a:gd name="T30" fmla="*/ 2147483647 w 1273"/>
              <a:gd name="T31" fmla="*/ 2147483647 h 1353"/>
              <a:gd name="T32" fmla="*/ 2147483647 w 1273"/>
              <a:gd name="T33" fmla="*/ 2147483647 h 1353"/>
              <a:gd name="T34" fmla="*/ 2147483647 w 1273"/>
              <a:gd name="T35" fmla="*/ 2147483647 h 1353"/>
              <a:gd name="T36" fmla="*/ 2147483647 w 1273"/>
              <a:gd name="T37" fmla="*/ 2147483647 h 1353"/>
              <a:gd name="T38" fmla="*/ 2147483647 w 1273"/>
              <a:gd name="T39" fmla="*/ 2147483647 h 1353"/>
              <a:gd name="T40" fmla="*/ 2147483647 w 1273"/>
              <a:gd name="T41" fmla="*/ 2147483647 h 1353"/>
              <a:gd name="T42" fmla="*/ 2147483647 w 1273"/>
              <a:gd name="T43" fmla="*/ 2147483647 h 1353"/>
              <a:gd name="T44" fmla="*/ 2147483647 w 1273"/>
              <a:gd name="T45" fmla="*/ 2147483647 h 1353"/>
              <a:gd name="T46" fmla="*/ 2147483647 w 1273"/>
              <a:gd name="T47" fmla="*/ 2147483647 h 1353"/>
              <a:gd name="T48" fmla="*/ 2147483647 w 1273"/>
              <a:gd name="T49" fmla="*/ 2147483647 h 1353"/>
              <a:gd name="T50" fmla="*/ 0 w 1273"/>
              <a:gd name="T51" fmla="*/ 2147483647 h 1353"/>
              <a:gd name="T52" fmla="*/ 0 w 1273"/>
              <a:gd name="T53" fmla="*/ 2147483647 h 1353"/>
              <a:gd name="T54" fmla="*/ 2147483647 w 1273"/>
              <a:gd name="T55" fmla="*/ 2147483647 h 1353"/>
              <a:gd name="T56" fmla="*/ 2147483647 w 1273"/>
              <a:gd name="T57" fmla="*/ 2147483647 h 1353"/>
              <a:gd name="T58" fmla="*/ 2147483647 w 1273"/>
              <a:gd name="T59" fmla="*/ 2147483647 h 1353"/>
              <a:gd name="T60" fmla="*/ 2147483647 w 1273"/>
              <a:gd name="T61" fmla="*/ 2147483647 h 1353"/>
              <a:gd name="T62" fmla="*/ 2147483647 w 1273"/>
              <a:gd name="T63" fmla="*/ 2147483647 h 1353"/>
              <a:gd name="T64" fmla="*/ 2147483647 w 1273"/>
              <a:gd name="T65" fmla="*/ 2147483647 h 1353"/>
              <a:gd name="T66" fmla="*/ 2147483647 w 1273"/>
              <a:gd name="T67" fmla="*/ 2147483647 h 1353"/>
              <a:gd name="T68" fmla="*/ 2147483647 w 1273"/>
              <a:gd name="T69" fmla="*/ 2147483647 h 1353"/>
              <a:gd name="T70" fmla="*/ 2147483647 w 1273"/>
              <a:gd name="T71" fmla="*/ 2147483647 h 1353"/>
              <a:gd name="T72" fmla="*/ 2147483647 w 1273"/>
              <a:gd name="T73" fmla="*/ 2147483647 h 1353"/>
              <a:gd name="T74" fmla="*/ 2147483647 w 1273"/>
              <a:gd name="T75" fmla="*/ 2147483647 h 1353"/>
              <a:gd name="T76" fmla="*/ 2147483647 w 1273"/>
              <a:gd name="T77" fmla="*/ 2147483647 h 1353"/>
              <a:gd name="T78" fmla="*/ 2147483647 w 1273"/>
              <a:gd name="T79" fmla="*/ 2147483647 h 1353"/>
              <a:gd name="T80" fmla="*/ 2147483647 w 1273"/>
              <a:gd name="T81" fmla="*/ 2147483647 h 1353"/>
              <a:gd name="T82" fmla="*/ 2147483647 w 1273"/>
              <a:gd name="T83" fmla="*/ 2147483647 h 1353"/>
              <a:gd name="T84" fmla="*/ 2147483647 w 1273"/>
              <a:gd name="T85" fmla="*/ 2147483647 h 1353"/>
              <a:gd name="T86" fmla="*/ 2147483647 w 1273"/>
              <a:gd name="T87" fmla="*/ 2147483647 h 1353"/>
              <a:gd name="T88" fmla="*/ 2147483647 w 1273"/>
              <a:gd name="T89" fmla="*/ 2147483647 h 1353"/>
              <a:gd name="T90" fmla="*/ 2147483647 w 1273"/>
              <a:gd name="T91" fmla="*/ 2147483647 h 1353"/>
              <a:gd name="T92" fmla="*/ 2147483647 w 1273"/>
              <a:gd name="T93" fmla="*/ 2147483647 h 1353"/>
              <a:gd name="T94" fmla="*/ 2147483647 w 1273"/>
              <a:gd name="T95" fmla="*/ 2147483647 h 1353"/>
              <a:gd name="T96" fmla="*/ 2147483647 w 1273"/>
              <a:gd name="T97" fmla="*/ 2147483647 h 1353"/>
              <a:gd name="T98" fmla="*/ 2147483647 w 1273"/>
              <a:gd name="T99" fmla="*/ 2147483647 h 1353"/>
              <a:gd name="T100" fmla="*/ 2147483647 w 1273"/>
              <a:gd name="T101" fmla="*/ 2147483647 h 1353"/>
              <a:gd name="T102" fmla="*/ 2147483647 w 1273"/>
              <a:gd name="T103" fmla="*/ 2147483647 h 1353"/>
              <a:gd name="T104" fmla="*/ 2147483647 w 1273"/>
              <a:gd name="T105" fmla="*/ 2147483647 h 1353"/>
              <a:gd name="T106" fmla="*/ 2147483647 w 1273"/>
              <a:gd name="T107" fmla="*/ 2147483647 h 1353"/>
              <a:gd name="T108" fmla="*/ 2147483647 w 1273"/>
              <a:gd name="T109" fmla="*/ 2147483647 h 1353"/>
              <a:gd name="T110" fmla="*/ 2147483647 w 1273"/>
              <a:gd name="T111" fmla="*/ 2147483647 h 1353"/>
              <a:gd name="T112" fmla="*/ 2147483647 w 1273"/>
              <a:gd name="T113" fmla="*/ 2147483647 h 1353"/>
              <a:gd name="T114" fmla="*/ 2147483647 w 1273"/>
              <a:gd name="T115" fmla="*/ 2147483647 h 1353"/>
              <a:gd name="T116" fmla="*/ 2147483647 w 1273"/>
              <a:gd name="T117" fmla="*/ 2147483647 h 1353"/>
              <a:gd name="T118" fmla="*/ 2147483647 w 1273"/>
              <a:gd name="T119" fmla="*/ 2147483647 h 1353"/>
              <a:gd name="T120" fmla="*/ 2147483647 w 1273"/>
              <a:gd name="T121" fmla="*/ 2147483647 h 1353"/>
              <a:gd name="T122" fmla="*/ 2147483647 w 1273"/>
              <a:gd name="T123" fmla="*/ 2147483647 h 135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1273"/>
              <a:gd name="T187" fmla="*/ 0 h 1353"/>
              <a:gd name="T188" fmla="*/ 1273 w 1273"/>
              <a:gd name="T189" fmla="*/ 1353 h 1353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1273" h="1353">
                <a:moveTo>
                  <a:pt x="962" y="119"/>
                </a:moveTo>
                <a:lnTo>
                  <a:pt x="946" y="111"/>
                </a:lnTo>
                <a:lnTo>
                  <a:pt x="906" y="95"/>
                </a:lnTo>
                <a:lnTo>
                  <a:pt x="875" y="80"/>
                </a:lnTo>
                <a:lnTo>
                  <a:pt x="851" y="72"/>
                </a:lnTo>
                <a:lnTo>
                  <a:pt x="819" y="56"/>
                </a:lnTo>
                <a:lnTo>
                  <a:pt x="803" y="48"/>
                </a:lnTo>
                <a:lnTo>
                  <a:pt x="779" y="40"/>
                </a:lnTo>
                <a:lnTo>
                  <a:pt x="763" y="32"/>
                </a:lnTo>
                <a:lnTo>
                  <a:pt x="755" y="24"/>
                </a:lnTo>
                <a:lnTo>
                  <a:pt x="739" y="16"/>
                </a:lnTo>
                <a:lnTo>
                  <a:pt x="716" y="8"/>
                </a:lnTo>
                <a:lnTo>
                  <a:pt x="684" y="0"/>
                </a:lnTo>
                <a:lnTo>
                  <a:pt x="652" y="0"/>
                </a:lnTo>
                <a:lnTo>
                  <a:pt x="636" y="0"/>
                </a:lnTo>
                <a:lnTo>
                  <a:pt x="620" y="0"/>
                </a:lnTo>
                <a:lnTo>
                  <a:pt x="580" y="8"/>
                </a:lnTo>
                <a:lnTo>
                  <a:pt x="549" y="16"/>
                </a:lnTo>
                <a:lnTo>
                  <a:pt x="517" y="32"/>
                </a:lnTo>
                <a:lnTo>
                  <a:pt x="501" y="40"/>
                </a:lnTo>
                <a:lnTo>
                  <a:pt x="485" y="48"/>
                </a:lnTo>
                <a:lnTo>
                  <a:pt x="445" y="72"/>
                </a:lnTo>
                <a:lnTo>
                  <a:pt x="398" y="95"/>
                </a:lnTo>
                <a:lnTo>
                  <a:pt x="350" y="119"/>
                </a:lnTo>
                <a:lnTo>
                  <a:pt x="326" y="127"/>
                </a:lnTo>
                <a:lnTo>
                  <a:pt x="302" y="135"/>
                </a:lnTo>
                <a:lnTo>
                  <a:pt x="254" y="159"/>
                </a:lnTo>
                <a:lnTo>
                  <a:pt x="207" y="191"/>
                </a:lnTo>
                <a:lnTo>
                  <a:pt x="167" y="223"/>
                </a:lnTo>
                <a:lnTo>
                  <a:pt x="159" y="239"/>
                </a:lnTo>
                <a:lnTo>
                  <a:pt x="143" y="254"/>
                </a:lnTo>
                <a:lnTo>
                  <a:pt x="119" y="286"/>
                </a:lnTo>
                <a:lnTo>
                  <a:pt x="95" y="326"/>
                </a:lnTo>
                <a:lnTo>
                  <a:pt x="87" y="358"/>
                </a:lnTo>
                <a:lnTo>
                  <a:pt x="80" y="374"/>
                </a:lnTo>
                <a:lnTo>
                  <a:pt x="72" y="390"/>
                </a:lnTo>
                <a:lnTo>
                  <a:pt x="72" y="422"/>
                </a:lnTo>
                <a:lnTo>
                  <a:pt x="72" y="469"/>
                </a:lnTo>
                <a:lnTo>
                  <a:pt x="72" y="525"/>
                </a:lnTo>
                <a:lnTo>
                  <a:pt x="80" y="557"/>
                </a:lnTo>
                <a:lnTo>
                  <a:pt x="80" y="565"/>
                </a:lnTo>
                <a:lnTo>
                  <a:pt x="87" y="604"/>
                </a:lnTo>
                <a:lnTo>
                  <a:pt x="87" y="636"/>
                </a:lnTo>
                <a:lnTo>
                  <a:pt x="87" y="660"/>
                </a:lnTo>
                <a:lnTo>
                  <a:pt x="80" y="692"/>
                </a:lnTo>
                <a:lnTo>
                  <a:pt x="72" y="732"/>
                </a:lnTo>
                <a:lnTo>
                  <a:pt x="64" y="763"/>
                </a:lnTo>
                <a:lnTo>
                  <a:pt x="56" y="787"/>
                </a:lnTo>
                <a:lnTo>
                  <a:pt x="48" y="811"/>
                </a:lnTo>
                <a:lnTo>
                  <a:pt x="32" y="851"/>
                </a:lnTo>
                <a:lnTo>
                  <a:pt x="16" y="907"/>
                </a:lnTo>
                <a:lnTo>
                  <a:pt x="0" y="970"/>
                </a:lnTo>
                <a:lnTo>
                  <a:pt x="0" y="1018"/>
                </a:lnTo>
                <a:lnTo>
                  <a:pt x="0" y="1042"/>
                </a:lnTo>
                <a:lnTo>
                  <a:pt x="0" y="1066"/>
                </a:lnTo>
                <a:lnTo>
                  <a:pt x="8" y="1113"/>
                </a:lnTo>
                <a:lnTo>
                  <a:pt x="16" y="1153"/>
                </a:lnTo>
                <a:lnTo>
                  <a:pt x="32" y="1185"/>
                </a:lnTo>
                <a:lnTo>
                  <a:pt x="40" y="1201"/>
                </a:lnTo>
                <a:lnTo>
                  <a:pt x="48" y="1217"/>
                </a:lnTo>
                <a:lnTo>
                  <a:pt x="64" y="1233"/>
                </a:lnTo>
                <a:lnTo>
                  <a:pt x="87" y="1257"/>
                </a:lnTo>
                <a:lnTo>
                  <a:pt x="111" y="1272"/>
                </a:lnTo>
                <a:lnTo>
                  <a:pt x="127" y="1280"/>
                </a:lnTo>
                <a:lnTo>
                  <a:pt x="159" y="1288"/>
                </a:lnTo>
                <a:lnTo>
                  <a:pt x="183" y="1288"/>
                </a:lnTo>
                <a:lnTo>
                  <a:pt x="215" y="1288"/>
                </a:lnTo>
                <a:lnTo>
                  <a:pt x="254" y="1288"/>
                </a:lnTo>
                <a:lnTo>
                  <a:pt x="294" y="1288"/>
                </a:lnTo>
                <a:lnTo>
                  <a:pt x="358" y="1288"/>
                </a:lnTo>
                <a:lnTo>
                  <a:pt x="413" y="1288"/>
                </a:lnTo>
                <a:lnTo>
                  <a:pt x="445" y="1288"/>
                </a:lnTo>
                <a:lnTo>
                  <a:pt x="477" y="1288"/>
                </a:lnTo>
                <a:lnTo>
                  <a:pt x="533" y="1288"/>
                </a:lnTo>
                <a:lnTo>
                  <a:pt x="596" y="1288"/>
                </a:lnTo>
                <a:lnTo>
                  <a:pt x="636" y="1288"/>
                </a:lnTo>
                <a:lnTo>
                  <a:pt x="684" y="1288"/>
                </a:lnTo>
                <a:lnTo>
                  <a:pt x="739" y="1296"/>
                </a:lnTo>
                <a:lnTo>
                  <a:pt x="771" y="1304"/>
                </a:lnTo>
                <a:lnTo>
                  <a:pt x="811" y="1312"/>
                </a:lnTo>
                <a:lnTo>
                  <a:pt x="819" y="1312"/>
                </a:lnTo>
                <a:lnTo>
                  <a:pt x="851" y="1320"/>
                </a:lnTo>
                <a:lnTo>
                  <a:pt x="898" y="1328"/>
                </a:lnTo>
                <a:lnTo>
                  <a:pt x="954" y="1336"/>
                </a:lnTo>
                <a:lnTo>
                  <a:pt x="1010" y="1352"/>
                </a:lnTo>
                <a:lnTo>
                  <a:pt x="1034" y="1352"/>
                </a:lnTo>
                <a:lnTo>
                  <a:pt x="1049" y="1352"/>
                </a:lnTo>
                <a:lnTo>
                  <a:pt x="1097" y="1352"/>
                </a:lnTo>
                <a:lnTo>
                  <a:pt x="1129" y="1352"/>
                </a:lnTo>
                <a:lnTo>
                  <a:pt x="1169" y="1344"/>
                </a:lnTo>
                <a:lnTo>
                  <a:pt x="1185" y="1336"/>
                </a:lnTo>
                <a:lnTo>
                  <a:pt x="1200" y="1328"/>
                </a:lnTo>
                <a:lnTo>
                  <a:pt x="1232" y="1304"/>
                </a:lnTo>
                <a:lnTo>
                  <a:pt x="1248" y="1280"/>
                </a:lnTo>
                <a:lnTo>
                  <a:pt x="1264" y="1249"/>
                </a:lnTo>
                <a:lnTo>
                  <a:pt x="1264" y="1233"/>
                </a:lnTo>
                <a:lnTo>
                  <a:pt x="1272" y="1209"/>
                </a:lnTo>
                <a:lnTo>
                  <a:pt x="1272" y="1169"/>
                </a:lnTo>
                <a:lnTo>
                  <a:pt x="1264" y="1129"/>
                </a:lnTo>
                <a:lnTo>
                  <a:pt x="1256" y="1082"/>
                </a:lnTo>
                <a:lnTo>
                  <a:pt x="1248" y="1058"/>
                </a:lnTo>
                <a:lnTo>
                  <a:pt x="1240" y="1034"/>
                </a:lnTo>
                <a:lnTo>
                  <a:pt x="1224" y="986"/>
                </a:lnTo>
                <a:lnTo>
                  <a:pt x="1208" y="938"/>
                </a:lnTo>
                <a:lnTo>
                  <a:pt x="1193" y="899"/>
                </a:lnTo>
                <a:lnTo>
                  <a:pt x="1185" y="875"/>
                </a:lnTo>
                <a:lnTo>
                  <a:pt x="1177" y="859"/>
                </a:lnTo>
                <a:lnTo>
                  <a:pt x="1161" y="811"/>
                </a:lnTo>
                <a:lnTo>
                  <a:pt x="1153" y="763"/>
                </a:lnTo>
                <a:lnTo>
                  <a:pt x="1145" y="708"/>
                </a:lnTo>
                <a:lnTo>
                  <a:pt x="1145" y="684"/>
                </a:lnTo>
                <a:lnTo>
                  <a:pt x="1145" y="636"/>
                </a:lnTo>
                <a:lnTo>
                  <a:pt x="1137" y="533"/>
                </a:lnTo>
                <a:lnTo>
                  <a:pt x="1137" y="477"/>
                </a:lnTo>
                <a:lnTo>
                  <a:pt x="1137" y="453"/>
                </a:lnTo>
                <a:lnTo>
                  <a:pt x="1129" y="398"/>
                </a:lnTo>
                <a:lnTo>
                  <a:pt x="1121" y="350"/>
                </a:lnTo>
                <a:lnTo>
                  <a:pt x="1105" y="310"/>
                </a:lnTo>
                <a:lnTo>
                  <a:pt x="1097" y="294"/>
                </a:lnTo>
                <a:lnTo>
                  <a:pt x="1089" y="278"/>
                </a:lnTo>
                <a:lnTo>
                  <a:pt x="1057" y="231"/>
                </a:lnTo>
                <a:lnTo>
                  <a:pt x="1018" y="183"/>
                </a:lnTo>
                <a:lnTo>
                  <a:pt x="970" y="135"/>
                </a:lnTo>
                <a:lnTo>
                  <a:pt x="946" y="111"/>
                </a:lnTo>
                <a:lnTo>
                  <a:pt x="962" y="119"/>
                </a:lnTo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3962400" y="1328738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3200400" y="2414588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2451100" y="3514725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1968500" y="4600575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2870200" y="4600575"/>
            <a:ext cx="685800" cy="5429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4064000" y="2414588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Rectangle 10"/>
          <p:cNvSpPr>
            <a:spLocks noChangeArrowheads="1"/>
          </p:cNvSpPr>
          <p:nvPr/>
        </p:nvSpPr>
        <p:spPr bwMode="auto">
          <a:xfrm>
            <a:off x="4927600" y="2414588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Line 11"/>
          <p:cNvSpPr>
            <a:spLocks noChangeShapeType="1"/>
          </p:cNvSpPr>
          <p:nvPr/>
        </p:nvSpPr>
        <p:spPr bwMode="auto">
          <a:xfrm flipH="1">
            <a:off x="2286000" y="4071937"/>
            <a:ext cx="520700" cy="5286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Line 12"/>
          <p:cNvSpPr>
            <a:spLocks noChangeShapeType="1"/>
          </p:cNvSpPr>
          <p:nvPr/>
        </p:nvSpPr>
        <p:spPr bwMode="auto">
          <a:xfrm>
            <a:off x="2781300" y="4071938"/>
            <a:ext cx="444500" cy="5429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Line 13"/>
          <p:cNvSpPr>
            <a:spLocks noChangeShapeType="1"/>
          </p:cNvSpPr>
          <p:nvPr/>
        </p:nvSpPr>
        <p:spPr bwMode="auto">
          <a:xfrm>
            <a:off x="4330700" y="1885950"/>
            <a:ext cx="38100" cy="528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>
            <a:off x="4305300" y="1914525"/>
            <a:ext cx="9779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2767" name="Rectangle 15"/>
          <p:cNvSpPr>
            <a:spLocks noChangeArrowheads="1"/>
          </p:cNvSpPr>
          <p:nvPr/>
        </p:nvSpPr>
        <p:spPr bwMode="auto">
          <a:xfrm>
            <a:off x="5116514" y="1546622"/>
            <a:ext cx="2067873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Top modules are</a:t>
            </a:r>
          </a:p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tested with stubs</a:t>
            </a:r>
          </a:p>
        </p:txBody>
      </p:sp>
      <p:sp>
        <p:nvSpPr>
          <p:cNvPr id="842768" name="Rectangle 16"/>
          <p:cNvSpPr>
            <a:spLocks noChangeArrowheads="1"/>
          </p:cNvSpPr>
          <p:nvPr/>
        </p:nvSpPr>
        <p:spPr bwMode="auto">
          <a:xfrm>
            <a:off x="3783014" y="4161235"/>
            <a:ext cx="393601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Worker modules are grouped into </a:t>
            </a:r>
          </a:p>
        </p:txBody>
      </p:sp>
      <p:sp>
        <p:nvSpPr>
          <p:cNvPr id="842769" name="Rectangle 17"/>
          <p:cNvSpPr>
            <a:spLocks noChangeArrowheads="1"/>
          </p:cNvSpPr>
          <p:nvPr/>
        </p:nvSpPr>
        <p:spPr bwMode="auto">
          <a:xfrm>
            <a:off x="3783014" y="4418410"/>
            <a:ext cx="251671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builds and integrated</a:t>
            </a:r>
          </a:p>
        </p:txBody>
      </p:sp>
      <p:sp>
        <p:nvSpPr>
          <p:cNvPr id="842770" name="Rectangle 18"/>
          <p:cNvSpPr>
            <a:spLocks noChangeArrowheads="1"/>
          </p:cNvSpPr>
          <p:nvPr/>
        </p:nvSpPr>
        <p:spPr bwMode="auto">
          <a:xfrm>
            <a:off x="4189414" y="1360885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A</a:t>
            </a:r>
          </a:p>
        </p:txBody>
      </p:sp>
      <p:sp>
        <p:nvSpPr>
          <p:cNvPr id="842771" name="Rectangle 19"/>
          <p:cNvSpPr>
            <a:spLocks noChangeArrowheads="1"/>
          </p:cNvSpPr>
          <p:nvPr/>
        </p:nvSpPr>
        <p:spPr bwMode="auto">
          <a:xfrm>
            <a:off x="3402014" y="2503885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B</a:t>
            </a:r>
          </a:p>
        </p:txBody>
      </p:sp>
      <p:sp>
        <p:nvSpPr>
          <p:cNvPr id="842772" name="Rectangle 20"/>
          <p:cNvSpPr>
            <a:spLocks noChangeArrowheads="1"/>
          </p:cNvSpPr>
          <p:nvPr/>
        </p:nvSpPr>
        <p:spPr bwMode="auto">
          <a:xfrm>
            <a:off x="2678114" y="3604022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C</a:t>
            </a:r>
          </a:p>
        </p:txBody>
      </p:sp>
      <p:sp>
        <p:nvSpPr>
          <p:cNvPr id="842773" name="Rectangle 21"/>
          <p:cNvSpPr>
            <a:spLocks noChangeArrowheads="1"/>
          </p:cNvSpPr>
          <p:nvPr/>
        </p:nvSpPr>
        <p:spPr bwMode="auto">
          <a:xfrm>
            <a:off x="2144714" y="4647010"/>
            <a:ext cx="34945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D</a:t>
            </a:r>
          </a:p>
        </p:txBody>
      </p:sp>
      <p:sp>
        <p:nvSpPr>
          <p:cNvPr id="842774" name="Rectangle 22"/>
          <p:cNvSpPr>
            <a:spLocks noChangeArrowheads="1"/>
          </p:cNvSpPr>
          <p:nvPr/>
        </p:nvSpPr>
        <p:spPr bwMode="auto">
          <a:xfrm>
            <a:off x="3071814" y="4647010"/>
            <a:ext cx="336630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E</a:t>
            </a:r>
          </a:p>
        </p:txBody>
      </p:sp>
      <p:sp>
        <p:nvSpPr>
          <p:cNvPr id="842775" name="Rectangle 23"/>
          <p:cNvSpPr>
            <a:spLocks noChangeArrowheads="1"/>
          </p:cNvSpPr>
          <p:nvPr/>
        </p:nvSpPr>
        <p:spPr bwMode="auto">
          <a:xfrm>
            <a:off x="4265614" y="2518172"/>
            <a:ext cx="323806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F</a:t>
            </a:r>
          </a:p>
        </p:txBody>
      </p:sp>
      <p:sp>
        <p:nvSpPr>
          <p:cNvPr id="842776" name="Rectangle 24"/>
          <p:cNvSpPr>
            <a:spLocks noChangeArrowheads="1"/>
          </p:cNvSpPr>
          <p:nvPr/>
        </p:nvSpPr>
        <p:spPr bwMode="auto">
          <a:xfrm>
            <a:off x="5091114" y="2518172"/>
            <a:ext cx="362278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G</a:t>
            </a:r>
          </a:p>
        </p:txBody>
      </p:sp>
      <p:sp>
        <p:nvSpPr>
          <p:cNvPr id="842777" name="Rectangle 25"/>
          <p:cNvSpPr>
            <a:spLocks noChangeArrowheads="1"/>
          </p:cNvSpPr>
          <p:nvPr/>
        </p:nvSpPr>
        <p:spPr bwMode="auto">
          <a:xfrm>
            <a:off x="2182813" y="5484615"/>
            <a:ext cx="1192633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charset="0"/>
              </a:rPr>
              <a:t>cluster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15387" name="Line 26"/>
          <p:cNvSpPr>
            <a:spLocks noChangeShapeType="1"/>
          </p:cNvSpPr>
          <p:nvPr/>
        </p:nvSpPr>
        <p:spPr bwMode="auto">
          <a:xfrm flipH="1">
            <a:off x="3683000" y="1914525"/>
            <a:ext cx="609600" cy="471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Line 27"/>
          <p:cNvSpPr>
            <a:spLocks noChangeShapeType="1"/>
          </p:cNvSpPr>
          <p:nvPr/>
        </p:nvSpPr>
        <p:spPr bwMode="auto">
          <a:xfrm flipV="1">
            <a:off x="2882900" y="2971800"/>
            <a:ext cx="546100" cy="542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3715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4B6D-4AAD-47AD-A25E-EC6AC6DB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Sandwich Approach</a:t>
            </a:r>
          </a:p>
        </p:txBody>
      </p:sp>
    </p:spTree>
    <p:extLst>
      <p:ext uri="{BB962C8B-B14F-4D97-AF65-F5344CB8AC3E}">
        <p14:creationId xmlns:p14="http://schemas.microsoft.com/office/powerpoint/2010/main" val="1689073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43200"/>
            <a:ext cx="7772400" cy="1470025"/>
          </a:xfrm>
        </p:spPr>
        <p:txBody>
          <a:bodyPr/>
          <a:lstStyle/>
          <a:p>
            <a:r>
              <a:rPr lang="en-US" dirty="0"/>
              <a:t>Next Time =&gt; Object Oriented Integration Testing</a:t>
            </a:r>
          </a:p>
        </p:txBody>
      </p:sp>
    </p:spTree>
    <p:extLst>
      <p:ext uri="{BB962C8B-B14F-4D97-AF65-F5344CB8AC3E}">
        <p14:creationId xmlns:p14="http://schemas.microsoft.com/office/powerpoint/2010/main" val="1895906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2432</TotalTime>
  <Words>317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Helvetica</vt:lpstr>
      <vt:lpstr>Times New Roman</vt:lpstr>
      <vt:lpstr>Office Theme</vt:lpstr>
      <vt:lpstr>CSE 464 : Software Quality Assurance and Testing</vt:lpstr>
      <vt:lpstr>How do we Test This Application – Integration Testing?</vt:lpstr>
      <vt:lpstr>Integration Testing : A Quick Review</vt:lpstr>
      <vt:lpstr>Integration Testing Strategies</vt:lpstr>
      <vt:lpstr>Incremental Integration</vt:lpstr>
      <vt:lpstr>Top Down Integration</vt:lpstr>
      <vt:lpstr>Top Down Integration</vt:lpstr>
      <vt:lpstr>Top down Approach</vt:lpstr>
      <vt:lpstr>Bottom-Up Integration</vt:lpstr>
      <vt:lpstr>Bottom Up Approach</vt:lpstr>
      <vt:lpstr>Sandwich Testing</vt:lpstr>
      <vt:lpstr>Sandwich Approach</vt:lpstr>
      <vt:lpstr>Next Time =&gt; Object Oriented Integration Testing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209</cp:revision>
  <cp:lastPrinted>2011-08-23T15:27:31Z</cp:lastPrinted>
  <dcterms:created xsi:type="dcterms:W3CDTF">2011-08-13T19:09:36Z</dcterms:created>
  <dcterms:modified xsi:type="dcterms:W3CDTF">2022-03-30T05:20:13Z</dcterms:modified>
</cp:coreProperties>
</file>