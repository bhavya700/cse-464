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9" r:id="rId3"/>
    <p:sldId id="278" r:id="rId4"/>
    <p:sldId id="260" r:id="rId5"/>
    <p:sldId id="261" r:id="rId6"/>
    <p:sldId id="262" r:id="rId7"/>
    <p:sldId id="263" r:id="rId8"/>
    <p:sldId id="264" r:id="rId9"/>
    <p:sldId id="265" r:id="rId10"/>
    <p:sldId id="266" r:id="rId11"/>
    <p:sldId id="271" r:id="rId12"/>
    <p:sldId id="275" r:id="rId13"/>
    <p:sldId id="276" r:id="rId14"/>
    <p:sldId id="27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930" y="45"/>
      </p:cViewPr>
      <p:guideLst>
        <p:guide orient="horz" pos="2160"/>
        <p:guide pos="2880"/>
      </p:guideLst>
    </p:cSldViewPr>
  </p:slideViewPr>
  <p:notesTextViewPr>
    <p:cViewPr>
      <p:scale>
        <a:sx n="1" d="1"/>
        <a:sy n="1" d="1"/>
      </p:scale>
      <p:origin x="0" y="0"/>
    </p:cViewPr>
  </p:notesTextViewPr>
  <p:sorterViewPr>
    <p:cViewPr>
      <p:scale>
        <a:sx n="100" d="100"/>
        <a:sy n="100" d="100"/>
      </p:scale>
      <p:origin x="0" y="-270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627143-F863-4C44-A2CD-92C4AA5D98B0}" type="datetimeFigureOut">
              <a:rPr lang="en-US" smtClean="0"/>
              <a:t>11/23/2021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988D27-AE42-4822-BB11-F1598FB10815}" type="slidenum">
              <a:rPr lang="en-US" smtClean="0"/>
              <a:t>‹#›</a:t>
            </a:fld>
            <a:endParaRPr lang="en-US"/>
          </a:p>
        </p:txBody>
      </p:sp>
    </p:spTree>
    <p:extLst>
      <p:ext uri="{BB962C8B-B14F-4D97-AF65-F5344CB8AC3E}">
        <p14:creationId xmlns:p14="http://schemas.microsoft.com/office/powerpoint/2010/main" val="1559418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6D668E4-F2E8-4057-BD6D-DBE4FC99E099}"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424280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D668E4-F2E8-4057-BD6D-DBE4FC99E099}"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1285609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D668E4-F2E8-4057-BD6D-DBE4FC99E099}"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2388145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D668E4-F2E8-4057-BD6D-DBE4FC99E099}" type="datetimeFigureOut">
              <a:rPr lang="en-US" smtClean="0"/>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127832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6D668E4-F2E8-4057-BD6D-DBE4FC99E099}" type="datetimeFigureOut">
              <a:rPr lang="en-US" smtClean="0"/>
              <a:t>11/23/2021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520405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D668E4-F2E8-4057-BD6D-DBE4FC99E099}" type="datetimeFigureOut">
              <a:rPr lang="en-US" smtClean="0"/>
              <a:t>11/23/2021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1567549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668E4-F2E8-4057-BD6D-DBE4FC99E099}" type="datetimeFigureOut">
              <a:rPr lang="en-US" smtClean="0"/>
              <a:t>11/23/2021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294094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D668E4-F2E8-4057-BD6D-DBE4FC99E099}" type="datetimeFigureOut">
              <a:rPr lang="en-US" smtClean="0"/>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3823686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D668E4-F2E8-4057-BD6D-DBE4FC99E099}" type="datetimeFigureOut">
              <a:rPr lang="en-US" smtClean="0"/>
              <a:t>11/23/2021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336187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D668E4-F2E8-4057-BD6D-DBE4FC99E099}"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361585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D668E4-F2E8-4057-BD6D-DBE4FC99E099}" type="datetimeFigureOut">
              <a:rPr lang="en-US" smtClean="0"/>
              <a:t>11/23/2021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8108B-55D8-4241-9B7B-BC520B78734C}" type="slidenum">
              <a:rPr lang="en-US" smtClean="0"/>
              <a:t>‹#›</a:t>
            </a:fld>
            <a:endParaRPr lang="en-US"/>
          </a:p>
        </p:txBody>
      </p:sp>
    </p:spTree>
    <p:extLst>
      <p:ext uri="{BB962C8B-B14F-4D97-AF65-F5344CB8AC3E}">
        <p14:creationId xmlns:p14="http://schemas.microsoft.com/office/powerpoint/2010/main" val="4048551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D668E4-F2E8-4057-BD6D-DBE4FC99E099}" type="datetimeFigureOut">
              <a:rPr lang="en-US" smtClean="0"/>
              <a:t>11/23/2021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88108B-55D8-4241-9B7B-BC520B78734C}" type="slidenum">
              <a:rPr lang="en-US" smtClean="0"/>
              <a:t>‹#›</a:t>
            </a:fld>
            <a:endParaRPr lang="en-US"/>
          </a:p>
        </p:txBody>
      </p:sp>
    </p:spTree>
    <p:extLst>
      <p:ext uri="{BB962C8B-B14F-4D97-AF65-F5344CB8AC3E}">
        <p14:creationId xmlns:p14="http://schemas.microsoft.com/office/powerpoint/2010/main" val="230153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4114800"/>
            <a:ext cx="7772400" cy="1470025"/>
          </a:xfrm>
        </p:spPr>
        <p:txBody>
          <a:bodyPr>
            <a:noAutofit/>
          </a:bodyPr>
          <a:lstStyle/>
          <a:p>
            <a:br>
              <a:rPr lang="en-US" sz="2800" dirty="0"/>
            </a:br>
            <a:r>
              <a:rPr lang="en-US" sz="2800" dirty="0"/>
              <a:t>Selenium </a:t>
            </a:r>
            <a:r>
              <a:rPr lang="en-US" sz="2800" dirty="0" err="1"/>
              <a:t>ToolKit</a:t>
            </a:r>
            <a:endParaRPr lang="en-US" sz="2800" dirty="0"/>
          </a:p>
        </p:txBody>
      </p:sp>
      <p:sp>
        <p:nvSpPr>
          <p:cNvPr id="3" name="Subtitle 2"/>
          <p:cNvSpPr>
            <a:spLocks noGrp="1"/>
          </p:cNvSpPr>
          <p:nvPr>
            <p:ph type="subTitle" idx="1"/>
          </p:nvPr>
        </p:nvSpPr>
        <p:spPr>
          <a:xfrm>
            <a:off x="1371600" y="2362200"/>
            <a:ext cx="6400800" cy="1752600"/>
          </a:xfrm>
        </p:spPr>
        <p:txBody>
          <a:bodyPr>
            <a:noAutofit/>
          </a:bodyPr>
          <a:lstStyle/>
          <a:p>
            <a:r>
              <a:rPr lang="en-US" sz="3600" dirty="0"/>
              <a:t>Web Application Testing </a:t>
            </a:r>
            <a:r>
              <a:rPr lang="en-US" sz="3600"/>
              <a:t>– III</a:t>
            </a:r>
            <a:endParaRPr lang="en-US" sz="3600" dirty="0"/>
          </a:p>
        </p:txBody>
      </p:sp>
    </p:spTree>
    <p:extLst>
      <p:ext uri="{BB962C8B-B14F-4D97-AF65-F5344CB8AC3E}">
        <p14:creationId xmlns:p14="http://schemas.microsoft.com/office/powerpoint/2010/main" val="2658182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4322"/>
          </a:xfrm>
        </p:spPr>
        <p:txBody>
          <a:bodyPr>
            <a:normAutofit/>
          </a:bodyPr>
          <a:lstStyle/>
          <a:p>
            <a:r>
              <a:rPr lang="en-US" dirty="0"/>
              <a:t>Selenium </a:t>
            </a:r>
            <a:r>
              <a:rPr lang="en-US" dirty="0" err="1"/>
              <a:t>ToolKit</a:t>
            </a:r>
            <a:endParaRPr lang="en-US" dirty="0"/>
          </a:p>
        </p:txBody>
      </p:sp>
      <p:sp>
        <p:nvSpPr>
          <p:cNvPr id="4" name="Oval 3"/>
          <p:cNvSpPr/>
          <p:nvPr/>
        </p:nvSpPr>
        <p:spPr>
          <a:xfrm>
            <a:off x="3820443" y="3535747"/>
            <a:ext cx="1798320" cy="137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Selenium</a:t>
            </a:r>
          </a:p>
        </p:txBody>
      </p:sp>
      <p:sp>
        <p:nvSpPr>
          <p:cNvPr id="8" name="Rectangle 7"/>
          <p:cNvSpPr/>
          <p:nvPr/>
        </p:nvSpPr>
        <p:spPr>
          <a:xfrm>
            <a:off x="5633548" y="1686492"/>
            <a:ext cx="2667000" cy="762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Selenium IDE</a:t>
            </a:r>
          </a:p>
        </p:txBody>
      </p:sp>
      <p:sp>
        <p:nvSpPr>
          <p:cNvPr id="9" name="Rectangle 8"/>
          <p:cNvSpPr/>
          <p:nvPr/>
        </p:nvSpPr>
        <p:spPr>
          <a:xfrm>
            <a:off x="2309751" y="1646610"/>
            <a:ext cx="2667000" cy="7620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Selenium RC</a:t>
            </a:r>
          </a:p>
          <a:p>
            <a:pPr algn="ctr"/>
            <a:r>
              <a:rPr lang="en-US" b="1" dirty="0">
                <a:solidFill>
                  <a:srgbClr val="FF0000"/>
                </a:solidFill>
              </a:rPr>
              <a:t>(Obsolete)</a:t>
            </a:r>
          </a:p>
        </p:txBody>
      </p:sp>
      <p:sp>
        <p:nvSpPr>
          <p:cNvPr id="10" name="Rectangle 9"/>
          <p:cNvSpPr/>
          <p:nvPr/>
        </p:nvSpPr>
        <p:spPr>
          <a:xfrm>
            <a:off x="6196342" y="4466503"/>
            <a:ext cx="2667000" cy="762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WebDriver</a:t>
            </a:r>
            <a:endParaRPr lang="en-US" dirty="0"/>
          </a:p>
        </p:txBody>
      </p:sp>
      <p:sp>
        <p:nvSpPr>
          <p:cNvPr id="11" name="Rectangle 10"/>
          <p:cNvSpPr/>
          <p:nvPr/>
        </p:nvSpPr>
        <p:spPr>
          <a:xfrm>
            <a:off x="57237" y="4013341"/>
            <a:ext cx="2667000" cy="762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Selenium Grid</a:t>
            </a:r>
          </a:p>
        </p:txBody>
      </p:sp>
      <p:sp>
        <p:nvSpPr>
          <p:cNvPr id="22" name="Right Arrow 21"/>
          <p:cNvSpPr/>
          <p:nvPr/>
        </p:nvSpPr>
        <p:spPr>
          <a:xfrm rot="18355255">
            <a:off x="5100840" y="2920214"/>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rot="15069658">
            <a:off x="3524707" y="2747550"/>
            <a:ext cx="1027574"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rot="1487235">
            <a:off x="5667385" y="4346878"/>
            <a:ext cx="548156"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rot="10310767">
            <a:off x="2753660" y="403762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6445245" y="2512640"/>
            <a:ext cx="1828800" cy="369332"/>
          </a:xfrm>
          <a:prstGeom prst="rect">
            <a:avLst/>
          </a:prstGeom>
          <a:noFill/>
        </p:spPr>
        <p:txBody>
          <a:bodyPr wrap="square" rtlCol="0">
            <a:spAutoFit/>
          </a:bodyPr>
          <a:lstStyle/>
          <a:p>
            <a:r>
              <a:rPr lang="en-US" b="1" dirty="0"/>
              <a:t>Firefox Only</a:t>
            </a:r>
          </a:p>
        </p:txBody>
      </p:sp>
      <p:sp>
        <p:nvSpPr>
          <p:cNvPr id="27" name="TextBox 26"/>
          <p:cNvSpPr txBox="1"/>
          <p:nvPr/>
        </p:nvSpPr>
        <p:spPr>
          <a:xfrm>
            <a:off x="6767842" y="3898381"/>
            <a:ext cx="1690358" cy="646331"/>
          </a:xfrm>
          <a:prstGeom prst="rect">
            <a:avLst/>
          </a:prstGeom>
          <a:noFill/>
        </p:spPr>
        <p:txBody>
          <a:bodyPr wrap="square" rtlCol="0">
            <a:spAutoFit/>
          </a:bodyPr>
          <a:lstStyle/>
          <a:p>
            <a:r>
              <a:rPr lang="en-US" b="1" dirty="0"/>
              <a:t>Multiple-Browsers</a:t>
            </a:r>
          </a:p>
        </p:txBody>
      </p:sp>
      <p:sp>
        <p:nvSpPr>
          <p:cNvPr id="28" name="TextBox 27"/>
          <p:cNvSpPr txBox="1"/>
          <p:nvPr/>
        </p:nvSpPr>
        <p:spPr>
          <a:xfrm>
            <a:off x="640679" y="3090011"/>
            <a:ext cx="2057400" cy="923330"/>
          </a:xfrm>
          <a:prstGeom prst="rect">
            <a:avLst/>
          </a:prstGeom>
          <a:noFill/>
        </p:spPr>
        <p:txBody>
          <a:bodyPr wrap="square" rtlCol="0">
            <a:spAutoFit/>
          </a:bodyPr>
          <a:lstStyle/>
          <a:p>
            <a:r>
              <a:rPr lang="en-US" b="1" dirty="0"/>
              <a:t>Run Tests in Parallel in different environments</a:t>
            </a:r>
          </a:p>
        </p:txBody>
      </p:sp>
      <p:sp>
        <p:nvSpPr>
          <p:cNvPr id="15" name="Right Arrow 14"/>
          <p:cNvSpPr/>
          <p:nvPr/>
        </p:nvSpPr>
        <p:spPr>
          <a:xfrm rot="6319741">
            <a:off x="3853136" y="5171586"/>
            <a:ext cx="915568" cy="5247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631611" y="5912150"/>
            <a:ext cx="2667000" cy="7620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RemoteWebDriver</a:t>
            </a:r>
            <a:endParaRPr lang="en-US" dirty="0"/>
          </a:p>
        </p:txBody>
      </p:sp>
      <p:sp>
        <p:nvSpPr>
          <p:cNvPr id="17" name="TextBox 16"/>
          <p:cNvSpPr txBox="1"/>
          <p:nvPr/>
        </p:nvSpPr>
        <p:spPr>
          <a:xfrm>
            <a:off x="5446702" y="6017738"/>
            <a:ext cx="2173297" cy="646331"/>
          </a:xfrm>
          <a:prstGeom prst="rect">
            <a:avLst/>
          </a:prstGeom>
          <a:noFill/>
        </p:spPr>
        <p:txBody>
          <a:bodyPr wrap="square" rtlCol="0">
            <a:spAutoFit/>
          </a:bodyPr>
          <a:lstStyle/>
          <a:p>
            <a:r>
              <a:rPr lang="en-US" b="1" dirty="0"/>
              <a:t>Execute Test cases in a remote machine</a:t>
            </a:r>
          </a:p>
        </p:txBody>
      </p:sp>
      <p:sp>
        <p:nvSpPr>
          <p:cNvPr id="3" name="Rectangle 2"/>
          <p:cNvSpPr/>
          <p:nvPr/>
        </p:nvSpPr>
        <p:spPr>
          <a:xfrm>
            <a:off x="548052" y="868787"/>
            <a:ext cx="2920543" cy="369332"/>
          </a:xfrm>
          <a:prstGeom prst="rect">
            <a:avLst/>
          </a:prstGeom>
        </p:spPr>
        <p:txBody>
          <a:bodyPr wrap="none">
            <a:spAutoFit/>
          </a:bodyPr>
          <a:lstStyle/>
          <a:p>
            <a:r>
              <a:rPr lang="en-US" dirty="0"/>
              <a:t>http://www.seleniumhq.org/</a:t>
            </a:r>
          </a:p>
        </p:txBody>
      </p:sp>
    </p:spTree>
    <p:extLst>
      <p:ext uri="{BB962C8B-B14F-4D97-AF65-F5344CB8AC3E}">
        <p14:creationId xmlns:p14="http://schemas.microsoft.com/office/powerpoint/2010/main" val="3553056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819400"/>
            <a:ext cx="8229600" cy="1143000"/>
          </a:xfrm>
        </p:spPr>
        <p:txBody>
          <a:bodyPr/>
          <a:lstStyle/>
          <a:p>
            <a:r>
              <a:rPr lang="en-US" dirty="0"/>
              <a:t>Selenium IDE Demo</a:t>
            </a:r>
          </a:p>
        </p:txBody>
      </p:sp>
    </p:spTree>
    <p:extLst>
      <p:ext uri="{BB962C8B-B14F-4D97-AF65-F5344CB8AC3E}">
        <p14:creationId xmlns:p14="http://schemas.microsoft.com/office/powerpoint/2010/main" val="1312742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22531"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81DE6A-D446-4DBF-ACCC-038CEF23A9C4}" type="slidenum">
              <a:rPr lang="en-US" altLang="en-US"/>
              <a:pPr eaLnBrk="1" hangingPunct="1"/>
              <a:t>4</a:t>
            </a:fld>
            <a:endParaRPr lang="en-US" altLang="en-US"/>
          </a:p>
        </p:txBody>
      </p:sp>
      <p:sp>
        <p:nvSpPr>
          <p:cNvPr id="22532" name="Rectangle 2"/>
          <p:cNvSpPr>
            <a:spLocks noGrp="1" noChangeArrowheads="1"/>
          </p:cNvSpPr>
          <p:nvPr>
            <p:ph type="title"/>
          </p:nvPr>
        </p:nvSpPr>
        <p:spPr/>
        <p:txBody>
          <a:bodyPr/>
          <a:lstStyle/>
          <a:p>
            <a:pPr eaLnBrk="1" hangingPunct="1"/>
            <a:r>
              <a:rPr lang="en-US" altLang="en-US"/>
              <a:t>Adding Assertions to the Script</a:t>
            </a:r>
          </a:p>
        </p:txBody>
      </p:sp>
      <p:sp>
        <p:nvSpPr>
          <p:cNvPr id="22533" name="Rectangle 3"/>
          <p:cNvSpPr>
            <a:spLocks noGrp="1" noChangeArrowheads="1"/>
          </p:cNvSpPr>
          <p:nvPr>
            <p:ph type="body" idx="1"/>
          </p:nvPr>
        </p:nvSpPr>
        <p:spPr/>
        <p:txBody>
          <a:bodyPr/>
          <a:lstStyle/>
          <a:p>
            <a:pPr eaLnBrk="1" hangingPunct="1"/>
            <a:r>
              <a:rPr lang="en-US" altLang="en-US" sz="2800"/>
              <a:t>Selenese allows multiple ways of checking for UI elements.</a:t>
            </a:r>
          </a:p>
          <a:p>
            <a:pPr eaLnBrk="1" hangingPunct="1"/>
            <a:r>
              <a:rPr lang="en-US" altLang="en-US" sz="2800"/>
              <a:t>Verifications and assertions are used to check if</a:t>
            </a:r>
          </a:p>
          <a:p>
            <a:pPr lvl="3" eaLnBrk="1" hangingPunct="1">
              <a:buFont typeface="Wingdings" panose="05000000000000000000" pitchFamily="2" charset="2"/>
              <a:buChar char="Ø"/>
            </a:pPr>
            <a:r>
              <a:rPr lang="en-US" altLang="en-US" sz="1800"/>
              <a:t>an element is present somewhere on the page? </a:t>
            </a:r>
          </a:p>
          <a:p>
            <a:pPr lvl="3" eaLnBrk="1" hangingPunct="1">
              <a:buFont typeface="Wingdings" panose="05000000000000000000" pitchFamily="2" charset="2"/>
              <a:buChar char="Ø"/>
            </a:pPr>
            <a:r>
              <a:rPr lang="en-US" altLang="en-US" sz="1800"/>
              <a:t>specific text is somewhere on the page? </a:t>
            </a:r>
          </a:p>
          <a:p>
            <a:pPr lvl="3" eaLnBrk="1" hangingPunct="1">
              <a:buFont typeface="Wingdings" panose="05000000000000000000" pitchFamily="2" charset="2"/>
              <a:buChar char="Ø"/>
            </a:pPr>
            <a:r>
              <a:rPr lang="en-US" altLang="en-US" sz="1800"/>
              <a:t>specific text is at a specific location on the page? </a:t>
            </a:r>
          </a:p>
          <a:p>
            <a:pPr eaLnBrk="1" hangingPunct="1"/>
            <a:r>
              <a:rPr lang="en-US" altLang="en-US" sz="2800"/>
              <a:t>Verifications and assertions are not one and the same.</a:t>
            </a:r>
          </a:p>
          <a:p>
            <a:pPr eaLnBrk="1" hangingPunct="1"/>
            <a:r>
              <a:rPr lang="en-US" altLang="en-US" sz="2800"/>
              <a:t>If an assertion fails, the script will be aborted but if a verification fails the script will continue.</a:t>
            </a:r>
          </a:p>
          <a:p>
            <a:pPr eaLnBrk="1" hangingPunct="1">
              <a:buFontTx/>
              <a:buNone/>
            </a:pPr>
            <a:endParaRPr lang="en-US" altLang="en-US" sz="2800"/>
          </a:p>
        </p:txBody>
      </p:sp>
    </p:spTree>
    <p:extLst>
      <p:ext uri="{BB962C8B-B14F-4D97-AF65-F5344CB8AC3E}">
        <p14:creationId xmlns:p14="http://schemas.microsoft.com/office/powerpoint/2010/main" val="4078871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23555"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F01579-EF9F-437B-8BF2-B9F07FFD8874}" type="slidenum">
              <a:rPr lang="en-US" altLang="en-US"/>
              <a:pPr eaLnBrk="1" hangingPunct="1"/>
              <a:t>5</a:t>
            </a:fld>
            <a:endParaRPr lang="en-US" altLang="en-US"/>
          </a:p>
        </p:txBody>
      </p:sp>
      <p:sp>
        <p:nvSpPr>
          <p:cNvPr id="23556" name="Rectangle 2"/>
          <p:cNvSpPr>
            <a:spLocks noGrp="1" noChangeArrowheads="1"/>
          </p:cNvSpPr>
          <p:nvPr>
            <p:ph type="title"/>
          </p:nvPr>
        </p:nvSpPr>
        <p:spPr/>
        <p:txBody>
          <a:bodyPr/>
          <a:lstStyle/>
          <a:p>
            <a:pPr eaLnBrk="1" hangingPunct="1"/>
            <a:r>
              <a:rPr lang="en-US" altLang="en-US"/>
              <a:t>Verification Commands</a:t>
            </a:r>
          </a:p>
        </p:txBody>
      </p:sp>
      <p:sp>
        <p:nvSpPr>
          <p:cNvPr id="23557" name="Text Box 4"/>
          <p:cNvSpPr txBox="1">
            <a:spLocks noChangeArrowheads="1"/>
          </p:cNvSpPr>
          <p:nvPr/>
        </p:nvSpPr>
        <p:spPr bwMode="auto">
          <a:xfrm>
            <a:off x="609600" y="1371600"/>
            <a:ext cx="3352800" cy="407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b="1"/>
              <a:t>verifyTextPresent</a:t>
            </a:r>
          </a:p>
          <a:p>
            <a:pPr eaLnBrk="1" hangingPunct="1">
              <a:spcBef>
                <a:spcPct val="50000"/>
              </a:spcBef>
              <a:buFont typeface="Wingdings" panose="05000000000000000000" pitchFamily="2" charset="2"/>
              <a:buChar char="Ø"/>
            </a:pPr>
            <a:r>
              <a:rPr lang="en-US" altLang="en-US"/>
              <a:t>This command is used to check if a particular text is present in a page or not.</a:t>
            </a:r>
          </a:p>
          <a:p>
            <a:pPr eaLnBrk="1" hangingPunct="1">
              <a:spcBef>
                <a:spcPct val="50000"/>
              </a:spcBef>
              <a:buFont typeface="Wingdings" panose="05000000000000000000" pitchFamily="2" charset="2"/>
              <a:buChar char="Ø"/>
            </a:pPr>
            <a:r>
              <a:rPr lang="en-US" altLang="en-US"/>
              <a:t>To add this command , While recording the test steps right click on the text item that you want verify. Once right clicked you can find an option “Show all commands”. On Clicking it you will find an option “verifyTextPresent”, select it</a:t>
            </a:r>
          </a:p>
          <a:p>
            <a:pPr eaLnBrk="1" hangingPunct="1">
              <a:spcBef>
                <a:spcPct val="50000"/>
              </a:spcBef>
            </a:pPr>
            <a:endParaRPr lang="en-US" altLang="en-US"/>
          </a:p>
        </p:txBody>
      </p:sp>
      <p:pic>
        <p:nvPicPr>
          <p:cNvPr id="2355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295400"/>
            <a:ext cx="3929063"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3578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24579"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DB5E87-0EA3-4304-B469-BF5C4F157D40}" type="slidenum">
              <a:rPr lang="en-US" altLang="en-US"/>
              <a:pPr eaLnBrk="1" hangingPunct="1"/>
              <a:t>6</a:t>
            </a:fld>
            <a:endParaRPr lang="en-US" altLang="en-US"/>
          </a:p>
        </p:txBody>
      </p:sp>
      <p:sp>
        <p:nvSpPr>
          <p:cNvPr id="24580" name="Rectangle 2"/>
          <p:cNvSpPr>
            <a:spLocks noGrp="1" noChangeArrowheads="1"/>
          </p:cNvSpPr>
          <p:nvPr>
            <p:ph type="title"/>
          </p:nvPr>
        </p:nvSpPr>
        <p:spPr/>
        <p:txBody>
          <a:bodyPr/>
          <a:lstStyle/>
          <a:p>
            <a:pPr eaLnBrk="1" hangingPunct="1"/>
            <a:r>
              <a:rPr lang="en-US" altLang="en-US"/>
              <a:t>Verification Commands</a:t>
            </a:r>
          </a:p>
        </p:txBody>
      </p:sp>
      <p:sp>
        <p:nvSpPr>
          <p:cNvPr id="24581" name="Rectangle 3"/>
          <p:cNvSpPr>
            <a:spLocks noGrp="1" noChangeArrowheads="1"/>
          </p:cNvSpPr>
          <p:nvPr>
            <p:ph type="body" idx="1"/>
          </p:nvPr>
        </p:nvSpPr>
        <p:spPr>
          <a:xfrm>
            <a:off x="457200" y="1600200"/>
            <a:ext cx="3810000" cy="4525963"/>
          </a:xfrm>
        </p:spPr>
        <p:txBody>
          <a:bodyPr/>
          <a:lstStyle/>
          <a:p>
            <a:pPr eaLnBrk="1" hangingPunct="1">
              <a:lnSpc>
                <a:spcPct val="80000"/>
              </a:lnSpc>
              <a:buFontTx/>
              <a:buNone/>
            </a:pPr>
            <a:r>
              <a:rPr lang="en-US" altLang="en-US" sz="2000"/>
              <a:t>verifyTitle</a:t>
            </a:r>
          </a:p>
          <a:p>
            <a:pPr algn="just" eaLnBrk="1" hangingPunct="1">
              <a:lnSpc>
                <a:spcPct val="80000"/>
              </a:lnSpc>
              <a:buFont typeface="Wingdings" panose="05000000000000000000" pitchFamily="2" charset="2"/>
              <a:buChar char="Ø"/>
            </a:pPr>
            <a:r>
              <a:rPr lang="en-US" altLang="en-US" sz="2000"/>
              <a:t>This command is used to check if the page title is correct or not.</a:t>
            </a:r>
          </a:p>
          <a:p>
            <a:pPr algn="just" eaLnBrk="1" hangingPunct="1">
              <a:lnSpc>
                <a:spcPct val="80000"/>
              </a:lnSpc>
              <a:spcBef>
                <a:spcPct val="50000"/>
              </a:spcBef>
              <a:buFont typeface="Wingdings" panose="05000000000000000000" pitchFamily="2" charset="2"/>
              <a:buChar char="Ø"/>
            </a:pPr>
            <a:r>
              <a:rPr lang="en-US" altLang="en-US" sz="2000"/>
              <a:t>To add this command , While recording the test steps right click any where on the page that you want verify. Once right clicked you can find an option “Show all commands”. On Clicking it you will find an option “verifyTitle”, select it</a:t>
            </a:r>
          </a:p>
          <a:p>
            <a:pPr algn="just" eaLnBrk="1" hangingPunct="1">
              <a:lnSpc>
                <a:spcPct val="80000"/>
              </a:lnSpc>
            </a:pPr>
            <a:endParaRPr lang="en-US" altLang="en-US" sz="2000"/>
          </a:p>
          <a:p>
            <a:pPr eaLnBrk="1" hangingPunct="1">
              <a:lnSpc>
                <a:spcPct val="80000"/>
              </a:lnSpc>
            </a:pPr>
            <a:endParaRPr lang="en-US" altLang="en-US" sz="2000"/>
          </a:p>
        </p:txBody>
      </p:sp>
      <p:pic>
        <p:nvPicPr>
          <p:cNvPr id="2458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1524000"/>
            <a:ext cx="3886200" cy="370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2298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25603"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FBCAB1-29D9-4512-BDF2-6C0D4CF0F40C}" type="slidenum">
              <a:rPr lang="en-US" altLang="en-US"/>
              <a:pPr eaLnBrk="1" hangingPunct="1"/>
              <a:t>7</a:t>
            </a:fld>
            <a:endParaRPr lang="en-US" altLang="en-US"/>
          </a:p>
        </p:txBody>
      </p:sp>
      <p:sp>
        <p:nvSpPr>
          <p:cNvPr id="25604" name="Rectangle 2"/>
          <p:cNvSpPr>
            <a:spLocks noGrp="1" noChangeArrowheads="1"/>
          </p:cNvSpPr>
          <p:nvPr>
            <p:ph type="title"/>
          </p:nvPr>
        </p:nvSpPr>
        <p:spPr/>
        <p:txBody>
          <a:bodyPr/>
          <a:lstStyle/>
          <a:p>
            <a:pPr eaLnBrk="1" hangingPunct="1"/>
            <a:r>
              <a:rPr lang="en-US" altLang="en-US"/>
              <a:t>Verification Commands</a:t>
            </a:r>
          </a:p>
        </p:txBody>
      </p:sp>
      <p:sp>
        <p:nvSpPr>
          <p:cNvPr id="25605" name="Rectangle 3"/>
          <p:cNvSpPr>
            <a:spLocks noGrp="1" noChangeArrowheads="1"/>
          </p:cNvSpPr>
          <p:nvPr>
            <p:ph type="body" idx="1"/>
          </p:nvPr>
        </p:nvSpPr>
        <p:spPr>
          <a:xfrm>
            <a:off x="457200" y="1600200"/>
            <a:ext cx="4038600" cy="4525963"/>
          </a:xfrm>
        </p:spPr>
        <p:txBody>
          <a:bodyPr/>
          <a:lstStyle/>
          <a:p>
            <a:pPr eaLnBrk="1" hangingPunct="1">
              <a:lnSpc>
                <a:spcPct val="80000"/>
              </a:lnSpc>
              <a:buFontTx/>
              <a:buNone/>
            </a:pPr>
            <a:r>
              <a:rPr lang="en-US" altLang="en-US" sz="2000"/>
              <a:t>verifyElementPresent</a:t>
            </a:r>
          </a:p>
          <a:p>
            <a:pPr algn="just" eaLnBrk="1" hangingPunct="1">
              <a:lnSpc>
                <a:spcPct val="80000"/>
              </a:lnSpc>
              <a:buFont typeface="Wingdings" panose="05000000000000000000" pitchFamily="2" charset="2"/>
              <a:buChar char="Ø"/>
            </a:pPr>
            <a:r>
              <a:rPr lang="en-US" altLang="en-US" sz="2000"/>
              <a:t>This command is used to verify if a page element is present in the page or not.</a:t>
            </a:r>
          </a:p>
          <a:p>
            <a:pPr algn="just" eaLnBrk="1" hangingPunct="1">
              <a:lnSpc>
                <a:spcPct val="80000"/>
              </a:lnSpc>
              <a:spcBef>
                <a:spcPct val="50000"/>
              </a:spcBef>
              <a:buFont typeface="Wingdings" panose="05000000000000000000" pitchFamily="2" charset="2"/>
              <a:buChar char="Ø"/>
            </a:pPr>
            <a:r>
              <a:rPr lang="en-US" altLang="en-US" sz="2400"/>
              <a:t>To add this command , While recording the test steps right click any element on the page that you want verify. Once right clicked you can find an option “Show all commands”. On Clicking it you will find an option “</a:t>
            </a:r>
            <a:r>
              <a:rPr lang="en-US" altLang="en-US" sz="2000"/>
              <a:t>verifyElementPresent</a:t>
            </a:r>
            <a:r>
              <a:rPr lang="en-US" altLang="en-US" sz="2400"/>
              <a:t>”, select it</a:t>
            </a:r>
          </a:p>
          <a:p>
            <a:pPr eaLnBrk="1" hangingPunct="1">
              <a:lnSpc>
                <a:spcPct val="80000"/>
              </a:lnSpc>
            </a:pPr>
            <a:endParaRPr lang="en-US" altLang="en-US" sz="2000"/>
          </a:p>
        </p:txBody>
      </p:sp>
      <p:pic>
        <p:nvPicPr>
          <p:cNvPr id="2560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676400"/>
            <a:ext cx="4191000"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9446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26627"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34F59C-321C-4F8A-9AEA-4E6051907EE5}" type="slidenum">
              <a:rPr lang="en-US" altLang="en-US"/>
              <a:pPr eaLnBrk="1" hangingPunct="1"/>
              <a:t>8</a:t>
            </a:fld>
            <a:endParaRPr lang="en-US" altLang="en-US"/>
          </a:p>
        </p:txBody>
      </p:sp>
      <p:sp>
        <p:nvSpPr>
          <p:cNvPr id="26628" name="Rectangle 2"/>
          <p:cNvSpPr>
            <a:spLocks noGrp="1" noChangeArrowheads="1"/>
          </p:cNvSpPr>
          <p:nvPr>
            <p:ph type="title"/>
          </p:nvPr>
        </p:nvSpPr>
        <p:spPr/>
        <p:txBody>
          <a:bodyPr/>
          <a:lstStyle/>
          <a:p>
            <a:pPr eaLnBrk="1" hangingPunct="1"/>
            <a:r>
              <a:rPr lang="en-US" altLang="en-US"/>
              <a:t>Verification Commands</a:t>
            </a:r>
          </a:p>
        </p:txBody>
      </p:sp>
      <p:sp>
        <p:nvSpPr>
          <p:cNvPr id="26629" name="Rectangle 3"/>
          <p:cNvSpPr>
            <a:spLocks noGrp="1" noChangeArrowheads="1"/>
          </p:cNvSpPr>
          <p:nvPr>
            <p:ph type="body" idx="1"/>
          </p:nvPr>
        </p:nvSpPr>
        <p:spPr>
          <a:xfrm>
            <a:off x="457200" y="1600200"/>
            <a:ext cx="4038600" cy="4525963"/>
          </a:xfrm>
        </p:spPr>
        <p:txBody>
          <a:bodyPr/>
          <a:lstStyle/>
          <a:p>
            <a:pPr eaLnBrk="1" hangingPunct="1">
              <a:lnSpc>
                <a:spcPct val="80000"/>
              </a:lnSpc>
              <a:buFontTx/>
              <a:buNone/>
            </a:pPr>
            <a:r>
              <a:rPr lang="en-US" altLang="en-US" sz="2000"/>
              <a:t>verifyValue</a:t>
            </a:r>
          </a:p>
          <a:p>
            <a:pPr eaLnBrk="1" hangingPunct="1">
              <a:lnSpc>
                <a:spcPct val="80000"/>
              </a:lnSpc>
              <a:buFont typeface="Wingdings" panose="05000000000000000000" pitchFamily="2" charset="2"/>
              <a:buChar char="Ø"/>
            </a:pPr>
            <a:r>
              <a:rPr lang="en-US" altLang="en-US" sz="2000"/>
              <a:t>This method is used to check if edit box has particular value or if the check box is on. Basically this method returns the value of present in the object.</a:t>
            </a:r>
          </a:p>
          <a:p>
            <a:pPr algn="just" eaLnBrk="1" hangingPunct="1">
              <a:lnSpc>
                <a:spcPct val="80000"/>
              </a:lnSpc>
              <a:spcBef>
                <a:spcPct val="50000"/>
              </a:spcBef>
              <a:buFont typeface="Wingdings" panose="05000000000000000000" pitchFamily="2" charset="2"/>
              <a:buChar char="Ø"/>
            </a:pPr>
            <a:r>
              <a:rPr lang="en-US" altLang="en-US" sz="2000"/>
              <a:t>To add this command , While recording the test steps right click any element on the page that you want verify the value of. Once right clicked you can find an option “Show all commands”. On Clicking it you will find an option “</a:t>
            </a:r>
            <a:r>
              <a:rPr lang="en-US" altLang="en-US" sz="1800"/>
              <a:t>verifyValue</a:t>
            </a:r>
            <a:r>
              <a:rPr lang="en-US" altLang="en-US" sz="2000"/>
              <a:t>”, select it.</a:t>
            </a:r>
          </a:p>
          <a:p>
            <a:pPr eaLnBrk="1" hangingPunct="1">
              <a:lnSpc>
                <a:spcPct val="80000"/>
              </a:lnSpc>
              <a:buFont typeface="Wingdings" panose="05000000000000000000" pitchFamily="2" charset="2"/>
              <a:buNone/>
            </a:pPr>
            <a:endParaRPr lang="en-US" altLang="en-US" sz="2000"/>
          </a:p>
          <a:p>
            <a:pPr eaLnBrk="1" hangingPunct="1">
              <a:lnSpc>
                <a:spcPct val="80000"/>
              </a:lnSpc>
            </a:pPr>
            <a:endParaRPr lang="en-US" altLang="en-US" sz="2000"/>
          </a:p>
        </p:txBody>
      </p:sp>
      <p:pic>
        <p:nvPicPr>
          <p:cNvPr id="2663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219200"/>
            <a:ext cx="37719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6625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27651"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707A55-51BC-4641-AD80-053A0979A4C2}" type="slidenum">
              <a:rPr lang="en-US" altLang="en-US"/>
              <a:pPr eaLnBrk="1" hangingPunct="1"/>
              <a:t>9</a:t>
            </a:fld>
            <a:endParaRPr lang="en-US" altLang="en-US"/>
          </a:p>
        </p:txBody>
      </p:sp>
      <p:sp>
        <p:nvSpPr>
          <p:cNvPr id="27652" name="Rectangle 2"/>
          <p:cNvSpPr>
            <a:spLocks noGrp="1" noChangeArrowheads="1"/>
          </p:cNvSpPr>
          <p:nvPr>
            <p:ph type="title"/>
          </p:nvPr>
        </p:nvSpPr>
        <p:spPr/>
        <p:txBody>
          <a:bodyPr/>
          <a:lstStyle/>
          <a:p>
            <a:pPr eaLnBrk="1" hangingPunct="1"/>
            <a:r>
              <a:rPr lang="en-US" altLang="en-US"/>
              <a:t>Assertions</a:t>
            </a:r>
          </a:p>
        </p:txBody>
      </p:sp>
      <p:sp>
        <p:nvSpPr>
          <p:cNvPr id="27653" name="Rectangle 3"/>
          <p:cNvSpPr>
            <a:spLocks noGrp="1" noChangeArrowheads="1"/>
          </p:cNvSpPr>
          <p:nvPr>
            <p:ph type="body" idx="1"/>
          </p:nvPr>
        </p:nvSpPr>
        <p:spPr>
          <a:xfrm>
            <a:off x="457200" y="1600200"/>
            <a:ext cx="7696200" cy="4525963"/>
          </a:xfrm>
        </p:spPr>
        <p:txBody>
          <a:bodyPr/>
          <a:lstStyle/>
          <a:p>
            <a:pPr eaLnBrk="1" hangingPunct="1">
              <a:lnSpc>
                <a:spcPct val="90000"/>
              </a:lnSpc>
            </a:pPr>
            <a:r>
              <a:rPr lang="en-US" altLang="en-US"/>
              <a:t>Assertions are same as Verifications. The only difference is, if the assertions fail the script will abort. But the script will continue run in case a verification point fails.</a:t>
            </a:r>
          </a:p>
          <a:p>
            <a:pPr eaLnBrk="1" hangingPunct="1">
              <a:lnSpc>
                <a:spcPct val="90000"/>
              </a:lnSpc>
            </a:pPr>
            <a:r>
              <a:rPr lang="en-US" altLang="en-US"/>
              <a:t>The steps for inserting the assertions is same as that of verification point.</a:t>
            </a:r>
          </a:p>
          <a:p>
            <a:pPr eaLnBrk="1" hangingPunct="1">
              <a:lnSpc>
                <a:spcPct val="90000"/>
              </a:lnSpc>
            </a:pPr>
            <a:r>
              <a:rPr lang="en-US" altLang="en-US"/>
              <a:t>While recording Right Click </a:t>
            </a:r>
            <a:r>
              <a:rPr lang="en-US" altLang="en-US">
                <a:sym typeface="Wingdings" panose="05000000000000000000" pitchFamily="2" charset="2"/>
              </a:rPr>
              <a:t> Show all commands  select an assertion.</a:t>
            </a:r>
            <a:endParaRPr lang="en-US" altLang="en-US"/>
          </a:p>
        </p:txBody>
      </p:sp>
    </p:spTree>
    <p:extLst>
      <p:ext uri="{BB962C8B-B14F-4D97-AF65-F5344CB8AC3E}">
        <p14:creationId xmlns:p14="http://schemas.microsoft.com/office/powerpoint/2010/main" val="2605954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28675"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B136C3-2952-435A-B416-5072C01A9968}" type="slidenum">
              <a:rPr lang="en-US" altLang="en-US"/>
              <a:pPr eaLnBrk="1" hangingPunct="1"/>
              <a:t>10</a:t>
            </a:fld>
            <a:endParaRPr lang="en-US" altLang="en-US"/>
          </a:p>
        </p:txBody>
      </p:sp>
      <p:sp>
        <p:nvSpPr>
          <p:cNvPr id="28676" name="Rectangle 2"/>
          <p:cNvSpPr>
            <a:spLocks noGrp="1" noChangeArrowheads="1"/>
          </p:cNvSpPr>
          <p:nvPr>
            <p:ph type="title"/>
          </p:nvPr>
        </p:nvSpPr>
        <p:spPr/>
        <p:txBody>
          <a:bodyPr/>
          <a:lstStyle/>
          <a:p>
            <a:pPr eaLnBrk="1" hangingPunct="1"/>
            <a:r>
              <a:rPr lang="en-US" altLang="en-US"/>
              <a:t>Assertion Statements</a:t>
            </a:r>
          </a:p>
        </p:txBody>
      </p:sp>
      <p:sp>
        <p:nvSpPr>
          <p:cNvPr id="28677" name="Rectangle 3"/>
          <p:cNvSpPr>
            <a:spLocks noGrp="1" noChangeArrowheads="1"/>
          </p:cNvSpPr>
          <p:nvPr>
            <p:ph type="body" idx="1"/>
          </p:nvPr>
        </p:nvSpPr>
        <p:spPr>
          <a:xfrm>
            <a:off x="457200" y="1600200"/>
            <a:ext cx="8305800" cy="4525963"/>
          </a:xfrm>
        </p:spPr>
        <p:txBody>
          <a:bodyPr/>
          <a:lstStyle/>
          <a:p>
            <a:pPr eaLnBrk="1" hangingPunct="1">
              <a:lnSpc>
                <a:spcPct val="80000"/>
              </a:lnSpc>
            </a:pPr>
            <a:endParaRPr lang="en-US" altLang="en-US" sz="1800"/>
          </a:p>
          <a:p>
            <a:pPr eaLnBrk="1" hangingPunct="1">
              <a:lnSpc>
                <a:spcPct val="80000"/>
              </a:lnSpc>
              <a:buFont typeface="Wingdings" panose="05000000000000000000" pitchFamily="2" charset="2"/>
              <a:buChar char="Ø"/>
            </a:pPr>
            <a:r>
              <a:rPr lang="en-US" altLang="en-US" sz="1800" b="1"/>
              <a:t>assertTextPresent</a:t>
            </a:r>
          </a:p>
          <a:p>
            <a:pPr eaLnBrk="1" hangingPunct="1">
              <a:lnSpc>
                <a:spcPct val="80000"/>
              </a:lnSpc>
              <a:buFont typeface="Wingdings" panose="05000000000000000000" pitchFamily="2" charset="2"/>
              <a:buNone/>
            </a:pPr>
            <a:r>
              <a:rPr lang="en-US" altLang="en-US" sz="1800"/>
              <a:t>		This will assert if the text is present in the page.</a:t>
            </a:r>
          </a:p>
          <a:p>
            <a:pPr eaLnBrk="1" hangingPunct="1">
              <a:lnSpc>
                <a:spcPct val="80000"/>
              </a:lnSpc>
              <a:buFont typeface="Wingdings" panose="05000000000000000000" pitchFamily="2" charset="2"/>
              <a:buNone/>
            </a:pPr>
            <a:endParaRPr lang="en-US" altLang="en-US" sz="1800"/>
          </a:p>
          <a:p>
            <a:pPr eaLnBrk="1" hangingPunct="1">
              <a:lnSpc>
                <a:spcPct val="80000"/>
              </a:lnSpc>
              <a:buFont typeface="Wingdings" panose="05000000000000000000" pitchFamily="2" charset="2"/>
              <a:buChar char="Ø"/>
            </a:pPr>
            <a:r>
              <a:rPr lang="en-US" altLang="en-US" sz="1800" b="1"/>
              <a:t>assertText</a:t>
            </a:r>
          </a:p>
          <a:p>
            <a:pPr eaLnBrk="1" hangingPunct="1">
              <a:lnSpc>
                <a:spcPct val="80000"/>
              </a:lnSpc>
              <a:buFont typeface="Wingdings" panose="05000000000000000000" pitchFamily="2" charset="2"/>
              <a:buNone/>
            </a:pPr>
            <a:r>
              <a:rPr lang="en-US" altLang="en-US" sz="1800"/>
              <a:t>		This will assert if a particular element is having the particular text.</a:t>
            </a:r>
          </a:p>
          <a:p>
            <a:pPr eaLnBrk="1" hangingPunct="1">
              <a:lnSpc>
                <a:spcPct val="80000"/>
              </a:lnSpc>
              <a:buFont typeface="Wingdings" panose="05000000000000000000" pitchFamily="2" charset="2"/>
              <a:buNone/>
            </a:pPr>
            <a:endParaRPr lang="en-US" altLang="en-US" sz="1800"/>
          </a:p>
          <a:p>
            <a:pPr eaLnBrk="1" hangingPunct="1">
              <a:lnSpc>
                <a:spcPct val="80000"/>
              </a:lnSpc>
              <a:buFont typeface="Wingdings" panose="05000000000000000000" pitchFamily="2" charset="2"/>
              <a:buChar char="Ø"/>
            </a:pPr>
            <a:r>
              <a:rPr lang="en-US" altLang="en-US" sz="1800" b="1"/>
              <a:t>assertTitle</a:t>
            </a:r>
          </a:p>
          <a:p>
            <a:pPr eaLnBrk="1" hangingPunct="1">
              <a:lnSpc>
                <a:spcPct val="80000"/>
              </a:lnSpc>
              <a:buFont typeface="Wingdings" panose="05000000000000000000" pitchFamily="2" charset="2"/>
              <a:buNone/>
            </a:pPr>
            <a:r>
              <a:rPr lang="en-US" altLang="en-US" sz="1800"/>
              <a:t>    		This will assert if the page is having a proper title.</a:t>
            </a:r>
          </a:p>
          <a:p>
            <a:pPr eaLnBrk="1" hangingPunct="1">
              <a:lnSpc>
                <a:spcPct val="80000"/>
              </a:lnSpc>
              <a:buFont typeface="Wingdings" panose="05000000000000000000" pitchFamily="2" charset="2"/>
              <a:buNone/>
            </a:pPr>
            <a:endParaRPr lang="en-US" altLang="en-US" sz="1800"/>
          </a:p>
          <a:p>
            <a:pPr eaLnBrk="1" hangingPunct="1">
              <a:lnSpc>
                <a:spcPct val="80000"/>
              </a:lnSpc>
              <a:buFont typeface="Wingdings" panose="05000000000000000000" pitchFamily="2" charset="2"/>
              <a:buChar char="Ø"/>
            </a:pPr>
            <a:r>
              <a:rPr lang="en-US" altLang="en-US" sz="1800" b="1"/>
              <a:t>assertValue</a:t>
            </a:r>
          </a:p>
          <a:p>
            <a:pPr lvl="2" eaLnBrk="1" hangingPunct="1">
              <a:lnSpc>
                <a:spcPct val="80000"/>
              </a:lnSpc>
              <a:buFont typeface="Wingdings" panose="05000000000000000000" pitchFamily="2" charset="2"/>
              <a:buNone/>
            </a:pPr>
            <a:r>
              <a:rPr lang="en-US" altLang="en-US" sz="1800"/>
              <a:t>This will assert if a Text box or check box has a particular value</a:t>
            </a:r>
          </a:p>
          <a:p>
            <a:pPr lvl="2" eaLnBrk="1" hangingPunct="1">
              <a:lnSpc>
                <a:spcPct val="80000"/>
              </a:lnSpc>
              <a:buFont typeface="Wingdings" panose="05000000000000000000" pitchFamily="2" charset="2"/>
              <a:buNone/>
            </a:pPr>
            <a:endParaRPr lang="en-US" altLang="en-US" sz="1800"/>
          </a:p>
          <a:p>
            <a:pPr eaLnBrk="1" hangingPunct="1">
              <a:lnSpc>
                <a:spcPct val="80000"/>
              </a:lnSpc>
              <a:buFont typeface="Wingdings" panose="05000000000000000000" pitchFamily="2" charset="2"/>
              <a:buChar char="Ø"/>
            </a:pPr>
            <a:r>
              <a:rPr lang="en-US" altLang="en-US" sz="1800" b="1"/>
              <a:t>assertElementPresent</a:t>
            </a:r>
          </a:p>
          <a:p>
            <a:pPr eaLnBrk="1" hangingPunct="1">
              <a:lnSpc>
                <a:spcPct val="80000"/>
              </a:lnSpc>
              <a:buFont typeface="Wingdings" panose="05000000000000000000" pitchFamily="2" charset="2"/>
              <a:buNone/>
            </a:pPr>
            <a:r>
              <a:rPr lang="en-US" altLang="en-US" sz="1800"/>
              <a:t>		This will assert if a particular UI Element is present in the page.</a:t>
            </a:r>
          </a:p>
          <a:p>
            <a:pPr eaLnBrk="1" hangingPunct="1">
              <a:lnSpc>
                <a:spcPct val="80000"/>
              </a:lnSpc>
              <a:buFontTx/>
              <a:buNone/>
            </a:pPr>
            <a:endParaRPr lang="en-US" altLang="en-US" sz="1800"/>
          </a:p>
        </p:txBody>
      </p:sp>
    </p:spTree>
    <p:extLst>
      <p:ext uri="{BB962C8B-B14F-4D97-AF65-F5344CB8AC3E}">
        <p14:creationId xmlns:p14="http://schemas.microsoft.com/office/powerpoint/2010/main" val="2757276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p:cNvSpPr>
            <a:spLocks noGrp="1"/>
          </p:cNvSpPr>
          <p:nvPr>
            <p:ph type="ftr" sz="quarter" idx="11"/>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Reference: </a:t>
            </a:r>
            <a:r>
              <a:rPr lang="en-US" altLang="en-US" dirty="0" err="1"/>
              <a:t>Softsmith</a:t>
            </a:r>
            <a:r>
              <a:rPr lang="en-US" altLang="en-US" dirty="0"/>
              <a:t> </a:t>
            </a:r>
            <a:r>
              <a:rPr lang="en-US" altLang="en-US" dirty="0" err="1"/>
              <a:t>Infotech</a:t>
            </a:r>
            <a:endParaRPr lang="en-US" altLang="en-US" dirty="0"/>
          </a:p>
        </p:txBody>
      </p:sp>
      <p:sp>
        <p:nvSpPr>
          <p:cNvPr id="33795" name="Slide Number Placeholder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8253A9-B39F-4188-BE69-CDD05BA0B65B}" type="slidenum">
              <a:rPr lang="en-US" altLang="en-US"/>
              <a:pPr eaLnBrk="1" hangingPunct="1"/>
              <a:t>11</a:t>
            </a:fld>
            <a:endParaRPr lang="en-US" altLang="en-US"/>
          </a:p>
        </p:txBody>
      </p:sp>
      <p:sp>
        <p:nvSpPr>
          <p:cNvPr id="33796" name="Rectangle 2"/>
          <p:cNvSpPr>
            <a:spLocks noGrp="1" noChangeArrowheads="1"/>
          </p:cNvSpPr>
          <p:nvPr>
            <p:ph type="title"/>
          </p:nvPr>
        </p:nvSpPr>
        <p:spPr/>
        <p:txBody>
          <a:bodyPr/>
          <a:lstStyle/>
          <a:p>
            <a:pPr eaLnBrk="1" hangingPunct="1"/>
            <a:r>
              <a:rPr lang="en-US" altLang="en-US"/>
              <a:t>Limitations of Selenium IDE</a:t>
            </a:r>
          </a:p>
        </p:txBody>
      </p:sp>
      <p:sp>
        <p:nvSpPr>
          <p:cNvPr id="33797" name="Rectangle 3"/>
          <p:cNvSpPr>
            <a:spLocks noGrp="1" noChangeArrowheads="1"/>
          </p:cNvSpPr>
          <p:nvPr>
            <p:ph type="body" idx="1"/>
          </p:nvPr>
        </p:nvSpPr>
        <p:spPr/>
        <p:txBody>
          <a:bodyPr/>
          <a:lstStyle/>
          <a:p>
            <a:pPr eaLnBrk="1" hangingPunct="1">
              <a:buFont typeface="Wingdings" panose="05000000000000000000" pitchFamily="2" charset="2"/>
              <a:buChar char="Ø"/>
            </a:pPr>
            <a:r>
              <a:rPr lang="en-US" altLang="en-US" dirty="0"/>
              <a:t>Can run the test only on Some browsers (Firefox, chrome)</a:t>
            </a:r>
          </a:p>
          <a:p>
            <a:pPr eaLnBrk="1" hangingPunct="1">
              <a:buFont typeface="Wingdings" panose="05000000000000000000" pitchFamily="2" charset="2"/>
              <a:buChar char="Ø"/>
            </a:pPr>
            <a:r>
              <a:rPr lang="en-US" altLang="en-US" dirty="0"/>
              <a:t>No Programming login (like loops, conditional statements)  can be applied</a:t>
            </a:r>
          </a:p>
          <a:p>
            <a:pPr eaLnBrk="1" hangingPunct="1">
              <a:buFont typeface="Wingdings" panose="05000000000000000000" pitchFamily="2" charset="2"/>
              <a:buChar char="Ø"/>
            </a:pPr>
            <a:r>
              <a:rPr lang="en-US" altLang="en-US" dirty="0"/>
              <a:t>Selenium IDE can execute scripts created in </a:t>
            </a:r>
            <a:r>
              <a:rPr lang="en-US" altLang="en-US" dirty="0" err="1"/>
              <a:t>Selenese</a:t>
            </a:r>
            <a:r>
              <a:rPr lang="en-US" altLang="en-US" dirty="0"/>
              <a:t> only.</a:t>
            </a:r>
          </a:p>
          <a:p>
            <a:pPr eaLnBrk="1" hangingPunct="1">
              <a:buFont typeface="Wingdings" panose="05000000000000000000" pitchFamily="2" charset="2"/>
              <a:buChar char="Ø"/>
            </a:pPr>
            <a:r>
              <a:rPr lang="en-US" altLang="en-US" dirty="0"/>
              <a:t>It is difficult to use Selenium IDE for checking complex test cases involving dynamic contents</a:t>
            </a:r>
          </a:p>
        </p:txBody>
      </p:sp>
    </p:spTree>
    <p:extLst>
      <p:ext uri="{BB962C8B-B14F-4D97-AF65-F5344CB8AC3E}">
        <p14:creationId xmlns:p14="http://schemas.microsoft.com/office/powerpoint/2010/main" val="187321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19400"/>
            <a:ext cx="8229600" cy="1143000"/>
          </a:xfrm>
        </p:spPr>
        <p:txBody>
          <a:bodyPr/>
          <a:lstStyle/>
          <a:p>
            <a:r>
              <a:rPr lang="en-US" dirty="0"/>
              <a:t>Selenium </a:t>
            </a:r>
            <a:r>
              <a:rPr lang="en-US" dirty="0" err="1"/>
              <a:t>WebDriver</a:t>
            </a:r>
            <a:endParaRPr lang="en-US" dirty="0"/>
          </a:p>
        </p:txBody>
      </p:sp>
    </p:spTree>
    <p:extLst>
      <p:ext uri="{BB962C8B-B14F-4D97-AF65-F5344CB8AC3E}">
        <p14:creationId xmlns:p14="http://schemas.microsoft.com/office/powerpoint/2010/main" val="2412216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48269"/>
          </a:xfrm>
        </p:spPr>
        <p:txBody>
          <a:bodyPr>
            <a:noAutofit/>
          </a:bodyPr>
          <a:lstStyle/>
          <a:p>
            <a:r>
              <a:rPr lang="en-US" sz="3600" dirty="0"/>
              <a:t>Locating  and Performing Operations on </a:t>
            </a:r>
            <a:r>
              <a:rPr lang="en-US" sz="3600" dirty="0" err="1"/>
              <a:t>WebElements</a:t>
            </a:r>
            <a:endParaRPr lang="en-US" sz="3600" dirty="0"/>
          </a:p>
        </p:txBody>
      </p:sp>
      <p:sp>
        <p:nvSpPr>
          <p:cNvPr id="3" name="TextBox 2"/>
          <p:cNvSpPr txBox="1"/>
          <p:nvPr/>
        </p:nvSpPr>
        <p:spPr>
          <a:xfrm>
            <a:off x="12510" y="671691"/>
            <a:ext cx="2743200" cy="6186309"/>
          </a:xfrm>
          <a:prstGeom prst="rect">
            <a:avLst/>
          </a:prstGeom>
          <a:noFill/>
          <a:ln>
            <a:solidFill>
              <a:srgbClr val="0000FF"/>
            </a:solidFill>
          </a:ln>
        </p:spPr>
        <p:txBody>
          <a:bodyPr wrap="square" rtlCol="0">
            <a:spAutoFit/>
          </a:bodyPr>
          <a:lstStyle/>
          <a:p>
            <a:r>
              <a:rPr lang="en-US" b="1" dirty="0"/>
              <a:t>By name</a:t>
            </a:r>
          </a:p>
          <a:p>
            <a:r>
              <a:rPr lang="en-US" dirty="0"/>
              <a:t>   By.name()</a:t>
            </a:r>
          </a:p>
          <a:p>
            <a:endParaRPr lang="en-US" dirty="0"/>
          </a:p>
          <a:p>
            <a:r>
              <a:rPr lang="en-US" b="1" dirty="0"/>
              <a:t>By id</a:t>
            </a:r>
          </a:p>
          <a:p>
            <a:r>
              <a:rPr lang="en-US" dirty="0"/>
              <a:t>   By.id()</a:t>
            </a:r>
          </a:p>
          <a:p>
            <a:endParaRPr lang="en-US" dirty="0"/>
          </a:p>
          <a:p>
            <a:r>
              <a:rPr lang="en-US" b="1" dirty="0"/>
              <a:t>By  </a:t>
            </a:r>
            <a:r>
              <a:rPr lang="en-US" b="1" dirty="0" err="1"/>
              <a:t>tagName</a:t>
            </a:r>
            <a:endParaRPr lang="en-US" b="1" dirty="0"/>
          </a:p>
          <a:p>
            <a:r>
              <a:rPr lang="en-US" dirty="0"/>
              <a:t>    </a:t>
            </a:r>
            <a:r>
              <a:rPr lang="en-US" dirty="0" err="1"/>
              <a:t>By.tagName</a:t>
            </a:r>
            <a:r>
              <a:rPr lang="en-US" dirty="0"/>
              <a:t>()</a:t>
            </a:r>
          </a:p>
          <a:p>
            <a:endParaRPr lang="en-US" dirty="0"/>
          </a:p>
          <a:p>
            <a:r>
              <a:rPr lang="en-US" b="1" dirty="0"/>
              <a:t>By class name – this is with CSS</a:t>
            </a:r>
          </a:p>
          <a:p>
            <a:r>
              <a:rPr lang="en-US" dirty="0"/>
              <a:t>    </a:t>
            </a:r>
            <a:r>
              <a:rPr lang="en-US" dirty="0" err="1"/>
              <a:t>By.className</a:t>
            </a:r>
            <a:r>
              <a:rPr lang="en-US" dirty="0"/>
              <a:t>()</a:t>
            </a:r>
          </a:p>
          <a:p>
            <a:endParaRPr lang="en-US" dirty="0"/>
          </a:p>
          <a:p>
            <a:r>
              <a:rPr lang="en-US" b="1" dirty="0"/>
              <a:t>By link text</a:t>
            </a:r>
          </a:p>
          <a:p>
            <a:r>
              <a:rPr lang="en-US" dirty="0"/>
              <a:t>    </a:t>
            </a:r>
            <a:r>
              <a:rPr lang="en-US" dirty="0" err="1"/>
              <a:t>By.linkText</a:t>
            </a:r>
            <a:r>
              <a:rPr lang="en-US" dirty="0"/>
              <a:t>()</a:t>
            </a:r>
          </a:p>
          <a:p>
            <a:endParaRPr lang="en-US" dirty="0"/>
          </a:p>
          <a:p>
            <a:r>
              <a:rPr lang="en-US" b="1" dirty="0"/>
              <a:t>By partial link text</a:t>
            </a:r>
          </a:p>
          <a:p>
            <a:r>
              <a:rPr lang="en-US" dirty="0"/>
              <a:t>   </a:t>
            </a:r>
            <a:r>
              <a:rPr lang="en-US" dirty="0" err="1"/>
              <a:t>By.partialLinkText</a:t>
            </a:r>
            <a:r>
              <a:rPr lang="en-US" dirty="0"/>
              <a:t>()</a:t>
            </a:r>
          </a:p>
          <a:p>
            <a:endParaRPr lang="en-US" dirty="0"/>
          </a:p>
          <a:p>
            <a:r>
              <a:rPr lang="en-US" b="1" dirty="0"/>
              <a:t>By </a:t>
            </a:r>
            <a:r>
              <a:rPr lang="en-US" b="1" dirty="0" err="1"/>
              <a:t>xpath</a:t>
            </a:r>
            <a:endParaRPr lang="en-US" b="1" dirty="0"/>
          </a:p>
          <a:p>
            <a:r>
              <a:rPr lang="en-US" dirty="0"/>
              <a:t> </a:t>
            </a:r>
            <a:r>
              <a:rPr lang="en-US" dirty="0" err="1"/>
              <a:t>By.xpath</a:t>
            </a:r>
            <a:r>
              <a:rPr lang="en-US" dirty="0"/>
              <a:t>()</a:t>
            </a:r>
          </a:p>
          <a:p>
            <a:endParaRPr lang="en-US" dirty="0"/>
          </a:p>
        </p:txBody>
      </p:sp>
      <p:sp>
        <p:nvSpPr>
          <p:cNvPr id="5" name="Rectangle 4"/>
          <p:cNvSpPr/>
          <p:nvPr/>
        </p:nvSpPr>
        <p:spPr>
          <a:xfrm>
            <a:off x="3326073" y="5715000"/>
            <a:ext cx="6400800" cy="369332"/>
          </a:xfrm>
          <a:prstGeom prst="rect">
            <a:avLst/>
          </a:prstGeom>
        </p:spPr>
        <p:txBody>
          <a:bodyPr wrap="square">
            <a:spAutoFit/>
          </a:bodyPr>
          <a:lstStyle/>
          <a:p>
            <a:r>
              <a:rPr lang="en-US" dirty="0"/>
              <a:t>http://docs.seleniumhq.org/docs/03_webdriver.jsp</a:t>
            </a:r>
          </a:p>
        </p:txBody>
      </p:sp>
      <p:sp>
        <p:nvSpPr>
          <p:cNvPr id="6" name="TextBox 5"/>
          <p:cNvSpPr txBox="1"/>
          <p:nvPr/>
        </p:nvSpPr>
        <p:spPr>
          <a:xfrm>
            <a:off x="5486400" y="1143000"/>
            <a:ext cx="2384946" cy="3970318"/>
          </a:xfrm>
          <a:prstGeom prst="rect">
            <a:avLst/>
          </a:prstGeom>
          <a:noFill/>
          <a:ln w="22225">
            <a:solidFill>
              <a:srgbClr val="FF0000"/>
            </a:solidFill>
          </a:ln>
        </p:spPr>
        <p:txBody>
          <a:bodyPr wrap="square" rtlCol="0">
            <a:spAutoFit/>
          </a:bodyPr>
          <a:lstStyle/>
          <a:p>
            <a:r>
              <a:rPr lang="en-US" dirty="0" err="1"/>
              <a:t>getAttribute</a:t>
            </a:r>
            <a:endParaRPr lang="en-US" dirty="0"/>
          </a:p>
          <a:p>
            <a:endParaRPr lang="en-US" dirty="0"/>
          </a:p>
          <a:p>
            <a:r>
              <a:rPr lang="en-US" dirty="0" err="1"/>
              <a:t>sendKeys</a:t>
            </a:r>
            <a:endParaRPr lang="en-US" dirty="0"/>
          </a:p>
          <a:p>
            <a:endParaRPr lang="en-US" dirty="0"/>
          </a:p>
          <a:p>
            <a:r>
              <a:rPr lang="en-US" dirty="0"/>
              <a:t>clear</a:t>
            </a:r>
          </a:p>
          <a:p>
            <a:endParaRPr lang="en-US" dirty="0"/>
          </a:p>
          <a:p>
            <a:r>
              <a:rPr lang="en-US" dirty="0"/>
              <a:t>submit</a:t>
            </a:r>
          </a:p>
          <a:p>
            <a:endParaRPr lang="en-US" dirty="0"/>
          </a:p>
          <a:p>
            <a:r>
              <a:rPr lang="en-US" dirty="0" err="1"/>
              <a:t>getLocation</a:t>
            </a:r>
            <a:endParaRPr lang="en-US" dirty="0"/>
          </a:p>
          <a:p>
            <a:endParaRPr lang="en-US" dirty="0"/>
          </a:p>
          <a:p>
            <a:r>
              <a:rPr lang="en-US" dirty="0" err="1"/>
              <a:t>getSize</a:t>
            </a:r>
            <a:endParaRPr lang="en-US" dirty="0"/>
          </a:p>
          <a:p>
            <a:endParaRPr lang="en-US" dirty="0"/>
          </a:p>
          <a:p>
            <a:r>
              <a:rPr lang="en-US" dirty="0"/>
              <a:t>…..</a:t>
            </a:r>
          </a:p>
          <a:p>
            <a:endParaRPr lang="en-US" dirty="0">
              <a:solidFill>
                <a:srgbClr val="FF0000"/>
              </a:solidFill>
            </a:endParaRPr>
          </a:p>
        </p:txBody>
      </p:sp>
    </p:spTree>
    <p:extLst>
      <p:ext uri="{BB962C8B-B14F-4D97-AF65-F5344CB8AC3E}">
        <p14:creationId xmlns:p14="http://schemas.microsoft.com/office/powerpoint/2010/main" val="191869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819400"/>
            <a:ext cx="8229600" cy="1143000"/>
          </a:xfrm>
        </p:spPr>
        <p:txBody>
          <a:bodyPr/>
          <a:lstStyle/>
          <a:p>
            <a:r>
              <a:rPr lang="en-US" dirty="0"/>
              <a:t>Selenium WebDriver Demo</a:t>
            </a:r>
          </a:p>
        </p:txBody>
      </p:sp>
    </p:spTree>
    <p:extLst>
      <p:ext uri="{BB962C8B-B14F-4D97-AF65-F5344CB8AC3E}">
        <p14:creationId xmlns:p14="http://schemas.microsoft.com/office/powerpoint/2010/main" val="2914056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744</TotalTime>
  <Words>749</Words>
  <Application>Microsoft Office PowerPoint</Application>
  <PresentationFormat>On-screen Show (4:3)</PresentationFormat>
  <Paragraphs>118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Office Theme</vt:lpstr>
      <vt:lpstr> Selenium ToolKit</vt:lpstr>
      <vt:lpstr>Selenium ToolKit</vt:lpstr>
      <vt:lpstr>Selenium IDE Demo</vt:lpstr>
      <vt:lpstr>Adding Assertions to the Script</vt:lpstr>
      <vt:lpstr>Verification Commands</vt:lpstr>
      <vt:lpstr>Verification Commands</vt:lpstr>
      <vt:lpstr>Verification Commands</vt:lpstr>
      <vt:lpstr>Verification Commands</vt:lpstr>
      <vt:lpstr>Assertions</vt:lpstr>
      <vt:lpstr>Assertion Statements</vt:lpstr>
      <vt:lpstr>Limitations of Selenium IDE</vt:lpstr>
      <vt:lpstr>Selenium WebDriver</vt:lpstr>
      <vt:lpstr>Locating  and Performing Operations on WebElements</vt:lpstr>
      <vt:lpstr>Selenium WebDriver Demo</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Automation – Selenium as a Web Application Test Automation Tool</dc:title>
  <dc:creator>janaka</dc:creator>
  <cp:lastModifiedBy>Janaka Balasooriya</cp:lastModifiedBy>
  <cp:revision>41</cp:revision>
  <dcterms:created xsi:type="dcterms:W3CDTF">2013-11-18T15:43:24Z</dcterms:created>
  <dcterms:modified xsi:type="dcterms:W3CDTF">2021-11-23T18:26:05Z</dcterms:modified>
</cp:coreProperties>
</file>