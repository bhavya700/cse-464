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3" r:id="rId5"/>
    <p:sldId id="261"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93" d="100"/>
          <a:sy n="93" d="100"/>
        </p:scale>
        <p:origin x="54" y="2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A2A064C-6EF9-46CE-82A1-64F786B68C9D}"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793627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2A064C-6EF9-46CE-82A1-64F786B68C9D}"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4105640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2A064C-6EF9-46CE-82A1-64F786B68C9D}"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2021069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2A064C-6EF9-46CE-82A1-64F786B68C9D}" type="datetimeFigureOut">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2230868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2A064C-6EF9-46CE-82A1-64F786B68C9D}" type="datetimeFigureOut">
              <a:rPr lang="en-US" smtClean="0"/>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100471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2A064C-6EF9-46CE-82A1-64F786B68C9D}" type="datetimeFigureOut">
              <a:rPr lang="en-US" smtClean="0"/>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3567442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2A064C-6EF9-46CE-82A1-64F786B68C9D}" type="datetimeFigureOut">
              <a:rPr lang="en-US" smtClean="0"/>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55965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2A064C-6EF9-46CE-82A1-64F786B68C9D}" type="datetimeFigureOut">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152348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2A064C-6EF9-46CE-82A1-64F786B68C9D}" type="datetimeFigureOut">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371326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2A064C-6EF9-46CE-82A1-64F786B68C9D}"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3442763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2A064C-6EF9-46CE-82A1-64F786B68C9D}"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44DB0C-CA99-486F-BF09-7ED050521DE9}" type="slidenum">
              <a:rPr lang="en-US" smtClean="0"/>
              <a:t>‹#›</a:t>
            </a:fld>
            <a:endParaRPr lang="en-US"/>
          </a:p>
        </p:txBody>
      </p:sp>
    </p:spTree>
    <p:extLst>
      <p:ext uri="{BB962C8B-B14F-4D97-AF65-F5344CB8AC3E}">
        <p14:creationId xmlns:p14="http://schemas.microsoft.com/office/powerpoint/2010/main" val="113159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A064C-6EF9-46CE-82A1-64F786B68C9D}" type="datetimeFigureOut">
              <a:rPr lang="en-US" smtClean="0"/>
              <a:t>10/30/2025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4DB0C-CA99-486F-BF09-7ED050521DE9}" type="slidenum">
              <a:rPr lang="en-US" smtClean="0"/>
              <a:t>‹#›</a:t>
            </a:fld>
            <a:endParaRPr lang="en-US"/>
          </a:p>
        </p:txBody>
      </p:sp>
    </p:spTree>
    <p:extLst>
      <p:ext uri="{BB962C8B-B14F-4D97-AF65-F5344CB8AC3E}">
        <p14:creationId xmlns:p14="http://schemas.microsoft.com/office/powerpoint/2010/main" val="1551733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excess-xss.com/" TargetMode="External"/><Relationship Id="rId2" Type="http://schemas.openxmlformats.org/officeDocument/2006/relationships/hyperlink" Target="https://www.owasp.org/index.php/Category:OWASP_Top_Ten_Project" TargetMode="External"/><Relationship Id="rId1" Type="http://schemas.openxmlformats.org/officeDocument/2006/relationships/slideLayout" Target="../slideLayouts/slideLayout6.xml"/><Relationship Id="rId4" Type="http://schemas.openxmlformats.org/officeDocument/2006/relationships/hyperlink" Target="https://www.veracode.com/security/sql-inje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5084" y="2130974"/>
            <a:ext cx="9144000" cy="2387600"/>
          </a:xfrm>
        </p:spPr>
        <p:txBody>
          <a:bodyPr/>
          <a:lstStyle/>
          <a:p>
            <a:r>
              <a:rPr lang="en-US" dirty="0"/>
              <a:t>CSE 464 : Software Quality Assurance and Testing</a:t>
            </a:r>
          </a:p>
        </p:txBody>
      </p:sp>
      <p:sp>
        <p:nvSpPr>
          <p:cNvPr id="3" name="Subtitle 2"/>
          <p:cNvSpPr>
            <a:spLocks noGrp="1"/>
          </p:cNvSpPr>
          <p:nvPr>
            <p:ph type="subTitle" idx="1"/>
          </p:nvPr>
        </p:nvSpPr>
        <p:spPr>
          <a:xfrm>
            <a:off x="1429788" y="4757308"/>
            <a:ext cx="9714807" cy="1349775"/>
          </a:xfrm>
        </p:spPr>
        <p:txBody>
          <a:bodyPr>
            <a:normAutofit/>
          </a:bodyPr>
          <a:lstStyle/>
          <a:p>
            <a:r>
              <a:rPr lang="en-US" dirty="0"/>
              <a:t>Intro to Web Application Security Testing</a:t>
            </a:r>
          </a:p>
          <a:p>
            <a:r>
              <a:rPr lang="en-US" dirty="0"/>
              <a:t>Janaka Balasooriya</a:t>
            </a:r>
          </a:p>
        </p:txBody>
      </p:sp>
      <p:pic>
        <p:nvPicPr>
          <p:cNvPr id="4" name="Picture 3" descr="School of Computing, Informatics, and Decision Systems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0226" y="533400"/>
            <a:ext cx="70532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5271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2046"/>
          </a:xfrm>
        </p:spPr>
        <p:txBody>
          <a:bodyPr/>
          <a:lstStyle/>
          <a:p>
            <a:r>
              <a:rPr lang="en-US" dirty="0"/>
              <a:t>Security Vulnerabilities of Web Applications</a:t>
            </a:r>
          </a:p>
        </p:txBody>
      </p:sp>
      <p:sp>
        <p:nvSpPr>
          <p:cNvPr id="3" name="TextBox 2"/>
          <p:cNvSpPr txBox="1"/>
          <p:nvPr/>
        </p:nvSpPr>
        <p:spPr>
          <a:xfrm>
            <a:off x="731520" y="1317172"/>
            <a:ext cx="11094720" cy="923330"/>
          </a:xfrm>
          <a:prstGeom prst="rect">
            <a:avLst/>
          </a:prstGeom>
          <a:noFill/>
        </p:spPr>
        <p:txBody>
          <a:bodyPr wrap="square" rtlCol="0">
            <a:spAutoFit/>
          </a:bodyPr>
          <a:lstStyle/>
          <a:p>
            <a:pPr algn="just"/>
            <a:r>
              <a:rPr lang="en-US" dirty="0"/>
              <a:t>According to Open Web Application Security Project, 10 diffident vulnerabilities are identified. When security testing is carried out, these categories can be considered as classes of inputs for security tests, similar to equivalent partitions. </a:t>
            </a:r>
          </a:p>
        </p:txBody>
      </p:sp>
      <p:pic>
        <p:nvPicPr>
          <p:cNvPr id="4" name="Picture 3"/>
          <p:cNvPicPr>
            <a:picLocks noChangeAspect="1"/>
          </p:cNvPicPr>
          <p:nvPr/>
        </p:nvPicPr>
        <p:blipFill>
          <a:blip r:embed="rId2"/>
          <a:stretch>
            <a:fillRect/>
          </a:stretch>
        </p:blipFill>
        <p:spPr>
          <a:xfrm>
            <a:off x="5084863" y="3470571"/>
            <a:ext cx="2878732" cy="1954445"/>
          </a:xfrm>
          <a:prstGeom prst="rect">
            <a:avLst/>
          </a:prstGeom>
        </p:spPr>
      </p:pic>
      <p:sp>
        <p:nvSpPr>
          <p:cNvPr id="5" name="TextBox 4"/>
          <p:cNvSpPr txBox="1"/>
          <p:nvPr/>
        </p:nvSpPr>
        <p:spPr>
          <a:xfrm>
            <a:off x="8007928" y="2301538"/>
            <a:ext cx="1878676" cy="369332"/>
          </a:xfrm>
          <a:prstGeom prst="rect">
            <a:avLst/>
          </a:prstGeom>
          <a:noFill/>
        </p:spPr>
        <p:txBody>
          <a:bodyPr wrap="square" rtlCol="0">
            <a:spAutoFit/>
          </a:bodyPr>
          <a:lstStyle/>
          <a:p>
            <a:r>
              <a:rPr lang="en-US" dirty="0"/>
              <a:t>Injection</a:t>
            </a:r>
          </a:p>
        </p:txBody>
      </p:sp>
      <p:sp>
        <p:nvSpPr>
          <p:cNvPr id="6" name="TextBox 5"/>
          <p:cNvSpPr txBox="1"/>
          <p:nvPr/>
        </p:nvSpPr>
        <p:spPr>
          <a:xfrm>
            <a:off x="5009804" y="1992219"/>
            <a:ext cx="1690254" cy="1200329"/>
          </a:xfrm>
          <a:prstGeom prst="rect">
            <a:avLst/>
          </a:prstGeom>
          <a:noFill/>
        </p:spPr>
        <p:txBody>
          <a:bodyPr wrap="square" rtlCol="0">
            <a:spAutoFit/>
          </a:bodyPr>
          <a:lstStyle/>
          <a:p>
            <a:r>
              <a:rPr lang="en-US" dirty="0"/>
              <a:t>Broken authentication and Session Management</a:t>
            </a:r>
          </a:p>
        </p:txBody>
      </p:sp>
      <p:sp>
        <p:nvSpPr>
          <p:cNvPr id="7" name="TextBox 6"/>
          <p:cNvSpPr txBox="1"/>
          <p:nvPr/>
        </p:nvSpPr>
        <p:spPr>
          <a:xfrm>
            <a:off x="2466109" y="2486204"/>
            <a:ext cx="1618211" cy="646331"/>
          </a:xfrm>
          <a:prstGeom prst="rect">
            <a:avLst/>
          </a:prstGeom>
          <a:noFill/>
        </p:spPr>
        <p:txBody>
          <a:bodyPr wrap="square" rtlCol="0">
            <a:spAutoFit/>
          </a:bodyPr>
          <a:lstStyle/>
          <a:p>
            <a:r>
              <a:rPr lang="en-US" dirty="0"/>
              <a:t>Cross-Site Scripting</a:t>
            </a:r>
          </a:p>
        </p:txBody>
      </p:sp>
      <p:sp>
        <p:nvSpPr>
          <p:cNvPr id="8" name="TextBox 7"/>
          <p:cNvSpPr txBox="1"/>
          <p:nvPr/>
        </p:nvSpPr>
        <p:spPr>
          <a:xfrm>
            <a:off x="1790007" y="3735185"/>
            <a:ext cx="2000597" cy="646331"/>
          </a:xfrm>
          <a:prstGeom prst="rect">
            <a:avLst/>
          </a:prstGeom>
          <a:noFill/>
        </p:spPr>
        <p:txBody>
          <a:bodyPr wrap="square" rtlCol="0">
            <a:spAutoFit/>
          </a:bodyPr>
          <a:lstStyle/>
          <a:p>
            <a:r>
              <a:rPr lang="en-US" dirty="0"/>
              <a:t>Broken Access Control</a:t>
            </a:r>
          </a:p>
        </p:txBody>
      </p:sp>
      <p:sp>
        <p:nvSpPr>
          <p:cNvPr id="9" name="TextBox 8"/>
          <p:cNvSpPr txBox="1"/>
          <p:nvPr/>
        </p:nvSpPr>
        <p:spPr>
          <a:xfrm>
            <a:off x="1828800" y="4843549"/>
            <a:ext cx="2427316" cy="646331"/>
          </a:xfrm>
          <a:prstGeom prst="rect">
            <a:avLst/>
          </a:prstGeom>
          <a:noFill/>
        </p:spPr>
        <p:txBody>
          <a:bodyPr wrap="square" rtlCol="0">
            <a:spAutoFit/>
          </a:bodyPr>
          <a:lstStyle/>
          <a:p>
            <a:r>
              <a:rPr lang="en-US" dirty="0"/>
              <a:t>Security Misconfiguration</a:t>
            </a:r>
          </a:p>
        </p:txBody>
      </p:sp>
      <p:sp>
        <p:nvSpPr>
          <p:cNvPr id="11" name="TextBox 10"/>
          <p:cNvSpPr txBox="1"/>
          <p:nvPr/>
        </p:nvSpPr>
        <p:spPr>
          <a:xfrm>
            <a:off x="4084320" y="6068291"/>
            <a:ext cx="2565862" cy="369332"/>
          </a:xfrm>
          <a:prstGeom prst="rect">
            <a:avLst/>
          </a:prstGeom>
          <a:noFill/>
        </p:spPr>
        <p:txBody>
          <a:bodyPr wrap="square" rtlCol="0">
            <a:spAutoFit/>
          </a:bodyPr>
          <a:lstStyle/>
          <a:p>
            <a:r>
              <a:rPr lang="en-US" dirty="0"/>
              <a:t>Sensitive Data Exposure</a:t>
            </a:r>
          </a:p>
        </p:txBody>
      </p:sp>
      <p:sp>
        <p:nvSpPr>
          <p:cNvPr id="12" name="TextBox 11"/>
          <p:cNvSpPr txBox="1"/>
          <p:nvPr/>
        </p:nvSpPr>
        <p:spPr>
          <a:xfrm>
            <a:off x="7636625" y="6007331"/>
            <a:ext cx="2532611" cy="646331"/>
          </a:xfrm>
          <a:prstGeom prst="rect">
            <a:avLst/>
          </a:prstGeom>
          <a:noFill/>
        </p:spPr>
        <p:txBody>
          <a:bodyPr wrap="square" rtlCol="0">
            <a:spAutoFit/>
          </a:bodyPr>
          <a:lstStyle/>
          <a:p>
            <a:r>
              <a:rPr lang="en-US" dirty="0"/>
              <a:t>Insufficient Attack Protection</a:t>
            </a:r>
          </a:p>
        </p:txBody>
      </p:sp>
      <p:sp>
        <p:nvSpPr>
          <p:cNvPr id="13" name="TextBox 12"/>
          <p:cNvSpPr txBox="1"/>
          <p:nvPr/>
        </p:nvSpPr>
        <p:spPr>
          <a:xfrm>
            <a:off x="8478982" y="5109556"/>
            <a:ext cx="2793076" cy="369332"/>
          </a:xfrm>
          <a:prstGeom prst="rect">
            <a:avLst/>
          </a:prstGeom>
          <a:noFill/>
        </p:spPr>
        <p:txBody>
          <a:bodyPr wrap="square" rtlCol="0">
            <a:spAutoFit/>
          </a:bodyPr>
          <a:lstStyle/>
          <a:p>
            <a:r>
              <a:rPr lang="en-US" dirty="0"/>
              <a:t>Cross-Site Request Forgery</a:t>
            </a:r>
          </a:p>
        </p:txBody>
      </p:sp>
      <p:sp>
        <p:nvSpPr>
          <p:cNvPr id="14" name="TextBox 13"/>
          <p:cNvSpPr txBox="1"/>
          <p:nvPr/>
        </p:nvSpPr>
        <p:spPr>
          <a:xfrm>
            <a:off x="8628611" y="3923607"/>
            <a:ext cx="2582487" cy="646331"/>
          </a:xfrm>
          <a:prstGeom prst="rect">
            <a:avLst/>
          </a:prstGeom>
          <a:noFill/>
        </p:spPr>
        <p:txBody>
          <a:bodyPr wrap="square" rtlCol="0">
            <a:spAutoFit/>
          </a:bodyPr>
          <a:lstStyle/>
          <a:p>
            <a:r>
              <a:rPr lang="en-US" dirty="0"/>
              <a:t>Using components with unknown Vulnerabilities</a:t>
            </a:r>
          </a:p>
        </p:txBody>
      </p:sp>
      <p:sp>
        <p:nvSpPr>
          <p:cNvPr id="15" name="TextBox 14"/>
          <p:cNvSpPr txBox="1"/>
          <p:nvPr/>
        </p:nvSpPr>
        <p:spPr>
          <a:xfrm>
            <a:off x="8706196" y="3020291"/>
            <a:ext cx="2565862" cy="369332"/>
          </a:xfrm>
          <a:prstGeom prst="rect">
            <a:avLst/>
          </a:prstGeom>
          <a:noFill/>
        </p:spPr>
        <p:txBody>
          <a:bodyPr wrap="square" rtlCol="0">
            <a:spAutoFit/>
          </a:bodyPr>
          <a:lstStyle/>
          <a:p>
            <a:r>
              <a:rPr lang="en-US" dirty="0"/>
              <a:t>Unprotected APIs</a:t>
            </a:r>
          </a:p>
        </p:txBody>
      </p:sp>
      <p:cxnSp>
        <p:nvCxnSpPr>
          <p:cNvPr id="18" name="Straight Arrow Connector 17"/>
          <p:cNvCxnSpPr/>
          <p:nvPr/>
        </p:nvCxnSpPr>
        <p:spPr>
          <a:xfrm>
            <a:off x="3405694" y="3036441"/>
            <a:ext cx="1490749" cy="624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17522" y="4128659"/>
            <a:ext cx="1878921" cy="214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017522" y="4984166"/>
            <a:ext cx="1937111" cy="113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5201243" y="5489880"/>
            <a:ext cx="318408" cy="446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8246225" y="3280470"/>
            <a:ext cx="609600" cy="65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821927" y="2693697"/>
            <a:ext cx="33004" cy="913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7556271" y="2670795"/>
            <a:ext cx="609600" cy="65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8152015" y="4236135"/>
            <a:ext cx="609600" cy="654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8093825" y="5294222"/>
            <a:ext cx="534786" cy="91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flipV="1">
            <a:off x="7514705" y="5489880"/>
            <a:ext cx="465518" cy="508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E2FBD7D-9D00-97A1-CC19-E8B39FC77008}"/>
              </a:ext>
            </a:extLst>
          </p:cNvPr>
          <p:cNvSpPr txBox="1"/>
          <p:nvPr/>
        </p:nvSpPr>
        <p:spPr>
          <a:xfrm>
            <a:off x="50305" y="6345382"/>
            <a:ext cx="6095144" cy="369332"/>
          </a:xfrm>
          <a:prstGeom prst="rect">
            <a:avLst/>
          </a:prstGeom>
          <a:noFill/>
        </p:spPr>
        <p:txBody>
          <a:bodyPr wrap="square">
            <a:spAutoFit/>
          </a:bodyPr>
          <a:lstStyle/>
          <a:p>
            <a:r>
              <a:rPr lang="en-US" dirty="0"/>
              <a:t>https://owasp.org/www-project-top-ten/</a:t>
            </a:r>
          </a:p>
        </p:txBody>
      </p:sp>
    </p:spTree>
    <p:extLst>
      <p:ext uri="{BB962C8B-B14F-4D97-AF65-F5344CB8AC3E}">
        <p14:creationId xmlns:p14="http://schemas.microsoft.com/office/powerpoint/2010/main" val="904376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636" y="204414"/>
            <a:ext cx="10515600" cy="621317"/>
          </a:xfrm>
        </p:spPr>
        <p:txBody>
          <a:bodyPr>
            <a:normAutofit fontScale="90000"/>
          </a:bodyPr>
          <a:lstStyle/>
          <a:p>
            <a:pPr algn="ctr"/>
            <a:r>
              <a:rPr lang="en-US" dirty="0"/>
              <a:t>Injection</a:t>
            </a:r>
          </a:p>
        </p:txBody>
      </p:sp>
      <p:sp>
        <p:nvSpPr>
          <p:cNvPr id="3" name="TextBox 2"/>
          <p:cNvSpPr txBox="1"/>
          <p:nvPr/>
        </p:nvSpPr>
        <p:spPr>
          <a:xfrm>
            <a:off x="205047" y="825731"/>
            <a:ext cx="11698778" cy="5078313"/>
          </a:xfrm>
          <a:prstGeom prst="rect">
            <a:avLst/>
          </a:prstGeom>
          <a:noFill/>
        </p:spPr>
        <p:txBody>
          <a:bodyPr wrap="square" rtlCol="0">
            <a:spAutoFit/>
          </a:bodyPr>
          <a:lstStyle/>
          <a:p>
            <a:r>
              <a:rPr lang="en-US" dirty="0"/>
              <a:t>In general, injection is the term use to describe the scenario where </a:t>
            </a:r>
          </a:p>
          <a:p>
            <a:pPr marL="342900" indent="-342900">
              <a:buAutoNum type="alphaLcParenR"/>
            </a:pPr>
            <a:r>
              <a:rPr lang="en-US" dirty="0"/>
              <a:t>user input for the web application is altered </a:t>
            </a:r>
          </a:p>
          <a:p>
            <a:pPr marL="342900" indent="-342900">
              <a:buAutoNum type="alphaLcParenR"/>
            </a:pPr>
            <a:r>
              <a:rPr lang="en-US" dirty="0"/>
              <a:t> give an input that can harm the web application/access resources intentionally or data in the web application without proper authentication.</a:t>
            </a:r>
          </a:p>
          <a:p>
            <a:pPr marL="342900" indent="-342900">
              <a:buAutoNum type="alphaLcParenR"/>
            </a:pPr>
            <a:r>
              <a:rPr lang="en-US" dirty="0"/>
              <a:t> </a:t>
            </a:r>
            <a:r>
              <a:rPr lang="en-US" dirty="0" err="1"/>
              <a:t>Sql</a:t>
            </a:r>
            <a:r>
              <a:rPr lang="en-US" dirty="0"/>
              <a:t> injection is one of the common issues related web applications security. It is an application security weakness that allows attackers to control the web application’s database  such as unauthorized login, delete/alter tables …etc. This happens due to the nature of how we write SQL queries and how databases process SQL queries</a:t>
            </a:r>
          </a:p>
          <a:p>
            <a:endParaRPr lang="en-US" dirty="0"/>
          </a:p>
          <a:p>
            <a:r>
              <a:rPr lang="en-US" b="1" u="sng" dirty="0">
                <a:solidFill>
                  <a:srgbClr val="FF0000"/>
                </a:solidFill>
              </a:rPr>
              <a:t>SQL Injection Examples:</a:t>
            </a:r>
          </a:p>
          <a:p>
            <a:pPr marL="342900" indent="-342900">
              <a:buAutoNum type="arabicParenR"/>
            </a:pPr>
            <a:r>
              <a:rPr lang="en-US" dirty="0"/>
              <a:t>Returning more data than expected:</a:t>
            </a:r>
          </a:p>
          <a:p>
            <a:r>
              <a:rPr lang="en-US" dirty="0"/>
              <a:t>  SELECT </a:t>
            </a:r>
            <a:r>
              <a:rPr lang="en-US" dirty="0" err="1"/>
              <a:t>accountNumber</a:t>
            </a:r>
            <a:r>
              <a:rPr lang="en-US" dirty="0"/>
              <a:t>, balance FROM accounts WHERE </a:t>
            </a:r>
            <a:r>
              <a:rPr lang="en-US" dirty="0" err="1"/>
              <a:t>account_owner_id</a:t>
            </a:r>
            <a:r>
              <a:rPr lang="en-US" dirty="0"/>
              <a:t> = 984</a:t>
            </a:r>
          </a:p>
          <a:p>
            <a:endParaRPr lang="en-US" dirty="0"/>
          </a:p>
          <a:p>
            <a:r>
              <a:rPr lang="en-US" dirty="0"/>
              <a:t>If we change the query so that </a:t>
            </a:r>
          </a:p>
          <a:p>
            <a:r>
              <a:rPr lang="en-US" dirty="0"/>
              <a:t>SELECT </a:t>
            </a:r>
            <a:r>
              <a:rPr lang="en-US" dirty="0" err="1"/>
              <a:t>accountNumber</a:t>
            </a:r>
            <a:r>
              <a:rPr lang="en-US" dirty="0"/>
              <a:t>, balance FROM accounts WHERE </a:t>
            </a:r>
            <a:r>
              <a:rPr lang="en-US" dirty="0" err="1"/>
              <a:t>account_owner_id</a:t>
            </a:r>
            <a:r>
              <a:rPr lang="en-US" dirty="0"/>
              <a:t> = 0 OR 1=1</a:t>
            </a:r>
          </a:p>
          <a:p>
            <a:endParaRPr lang="en-US" dirty="0"/>
          </a:p>
          <a:p>
            <a:r>
              <a:rPr lang="en-US" dirty="0"/>
              <a:t>2) Multi-Statement (</a:t>
            </a:r>
            <a:r>
              <a:rPr lang="en-US" altLang="en-US" dirty="0">
                <a:ea typeface="ＭＳ Ｐゴシック" panose="020B0600070205080204" pitchFamily="34" charset="-128"/>
              </a:rPr>
              <a:t>S1; S2)</a:t>
            </a:r>
          </a:p>
          <a:p>
            <a:pPr lvl="1"/>
            <a:r>
              <a:rPr lang="en-US" altLang="en-US" dirty="0">
                <a:ea typeface="ＭＳ Ｐゴシック" panose="020B0600070205080204" pitchFamily="34" charset="-128"/>
              </a:rPr>
              <a:t>SELECT * FROM `table`; DROP TABLE `table`;</a:t>
            </a:r>
          </a:p>
          <a:p>
            <a:endParaRPr lang="en-US" dirty="0"/>
          </a:p>
        </p:txBody>
      </p:sp>
    </p:spTree>
    <p:extLst>
      <p:ext uri="{BB962C8B-B14F-4D97-AF65-F5344CB8AC3E}">
        <p14:creationId xmlns:p14="http://schemas.microsoft.com/office/powerpoint/2010/main" val="658177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146" y="1939001"/>
            <a:ext cx="10850879" cy="1325563"/>
          </a:xfrm>
        </p:spPr>
        <p:txBody>
          <a:bodyPr>
            <a:normAutofit fontScale="90000"/>
          </a:bodyPr>
          <a:lstStyle/>
          <a:p>
            <a:r>
              <a:rPr lang="en-US" dirty="0"/>
              <a:t>                      SQL Injection Examples</a:t>
            </a:r>
            <a:br>
              <a:rPr lang="en-US" dirty="0"/>
            </a:br>
            <a:r>
              <a:rPr lang="en-US" dirty="0"/>
              <a:t>https://www.w3schools.com/sql/sql_injection.asp</a:t>
            </a:r>
          </a:p>
        </p:txBody>
      </p:sp>
    </p:spTree>
    <p:extLst>
      <p:ext uri="{BB962C8B-B14F-4D97-AF65-F5344CB8AC3E}">
        <p14:creationId xmlns:p14="http://schemas.microsoft.com/office/powerpoint/2010/main" val="4213271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2031"/>
          </a:xfrm>
        </p:spPr>
        <p:txBody>
          <a:bodyPr/>
          <a:lstStyle/>
          <a:p>
            <a:pPr algn="ctr"/>
            <a:r>
              <a:rPr lang="en-US" dirty="0"/>
              <a:t>Preventing SQL Injection</a:t>
            </a:r>
          </a:p>
        </p:txBody>
      </p:sp>
      <p:sp>
        <p:nvSpPr>
          <p:cNvPr id="3" name="TextBox 2"/>
          <p:cNvSpPr txBox="1"/>
          <p:nvPr/>
        </p:nvSpPr>
        <p:spPr>
          <a:xfrm>
            <a:off x="432262" y="1263535"/>
            <a:ext cx="11427229" cy="3970318"/>
          </a:xfrm>
          <a:prstGeom prst="rect">
            <a:avLst/>
          </a:prstGeom>
          <a:noFill/>
        </p:spPr>
        <p:txBody>
          <a:bodyPr wrap="square" rtlCol="0">
            <a:spAutoFit/>
          </a:bodyPr>
          <a:lstStyle/>
          <a:p>
            <a:endParaRPr lang="en-US" dirty="0"/>
          </a:p>
          <a:p>
            <a:r>
              <a:rPr lang="en-US" b="1" dirty="0">
                <a:solidFill>
                  <a:srgbClr val="002060"/>
                </a:solidFill>
              </a:rPr>
              <a:t>Using prepared statements in the server-side code:</a:t>
            </a:r>
          </a:p>
          <a:p>
            <a:endParaRPr lang="en-US" dirty="0"/>
          </a:p>
          <a:p>
            <a:r>
              <a:rPr lang="en-US" dirty="0"/>
              <a:t>String </a:t>
            </a:r>
            <a:r>
              <a:rPr lang="en-US" dirty="0" err="1"/>
              <a:t>accountBalanceQuery</a:t>
            </a:r>
            <a:r>
              <a:rPr lang="en-US" dirty="0"/>
              <a:t> = </a:t>
            </a:r>
          </a:p>
          <a:p>
            <a:r>
              <a:rPr lang="en-US" dirty="0"/>
              <a:t>  "SELECT </a:t>
            </a:r>
            <a:r>
              <a:rPr lang="en-US" dirty="0" err="1"/>
              <a:t>accountNumber</a:t>
            </a:r>
            <a:r>
              <a:rPr lang="en-US" dirty="0"/>
              <a:t>, balance FROM accounts WHERE </a:t>
            </a:r>
            <a:r>
              <a:rPr lang="en-US" dirty="0" err="1"/>
              <a:t>account_owner_id</a:t>
            </a:r>
            <a:r>
              <a:rPr lang="en-US" dirty="0"/>
              <a:t> = ?";</a:t>
            </a:r>
          </a:p>
          <a:p>
            <a:endParaRPr lang="en-US" dirty="0"/>
          </a:p>
          <a:p>
            <a:r>
              <a:rPr lang="en-US" dirty="0"/>
              <a:t>try {</a:t>
            </a:r>
          </a:p>
          <a:p>
            <a:r>
              <a:rPr lang="en-US" dirty="0"/>
              <a:t>    </a:t>
            </a:r>
            <a:r>
              <a:rPr lang="en-US" dirty="0" err="1"/>
              <a:t>PreparedStatement</a:t>
            </a:r>
            <a:r>
              <a:rPr lang="en-US" dirty="0"/>
              <a:t> statement = </a:t>
            </a:r>
            <a:r>
              <a:rPr lang="en-US" dirty="0" err="1"/>
              <a:t>connection.prepareStatement</a:t>
            </a:r>
            <a:r>
              <a:rPr lang="en-US" dirty="0"/>
              <a:t>(</a:t>
            </a:r>
            <a:r>
              <a:rPr lang="en-US" dirty="0" err="1"/>
              <a:t>accountBalanceQuery</a:t>
            </a:r>
            <a:r>
              <a:rPr lang="en-US" dirty="0"/>
              <a:t>);</a:t>
            </a:r>
          </a:p>
          <a:p>
            <a:r>
              <a:rPr lang="en-US" dirty="0"/>
              <a:t>    </a:t>
            </a:r>
            <a:r>
              <a:rPr lang="en-US" b="1" dirty="0" err="1">
                <a:solidFill>
                  <a:srgbClr val="FF0000"/>
                </a:solidFill>
              </a:rPr>
              <a:t>statement.setInt</a:t>
            </a:r>
            <a:r>
              <a:rPr lang="en-US" b="1" dirty="0">
                <a:solidFill>
                  <a:srgbClr val="FF0000"/>
                </a:solidFill>
              </a:rPr>
              <a:t>(1, </a:t>
            </a:r>
            <a:r>
              <a:rPr lang="en-US" b="1" dirty="0" err="1">
                <a:solidFill>
                  <a:srgbClr val="FF0000"/>
                </a:solidFill>
              </a:rPr>
              <a:t>request.getParameter</a:t>
            </a:r>
            <a:r>
              <a:rPr lang="en-US" b="1" dirty="0">
                <a:solidFill>
                  <a:srgbClr val="FF0000"/>
                </a:solidFill>
              </a:rPr>
              <a:t>("</a:t>
            </a:r>
            <a:r>
              <a:rPr lang="en-US" b="1" dirty="0" err="1">
                <a:solidFill>
                  <a:srgbClr val="FF0000"/>
                </a:solidFill>
              </a:rPr>
              <a:t>user_id</a:t>
            </a:r>
            <a:r>
              <a:rPr lang="en-US" b="1" dirty="0">
                <a:solidFill>
                  <a:srgbClr val="FF0000"/>
                </a:solidFill>
              </a:rPr>
              <a:t>")); </a:t>
            </a:r>
          </a:p>
          <a:p>
            <a:r>
              <a:rPr lang="en-US" dirty="0"/>
              <a:t>    </a:t>
            </a:r>
            <a:r>
              <a:rPr lang="en-US" dirty="0" err="1"/>
              <a:t>ResultSet</a:t>
            </a:r>
            <a:r>
              <a:rPr lang="en-US" dirty="0"/>
              <a:t> </a:t>
            </a:r>
            <a:r>
              <a:rPr lang="en-US" dirty="0" err="1"/>
              <a:t>rs</a:t>
            </a:r>
            <a:r>
              <a:rPr lang="en-US" dirty="0"/>
              <a:t> = </a:t>
            </a:r>
            <a:r>
              <a:rPr lang="en-US" dirty="0" err="1"/>
              <a:t>statement.executeQuery</a:t>
            </a:r>
            <a:r>
              <a:rPr lang="en-US" dirty="0"/>
              <a:t>();</a:t>
            </a:r>
          </a:p>
          <a:p>
            <a:r>
              <a:rPr lang="en-US" dirty="0"/>
              <a:t>    while (</a:t>
            </a:r>
            <a:r>
              <a:rPr lang="en-US" dirty="0" err="1"/>
              <a:t>rs.next</a:t>
            </a:r>
            <a:r>
              <a:rPr lang="en-US" dirty="0"/>
              <a:t>()) {</a:t>
            </a:r>
          </a:p>
          <a:p>
            <a:r>
              <a:rPr lang="en-US" dirty="0"/>
              <a:t>        </a:t>
            </a:r>
            <a:r>
              <a:rPr lang="en-US" dirty="0" err="1"/>
              <a:t>page.addTableRow</a:t>
            </a:r>
            <a:r>
              <a:rPr lang="en-US" dirty="0"/>
              <a:t>(</a:t>
            </a:r>
            <a:r>
              <a:rPr lang="en-US" dirty="0" err="1"/>
              <a:t>rs.getInt</a:t>
            </a:r>
            <a:r>
              <a:rPr lang="en-US" dirty="0"/>
              <a:t>("</a:t>
            </a:r>
            <a:r>
              <a:rPr lang="en-US" dirty="0" err="1"/>
              <a:t>accountNumber</a:t>
            </a:r>
            <a:r>
              <a:rPr lang="en-US" dirty="0"/>
              <a:t>"), </a:t>
            </a:r>
            <a:r>
              <a:rPr lang="en-US" dirty="0" err="1"/>
              <a:t>rs.getFloat</a:t>
            </a:r>
            <a:r>
              <a:rPr lang="en-US" dirty="0"/>
              <a:t>("balance"));</a:t>
            </a:r>
          </a:p>
          <a:p>
            <a:r>
              <a:rPr lang="en-US" dirty="0"/>
              <a:t>    }</a:t>
            </a:r>
          </a:p>
          <a:p>
            <a:r>
              <a:rPr lang="en-US" dirty="0"/>
              <a:t>} catch (</a:t>
            </a:r>
            <a:r>
              <a:rPr lang="en-US" dirty="0" err="1"/>
              <a:t>SQLException</a:t>
            </a:r>
            <a:r>
              <a:rPr lang="en-US" dirty="0"/>
              <a:t> e) { ... }</a:t>
            </a:r>
          </a:p>
        </p:txBody>
      </p:sp>
    </p:spTree>
    <p:extLst>
      <p:ext uri="{BB962C8B-B14F-4D97-AF65-F5344CB8AC3E}">
        <p14:creationId xmlns:p14="http://schemas.microsoft.com/office/powerpoint/2010/main" val="393772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4693"/>
          </a:xfrm>
        </p:spPr>
        <p:txBody>
          <a:bodyPr>
            <a:normAutofit fontScale="90000"/>
          </a:bodyPr>
          <a:lstStyle/>
          <a:p>
            <a:pPr algn="ctr"/>
            <a:r>
              <a:rPr lang="en-US" dirty="0"/>
              <a:t>XSS : Cross-Site Scripting</a:t>
            </a:r>
          </a:p>
        </p:txBody>
      </p:sp>
      <p:sp>
        <p:nvSpPr>
          <p:cNvPr id="3" name="TextBox 2"/>
          <p:cNvSpPr txBox="1"/>
          <p:nvPr/>
        </p:nvSpPr>
        <p:spPr>
          <a:xfrm>
            <a:off x="243840" y="1108364"/>
            <a:ext cx="11604567" cy="646331"/>
          </a:xfrm>
          <a:prstGeom prst="rect">
            <a:avLst/>
          </a:prstGeom>
          <a:noFill/>
        </p:spPr>
        <p:txBody>
          <a:bodyPr wrap="square" rtlCol="0">
            <a:spAutoFit/>
          </a:bodyPr>
          <a:lstStyle/>
          <a:p>
            <a:r>
              <a:rPr lang="en-US" dirty="0"/>
              <a:t>Cross-site scripting (XSS) is a code injection attack that allows an attacker to execute malicious script in another user’s browser. It essentially, helps the attacker to gain access to a website through another user.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510" y="1938642"/>
            <a:ext cx="7659540" cy="4344217"/>
          </a:xfrm>
          <a:prstGeom prst="rect">
            <a:avLst/>
          </a:prstGeom>
        </p:spPr>
      </p:pic>
      <p:sp>
        <p:nvSpPr>
          <p:cNvPr id="5" name="TextBox 4"/>
          <p:cNvSpPr txBox="1"/>
          <p:nvPr/>
        </p:nvSpPr>
        <p:spPr>
          <a:xfrm>
            <a:off x="8079971" y="1938642"/>
            <a:ext cx="3940233" cy="4247317"/>
          </a:xfrm>
          <a:prstGeom prst="rect">
            <a:avLst/>
          </a:prstGeom>
          <a:noFill/>
        </p:spPr>
        <p:txBody>
          <a:bodyPr wrap="square" rtlCol="0">
            <a:spAutoFit/>
          </a:bodyPr>
          <a:lstStyle/>
          <a:p>
            <a:r>
              <a:rPr lang="en-US" dirty="0"/>
              <a:t>The attacker uses one of the website's forms to insert a malicious string into the website's database.</a:t>
            </a:r>
          </a:p>
          <a:p>
            <a:endParaRPr lang="en-US" dirty="0"/>
          </a:p>
          <a:p>
            <a:r>
              <a:rPr lang="en-US" dirty="0"/>
              <a:t>The victim requests a page from the website.</a:t>
            </a:r>
          </a:p>
          <a:p>
            <a:endParaRPr lang="en-US" dirty="0"/>
          </a:p>
          <a:p>
            <a:r>
              <a:rPr lang="en-US" dirty="0"/>
              <a:t>The website includes the malicious string from the database in the response and sends it to the victim.</a:t>
            </a:r>
          </a:p>
          <a:p>
            <a:endParaRPr lang="en-US" dirty="0"/>
          </a:p>
          <a:p>
            <a:r>
              <a:rPr lang="en-US" dirty="0"/>
              <a:t>The victim's browser executes the malicious script inside the response, sending the victim's cookies to the attacker's server.</a:t>
            </a:r>
          </a:p>
        </p:txBody>
      </p:sp>
    </p:spTree>
    <p:extLst>
      <p:ext uri="{BB962C8B-B14F-4D97-AF65-F5344CB8AC3E}">
        <p14:creationId xmlns:p14="http://schemas.microsoft.com/office/powerpoint/2010/main" val="220248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0111"/>
          </a:xfrm>
        </p:spPr>
        <p:txBody>
          <a:bodyPr>
            <a:normAutofit fontScale="90000"/>
          </a:bodyPr>
          <a:lstStyle/>
          <a:p>
            <a:pPr algn="ctr"/>
            <a:r>
              <a:rPr lang="en-US" dirty="0"/>
              <a:t>References</a:t>
            </a:r>
          </a:p>
        </p:txBody>
      </p:sp>
      <p:sp>
        <p:nvSpPr>
          <p:cNvPr id="3" name="TextBox 2"/>
          <p:cNvSpPr txBox="1"/>
          <p:nvPr/>
        </p:nvSpPr>
        <p:spPr>
          <a:xfrm>
            <a:off x="537556" y="1396538"/>
            <a:ext cx="11321935" cy="1754326"/>
          </a:xfrm>
          <a:prstGeom prst="rect">
            <a:avLst/>
          </a:prstGeom>
          <a:noFill/>
        </p:spPr>
        <p:txBody>
          <a:bodyPr wrap="square" rtlCol="0">
            <a:spAutoFit/>
          </a:bodyPr>
          <a:lstStyle/>
          <a:p>
            <a:pPr marL="342900" indent="-342900">
              <a:buAutoNum type="arabicPeriod"/>
            </a:pPr>
            <a:r>
              <a:rPr lang="en-US" dirty="0"/>
              <a:t>Open web application security project top 10 : </a:t>
            </a:r>
            <a:r>
              <a:rPr lang="en-US" dirty="0">
                <a:hlinkClick r:id="rId2"/>
              </a:rPr>
              <a:t>https://www.owasp.org/index.php/Category:OWASP_Top_Ten_Project</a:t>
            </a:r>
            <a:endParaRPr lang="en-US" dirty="0"/>
          </a:p>
          <a:p>
            <a:pPr marL="342900" indent="-342900">
              <a:buAutoNum type="arabicPeriod"/>
            </a:pPr>
            <a:r>
              <a:rPr lang="en-US" dirty="0">
                <a:hlinkClick r:id="rId3"/>
              </a:rPr>
              <a:t>https://excess-xss.com/</a:t>
            </a:r>
            <a:endParaRPr lang="en-US" dirty="0"/>
          </a:p>
          <a:p>
            <a:pPr marL="342900" indent="-342900">
              <a:buAutoNum type="arabicPeriod"/>
            </a:pPr>
            <a:r>
              <a:rPr lang="en-US" dirty="0">
                <a:hlinkClick r:id="rId4"/>
              </a:rPr>
              <a:t>https://www.veracode.com/security/sql-injection</a:t>
            </a:r>
            <a:endParaRPr lang="en-US" dirty="0"/>
          </a:p>
          <a:p>
            <a:endParaRPr lang="en-US" dirty="0"/>
          </a:p>
          <a:p>
            <a:endParaRPr lang="en-US" dirty="0"/>
          </a:p>
        </p:txBody>
      </p:sp>
    </p:spTree>
    <p:extLst>
      <p:ext uri="{BB962C8B-B14F-4D97-AF65-F5344CB8AC3E}">
        <p14:creationId xmlns:p14="http://schemas.microsoft.com/office/powerpoint/2010/main" val="3790563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546</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ＭＳ Ｐゴシック</vt:lpstr>
      <vt:lpstr>Arial</vt:lpstr>
      <vt:lpstr>Calibri</vt:lpstr>
      <vt:lpstr>Calibri Light</vt:lpstr>
      <vt:lpstr>Office Theme</vt:lpstr>
      <vt:lpstr>CSE 464 : Software Quality Assurance and Testing</vt:lpstr>
      <vt:lpstr>Security Vulnerabilities of Web Applications</vt:lpstr>
      <vt:lpstr>Injection</vt:lpstr>
      <vt:lpstr>                      SQL Injection Examples https://www.w3schools.com/sql/sql_injection.asp</vt:lpstr>
      <vt:lpstr>Preventing SQL Injection</vt:lpstr>
      <vt:lpstr>XSS : Cross-Site Scripting</vt:lpstr>
      <vt:lpstr>References</vt:lpstr>
    </vt:vector>
  </TitlesOfParts>
  <Company>Arizona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464 : Software Quality Assurance and Testing</dc:title>
  <dc:creator>Janaka Balasooriya</dc:creator>
  <cp:lastModifiedBy>Janaka Balasooriya</cp:lastModifiedBy>
  <cp:revision>15</cp:revision>
  <dcterms:created xsi:type="dcterms:W3CDTF">2017-04-13T12:33:19Z</dcterms:created>
  <dcterms:modified xsi:type="dcterms:W3CDTF">2025-10-30T20:49:54Z</dcterms:modified>
</cp:coreProperties>
</file>