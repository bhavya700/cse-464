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71" r:id="rId3"/>
    <p:sldId id="260" r:id="rId4"/>
    <p:sldId id="258" r:id="rId5"/>
    <p:sldId id="259" r:id="rId6"/>
    <p:sldId id="289" r:id="rId7"/>
    <p:sldId id="287" r:id="rId8"/>
    <p:sldId id="285" r:id="rId9"/>
    <p:sldId id="290" r:id="rId10"/>
    <p:sldId id="286" r:id="rId11"/>
    <p:sldId id="263" r:id="rId12"/>
    <p:sldId id="264" r:id="rId13"/>
    <p:sldId id="265" r:id="rId14"/>
    <p:sldId id="267" r:id="rId15"/>
    <p:sldId id="266" r:id="rId16"/>
    <p:sldId id="29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930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4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C3001-6A9D-4150-8590-7459DC59C045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66400D-2D03-4833-99F5-936625AFF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7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3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0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5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5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4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1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73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45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5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C4878-D5C9-4C11-A39F-5E3698BF8611}" type="datetimeFigureOut">
              <a:rPr lang="en-US" smtClean="0"/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5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99"/>
                </a:solidFill>
              </a:rPr>
              <a:t>CSE 464 : Software Quality Assurance and Testing</a:t>
            </a:r>
            <a:endParaRPr lang="en-US" b="1" dirty="0">
              <a:solidFill>
                <a:srgbClr val="000099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6600"/>
                </a:solidFill>
              </a:rPr>
              <a:t>Fall </a:t>
            </a:r>
            <a:r>
              <a:rPr lang="en-US" b="1" dirty="0" smtClean="0">
                <a:solidFill>
                  <a:srgbClr val="FF6600"/>
                </a:solidFill>
              </a:rPr>
              <a:t>2018</a:t>
            </a:r>
          </a:p>
          <a:p>
            <a:r>
              <a:rPr lang="en-US" b="1" dirty="0" smtClean="0">
                <a:solidFill>
                  <a:srgbClr val="FF6600"/>
                </a:solidFill>
              </a:rPr>
              <a:t>Testing Web Applications - IV</a:t>
            </a:r>
            <a:endParaRPr lang="en-US" dirty="0" smtClean="0"/>
          </a:p>
          <a:p>
            <a:r>
              <a:rPr lang="en-US" b="1" dirty="0" err="1" smtClean="0">
                <a:solidFill>
                  <a:srgbClr val="000099"/>
                </a:solidFill>
              </a:rPr>
              <a:t>Janaka</a:t>
            </a:r>
            <a:r>
              <a:rPr lang="en-US" b="1" dirty="0" smtClean="0">
                <a:solidFill>
                  <a:srgbClr val="000099"/>
                </a:solidFill>
              </a:rPr>
              <a:t> </a:t>
            </a:r>
            <a:r>
              <a:rPr lang="en-US" b="1" dirty="0" err="1" smtClean="0">
                <a:solidFill>
                  <a:srgbClr val="000099"/>
                </a:solidFill>
              </a:rPr>
              <a:t>Balasooriya</a:t>
            </a:r>
            <a:endParaRPr lang="en-US" b="1" dirty="0">
              <a:solidFill>
                <a:srgbClr val="000099"/>
              </a:solidFill>
            </a:endParaRPr>
          </a:p>
        </p:txBody>
      </p:sp>
      <p:pic>
        <p:nvPicPr>
          <p:cNvPr id="5" name="Picture 6" descr="School of Computing, Informatics, and Decision Systems Enginee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04800"/>
            <a:ext cx="70532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269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67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Service Oriented Application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2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Web Service Architecture</a:t>
            </a: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1905000" y="1336674"/>
            <a:ext cx="6019800" cy="4835525"/>
            <a:chOff x="3424" y="1104"/>
            <a:chExt cx="2204" cy="2592"/>
          </a:xfrm>
          <a:solidFill>
            <a:srgbClr val="3333CC"/>
          </a:solidFill>
        </p:grpSpPr>
        <p:sp>
          <p:nvSpPr>
            <p:cNvPr id="139344" name="Rectangle 80"/>
            <p:cNvSpPr>
              <a:spLocks noChangeArrowheads="1"/>
            </p:cNvSpPr>
            <p:nvPr/>
          </p:nvSpPr>
          <p:spPr bwMode="auto">
            <a:xfrm>
              <a:off x="3450" y="1104"/>
              <a:ext cx="2112" cy="25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grpSp>
          <p:nvGrpSpPr>
            <p:cNvPr id="3" name="Group 79"/>
            <p:cNvGrpSpPr>
              <a:grpSpLocks/>
            </p:cNvGrpSpPr>
            <p:nvPr/>
          </p:nvGrpSpPr>
          <p:grpSpPr bwMode="auto">
            <a:xfrm>
              <a:off x="3424" y="1200"/>
              <a:ext cx="2204" cy="2234"/>
              <a:chOff x="3424" y="1188"/>
              <a:chExt cx="2204" cy="2234"/>
            </a:xfrm>
            <a:grpFill/>
          </p:grpSpPr>
          <p:sp>
            <p:nvSpPr>
              <p:cNvPr id="139307" name="Text Box 43"/>
              <p:cNvSpPr txBox="1">
                <a:spLocks noChangeArrowheads="1"/>
              </p:cNvSpPr>
              <p:nvPr/>
            </p:nvSpPr>
            <p:spPr bwMode="auto">
              <a:xfrm>
                <a:off x="3708" y="1188"/>
                <a:ext cx="1597" cy="373"/>
              </a:xfrm>
              <a:prstGeom prst="rect">
                <a:avLst/>
              </a:prstGeom>
              <a:solidFill>
                <a:srgbClr val="00B0F0"/>
              </a:solidFill>
              <a:ln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en-US" sz="32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Web Services</a:t>
                </a:r>
              </a:p>
            </p:txBody>
          </p:sp>
          <p:grpSp>
            <p:nvGrpSpPr>
              <p:cNvPr id="4" name="Group 69"/>
              <p:cNvGrpSpPr>
                <a:grpSpLocks/>
              </p:cNvGrpSpPr>
              <p:nvPr/>
            </p:nvGrpSpPr>
            <p:grpSpPr bwMode="auto">
              <a:xfrm>
                <a:off x="3808" y="1920"/>
                <a:ext cx="1402" cy="1128"/>
                <a:chOff x="3808" y="1896"/>
                <a:chExt cx="1402" cy="1128"/>
              </a:xfrm>
              <a:grpFill/>
            </p:grpSpPr>
            <p:grpSp>
              <p:nvGrpSpPr>
                <p:cNvPr id="5" name="Group 62"/>
                <p:cNvGrpSpPr>
                  <a:grpSpLocks/>
                </p:cNvGrpSpPr>
                <p:nvPr/>
              </p:nvGrpSpPr>
              <p:grpSpPr bwMode="auto">
                <a:xfrm>
                  <a:off x="3808" y="2388"/>
                  <a:ext cx="1402" cy="144"/>
                  <a:chOff x="3792" y="2388"/>
                  <a:chExt cx="1402" cy="144"/>
                </a:xfrm>
                <a:grpFill/>
              </p:grpSpPr>
              <p:sp>
                <p:nvSpPr>
                  <p:cNvPr id="139291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388"/>
                    <a:ext cx="144" cy="144"/>
                  </a:xfrm>
                  <a:prstGeom prst="rect">
                    <a:avLst/>
                  </a:prstGeom>
                  <a:solidFill>
                    <a:srgbClr val="00B050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/>
                  </a:p>
                </p:txBody>
              </p:sp>
              <p:sp>
                <p:nvSpPr>
                  <p:cNvPr id="139292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5050" y="2388"/>
                    <a:ext cx="144" cy="144"/>
                  </a:xfrm>
                  <a:prstGeom prst="rect">
                    <a:avLst/>
                  </a:prstGeom>
                  <a:solidFill>
                    <a:srgbClr val="00B050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/>
                  </a:p>
                </p:txBody>
              </p:sp>
            </p:grpSp>
            <p:grpSp>
              <p:nvGrpSpPr>
                <p:cNvPr id="6" name="Group 64"/>
                <p:cNvGrpSpPr>
                  <a:grpSpLocks/>
                </p:cNvGrpSpPr>
                <p:nvPr/>
              </p:nvGrpSpPr>
              <p:grpSpPr bwMode="auto">
                <a:xfrm>
                  <a:off x="4173" y="2880"/>
                  <a:ext cx="672" cy="144"/>
                  <a:chOff x="4157" y="2880"/>
                  <a:chExt cx="672" cy="144"/>
                </a:xfrm>
                <a:grpFill/>
              </p:grpSpPr>
              <p:sp>
                <p:nvSpPr>
                  <p:cNvPr id="139293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4685" y="2880"/>
                    <a:ext cx="144" cy="144"/>
                  </a:xfrm>
                  <a:prstGeom prst="rect">
                    <a:avLst/>
                  </a:prstGeom>
                  <a:solidFill>
                    <a:srgbClr val="00B050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/>
                  </a:p>
                </p:txBody>
              </p:sp>
              <p:sp>
                <p:nvSpPr>
                  <p:cNvPr id="139294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4157" y="2880"/>
                    <a:ext cx="144" cy="144"/>
                  </a:xfrm>
                  <a:prstGeom prst="rect">
                    <a:avLst/>
                  </a:prstGeom>
                  <a:solidFill>
                    <a:srgbClr val="00B050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/>
                  </a:p>
                </p:txBody>
              </p:sp>
            </p:grpSp>
            <p:grpSp>
              <p:nvGrpSpPr>
                <p:cNvPr id="7" name="Group 63"/>
                <p:cNvGrpSpPr>
                  <a:grpSpLocks/>
                </p:cNvGrpSpPr>
                <p:nvPr/>
              </p:nvGrpSpPr>
              <p:grpSpPr bwMode="auto">
                <a:xfrm>
                  <a:off x="4173" y="1896"/>
                  <a:ext cx="672" cy="144"/>
                  <a:chOff x="4157" y="1896"/>
                  <a:chExt cx="672" cy="144"/>
                </a:xfrm>
                <a:grpFill/>
              </p:grpSpPr>
              <p:sp>
                <p:nvSpPr>
                  <p:cNvPr id="139290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4157" y="1896"/>
                    <a:ext cx="144" cy="144"/>
                  </a:xfrm>
                  <a:prstGeom prst="rect">
                    <a:avLst/>
                  </a:prstGeom>
                  <a:solidFill>
                    <a:srgbClr val="00B050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/>
                  </a:p>
                </p:txBody>
              </p:sp>
              <p:sp>
                <p:nvSpPr>
                  <p:cNvPr id="139295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4685" y="1896"/>
                    <a:ext cx="144" cy="144"/>
                  </a:xfrm>
                  <a:prstGeom prst="rect">
                    <a:avLst/>
                  </a:prstGeom>
                  <a:solidFill>
                    <a:srgbClr val="00B050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/>
                  </a:p>
                </p:txBody>
              </p:sp>
            </p:grpSp>
          </p:grpSp>
          <p:cxnSp>
            <p:nvCxnSpPr>
              <p:cNvPr id="139296" name="AutoShape 32"/>
              <p:cNvCxnSpPr>
                <a:cxnSpLocks noChangeShapeType="1"/>
                <a:stCxn id="139290" idx="2"/>
                <a:endCxn id="139291" idx="0"/>
              </p:cNvCxnSpPr>
              <p:nvPr/>
            </p:nvCxnSpPr>
            <p:spPr bwMode="auto">
              <a:xfrm flipH="1">
                <a:off x="3880" y="2064"/>
                <a:ext cx="365" cy="348"/>
              </a:xfrm>
              <a:prstGeom prst="straightConnector1">
                <a:avLst/>
              </a:prstGeom>
              <a:grp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9297" name="AutoShape 33"/>
              <p:cNvCxnSpPr>
                <a:cxnSpLocks noChangeShapeType="1"/>
                <a:stCxn id="139290" idx="2"/>
                <a:endCxn id="139294" idx="0"/>
              </p:cNvCxnSpPr>
              <p:nvPr/>
            </p:nvCxnSpPr>
            <p:spPr bwMode="auto">
              <a:xfrm>
                <a:off x="4245" y="2064"/>
                <a:ext cx="0" cy="840"/>
              </a:xfrm>
              <a:prstGeom prst="straightConnector1">
                <a:avLst/>
              </a:prstGeom>
              <a:grp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9298" name="AutoShape 34"/>
              <p:cNvCxnSpPr>
                <a:cxnSpLocks noChangeShapeType="1"/>
                <a:stCxn id="139295" idx="2"/>
                <a:endCxn id="139293" idx="0"/>
              </p:cNvCxnSpPr>
              <p:nvPr/>
            </p:nvCxnSpPr>
            <p:spPr bwMode="auto">
              <a:xfrm>
                <a:off x="4773" y="2064"/>
                <a:ext cx="0" cy="840"/>
              </a:xfrm>
              <a:prstGeom prst="straightConnector1">
                <a:avLst/>
              </a:prstGeom>
              <a:grp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9299" name="AutoShape 35"/>
              <p:cNvCxnSpPr>
                <a:cxnSpLocks noChangeShapeType="1"/>
                <a:stCxn id="139291" idx="2"/>
                <a:endCxn id="139294" idx="1"/>
              </p:cNvCxnSpPr>
              <p:nvPr/>
            </p:nvCxnSpPr>
            <p:spPr bwMode="auto">
              <a:xfrm>
                <a:off x="3880" y="2556"/>
                <a:ext cx="293" cy="420"/>
              </a:xfrm>
              <a:prstGeom prst="straightConnector1">
                <a:avLst/>
              </a:prstGeom>
              <a:grp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9300" name="AutoShape 36"/>
              <p:cNvCxnSpPr>
                <a:cxnSpLocks noChangeShapeType="1"/>
                <a:stCxn id="139295" idx="3"/>
                <a:endCxn id="139292" idx="0"/>
              </p:cNvCxnSpPr>
              <p:nvPr/>
            </p:nvCxnSpPr>
            <p:spPr bwMode="auto">
              <a:xfrm>
                <a:off x="4845" y="1992"/>
                <a:ext cx="293" cy="420"/>
              </a:xfrm>
              <a:prstGeom prst="straightConnector1">
                <a:avLst/>
              </a:prstGeom>
              <a:grp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9301" name="AutoShape 37"/>
              <p:cNvCxnSpPr>
                <a:cxnSpLocks noChangeShapeType="1"/>
                <a:stCxn id="139292" idx="2"/>
                <a:endCxn id="139293" idx="0"/>
              </p:cNvCxnSpPr>
              <p:nvPr/>
            </p:nvCxnSpPr>
            <p:spPr bwMode="auto">
              <a:xfrm flipH="1">
                <a:off x="4773" y="2556"/>
                <a:ext cx="365" cy="348"/>
              </a:xfrm>
              <a:prstGeom prst="straightConnector1">
                <a:avLst/>
              </a:prstGeom>
              <a:grp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9302" name="AutoShape 38"/>
              <p:cNvCxnSpPr>
                <a:cxnSpLocks noChangeShapeType="1"/>
                <a:stCxn id="139291" idx="3"/>
                <a:endCxn id="139292" idx="1"/>
              </p:cNvCxnSpPr>
              <p:nvPr/>
            </p:nvCxnSpPr>
            <p:spPr bwMode="auto">
              <a:xfrm>
                <a:off x="3952" y="2484"/>
                <a:ext cx="1114" cy="0"/>
              </a:xfrm>
              <a:prstGeom prst="straightConnector1">
                <a:avLst/>
              </a:prstGeom>
              <a:grp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9303" name="AutoShape 39"/>
              <p:cNvCxnSpPr>
                <a:cxnSpLocks noChangeShapeType="1"/>
                <a:stCxn id="139290" idx="2"/>
                <a:endCxn id="139293" idx="0"/>
              </p:cNvCxnSpPr>
              <p:nvPr/>
            </p:nvCxnSpPr>
            <p:spPr bwMode="auto">
              <a:xfrm>
                <a:off x="4245" y="2064"/>
                <a:ext cx="528" cy="840"/>
              </a:xfrm>
              <a:prstGeom prst="straightConnector1">
                <a:avLst/>
              </a:prstGeom>
              <a:grp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9304" name="AutoShape 40"/>
              <p:cNvCxnSpPr>
                <a:cxnSpLocks noChangeShapeType="1"/>
                <a:stCxn id="139295" idx="2"/>
                <a:endCxn id="139294" idx="0"/>
              </p:cNvCxnSpPr>
              <p:nvPr/>
            </p:nvCxnSpPr>
            <p:spPr bwMode="auto">
              <a:xfrm flipH="1">
                <a:off x="4245" y="2064"/>
                <a:ext cx="528" cy="840"/>
              </a:xfrm>
              <a:prstGeom prst="straightConnector1">
                <a:avLst/>
              </a:prstGeom>
              <a:grp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39308" name="Text Box 44"/>
              <p:cNvSpPr txBox="1">
                <a:spLocks noChangeArrowheads="1"/>
              </p:cNvSpPr>
              <p:nvPr/>
            </p:nvSpPr>
            <p:spPr bwMode="auto">
              <a:xfrm>
                <a:off x="5082" y="2486"/>
                <a:ext cx="546" cy="252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server</a:t>
                </a:r>
              </a:p>
            </p:txBody>
          </p:sp>
          <p:sp>
            <p:nvSpPr>
              <p:cNvPr id="139309" name="Text Box 45"/>
              <p:cNvSpPr txBox="1">
                <a:spLocks noChangeArrowheads="1"/>
              </p:cNvSpPr>
              <p:nvPr/>
            </p:nvSpPr>
            <p:spPr bwMode="auto">
              <a:xfrm>
                <a:off x="3424" y="2486"/>
                <a:ext cx="546" cy="252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server</a:t>
                </a:r>
              </a:p>
            </p:txBody>
          </p:sp>
          <p:sp>
            <p:nvSpPr>
              <p:cNvPr id="139310" name="Text Box 46"/>
              <p:cNvSpPr txBox="1">
                <a:spLocks noChangeArrowheads="1"/>
              </p:cNvSpPr>
              <p:nvPr/>
            </p:nvSpPr>
            <p:spPr bwMode="auto">
              <a:xfrm>
                <a:off x="4624" y="2976"/>
                <a:ext cx="619" cy="252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Laptop</a:t>
                </a:r>
              </a:p>
            </p:txBody>
          </p:sp>
          <p:sp>
            <p:nvSpPr>
              <p:cNvPr id="139311" name="Text Box 47"/>
              <p:cNvSpPr txBox="1">
                <a:spLocks noChangeArrowheads="1"/>
              </p:cNvSpPr>
              <p:nvPr/>
            </p:nvSpPr>
            <p:spPr bwMode="auto">
              <a:xfrm>
                <a:off x="3934" y="1680"/>
                <a:ext cx="450" cy="252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PDA</a:t>
                </a:r>
              </a:p>
            </p:txBody>
          </p:sp>
          <p:sp>
            <p:nvSpPr>
              <p:cNvPr id="139312" name="Text Box 48"/>
              <p:cNvSpPr txBox="1">
                <a:spLocks noChangeArrowheads="1"/>
              </p:cNvSpPr>
              <p:nvPr/>
            </p:nvSpPr>
            <p:spPr bwMode="auto">
              <a:xfrm>
                <a:off x="3843" y="2976"/>
                <a:ext cx="582" cy="446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Work-</a:t>
                </a:r>
              </a:p>
              <a:p>
                <a:pPr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station</a:t>
                </a:r>
              </a:p>
            </p:txBody>
          </p:sp>
          <p:sp>
            <p:nvSpPr>
              <p:cNvPr id="139313" name="Text Box 49"/>
              <p:cNvSpPr txBox="1">
                <a:spLocks noChangeArrowheads="1"/>
              </p:cNvSpPr>
              <p:nvPr/>
            </p:nvSpPr>
            <p:spPr bwMode="auto">
              <a:xfrm>
                <a:off x="4611" y="1680"/>
                <a:ext cx="856" cy="252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Cell phone</a:t>
                </a:r>
              </a:p>
            </p:txBody>
          </p:sp>
        </p:grpSp>
      </p:grpSp>
      <p:sp>
        <p:nvSpPr>
          <p:cNvPr id="32" name="Rectangle 31"/>
          <p:cNvSpPr/>
          <p:nvPr/>
        </p:nvSpPr>
        <p:spPr>
          <a:xfrm>
            <a:off x="3634641" y="6192980"/>
            <a:ext cx="268141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Reference : </a:t>
            </a:r>
            <a:r>
              <a:rPr lang="en-US" sz="1400" dirty="0">
                <a:latin typeface="Arial" pitchFamily="34" charset="0"/>
              </a:rPr>
              <a:t>Introduction to Software Testing by </a:t>
            </a:r>
            <a:r>
              <a:rPr lang="en-US" sz="1400" dirty="0" err="1">
                <a:latin typeface="Arial" pitchFamily="34" charset="0"/>
              </a:rPr>
              <a:t>Ammann</a:t>
            </a:r>
            <a:r>
              <a:rPr lang="en-US" sz="1400" dirty="0">
                <a:latin typeface="Arial" pitchFamily="34" charset="0"/>
              </a:rPr>
              <a:t> and Offutt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9299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Web Service Application Example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90600"/>
            <a:ext cx="6972300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429000" y="541020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Purchase Order Workflow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07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 Service Application Example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143000"/>
            <a:ext cx="6299427" cy="375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743200" y="5269468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Service Order Workflow 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294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Main differences Between Component Based and SOA applications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981200"/>
            <a:ext cx="81534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Component based systems are usually tightly-coupled.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Web service applications are loosely coupled and the implementation/design is not available most of the time.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Web services can be dynamically bound at runtime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04740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Different Set of Control Logic – Workflow control flow patterns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057400" y="1219200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http://www.workflowpatterns.com/patterns/control/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338976"/>
              </p:ext>
            </p:extLst>
          </p:nvPr>
        </p:nvGraphicFramePr>
        <p:xfrm>
          <a:off x="762000" y="2438399"/>
          <a:ext cx="2590800" cy="183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r:id="rId3" imgW="1284434" imgH="907652" progId="Visio.Drawing.11">
                  <p:embed/>
                </p:oleObj>
              </mc:Choice>
              <mc:Fallback>
                <p:oleObj r:id="rId3" imgW="1284434" imgH="907652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438399"/>
                        <a:ext cx="2590800" cy="18306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143000" y="44958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AND-Split</a:t>
            </a:r>
            <a:endParaRPr lang="en-US" dirty="0"/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793334"/>
              </p:ext>
            </p:extLst>
          </p:nvPr>
        </p:nvGraphicFramePr>
        <p:xfrm>
          <a:off x="5257800" y="2362200"/>
          <a:ext cx="2743200" cy="1913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r:id="rId5" imgW="2309057" imgH="1054990" progId="Visio.Drawing.11">
                  <p:embed/>
                </p:oleObj>
              </mc:Choice>
              <mc:Fallback>
                <p:oleObj r:id="rId5" imgW="2309057" imgH="105499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362200"/>
                        <a:ext cx="2743200" cy="19138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867400" y="4479759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Synchronous merge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97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52400"/>
            <a:ext cx="8229600" cy="7065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Levels of Testing in SOA Applications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191491" y="5269468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http://www.soapui.org/Getting-Started/your-first-soapui-project.html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914400"/>
            <a:ext cx="8229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600" dirty="0" smtClean="0"/>
              <a:t>Test web services – at web service level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600" dirty="0" smtClean="0"/>
              <a:t> Availability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600" dirty="0"/>
              <a:t> R</a:t>
            </a:r>
            <a:r>
              <a:rPr lang="en-US" sz="3600" dirty="0" smtClean="0"/>
              <a:t>esponse time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600" dirty="0" smtClean="0"/>
              <a:t> Correctness of output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600" dirty="0" smtClean="0"/>
              <a:t> Other quality factors …..</a:t>
            </a:r>
          </a:p>
          <a:p>
            <a:pPr marL="742950" lvl="1" indent="-285750">
              <a:buFont typeface="Arial" pitchFamily="34" charset="0"/>
              <a:buChar char="•"/>
            </a:pPr>
            <a:endParaRPr lang="en-US" sz="36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4997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SoapUI</a:t>
            </a:r>
            <a:r>
              <a:rPr lang="en-US" dirty="0" smtClean="0"/>
              <a:t>/Web Service Demo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8248"/>
            <a:ext cx="9144000" cy="6079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281806" y="422199"/>
            <a:ext cx="4402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http://sourceforge.net/projects/soapui/files/</a:t>
            </a:r>
          </a:p>
        </p:txBody>
      </p:sp>
    </p:spTree>
    <p:extLst>
      <p:ext uri="{BB962C8B-B14F-4D97-AF65-F5344CB8AC3E}">
        <p14:creationId xmlns:p14="http://schemas.microsoft.com/office/powerpoint/2010/main" val="2720801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Web Service Composition Level Testing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1371600"/>
            <a:ext cx="784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Testing web service composition logic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How to model the behavior of a composite web service?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579531"/>
              </p:ext>
            </p:extLst>
          </p:nvPr>
        </p:nvGraphicFramePr>
        <p:xfrm>
          <a:off x="762000" y="2514600"/>
          <a:ext cx="7391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425">
                <a:tc>
                  <a:txBody>
                    <a:bodyPr/>
                    <a:lstStyle/>
                    <a:p>
                      <a:r>
                        <a:rPr lang="en-US" dirty="0" smtClean="0"/>
                        <a:t>Behavior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Decision 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Finite State Machine (FSM)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Petri-Net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 smtClean="0"/>
                        <a:t>Sequence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B050"/>
                          </a:solidFill>
                        </a:rPr>
                        <a:t>No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 smtClean="0"/>
                        <a:t>Selection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 smtClean="0"/>
                        <a:t>Repetition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B050"/>
                          </a:solidFill>
                        </a:rPr>
                        <a:t>No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 smtClean="0"/>
                        <a:t>Multiple-causes of output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 smtClean="0"/>
                        <a:t>Mutual Exclusion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 smtClean="0"/>
                        <a:t>Concurrency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Deadlock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590800" y="6172200"/>
            <a:ext cx="3649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Model Based Testing – Why Petri Net</a:t>
            </a:r>
          </a:p>
        </p:txBody>
      </p:sp>
    </p:spTree>
    <p:extLst>
      <p:ext uri="{BB962C8B-B14F-4D97-AF65-F5344CB8AC3E}">
        <p14:creationId xmlns:p14="http://schemas.microsoft.com/office/powerpoint/2010/main" val="2073528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Petri-Net model for SOC Applications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95400"/>
            <a:ext cx="7863361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1650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8458200" cy="6089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3895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18" y="595745"/>
            <a:ext cx="8021782" cy="571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8438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8763000" cy="615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5723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Model the purchase order workflow using Petri-Net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582" y="1600200"/>
            <a:ext cx="6972300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304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19400"/>
            <a:ext cx="8229600" cy="1143000"/>
          </a:xfrm>
        </p:spPr>
        <p:txBody>
          <a:bodyPr/>
          <a:lstStyle/>
          <a:p>
            <a:r>
              <a:rPr lang="en-US" dirty="0" smtClean="0"/>
              <a:t>Petri-Net In-class 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81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238</Words>
  <Application>Microsoft Office PowerPoint</Application>
  <PresentationFormat>On-screen Show (4:3)</PresentationFormat>
  <Paragraphs>76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Office Theme</vt:lpstr>
      <vt:lpstr>Visio.Drawing.11</vt:lpstr>
      <vt:lpstr>CSE 464 : Software Quality Assurance and Testing</vt:lpstr>
      <vt:lpstr>Service Oriented Application Testing</vt:lpstr>
      <vt:lpstr>Web Service Architecture</vt:lpstr>
      <vt:lpstr>Web Service Application Example</vt:lpstr>
      <vt:lpstr>Web Service Application Example</vt:lpstr>
      <vt:lpstr>Main differences Between Component Based and SOA applications</vt:lpstr>
      <vt:lpstr>Different Set of Control Logic – Workflow control flow patterns</vt:lpstr>
      <vt:lpstr>Levels of Testing in SOA Applications</vt:lpstr>
      <vt:lpstr>SoapUI/Web Service Demo</vt:lpstr>
      <vt:lpstr>Web Service Composition Level Testing</vt:lpstr>
      <vt:lpstr>Petri-Net model for SOC Applications</vt:lpstr>
      <vt:lpstr>PowerPoint Presentation</vt:lpstr>
      <vt:lpstr>PowerPoint Presentation</vt:lpstr>
      <vt:lpstr>PowerPoint Presentation</vt:lpstr>
      <vt:lpstr>Model the purchase order workflow using Petri-Net</vt:lpstr>
      <vt:lpstr>Petri-Net In-class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Janaka Balasooriya</dc:creator>
  <cp:lastModifiedBy>Janaka Balasooriya</cp:lastModifiedBy>
  <cp:revision>84</cp:revision>
  <dcterms:created xsi:type="dcterms:W3CDTF">2011-11-02T17:35:01Z</dcterms:created>
  <dcterms:modified xsi:type="dcterms:W3CDTF">2018-11-21T16:07:17Z</dcterms:modified>
</cp:coreProperties>
</file>