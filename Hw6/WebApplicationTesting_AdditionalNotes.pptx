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274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6" d="100"/>
          <a:sy n="86" d="100"/>
        </p:scale>
        <p:origin x="930" y="4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246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5C3001-6A9D-4150-8590-7459DC59C045}" type="datetimeFigureOut">
              <a:rPr lang="en-US" smtClean="0"/>
              <a:t>4/14/2019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66400D-2D03-4833-99F5-936625AFFF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472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C4878-D5C9-4C11-A39F-5E3698BF8611}" type="datetimeFigureOut">
              <a:rPr lang="en-US" smtClean="0"/>
              <a:t>4/14/2019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73A41-40E7-42EE-9400-EE871C7BD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137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C4878-D5C9-4C11-A39F-5E3698BF8611}" type="datetimeFigureOut">
              <a:rPr lang="en-US" smtClean="0"/>
              <a:t>4/14/2019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73A41-40E7-42EE-9400-EE871C7BD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002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C4878-D5C9-4C11-A39F-5E3698BF8611}" type="datetimeFigureOut">
              <a:rPr lang="en-US" smtClean="0"/>
              <a:t>4/14/2019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73A41-40E7-42EE-9400-EE871C7BD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84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C4878-D5C9-4C11-A39F-5E3698BF8611}" type="datetimeFigureOut">
              <a:rPr lang="en-US" smtClean="0"/>
              <a:t>4/14/2019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73A41-40E7-42EE-9400-EE871C7BD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452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C4878-D5C9-4C11-A39F-5E3698BF8611}" type="datetimeFigureOut">
              <a:rPr lang="en-US" smtClean="0"/>
              <a:t>4/14/2019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73A41-40E7-42EE-9400-EE871C7BD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923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C4878-D5C9-4C11-A39F-5E3698BF8611}" type="datetimeFigureOut">
              <a:rPr lang="en-US" smtClean="0"/>
              <a:t>4/14/2019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73A41-40E7-42EE-9400-EE871C7BD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257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C4878-D5C9-4C11-A39F-5E3698BF8611}" type="datetimeFigureOut">
              <a:rPr lang="en-US" smtClean="0"/>
              <a:t>4/14/2019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73A41-40E7-42EE-9400-EE871C7BD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841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C4878-D5C9-4C11-A39F-5E3698BF8611}" type="datetimeFigureOut">
              <a:rPr lang="en-US" smtClean="0"/>
              <a:t>4/14/2019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73A41-40E7-42EE-9400-EE871C7BD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4127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C4878-D5C9-4C11-A39F-5E3698BF8611}" type="datetimeFigureOut">
              <a:rPr lang="en-US" smtClean="0"/>
              <a:t>4/14/2019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73A41-40E7-42EE-9400-EE871C7BD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073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C4878-D5C9-4C11-A39F-5E3698BF8611}" type="datetimeFigureOut">
              <a:rPr lang="en-US" smtClean="0"/>
              <a:t>4/14/2019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73A41-40E7-42EE-9400-EE871C7BD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945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C4878-D5C9-4C11-A39F-5E3698BF8611}" type="datetimeFigureOut">
              <a:rPr lang="en-US" smtClean="0"/>
              <a:t>4/14/2019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173A41-40E7-42EE-9400-EE871C7BD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658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8C4878-D5C9-4C11-A39F-5E3698BF8611}" type="datetimeFigureOut">
              <a:rPr lang="en-US" smtClean="0"/>
              <a:t>4/14/2019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173A41-40E7-42EE-9400-EE871C7BD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359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0099"/>
                </a:solidFill>
              </a:rPr>
              <a:t>CSE 464 : Software Quality Assurance and Testing</a:t>
            </a:r>
            <a:endParaRPr lang="en-US" b="1" dirty="0">
              <a:solidFill>
                <a:srgbClr val="000099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57600"/>
            <a:ext cx="6781800" cy="2514600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FF6600"/>
                </a:solidFill>
              </a:rPr>
              <a:t>Testing </a:t>
            </a:r>
            <a:r>
              <a:rPr lang="en-US" b="1" dirty="0" smtClean="0">
                <a:solidFill>
                  <a:srgbClr val="FF6600"/>
                </a:solidFill>
              </a:rPr>
              <a:t>Web Applications </a:t>
            </a:r>
            <a:r>
              <a:rPr lang="en-US" b="1" dirty="0" smtClean="0">
                <a:solidFill>
                  <a:srgbClr val="FF6600"/>
                </a:solidFill>
              </a:rPr>
              <a:t>– Additional Notes</a:t>
            </a:r>
            <a:endParaRPr lang="en-US" dirty="0" smtClean="0"/>
          </a:p>
          <a:p>
            <a:r>
              <a:rPr lang="en-US" b="1" dirty="0" err="1" smtClean="0">
                <a:solidFill>
                  <a:srgbClr val="000099"/>
                </a:solidFill>
              </a:rPr>
              <a:t>Janaka</a:t>
            </a:r>
            <a:r>
              <a:rPr lang="en-US" b="1" dirty="0" smtClean="0">
                <a:solidFill>
                  <a:srgbClr val="000099"/>
                </a:solidFill>
              </a:rPr>
              <a:t> </a:t>
            </a:r>
            <a:r>
              <a:rPr lang="en-US" b="1" dirty="0" err="1" smtClean="0">
                <a:solidFill>
                  <a:srgbClr val="000099"/>
                </a:solidFill>
              </a:rPr>
              <a:t>Balasooriya</a:t>
            </a:r>
            <a:endParaRPr lang="en-US" b="1" dirty="0">
              <a:solidFill>
                <a:srgbClr val="000099"/>
              </a:solidFill>
            </a:endParaRPr>
          </a:p>
        </p:txBody>
      </p:sp>
      <p:pic>
        <p:nvPicPr>
          <p:cNvPr id="5" name="Picture 6" descr="School of Computing, Informatics, and Decision Systems Engineer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04800"/>
            <a:ext cx="70532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22696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457200"/>
          </a:xfrm>
        </p:spPr>
        <p:txBody>
          <a:bodyPr>
            <a:normAutofit fontScale="90000"/>
          </a:bodyPr>
          <a:lstStyle/>
          <a:p>
            <a:r>
              <a:rPr lang="en-US" sz="3200" dirty="0" smtClean="0"/>
              <a:t>Testing Web Applications : A Bigger Picture</a:t>
            </a:r>
            <a:endParaRPr lang="en-US" sz="3200" dirty="0"/>
          </a:p>
        </p:txBody>
      </p:sp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533400"/>
            <a:ext cx="6781800" cy="6169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400800"/>
            <a:ext cx="5486400" cy="457200"/>
          </a:xfrm>
        </p:spPr>
        <p:txBody>
          <a:bodyPr/>
          <a:lstStyle/>
          <a:p>
            <a:r>
              <a:rPr lang="en-US" dirty="0"/>
              <a:t>These slides are designed to accompany </a:t>
            </a:r>
            <a:r>
              <a:rPr lang="en-US" i="1" dirty="0"/>
              <a:t>Software Engineering: A Practitioner’s Approach, 7/e </a:t>
            </a:r>
            <a:r>
              <a:rPr lang="en-US" dirty="0"/>
              <a:t>(McGraw-Hill 2009). Slides copyright 2009 by Roger Pressman. </a:t>
            </a:r>
          </a:p>
        </p:txBody>
      </p:sp>
    </p:spTree>
    <p:extLst>
      <p:ext uri="{BB962C8B-B14F-4D97-AF65-F5344CB8AC3E}">
        <p14:creationId xmlns:p14="http://schemas.microsoft.com/office/powerpoint/2010/main" val="2866750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457200" y="6356350"/>
            <a:ext cx="7391400" cy="365125"/>
          </a:xfrm>
        </p:spPr>
        <p:txBody>
          <a:bodyPr/>
          <a:lstStyle/>
          <a:p>
            <a:r>
              <a:rPr lang="en-US" dirty="0"/>
              <a:t>An Introduction to</a:t>
            </a:r>
            <a:r>
              <a:rPr lang="en-US" i="0" dirty="0"/>
              <a:t> </a:t>
            </a:r>
            <a:r>
              <a:rPr lang="en-US" dirty="0"/>
              <a:t>Web Engineering</a:t>
            </a:r>
          </a:p>
          <a:p>
            <a:r>
              <a:rPr lang="en-US" dirty="0"/>
              <a:t>Copyright 2009</a:t>
            </a:r>
            <a:r>
              <a:rPr lang="en-US" i="0" dirty="0"/>
              <a:t> R.S. Pressman &amp; Associates, Inc.   www.rspa.com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F0ED72C-C834-4CA4-97A7-0F5319579CE2}" type="slidenum">
              <a:rPr lang="en-US"/>
              <a:pPr/>
              <a:t>3</a:t>
            </a:fld>
            <a:endParaRPr lang="en-US"/>
          </a:p>
        </p:txBody>
      </p:sp>
      <p:sp>
        <p:nvSpPr>
          <p:cNvPr id="14336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3855"/>
            <a:ext cx="7629525" cy="709613"/>
          </a:xfrm>
        </p:spPr>
        <p:txBody>
          <a:bodyPr>
            <a:normAutofit fontScale="90000"/>
          </a:bodyPr>
          <a:lstStyle/>
          <a:p>
            <a:r>
              <a:rPr lang="en-US" dirty="0"/>
              <a:t>Content Testing</a:t>
            </a:r>
          </a:p>
        </p:txBody>
      </p:sp>
      <p:sp>
        <p:nvSpPr>
          <p:cNvPr id="143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838200"/>
            <a:ext cx="8382000" cy="419100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2000" dirty="0" smtClean="0">
                <a:latin typeface="Arial" charset="0"/>
              </a:rPr>
              <a:t>Content </a:t>
            </a:r>
            <a:r>
              <a:rPr lang="en-US" sz="2000" dirty="0">
                <a:latin typeface="Arial" charset="0"/>
              </a:rPr>
              <a:t>testing has three important objectives: 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solidFill>
                  <a:schemeClr val="folHlink"/>
                </a:solidFill>
                <a:latin typeface="Arial" charset="0"/>
              </a:rPr>
              <a:t>to uncover syntactic errors</a:t>
            </a:r>
            <a:r>
              <a:rPr lang="en-US" sz="2000" dirty="0">
                <a:latin typeface="Arial" charset="0"/>
              </a:rPr>
              <a:t> (e.g., typos, grammar mistakes) in text-based documents, graphical representations, and other media, 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solidFill>
                  <a:schemeClr val="folHlink"/>
                </a:solidFill>
                <a:latin typeface="Arial" charset="0"/>
              </a:rPr>
              <a:t>to uncover semantic errors</a:t>
            </a:r>
            <a:r>
              <a:rPr lang="en-US" sz="2000" dirty="0">
                <a:latin typeface="Arial" charset="0"/>
              </a:rPr>
              <a:t> (i.e., errors in the accuracy or completeness of information) in any content object presented as navigation occurs, and 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solidFill>
                  <a:schemeClr val="folHlink"/>
                </a:solidFill>
                <a:latin typeface="Arial" charset="0"/>
              </a:rPr>
              <a:t>to find errors in the organization or structure of content</a:t>
            </a:r>
            <a:r>
              <a:rPr lang="en-US" sz="2000" dirty="0">
                <a:latin typeface="Arial" charset="0"/>
              </a:rPr>
              <a:t> that is presented to the end user</a:t>
            </a:r>
            <a:r>
              <a:rPr lang="en-US" sz="2000" dirty="0" smtClean="0">
                <a:latin typeface="Arial" charset="0"/>
              </a:rPr>
              <a:t>.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n-US" sz="2000" dirty="0" smtClean="0">
              <a:latin typeface="Arial" charset="0"/>
            </a:endParaRPr>
          </a:p>
          <a:p>
            <a:pPr>
              <a:lnSpc>
                <a:spcPct val="90000"/>
              </a:lnSpc>
            </a:pPr>
            <a:r>
              <a:rPr lang="en-US" sz="2000" dirty="0">
                <a:latin typeface="Arial" charset="0"/>
              </a:rPr>
              <a:t>Content testing combines both reviews and the generation of executable test cases. 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solidFill>
                  <a:schemeClr val="folHlink"/>
                </a:solidFill>
                <a:latin typeface="Arial" charset="0"/>
              </a:rPr>
              <a:t>Reviews</a:t>
            </a:r>
            <a:r>
              <a:rPr lang="en-US" sz="2000" dirty="0">
                <a:latin typeface="Arial" charset="0"/>
              </a:rPr>
              <a:t> are applied to uncover semantic errors in content.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solidFill>
                  <a:schemeClr val="folHlink"/>
                </a:solidFill>
                <a:latin typeface="Arial" charset="0"/>
              </a:rPr>
              <a:t>Executable testing</a:t>
            </a:r>
            <a:r>
              <a:rPr lang="en-US" sz="2000" dirty="0">
                <a:latin typeface="Arial" charset="0"/>
              </a:rPr>
              <a:t> is used to uncover content errors that can be traced to dynamically derived content that is driven by data acquired from one or more databases.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n-US" sz="2000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6307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An Introduction to</a:t>
            </a:r>
            <a:r>
              <a:rPr lang="en-US" i="0"/>
              <a:t> </a:t>
            </a:r>
            <a:r>
              <a:rPr lang="en-US"/>
              <a:t>Web Engineering</a:t>
            </a:r>
          </a:p>
          <a:p>
            <a:r>
              <a:rPr lang="en-US"/>
              <a:t>Copyright 2009</a:t>
            </a:r>
            <a:r>
              <a:rPr lang="en-US" i="0"/>
              <a:t> R.S. Pressman &amp; Associates, Inc.   www.rspa.com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604C571-7637-475D-9D7E-2B77D486C0B3}" type="slidenum">
              <a:rPr lang="en-US"/>
              <a:pPr/>
              <a:t>4</a:t>
            </a:fld>
            <a:endParaRPr lang="en-US"/>
          </a:p>
        </p:txBody>
      </p:sp>
      <p:sp>
        <p:nvSpPr>
          <p:cNvPr id="144386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152400"/>
            <a:ext cx="7629525" cy="709613"/>
          </a:xfrm>
        </p:spPr>
        <p:txBody>
          <a:bodyPr>
            <a:normAutofit fontScale="90000"/>
          </a:bodyPr>
          <a:lstStyle/>
          <a:p>
            <a:r>
              <a:rPr lang="en-US" dirty="0"/>
              <a:t>Content Testing - Checklist</a:t>
            </a:r>
          </a:p>
        </p:txBody>
      </p:sp>
      <p:sp>
        <p:nvSpPr>
          <p:cNvPr id="144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066800"/>
            <a:ext cx="8153400" cy="419100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</a:pPr>
            <a:r>
              <a:rPr lang="en-US" sz="2000" dirty="0">
                <a:latin typeface="Arial" charset="0"/>
              </a:rPr>
              <a:t>Is the information up to date and factually accurate?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 sz="2000" dirty="0">
                <a:latin typeface="Arial" charset="0"/>
              </a:rPr>
              <a:t>Is the information concise and to the point?</a:t>
            </a:r>
          </a:p>
          <a:p>
            <a:pPr>
              <a:lnSpc>
                <a:spcPct val="90000"/>
              </a:lnSpc>
            </a:pPr>
            <a:r>
              <a:rPr lang="en-US" sz="2000" b="1" dirty="0">
                <a:solidFill>
                  <a:srgbClr val="FF0000"/>
                </a:solidFill>
                <a:latin typeface="Arial" charset="0"/>
              </a:rPr>
              <a:t>Is the layout of the content object easy for the user to understand?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latin typeface="Arial" charset="0"/>
              </a:rPr>
              <a:t>Can information embedded within a content object be found easily?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latin typeface="Arial" charset="0"/>
              </a:rPr>
              <a:t>Have proper references been provided for all information derived from other sources?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latin typeface="Arial" charset="0"/>
              </a:rPr>
              <a:t>Is the information presented consistent internally and consistent with information presented in other content objects?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latin typeface="Arial" charset="0"/>
              </a:rPr>
              <a:t>Can the content be interpreted as being offensive or misleading, or does it open the door to litigation?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latin typeface="Arial" charset="0"/>
              </a:rPr>
              <a:t>Does the content infringe on existing copyrights or trademarks?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latin typeface="Arial" charset="0"/>
              </a:rPr>
              <a:t>Does the content contain internal links that supplement existing content? Are the links correct?</a:t>
            </a:r>
          </a:p>
          <a:p>
            <a:pPr>
              <a:lnSpc>
                <a:spcPct val="90000"/>
              </a:lnSpc>
            </a:pPr>
            <a:r>
              <a:rPr lang="en-US" sz="2000" dirty="0">
                <a:latin typeface="Arial" charset="0"/>
              </a:rPr>
              <a:t>Does the aesthetic style of the content conflict with the aesthetic style of the interface?</a:t>
            </a:r>
          </a:p>
          <a:p>
            <a:pPr>
              <a:lnSpc>
                <a:spcPct val="90000"/>
              </a:lnSpc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45321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457200" y="6096000"/>
            <a:ext cx="8458200" cy="365125"/>
          </a:xfrm>
        </p:spPr>
        <p:txBody>
          <a:bodyPr/>
          <a:lstStyle/>
          <a:p>
            <a:r>
              <a:rPr lang="en-US" dirty="0"/>
              <a:t>An Introduction to</a:t>
            </a:r>
            <a:r>
              <a:rPr lang="en-US" i="0" dirty="0"/>
              <a:t> </a:t>
            </a:r>
            <a:r>
              <a:rPr lang="en-US" dirty="0"/>
              <a:t>Web Engineering</a:t>
            </a:r>
          </a:p>
          <a:p>
            <a:r>
              <a:rPr lang="en-US" dirty="0"/>
              <a:t>Copyright 2009</a:t>
            </a:r>
            <a:r>
              <a:rPr lang="en-US" i="0" dirty="0"/>
              <a:t> R.S. Pressman &amp; Associates, Inc.   www.rspa.com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E1E5683-E0FB-496C-8080-E9E729FFB744}" type="slidenum">
              <a:rPr lang="en-US"/>
              <a:pPr/>
              <a:t>5</a:t>
            </a:fld>
            <a:endParaRPr lang="en-US"/>
          </a:p>
        </p:txBody>
      </p:sp>
      <p:sp>
        <p:nvSpPr>
          <p:cNvPr id="14745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7629525" cy="709613"/>
          </a:xfrm>
        </p:spPr>
        <p:txBody>
          <a:bodyPr>
            <a:normAutofit fontScale="90000"/>
          </a:bodyPr>
          <a:lstStyle/>
          <a:p>
            <a:r>
              <a:rPr lang="en-US" dirty="0"/>
              <a:t>User Interface Testing</a:t>
            </a:r>
          </a:p>
        </p:txBody>
      </p:sp>
      <p:sp>
        <p:nvSpPr>
          <p:cNvPr id="147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066800"/>
            <a:ext cx="8458200" cy="41910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 dirty="0">
                <a:latin typeface="Arial" charset="0"/>
              </a:rPr>
              <a:t>Verification and validation of a </a:t>
            </a:r>
            <a:r>
              <a:rPr lang="en-US" sz="2000" dirty="0" err="1">
                <a:latin typeface="Arial" charset="0"/>
              </a:rPr>
              <a:t>WebApp</a:t>
            </a:r>
            <a:r>
              <a:rPr lang="en-US" sz="2000" dirty="0">
                <a:latin typeface="Arial" charset="0"/>
              </a:rPr>
              <a:t> user interface occurs at three distinct points in the </a:t>
            </a:r>
            <a:r>
              <a:rPr lang="en-US" sz="2000" dirty="0" err="1">
                <a:latin typeface="Arial" charset="0"/>
              </a:rPr>
              <a:t>WebE</a:t>
            </a:r>
            <a:r>
              <a:rPr lang="en-US" sz="2000" dirty="0">
                <a:latin typeface="Arial" charset="0"/>
              </a:rPr>
              <a:t> process. 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solidFill>
                  <a:schemeClr val="folHlink"/>
                </a:solidFill>
                <a:latin typeface="Arial" charset="0"/>
              </a:rPr>
              <a:t>During communication</a:t>
            </a:r>
            <a:r>
              <a:rPr lang="en-US" sz="2000" dirty="0">
                <a:latin typeface="Arial" charset="0"/>
              </a:rPr>
              <a:t> </a:t>
            </a:r>
            <a:r>
              <a:rPr lang="en-US" sz="2000" dirty="0">
                <a:solidFill>
                  <a:schemeClr val="folHlink"/>
                </a:solidFill>
                <a:latin typeface="Arial" charset="0"/>
              </a:rPr>
              <a:t>and modeling</a:t>
            </a:r>
            <a:r>
              <a:rPr lang="en-US" sz="2000" dirty="0">
                <a:latin typeface="Arial" charset="0"/>
              </a:rPr>
              <a:t> the interface model is reviewed to ensure that it conforms to customer requirements and to other elements of the analysis model. 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solidFill>
                  <a:schemeClr val="folHlink"/>
                </a:solidFill>
                <a:latin typeface="Arial" charset="0"/>
              </a:rPr>
              <a:t>During design</a:t>
            </a:r>
            <a:r>
              <a:rPr lang="en-US" sz="2000" dirty="0">
                <a:latin typeface="Arial" charset="0"/>
              </a:rPr>
              <a:t>, the interface design model is reviewed to ensure that generic quality criteria established for all user interfaces have been achieved and that application-specific interface design issues have been properly addressed.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solidFill>
                  <a:schemeClr val="folHlink"/>
                </a:solidFill>
                <a:latin typeface="Arial" charset="0"/>
              </a:rPr>
              <a:t>During testing</a:t>
            </a:r>
            <a:r>
              <a:rPr lang="en-US" sz="2000" dirty="0">
                <a:latin typeface="Arial" charset="0"/>
              </a:rPr>
              <a:t>, the focus shifts to the execution of application-specific aspects of user interaction as they are manifested by interface syntax and semantics. In addition, testing provides a final assessment of usability.</a:t>
            </a:r>
            <a:endParaRPr lang="en-US" sz="2000" dirty="0">
              <a:latin typeface="Palati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2961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457200" y="6356350"/>
            <a:ext cx="7848600" cy="365125"/>
          </a:xfrm>
        </p:spPr>
        <p:txBody>
          <a:bodyPr/>
          <a:lstStyle/>
          <a:p>
            <a:r>
              <a:rPr lang="en-US" dirty="0"/>
              <a:t>An Introduction to</a:t>
            </a:r>
            <a:r>
              <a:rPr lang="en-US" i="0" dirty="0"/>
              <a:t> </a:t>
            </a:r>
            <a:r>
              <a:rPr lang="en-US" dirty="0"/>
              <a:t>Web Engineering</a:t>
            </a:r>
          </a:p>
          <a:p>
            <a:r>
              <a:rPr lang="en-US" dirty="0"/>
              <a:t>Copyright 2009</a:t>
            </a:r>
            <a:r>
              <a:rPr lang="en-US" i="0" dirty="0"/>
              <a:t> R.S. Pressman &amp; Associates, Inc.   www.rspa.com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C790C3A-3963-447D-9DE1-E1D48EBC2A83}" type="slidenum">
              <a:rPr lang="en-US"/>
              <a:pPr/>
              <a:t>6</a:t>
            </a:fld>
            <a:endParaRPr lang="en-US"/>
          </a:p>
        </p:txBody>
      </p:sp>
      <p:sp>
        <p:nvSpPr>
          <p:cNvPr id="14848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0"/>
            <a:ext cx="7629525" cy="785813"/>
          </a:xfrm>
        </p:spPr>
        <p:txBody>
          <a:bodyPr/>
          <a:lstStyle/>
          <a:p>
            <a:r>
              <a:rPr lang="en-US" dirty="0"/>
              <a:t>UI Testing Strategy</a:t>
            </a:r>
          </a:p>
        </p:txBody>
      </p:sp>
      <p:sp>
        <p:nvSpPr>
          <p:cNvPr id="148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990600"/>
            <a:ext cx="8153400" cy="419100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folHlink"/>
                </a:solidFill>
                <a:latin typeface="Arial" charset="0"/>
              </a:rPr>
              <a:t>Interface features are tested</a:t>
            </a:r>
            <a:r>
              <a:rPr lang="en-US" sz="2400" dirty="0">
                <a:latin typeface="Arial" charset="0"/>
              </a:rPr>
              <a:t> to ensure that design rules, aesthetics, and related visual content are available to the user without error.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folHlink"/>
                </a:solidFill>
                <a:latin typeface="Arial" charset="0"/>
              </a:rPr>
              <a:t>Individual interface mechanisms are tested</a:t>
            </a:r>
            <a:r>
              <a:rPr lang="en-US" sz="2400" dirty="0">
                <a:latin typeface="Arial" charset="0"/>
              </a:rPr>
              <a:t> in a manner that is analogous to unit testing.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folHlink"/>
                </a:solidFill>
                <a:latin typeface="Arial" charset="0"/>
              </a:rPr>
              <a:t>Each interface mechanism is tested within the context of a use case </a:t>
            </a:r>
            <a:r>
              <a:rPr lang="en-US" sz="2400" dirty="0">
                <a:latin typeface="Arial" charset="0"/>
              </a:rPr>
              <a:t>or navigation pathway for a specific user category.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folHlink"/>
                </a:solidFill>
                <a:latin typeface="Arial" charset="0"/>
              </a:rPr>
              <a:t>The complete interface is tested against selected use cases </a:t>
            </a:r>
            <a:r>
              <a:rPr lang="en-US" sz="2400" dirty="0">
                <a:latin typeface="Arial" charset="0"/>
              </a:rPr>
              <a:t>and navigation pathways to uncover errors in the semantics of the interface. </a:t>
            </a:r>
          </a:p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folHlink"/>
                </a:solidFill>
                <a:latin typeface="Arial" charset="0"/>
              </a:rPr>
              <a:t>The interface is tested within a variety of environments</a:t>
            </a:r>
            <a:r>
              <a:rPr lang="en-US" sz="2400" dirty="0">
                <a:latin typeface="Arial" charset="0"/>
              </a:rPr>
              <a:t> (e.g., operating systems, browsers) to ensure that it will be compatible.</a:t>
            </a:r>
            <a:endParaRPr lang="en-US" sz="2400" b="1" dirty="0">
              <a:latin typeface="Palatino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4637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An Introduction to</a:t>
            </a:r>
            <a:r>
              <a:rPr lang="en-US" i="0"/>
              <a:t> </a:t>
            </a:r>
            <a:r>
              <a:rPr lang="en-US"/>
              <a:t>Web Engineering</a:t>
            </a:r>
          </a:p>
          <a:p>
            <a:r>
              <a:rPr lang="en-US"/>
              <a:t>Copyright 2009</a:t>
            </a:r>
            <a:r>
              <a:rPr lang="en-US" i="0"/>
              <a:t> R.S. Pressman &amp; Associates, Inc.   www.rspa.com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DCE5706-6EC8-45EB-9811-855653C71F06}" type="slidenum">
              <a:rPr lang="en-US"/>
              <a:pPr/>
              <a:t>7</a:t>
            </a:fld>
            <a:endParaRPr lang="en-US"/>
          </a:p>
        </p:txBody>
      </p:sp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>
          <a:xfrm>
            <a:off x="1371600" y="304800"/>
            <a:ext cx="5791200" cy="709613"/>
          </a:xfrm>
        </p:spPr>
        <p:txBody>
          <a:bodyPr>
            <a:normAutofit fontScale="90000"/>
          </a:bodyPr>
          <a:lstStyle/>
          <a:p>
            <a:r>
              <a:rPr lang="en-US" dirty="0"/>
              <a:t>Usability Testing</a:t>
            </a:r>
          </a:p>
        </p:txBody>
      </p:sp>
      <p:sp>
        <p:nvSpPr>
          <p:cNvPr id="151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143000"/>
            <a:ext cx="7924800" cy="4191000"/>
          </a:xfrm>
        </p:spPr>
        <p:txBody>
          <a:bodyPr>
            <a:normAutofit fontScale="92500" lnSpcReduction="10000"/>
          </a:bodyPr>
          <a:lstStyle/>
          <a:p>
            <a:r>
              <a:rPr lang="en-US">
                <a:latin typeface="Arial" charset="0"/>
              </a:rPr>
              <a:t>Similar to interface semantics testing in the sense that it evaluates: </a:t>
            </a:r>
          </a:p>
          <a:p>
            <a:pPr lvl="1"/>
            <a:r>
              <a:rPr lang="en-US">
                <a:latin typeface="Arial" charset="0"/>
              </a:rPr>
              <a:t>the </a:t>
            </a:r>
            <a:r>
              <a:rPr lang="en-US">
                <a:solidFill>
                  <a:schemeClr val="folHlink"/>
                </a:solidFill>
                <a:latin typeface="Arial" charset="0"/>
              </a:rPr>
              <a:t>degree to which users can interact effectively</a:t>
            </a:r>
            <a:r>
              <a:rPr lang="en-US">
                <a:latin typeface="Arial" charset="0"/>
              </a:rPr>
              <a:t> with the WebApp</a:t>
            </a:r>
          </a:p>
          <a:p>
            <a:pPr lvl="1"/>
            <a:r>
              <a:rPr lang="en-US">
                <a:latin typeface="Arial" charset="0"/>
              </a:rPr>
              <a:t>the </a:t>
            </a:r>
            <a:r>
              <a:rPr lang="en-US">
                <a:solidFill>
                  <a:schemeClr val="folHlink"/>
                </a:solidFill>
                <a:latin typeface="Arial" charset="0"/>
              </a:rPr>
              <a:t>degree to which the WebApp guides users’ actions,</a:t>
            </a:r>
            <a:r>
              <a:rPr lang="en-US">
                <a:latin typeface="Arial" charset="0"/>
              </a:rPr>
              <a:t> provides meaningful feedback and enforces a consistent interaction approach.</a:t>
            </a:r>
          </a:p>
          <a:p>
            <a:r>
              <a:rPr lang="en-US">
                <a:latin typeface="Arial" charset="0"/>
              </a:rPr>
              <a:t>Determines the </a:t>
            </a:r>
            <a:r>
              <a:rPr lang="en-US">
                <a:solidFill>
                  <a:schemeClr val="folHlink"/>
                </a:solidFill>
                <a:latin typeface="Arial" charset="0"/>
              </a:rPr>
              <a:t>degree to which the WebApp interface makes the user’s life easy</a:t>
            </a:r>
          </a:p>
        </p:txBody>
      </p:sp>
    </p:spTree>
    <p:extLst>
      <p:ext uri="{BB962C8B-B14F-4D97-AF65-F5344CB8AC3E}">
        <p14:creationId xmlns:p14="http://schemas.microsoft.com/office/powerpoint/2010/main" val="28341015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An Introduction to</a:t>
            </a:r>
            <a:r>
              <a:rPr lang="en-US" i="0"/>
              <a:t> </a:t>
            </a:r>
            <a:r>
              <a:rPr lang="en-US"/>
              <a:t>Web Engineering</a:t>
            </a:r>
          </a:p>
          <a:p>
            <a:r>
              <a:rPr lang="en-US"/>
              <a:t>Copyright 2009</a:t>
            </a:r>
            <a:r>
              <a:rPr lang="en-US" i="0"/>
              <a:t> R.S. Pressman &amp; Associates, Inc.   www.rspa.com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169409C-3987-41A7-BA72-71249057B248}" type="slidenum">
              <a:rPr lang="en-US"/>
              <a:pPr/>
              <a:t>8</a:t>
            </a:fld>
            <a:endParaRPr lang="en-US"/>
          </a:p>
        </p:txBody>
      </p:sp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52400"/>
            <a:ext cx="7629525" cy="709613"/>
          </a:xfrm>
        </p:spPr>
        <p:txBody>
          <a:bodyPr>
            <a:normAutofit fontScale="90000"/>
          </a:bodyPr>
          <a:lstStyle/>
          <a:p>
            <a:r>
              <a:rPr lang="en-US" dirty="0"/>
              <a:t>Usability Evaluation: Checklist</a:t>
            </a:r>
          </a:p>
        </p:txBody>
      </p:sp>
      <p:sp>
        <p:nvSpPr>
          <p:cNvPr id="154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838200"/>
            <a:ext cx="8153400" cy="4191000"/>
          </a:xfrm>
        </p:spPr>
        <p:txBody>
          <a:bodyPr>
            <a:noAutofit/>
          </a:bodyPr>
          <a:lstStyle/>
          <a:p>
            <a:pPr lvl="1">
              <a:lnSpc>
                <a:spcPct val="90000"/>
              </a:lnSpc>
              <a:spcBef>
                <a:spcPts val="300"/>
              </a:spcBef>
            </a:pPr>
            <a:r>
              <a:rPr lang="en-US" sz="2000" dirty="0">
                <a:latin typeface="Arial" charset="0"/>
              </a:rPr>
              <a:t>Is the system usable without continual help or instruction?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latin typeface="Arial" charset="0"/>
              </a:rPr>
              <a:t>Do the rules of interaction help a knowledgeable user to work efficiently?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latin typeface="Arial" charset="0"/>
              </a:rPr>
              <a:t>Do interaction mechanisms become more flexible as users become more knowledgeable?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latin typeface="Arial" charset="0"/>
              </a:rPr>
              <a:t>Has the system been tuned to the physical and social environment in which it will be used?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latin typeface="Arial" charset="0"/>
              </a:rPr>
              <a:t>Are users aware of the state of the system? Do users know where they are at all times?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latin typeface="Arial" charset="0"/>
              </a:rPr>
              <a:t>Is the interface structured in a logical and consistent manner?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latin typeface="Arial" charset="0"/>
              </a:rPr>
              <a:t>Are interaction mechanisms, icons, and procedures consistent across the interface?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latin typeface="Arial" charset="0"/>
              </a:rPr>
              <a:t>Does the interaction anticipate errors and help the user correct them?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latin typeface="Arial" charset="0"/>
              </a:rPr>
              <a:t>Is the interface tolerant of errors that are made?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latin typeface="Arial" charset="0"/>
              </a:rPr>
              <a:t>Is the interaction simple?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01683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923876" y="5943600"/>
            <a:ext cx="7010400" cy="365125"/>
          </a:xfrm>
        </p:spPr>
        <p:txBody>
          <a:bodyPr/>
          <a:lstStyle/>
          <a:p>
            <a:r>
              <a:rPr lang="en-US" dirty="0"/>
              <a:t>An Introduction to</a:t>
            </a:r>
            <a:r>
              <a:rPr lang="en-US" i="0" dirty="0"/>
              <a:t> </a:t>
            </a:r>
            <a:r>
              <a:rPr lang="en-US" dirty="0"/>
              <a:t>Web Engineering</a:t>
            </a:r>
          </a:p>
          <a:p>
            <a:r>
              <a:rPr lang="en-US" dirty="0"/>
              <a:t>Copyright 2009</a:t>
            </a:r>
            <a:r>
              <a:rPr lang="en-US" i="0" dirty="0"/>
              <a:t> R.S. Pressman &amp; Associates, Inc.   www.rspa.com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85F0DA8-4FAD-4DB3-A86E-CFA6514F58BC}" type="slidenum">
              <a:rPr lang="en-US"/>
              <a:pPr/>
              <a:t>9</a:t>
            </a:fld>
            <a:endParaRPr lang="en-US"/>
          </a:p>
        </p:txBody>
      </p:sp>
      <p:sp>
        <p:nvSpPr>
          <p:cNvPr id="155650" name="Rectangle 2"/>
          <p:cNvSpPr>
            <a:spLocks noGrp="1" noChangeArrowheads="1"/>
          </p:cNvSpPr>
          <p:nvPr>
            <p:ph type="title"/>
          </p:nvPr>
        </p:nvSpPr>
        <p:spPr>
          <a:xfrm>
            <a:off x="769937" y="228600"/>
            <a:ext cx="7629525" cy="633413"/>
          </a:xfrm>
        </p:spPr>
        <p:txBody>
          <a:bodyPr/>
          <a:lstStyle/>
          <a:p>
            <a:r>
              <a:rPr lang="en-US" sz="3200" dirty="0"/>
              <a:t>Qualitative Assessment</a:t>
            </a:r>
            <a:endParaRPr lang="en-US" dirty="0"/>
          </a:p>
        </p:txBody>
      </p:sp>
      <p:pic>
        <p:nvPicPr>
          <p:cNvPr id="155651" name="Picture 3" descr="Figure 15-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7950" y="1955800"/>
            <a:ext cx="3848100" cy="294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56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199" y="795338"/>
            <a:ext cx="6715077" cy="4767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62346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457200" y="6356350"/>
            <a:ext cx="7162800" cy="365125"/>
          </a:xfrm>
        </p:spPr>
        <p:txBody>
          <a:bodyPr/>
          <a:lstStyle/>
          <a:p>
            <a:r>
              <a:rPr lang="en-US" dirty="0"/>
              <a:t>An Introduction to</a:t>
            </a:r>
            <a:r>
              <a:rPr lang="en-US" i="0" dirty="0"/>
              <a:t> </a:t>
            </a:r>
            <a:r>
              <a:rPr lang="en-US" dirty="0"/>
              <a:t>Web Engineering</a:t>
            </a:r>
          </a:p>
          <a:p>
            <a:r>
              <a:rPr lang="en-US" dirty="0"/>
              <a:t>Copyright 2009</a:t>
            </a:r>
            <a:r>
              <a:rPr lang="en-US" i="0" dirty="0"/>
              <a:t> R.S. Pressman &amp; Associates, Inc.   www.rspa.com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F654D4-64CC-4F58-ABF7-FCC3E71CDF56}" type="slidenum">
              <a:rPr lang="en-US"/>
              <a:pPr/>
              <a:t>10</a:t>
            </a:fld>
            <a:endParaRPr lang="en-US"/>
          </a:p>
        </p:txBody>
      </p:sp>
      <p:sp>
        <p:nvSpPr>
          <p:cNvPr id="16384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7629525" cy="785813"/>
          </a:xfrm>
        </p:spPr>
        <p:txBody>
          <a:bodyPr/>
          <a:lstStyle/>
          <a:p>
            <a:r>
              <a:rPr lang="en-US" dirty="0"/>
              <a:t>Configuration Testing</a:t>
            </a:r>
          </a:p>
        </p:txBody>
      </p:sp>
      <p:sp>
        <p:nvSpPr>
          <p:cNvPr id="163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n-US">
                <a:latin typeface="Arial" charset="0"/>
              </a:rPr>
              <a:t>Configuration variability and instability are important factors that make Web engineering a challenge. </a:t>
            </a:r>
          </a:p>
          <a:p>
            <a:pPr lvl="2">
              <a:lnSpc>
                <a:spcPct val="90000"/>
              </a:lnSpc>
            </a:pPr>
            <a:r>
              <a:rPr lang="en-US">
                <a:latin typeface="Arial" charset="0"/>
              </a:rPr>
              <a:t>Hardware, operating system(s), browsers, storage capacity, network communication speeds, and a variety of other client-side factors are difficult to predict for each user. </a:t>
            </a:r>
          </a:p>
          <a:p>
            <a:pPr>
              <a:lnSpc>
                <a:spcPct val="90000"/>
              </a:lnSpc>
              <a:spcBef>
                <a:spcPts val="300"/>
              </a:spcBef>
            </a:pPr>
            <a:r>
              <a:rPr lang="en-US">
                <a:latin typeface="Arial" charset="0"/>
              </a:rPr>
              <a:t>The </a:t>
            </a:r>
            <a:r>
              <a:rPr lang="en-US">
                <a:solidFill>
                  <a:schemeClr val="folHlink"/>
                </a:solidFill>
                <a:latin typeface="Arial" charset="0"/>
              </a:rPr>
              <a:t>job of configuration testing is to test a set of probable client-side and server-side configurations</a:t>
            </a:r>
            <a:r>
              <a:rPr lang="en-US">
                <a:latin typeface="Arial" charset="0"/>
              </a:rPr>
              <a:t> to ensure that the user experience will be the same on all of them and to isolate errors that may be specific to a particular configuration.</a:t>
            </a:r>
          </a:p>
        </p:txBody>
      </p:sp>
    </p:spTree>
    <p:extLst>
      <p:ext uri="{BB962C8B-B14F-4D97-AF65-F5344CB8AC3E}">
        <p14:creationId xmlns:p14="http://schemas.microsoft.com/office/powerpoint/2010/main" val="10909026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762000" y="6096000"/>
            <a:ext cx="7391400" cy="365125"/>
          </a:xfrm>
        </p:spPr>
        <p:txBody>
          <a:bodyPr/>
          <a:lstStyle/>
          <a:p>
            <a:r>
              <a:rPr lang="en-US" dirty="0"/>
              <a:t>An Introduction to</a:t>
            </a:r>
            <a:r>
              <a:rPr lang="en-US" i="0" dirty="0"/>
              <a:t> </a:t>
            </a:r>
            <a:r>
              <a:rPr lang="en-US" dirty="0"/>
              <a:t>Web Engineering</a:t>
            </a:r>
          </a:p>
          <a:p>
            <a:r>
              <a:rPr lang="en-US" dirty="0"/>
              <a:t>Copyright 2009</a:t>
            </a:r>
            <a:r>
              <a:rPr lang="en-US" i="0" dirty="0"/>
              <a:t> R.S. Pressman &amp; Associates, Inc.   www.rspa.com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C6217FA-0F53-42A6-84B7-48902F685D1E}" type="slidenum">
              <a:rPr lang="en-US"/>
              <a:pPr/>
              <a:t>11</a:t>
            </a:fld>
            <a:endParaRPr lang="en-US"/>
          </a:p>
        </p:txBody>
      </p:sp>
      <p:sp>
        <p:nvSpPr>
          <p:cNvPr id="16486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629525" cy="633413"/>
          </a:xfrm>
        </p:spPr>
        <p:txBody>
          <a:bodyPr>
            <a:normAutofit fontScale="90000"/>
          </a:bodyPr>
          <a:lstStyle/>
          <a:p>
            <a:r>
              <a:rPr lang="en-US" dirty="0"/>
              <a:t>Configuration Testing Strategy</a:t>
            </a:r>
          </a:p>
        </p:txBody>
      </p:sp>
      <p:sp>
        <p:nvSpPr>
          <p:cNvPr id="164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914400"/>
            <a:ext cx="8229600" cy="4525963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2000" b="1" dirty="0">
                <a:solidFill>
                  <a:schemeClr val="folHlink"/>
                </a:solidFill>
              </a:rPr>
              <a:t>Server-side.</a:t>
            </a:r>
            <a:r>
              <a:rPr lang="en-US" sz="2000" dirty="0"/>
              <a:t> configuration test cases are designed to verify that the projected server configuration [i.e., </a:t>
            </a:r>
            <a:r>
              <a:rPr lang="en-US" sz="2000" dirty="0" err="1"/>
              <a:t>WebApp</a:t>
            </a:r>
            <a:r>
              <a:rPr lang="en-US" sz="2000" dirty="0"/>
              <a:t> server, database server, operating system(s), firewall software, concurrent applications] can support the </a:t>
            </a:r>
            <a:r>
              <a:rPr lang="en-US" sz="2000" dirty="0" err="1"/>
              <a:t>WebApp</a:t>
            </a:r>
            <a:r>
              <a:rPr lang="en-US" sz="2000" dirty="0"/>
              <a:t> without error.</a:t>
            </a:r>
          </a:p>
          <a:p>
            <a:pPr>
              <a:lnSpc>
                <a:spcPct val="90000"/>
              </a:lnSpc>
            </a:pPr>
            <a:r>
              <a:rPr lang="en-US" sz="2000" b="1" dirty="0">
                <a:solidFill>
                  <a:schemeClr val="folHlink"/>
                </a:solidFill>
              </a:rPr>
              <a:t>Client-side.</a:t>
            </a:r>
            <a:r>
              <a:rPr lang="en-US" sz="2000" dirty="0"/>
              <a:t> On the client side, configuration tests focus more heavily on </a:t>
            </a:r>
            <a:r>
              <a:rPr lang="en-US" sz="2000" dirty="0" err="1"/>
              <a:t>WebApp</a:t>
            </a:r>
            <a:r>
              <a:rPr lang="en-US" sz="2000" dirty="0"/>
              <a:t> compatibility with configurations that contain one or more permutations of the following components:</a:t>
            </a:r>
          </a:p>
          <a:p>
            <a:pPr lvl="1">
              <a:lnSpc>
                <a:spcPct val="90000"/>
              </a:lnSpc>
            </a:pPr>
            <a:r>
              <a:rPr lang="en-US" sz="2000" b="1" dirty="0"/>
              <a:t>Hardware.</a:t>
            </a:r>
            <a:r>
              <a:rPr lang="en-US" sz="2000" i="1" dirty="0"/>
              <a:t> </a:t>
            </a:r>
            <a:r>
              <a:rPr lang="en-US" sz="2000" dirty="0"/>
              <a:t>CPU, memory, storage, and printing devices</a:t>
            </a:r>
          </a:p>
          <a:p>
            <a:pPr lvl="1">
              <a:lnSpc>
                <a:spcPct val="90000"/>
              </a:lnSpc>
            </a:pPr>
            <a:r>
              <a:rPr lang="en-US" sz="2000" b="1" dirty="0"/>
              <a:t>Operating systems.</a:t>
            </a:r>
            <a:r>
              <a:rPr lang="en-US" sz="2000" dirty="0"/>
              <a:t> Linux, Macintosh OS, Microsoft Windows, a mobile-based OS</a:t>
            </a:r>
          </a:p>
          <a:p>
            <a:pPr lvl="1">
              <a:lnSpc>
                <a:spcPct val="90000"/>
              </a:lnSpc>
            </a:pPr>
            <a:r>
              <a:rPr lang="en-US" sz="2000" b="1" dirty="0"/>
              <a:t>Browser software.</a:t>
            </a:r>
            <a:r>
              <a:rPr lang="en-US" sz="2000" dirty="0"/>
              <a:t> </a:t>
            </a:r>
            <a:r>
              <a:rPr lang="en-US" sz="2000" dirty="0" err="1"/>
              <a:t>FireFox,Camino</a:t>
            </a:r>
            <a:r>
              <a:rPr lang="en-US" sz="2000" dirty="0"/>
              <a:t>,  Internet Explorer, Safari, Mozilla/Netscape, Opera, and others </a:t>
            </a:r>
          </a:p>
          <a:p>
            <a:pPr lvl="1">
              <a:lnSpc>
                <a:spcPct val="90000"/>
              </a:lnSpc>
            </a:pPr>
            <a:r>
              <a:rPr lang="en-US" sz="2000" b="1" dirty="0"/>
              <a:t>User interface components.</a:t>
            </a:r>
            <a:r>
              <a:rPr lang="en-US" sz="2000" dirty="0"/>
              <a:t> Active X, Java applets, and others</a:t>
            </a:r>
          </a:p>
          <a:p>
            <a:pPr lvl="1">
              <a:lnSpc>
                <a:spcPct val="90000"/>
              </a:lnSpc>
            </a:pPr>
            <a:r>
              <a:rPr lang="en-US" sz="2000" b="1" dirty="0"/>
              <a:t>Plug-ins.</a:t>
            </a:r>
            <a:r>
              <a:rPr lang="en-US" sz="2000" dirty="0"/>
              <a:t> QuickTime, RealPlayer, and many others</a:t>
            </a:r>
          </a:p>
          <a:p>
            <a:pPr lvl="1">
              <a:lnSpc>
                <a:spcPct val="90000"/>
              </a:lnSpc>
            </a:pPr>
            <a:r>
              <a:rPr lang="en-US" sz="2000" b="1" dirty="0"/>
              <a:t>Connectivity.</a:t>
            </a:r>
            <a:r>
              <a:rPr lang="en-US" sz="2000" dirty="0"/>
              <a:t> Cable, DSL, regular modem, industry-grade connectivity (e.g., T1 lines)</a:t>
            </a:r>
          </a:p>
        </p:txBody>
      </p:sp>
    </p:spTree>
    <p:extLst>
      <p:ext uri="{BB962C8B-B14F-4D97-AF65-F5344CB8AC3E}">
        <p14:creationId xmlns:p14="http://schemas.microsoft.com/office/powerpoint/2010/main" val="7773795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914400" y="6172200"/>
            <a:ext cx="7315200" cy="365125"/>
          </a:xfrm>
        </p:spPr>
        <p:txBody>
          <a:bodyPr/>
          <a:lstStyle/>
          <a:p>
            <a:r>
              <a:rPr lang="en-US" dirty="0"/>
              <a:t>An Introduction to</a:t>
            </a:r>
            <a:r>
              <a:rPr lang="en-US" i="0" dirty="0"/>
              <a:t> </a:t>
            </a:r>
            <a:r>
              <a:rPr lang="en-US" dirty="0"/>
              <a:t>Web Engineering</a:t>
            </a:r>
          </a:p>
          <a:p>
            <a:r>
              <a:rPr lang="en-US" dirty="0"/>
              <a:t>Copyright 2009</a:t>
            </a:r>
            <a:r>
              <a:rPr lang="en-US" i="0" dirty="0"/>
              <a:t> R.S. Pressman &amp; Associates, Inc.   www.rspa.com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BA61D95-D8F0-4834-8445-E9EC7005EEEC}" type="slidenum">
              <a:rPr lang="en-US"/>
              <a:pPr/>
              <a:t>12</a:t>
            </a:fld>
            <a:endParaRPr lang="en-US"/>
          </a:p>
        </p:txBody>
      </p:sp>
      <p:sp>
        <p:nvSpPr>
          <p:cNvPr id="16589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7629525" cy="633413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Security and Performance Testing</a:t>
            </a:r>
            <a:endParaRPr lang="en-US" dirty="0"/>
          </a:p>
        </p:txBody>
      </p:sp>
      <p:sp>
        <p:nvSpPr>
          <p:cNvPr id="165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143000"/>
            <a:ext cx="8229600" cy="45259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 dirty="0">
                <a:latin typeface="Palatino" pitchFamily="1" charset="0"/>
              </a:rPr>
              <a:t>Security and performance testing address the three distinct elements of the </a:t>
            </a:r>
            <a:r>
              <a:rPr lang="en-US" sz="2000" dirty="0" err="1">
                <a:latin typeface="Palatino" pitchFamily="1" charset="0"/>
              </a:rPr>
              <a:t>WebApp</a:t>
            </a:r>
            <a:r>
              <a:rPr lang="en-US" sz="2000" dirty="0">
                <a:latin typeface="Palatino" pitchFamily="1" charset="0"/>
              </a:rPr>
              <a:t> infrastructure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solidFill>
                  <a:schemeClr val="folHlink"/>
                </a:solidFill>
                <a:latin typeface="Palatino" pitchFamily="1" charset="0"/>
              </a:rPr>
              <a:t>the server-side environment</a:t>
            </a:r>
            <a:r>
              <a:rPr lang="en-US" sz="2000" dirty="0">
                <a:latin typeface="Palatino" pitchFamily="1" charset="0"/>
              </a:rPr>
              <a:t> that provides the gateway to Internet users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solidFill>
                  <a:schemeClr val="folHlink"/>
                </a:solidFill>
                <a:latin typeface="Palatino" pitchFamily="1" charset="0"/>
              </a:rPr>
              <a:t>the network communication pathway</a:t>
            </a:r>
            <a:r>
              <a:rPr lang="en-US" sz="2000" dirty="0">
                <a:latin typeface="Palatino" pitchFamily="1" charset="0"/>
              </a:rPr>
              <a:t> between the server and the client machine</a:t>
            </a:r>
          </a:p>
          <a:p>
            <a:pPr lvl="1">
              <a:lnSpc>
                <a:spcPct val="90000"/>
              </a:lnSpc>
            </a:pPr>
            <a:r>
              <a:rPr lang="en-US" sz="2000" dirty="0">
                <a:solidFill>
                  <a:schemeClr val="folHlink"/>
                </a:solidFill>
                <a:latin typeface="Palatino" pitchFamily="1" charset="0"/>
              </a:rPr>
              <a:t>the client-side environment </a:t>
            </a:r>
            <a:r>
              <a:rPr lang="en-US" sz="2000" dirty="0">
                <a:latin typeface="Palatino" pitchFamily="1" charset="0"/>
              </a:rPr>
              <a:t>that provides the end user with a direct interface to the </a:t>
            </a:r>
            <a:r>
              <a:rPr lang="en-US" sz="2000" dirty="0" err="1">
                <a:latin typeface="Palatino" pitchFamily="1" charset="0"/>
              </a:rPr>
              <a:t>WebApp</a:t>
            </a:r>
            <a:r>
              <a:rPr lang="en-US" sz="2000" dirty="0">
                <a:latin typeface="Palatino" pitchFamily="1" charset="0"/>
              </a:rPr>
              <a:t>. </a:t>
            </a:r>
          </a:p>
          <a:p>
            <a:pPr>
              <a:lnSpc>
                <a:spcPct val="90000"/>
              </a:lnSpc>
            </a:pPr>
            <a:r>
              <a:rPr lang="en-US" sz="2000" b="1" dirty="0">
                <a:solidFill>
                  <a:schemeClr val="folHlink"/>
                </a:solidFill>
                <a:latin typeface="Palatino" pitchFamily="1" charset="0"/>
              </a:rPr>
              <a:t>Security testing</a:t>
            </a:r>
            <a:r>
              <a:rPr lang="en-US" sz="2000" dirty="0">
                <a:latin typeface="Palatino" pitchFamily="1" charset="0"/>
              </a:rPr>
              <a:t> focuses on unauthorized access to </a:t>
            </a:r>
            <a:r>
              <a:rPr lang="en-US" sz="2000" dirty="0" err="1">
                <a:latin typeface="Palatino" pitchFamily="1" charset="0"/>
              </a:rPr>
              <a:t>WebApp</a:t>
            </a:r>
            <a:r>
              <a:rPr lang="en-US" sz="2000" dirty="0">
                <a:latin typeface="Palatino" pitchFamily="1" charset="0"/>
              </a:rPr>
              <a:t> content and functionality along with other systems that cooperate with the </a:t>
            </a:r>
            <a:r>
              <a:rPr lang="en-US" sz="2000" dirty="0" err="1">
                <a:latin typeface="Palatino" pitchFamily="1" charset="0"/>
              </a:rPr>
              <a:t>WebApp</a:t>
            </a:r>
            <a:r>
              <a:rPr lang="en-US" sz="2000" dirty="0">
                <a:latin typeface="Palatino" pitchFamily="1" charset="0"/>
              </a:rPr>
              <a:t> on the server side. </a:t>
            </a:r>
          </a:p>
          <a:p>
            <a:pPr>
              <a:lnSpc>
                <a:spcPct val="90000"/>
              </a:lnSpc>
            </a:pPr>
            <a:r>
              <a:rPr lang="en-US" sz="2000" b="1" dirty="0">
                <a:solidFill>
                  <a:schemeClr val="folHlink"/>
                </a:solidFill>
                <a:latin typeface="Palatino" pitchFamily="1" charset="0"/>
              </a:rPr>
              <a:t>Performance testing</a:t>
            </a:r>
            <a:r>
              <a:rPr lang="en-US" sz="2000" dirty="0">
                <a:latin typeface="Palatino" pitchFamily="1" charset="0"/>
              </a:rPr>
              <a:t> focuses on the operating characteristics of the </a:t>
            </a:r>
            <a:r>
              <a:rPr lang="en-US" sz="2000" dirty="0" err="1">
                <a:latin typeface="Palatino" pitchFamily="1" charset="0"/>
              </a:rPr>
              <a:t>WebApp</a:t>
            </a:r>
            <a:r>
              <a:rPr lang="en-US" sz="2000" dirty="0">
                <a:latin typeface="Palatino" pitchFamily="1" charset="0"/>
              </a:rPr>
              <a:t> and on whether those operating characteristics meet the needs of end users. </a:t>
            </a:r>
          </a:p>
        </p:txBody>
      </p:sp>
    </p:spTree>
    <p:extLst>
      <p:ext uri="{BB962C8B-B14F-4D97-AF65-F5344CB8AC3E}">
        <p14:creationId xmlns:p14="http://schemas.microsoft.com/office/powerpoint/2010/main" val="854088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444</TotalTime>
  <Words>1239</Words>
  <Application>Microsoft Office PowerPoint</Application>
  <PresentationFormat>On-screen Show (4:3)</PresentationFormat>
  <Paragraphs>103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Palatino</vt:lpstr>
      <vt:lpstr>Office Theme</vt:lpstr>
      <vt:lpstr>CSE 464 : Software Quality Assurance and Testing</vt:lpstr>
      <vt:lpstr>Testing Web Applications : A Bigger Picture</vt:lpstr>
      <vt:lpstr>Content Testing</vt:lpstr>
      <vt:lpstr>Content Testing - Checklist</vt:lpstr>
      <vt:lpstr>User Interface Testing</vt:lpstr>
      <vt:lpstr>UI Testing Strategy</vt:lpstr>
      <vt:lpstr>Usability Testing</vt:lpstr>
      <vt:lpstr>Usability Evaluation: Checklist</vt:lpstr>
      <vt:lpstr>Qualitative Assessment</vt:lpstr>
      <vt:lpstr>Configuration Testing</vt:lpstr>
      <vt:lpstr>Configuration Testing Strategy</vt:lpstr>
      <vt:lpstr>Security and Performance Testing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494/598 : Software Quality Assurance and Testing</dc:title>
  <dc:creator>Janaka Balasooriya</dc:creator>
  <cp:lastModifiedBy>Janaka Balasooriya</cp:lastModifiedBy>
  <cp:revision>86</cp:revision>
  <dcterms:created xsi:type="dcterms:W3CDTF">2011-11-02T17:35:01Z</dcterms:created>
  <dcterms:modified xsi:type="dcterms:W3CDTF">2019-04-15T04:36:09Z</dcterms:modified>
</cp:coreProperties>
</file>