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1"/>
  </p:notesMasterIdLst>
  <p:handoutMasterIdLst>
    <p:handoutMasterId r:id="rId12"/>
  </p:handoutMasterIdLst>
  <p:sldIdLst>
    <p:sldId id="256" r:id="rId3"/>
    <p:sldId id="298" r:id="rId4"/>
    <p:sldId id="304" r:id="rId5"/>
    <p:sldId id="291" r:id="rId6"/>
    <p:sldId id="299" r:id="rId7"/>
    <p:sldId id="301" r:id="rId8"/>
    <p:sldId id="302" r:id="rId9"/>
    <p:sldId id="305" r:id="rId10"/>
  </p:sldIdLst>
  <p:sldSz cx="9144000" cy="6858000" type="screen4x3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 varScale="1"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8102" y="0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182" y="4415790"/>
            <a:ext cx="550545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8102" y="8829967"/>
            <a:ext cx="2982119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68B38DE-E095-48ED-94D0-ABE6ADADC6B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AC26357-B046-42CC-A31B-A73410240A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1268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DD8EE75F-F1EC-417E-94BF-80BDF32528A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65D018FF-3127-468C-B432-0832D17930E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229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3761A3B8-02BF-4109-B483-E942C4301A2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93F606A-5A2F-4157-949E-A37ECE85F2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30761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C1A3C41-2D8F-464E-BFE0-3DEF383707C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1B66301-4530-457D-81DA-6D6E2288A7B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3558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7338896A-049E-4DC2-959C-4AF29D10B47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74A4107-8123-457E-83F7-0D4A108CB566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49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351734DD-6B5D-4288-82B7-C655B9C3948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5FF13D-E196-4101-B0E1-744B4AE3AD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AE621C-2990-4C9E-8548-F3CFC6D6B42A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34091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F99F98D1-5D62-42B0-BA20-6C258D2AB64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F5475B9E-A6B8-440A-9AA7-496FEE2D07B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851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6A4B05-04BC-40ED-8537-B075AF7B68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D06FA36-003E-4E89-972C-4B285C2ECD13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4793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6D5F8DC-9B7B-4556-B584-9FB931F95DCE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60A8A94-198D-4DF2-823E-D382F2C33529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5465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777BE2D-8832-43F5-8AEB-F3785B03544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8EB1F6E6-1CAF-4D2A-974A-3A391980E9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98423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491D852-E825-464D-B661-90566E14DE8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E95E1CD-407B-471F-9678-F534ABD07DB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3445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3AC18734-669E-4C89-BB79-7B65D1A22E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8137FE18-F00D-4AEC-B25C-C7F2500337DA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68605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6651176-D697-4155-8401-968EE88B494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5DE2E4-7C14-4F05-8B9C-0A8B7B92C058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2453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2/11/2023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6E7C11A-C615-4C3E-9232-DD7757A58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72962D-FCCE-4508-91F2-EE36756E25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2BDB68E0-535A-46CA-B9DF-9944B35F8D5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53F687CE-502E-4114-BC4C-B009C18974E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684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qa.openoffice.org/ooQAReloaded/ooQA-IssueRules.html" TargetMode="External"/><Relationship Id="rId2" Type="http://schemas.openxmlformats.org/officeDocument/2006/relationships/hyperlink" Target="http://www.openoffice.org/qa/ooQAReloaded/ooQA-ReportBugs.html" TargetMode="External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/>
          </a:bodyPr>
          <a:lstStyle/>
          <a:p>
            <a:pPr algn="l"/>
            <a:r>
              <a:rPr lang="en-US" sz="4100" b="1"/>
              <a:t>CSE 464 : Software Quality Assurance and Testing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2700" b="1"/>
              <a:t>Introduction to Bug Management</a:t>
            </a:r>
          </a:p>
          <a:p>
            <a:pPr algn="l">
              <a:lnSpc>
                <a:spcPct val="90000"/>
              </a:lnSpc>
            </a:pPr>
            <a:endParaRPr lang="en-US" sz="2700"/>
          </a:p>
          <a:p>
            <a:pPr algn="l">
              <a:lnSpc>
                <a:spcPct val="90000"/>
              </a:lnSpc>
            </a:pPr>
            <a:r>
              <a:rPr lang="en-US" sz="2700" b="1" err="1"/>
              <a:t>Janaka</a:t>
            </a:r>
            <a:r>
              <a:rPr lang="en-US" sz="2700" b="1"/>
              <a:t> </a:t>
            </a:r>
            <a:r>
              <a:rPr lang="en-US" sz="2700" b="1" err="1"/>
              <a:t>Balasooriya</a:t>
            </a:r>
            <a:endParaRPr lang="en-US" sz="2700" b="1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19849673-47E8-4384-886A-00FEC6651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438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000099"/>
                </a:solidFill>
              </a:rPr>
              <a:t>Bug Management – Once bugs are found, what do we do?</a:t>
            </a:r>
          </a:p>
        </p:txBody>
      </p:sp>
    </p:spTree>
    <p:extLst>
      <p:ext uri="{BB962C8B-B14F-4D97-AF65-F5344CB8AC3E}">
        <p14:creationId xmlns:p14="http://schemas.microsoft.com/office/powerpoint/2010/main" val="2496051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7927" y="152400"/>
            <a:ext cx="8229600" cy="71596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Reporting Bugs – Anatomy of a Bug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4073" y="1066800"/>
            <a:ext cx="8534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Reporting bugs is an important process. Bug handing involves many and credible bug reporting is imperative. 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Your bug report should have necessary information to understand and fix the bug.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Typically a bug report consists of</a:t>
            </a:r>
          </a:p>
          <a:p>
            <a:pPr lvl="1"/>
            <a:r>
              <a:rPr lang="en-US" dirty="0"/>
              <a:t> a) Title</a:t>
            </a:r>
          </a:p>
          <a:p>
            <a:pPr lvl="1"/>
            <a:r>
              <a:rPr lang="en-US" dirty="0"/>
              <a:t> b) Description</a:t>
            </a:r>
          </a:p>
          <a:p>
            <a:pPr lvl="1"/>
            <a:r>
              <a:rPr lang="en-US" dirty="0"/>
              <a:t> c) Status</a:t>
            </a:r>
          </a:p>
          <a:p>
            <a:pPr lvl="1"/>
            <a:r>
              <a:rPr lang="en-US" dirty="0"/>
              <a:t> d) Version Number</a:t>
            </a:r>
          </a:p>
          <a:p>
            <a:pPr lvl="1"/>
            <a:r>
              <a:rPr lang="en-US" dirty="0"/>
              <a:t> e) Feature Area</a:t>
            </a:r>
          </a:p>
          <a:p>
            <a:pPr lvl="1"/>
            <a:r>
              <a:rPr lang="en-US" dirty="0"/>
              <a:t> f) Reproduction steps</a:t>
            </a:r>
          </a:p>
          <a:p>
            <a:pPr lvl="1"/>
            <a:r>
              <a:rPr lang="en-US" dirty="0"/>
              <a:t> g) Assignment</a:t>
            </a:r>
          </a:p>
          <a:p>
            <a:pPr lvl="1"/>
            <a:r>
              <a:rPr lang="en-US" dirty="0"/>
              <a:t> h) Severity</a:t>
            </a:r>
          </a:p>
          <a:p>
            <a:pPr lvl="1"/>
            <a:r>
              <a:rPr lang="en-US" dirty="0"/>
              <a:t> i) Customer Impact</a:t>
            </a:r>
          </a:p>
          <a:p>
            <a:pPr lvl="1"/>
            <a:r>
              <a:rPr lang="en-US" dirty="0"/>
              <a:t> j) Environment</a:t>
            </a:r>
          </a:p>
          <a:p>
            <a:pPr lvl="1"/>
            <a:r>
              <a:rPr lang="en-US" dirty="0"/>
              <a:t> k) Resolution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938233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62000"/>
          </a:xfrm>
        </p:spPr>
        <p:txBody>
          <a:bodyPr>
            <a:normAutofit/>
          </a:bodyPr>
          <a:lstStyle/>
          <a:p>
            <a:r>
              <a:rPr lang="en-US" sz="3600" b="1" dirty="0"/>
              <a:t>Bug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432262" y="990600"/>
            <a:ext cx="777240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1. </a:t>
            </a:r>
            <a:r>
              <a:rPr lang="en-US" dirty="0"/>
              <a:t>Report the bug</a:t>
            </a:r>
          </a:p>
          <a:p>
            <a:endParaRPr lang="en-US" dirty="0"/>
          </a:p>
          <a:p>
            <a:r>
              <a:rPr lang="en-US" b="1" dirty="0"/>
              <a:t>2. </a:t>
            </a:r>
            <a:r>
              <a:rPr lang="en-US" dirty="0"/>
              <a:t>Confirm the bug  - Bug Verification</a:t>
            </a:r>
          </a:p>
          <a:p>
            <a:endParaRPr lang="en-US" dirty="0"/>
          </a:p>
          <a:p>
            <a:r>
              <a:rPr lang="en-US" b="1" dirty="0"/>
              <a:t>3. </a:t>
            </a:r>
            <a:r>
              <a:rPr lang="en-US" dirty="0"/>
              <a:t>Programmer evaluates the bug and fixes it, or not to fix it due to various reasons such as bug is not reproducible, not a credible bug…</a:t>
            </a:r>
            <a:r>
              <a:rPr lang="en-US" dirty="0" err="1"/>
              <a:t>etc</a:t>
            </a:r>
            <a:r>
              <a:rPr lang="en-US" dirty="0"/>
              <a:t>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en-US" dirty="0"/>
              <a:t>The process of deciding which bugs to fix and which to leave in the product is called </a:t>
            </a:r>
            <a:r>
              <a:rPr lang="en-US" b="1" dirty="0">
                <a:solidFill>
                  <a:srgbClr val="FF0000"/>
                </a:solidFill>
              </a:rPr>
              <a:t>bug triage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4. </a:t>
            </a:r>
            <a:r>
              <a:rPr lang="en-US" dirty="0"/>
              <a:t>Programmer decides not to fix it and  sends it to the project manager</a:t>
            </a:r>
          </a:p>
          <a:p>
            <a:endParaRPr lang="en-US" b="1" dirty="0"/>
          </a:p>
          <a:p>
            <a:r>
              <a:rPr lang="en-US" b="1" dirty="0"/>
              <a:t>5. </a:t>
            </a:r>
            <a:r>
              <a:rPr lang="en-US" dirty="0"/>
              <a:t>If testers and programmers disagree whether a bug should be fixed: Send it to a project team (representatives of the key stakeholder groups) reviews bugs. Such a team is called a </a:t>
            </a:r>
            <a:r>
              <a:rPr lang="en-US" b="1" dirty="0">
                <a:solidFill>
                  <a:srgbClr val="FF0000"/>
                </a:solidFill>
              </a:rPr>
              <a:t>Triage team</a:t>
            </a:r>
          </a:p>
          <a:p>
            <a:endParaRPr lang="en-US" b="1" dirty="0"/>
          </a:p>
          <a:p>
            <a:r>
              <a:rPr lang="en-US" b="1" dirty="0"/>
              <a:t>6. </a:t>
            </a:r>
            <a:r>
              <a:rPr lang="en-US" dirty="0"/>
              <a:t>If the bug is fixed, the programmers mark the bug fixed in the bug tracking system</a:t>
            </a:r>
          </a:p>
          <a:p>
            <a:endParaRPr lang="en-US" dirty="0"/>
          </a:p>
          <a:p>
            <a:r>
              <a:rPr lang="en-US" b="1" dirty="0"/>
              <a:t>7. </a:t>
            </a:r>
            <a:r>
              <a:rPr lang="en-US" dirty="0"/>
              <a:t>The test group retests the fixed bugs and close or reopen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111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/>
          <a:lstStyle/>
          <a:p>
            <a:r>
              <a:rPr lang="en-US" b="1" dirty="0"/>
              <a:t>Bug Workflow - Video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676400"/>
            <a:ext cx="8686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Listen to Lecture 1 and 6 of the </a:t>
            </a:r>
            <a:r>
              <a:rPr lang="en-US" sz="2800" b="1" i="0" cap="all" dirty="0">
                <a:solidFill>
                  <a:srgbClr val="000000"/>
                </a:solidFill>
                <a:effectLst/>
                <a:latin typeface="Raleway" pitchFamily="2" charset="0"/>
              </a:rPr>
              <a:t>BBST BUG ADVOCACY course</a:t>
            </a:r>
            <a:r>
              <a:rPr lang="en-US" sz="2800" dirty="0"/>
              <a:t> : Basic Concepts and Writing a bug report  @</a:t>
            </a:r>
          </a:p>
          <a:p>
            <a:r>
              <a:rPr lang="en-US" sz="2800" dirty="0"/>
              <a:t>https://bbst.courses/videos/</a:t>
            </a:r>
          </a:p>
          <a:p>
            <a:endParaRPr lang="en-US" sz="2800" dirty="0"/>
          </a:p>
          <a:p>
            <a:r>
              <a:rPr lang="en-US" sz="2800" dirty="0"/>
              <a:t>Try to prepare a 1 page summary of the lecture “</a:t>
            </a:r>
            <a:r>
              <a:rPr lang="en-US" sz="2800" b="1" i="0" dirty="0">
                <a:solidFill>
                  <a:srgbClr val="000000"/>
                </a:solidFill>
                <a:effectLst/>
                <a:latin typeface="Open Sans" panose="020B0606030504020204" pitchFamily="34" charset="0"/>
              </a:rPr>
              <a:t>Lecture 6 - Writing Clear Bug Reports”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729477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Bug Workflow at Microsoft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33400"/>
            <a:ext cx="8409373" cy="6096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98934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229600" cy="533400"/>
          </a:xfrm>
        </p:spPr>
        <p:txBody>
          <a:bodyPr>
            <a:noAutofit/>
          </a:bodyPr>
          <a:lstStyle/>
          <a:p>
            <a:r>
              <a:rPr lang="en-US" sz="3600" b="1" dirty="0"/>
              <a:t>Bug Workflow – Open Office</a:t>
            </a:r>
            <a:br>
              <a:rPr lang="en-US" sz="3600" b="1" dirty="0"/>
            </a:br>
            <a:endParaRPr lang="en-US" sz="3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374073" y="1079211"/>
            <a:ext cx="8763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Open office bug workflow system is slightly deferent than the Microsoft Bug Workflow. However,  fundamental steps are the same.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Issue Reporting and Bug fixing</a:t>
            </a:r>
          </a:p>
          <a:p>
            <a:r>
              <a:rPr lang="en-US" sz="2400" dirty="0">
                <a:hlinkClick r:id="rId2"/>
              </a:rPr>
              <a:t>http://www.openoffice.org/qa/ooQAReloaded/ooQA-ReportBugs.html</a:t>
            </a:r>
            <a:endParaRPr lang="en-US" sz="2400" dirty="0"/>
          </a:p>
          <a:p>
            <a:r>
              <a:rPr lang="en-US" sz="2400" dirty="0"/>
              <a:t>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Bug Fixing</a:t>
            </a:r>
          </a:p>
          <a:p>
            <a:r>
              <a:rPr lang="en-US" sz="2400" dirty="0">
                <a:hlinkClick r:id="rId3"/>
              </a:rPr>
              <a:t>http://qa.openoffice.org/ooQAReloaded/ooQA-IssueRules.html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58944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59"/>
            <a:ext cx="8229600" cy="759041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How Much Testing Should Be Performed?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5821" y="609600"/>
            <a:ext cx="861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dirty="0"/>
              <a:t>Various parameters are used to determine if the product is ready to be delivered. One of the most commonly used quantitative approach is to measure the “Defect Arrival Rate”.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555253"/>
            <a:ext cx="6981825" cy="52672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467600" y="1676400"/>
            <a:ext cx="15240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</a:t>
            </a:r>
            <a:r>
              <a:rPr lang="en-US" dirty="0" err="1"/>
              <a:t>Weibull</a:t>
            </a:r>
            <a:r>
              <a:rPr lang="en-US" dirty="0"/>
              <a:t> Curve</a:t>
            </a:r>
          </a:p>
          <a:p>
            <a:endParaRPr lang="en-US" dirty="0"/>
          </a:p>
          <a:p>
            <a:r>
              <a:rPr lang="en-US" dirty="0"/>
              <a:t>http://testingeducation.org/BBST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75519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751</TotalTime>
  <Words>443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Arial</vt:lpstr>
      <vt:lpstr>Calibri</vt:lpstr>
      <vt:lpstr>Open Sans</vt:lpstr>
      <vt:lpstr>Raleway</vt:lpstr>
      <vt:lpstr>Office Theme</vt:lpstr>
      <vt:lpstr>1_L1_Introduction_CSE360</vt:lpstr>
      <vt:lpstr>CSE 464 : Software Quality Assurance and Testing</vt:lpstr>
      <vt:lpstr>Bug Management – Once bugs are found, what do we do?</vt:lpstr>
      <vt:lpstr>Reporting Bugs – Anatomy of a Bug Report</vt:lpstr>
      <vt:lpstr>Bug Workflow</vt:lpstr>
      <vt:lpstr>Bug Workflow - Video</vt:lpstr>
      <vt:lpstr>Bug Workflow at Microsoft</vt:lpstr>
      <vt:lpstr>Bug Workflow – Open Office </vt:lpstr>
      <vt:lpstr>How Much Testing Should Be Performed?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96</cp:revision>
  <cp:lastPrinted>2011-08-23T15:27:31Z</cp:lastPrinted>
  <dcterms:created xsi:type="dcterms:W3CDTF">2011-08-13T19:09:36Z</dcterms:created>
  <dcterms:modified xsi:type="dcterms:W3CDTF">2023-02-12T04:36:28Z</dcterms:modified>
</cp:coreProperties>
</file>