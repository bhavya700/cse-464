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256" r:id="rId3"/>
    <p:sldId id="303" r:id="rId4"/>
    <p:sldId id="305" r:id="rId5"/>
    <p:sldId id="301" r:id="rId6"/>
    <p:sldId id="304" r:id="rId7"/>
    <p:sldId id="309" r:id="rId8"/>
    <p:sldId id="290" r:id="rId9"/>
    <p:sldId id="306" r:id="rId10"/>
    <p:sldId id="307" r:id="rId11"/>
    <p:sldId id="308" r:id="rId12"/>
    <p:sldId id="302" r:id="rId13"/>
    <p:sldId id="291" r:id="rId14"/>
    <p:sldId id="298" r:id="rId15"/>
    <p:sldId id="299" r:id="rId16"/>
    <p:sldId id="295" r:id="rId17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>
      <p:cViewPr varScale="1">
        <p:scale>
          <a:sx n="70" d="100"/>
          <a:sy n="70" d="100"/>
        </p:scale>
        <p:origin x="1179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1569"/>
            <a:ext cx="6858000" cy="23877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236"/>
            <a:ext cx="6858000" cy="16555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0D8D4FF-A4EB-4F5E-A1AD-AD25DDF61C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F4CC9A7-9DEF-464E-A709-787BF801802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74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E46DD5AA-30BF-4EE0-80E8-556234FDE6A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8738" y="6245424"/>
            <a:ext cx="1541462" cy="47684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30B715EE-2076-47DD-8EA4-41EE9ECFA69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883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48F99AF8-A04C-400E-9DCC-22E54043B1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9" y="6056115"/>
            <a:ext cx="2211387" cy="823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7A3768-DA9E-4F0F-834E-7D71D02E8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143"/>
            <a:ext cx="7886700" cy="285392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859"/>
            <a:ext cx="7886700" cy="15001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9978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CEC387E-FDA7-443D-B3AF-4C04BCBC086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F74D0CE-D3E6-43CD-ACDA-C0B248C420B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95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4332"/>
            <a:ext cx="7886700" cy="1326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0568"/>
            <a:ext cx="3868737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671"/>
            <a:ext cx="3868737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0568"/>
            <a:ext cx="3887788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671"/>
            <a:ext cx="3887788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1E747E3-7E02-4087-9ADA-D67496BD7F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919B5A6-D58E-4505-AAF8-1933344A48D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3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81137631-E672-4F96-89F1-FC7A96C8F5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6088261"/>
            <a:ext cx="2065338" cy="769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F409BA-A715-42B8-A57D-133FE3372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376FB4-74A5-4CA8-90D5-BD9DBC91A7BE}"/>
              </a:ext>
            </a:extLst>
          </p:cNvPr>
          <p:cNvSpPr/>
          <p:nvPr/>
        </p:nvSpPr>
        <p:spPr bwMode="auto">
          <a:xfrm>
            <a:off x="423864" y="1001912"/>
            <a:ext cx="8296275" cy="75009"/>
          </a:xfrm>
          <a:prstGeom prst="rect">
            <a:avLst/>
          </a:prstGeom>
          <a:solidFill>
            <a:srgbClr val="00A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887" y="0"/>
            <a:ext cx="8229600" cy="871688"/>
          </a:xfrm>
        </p:spPr>
        <p:txBody>
          <a:bodyPr/>
          <a:lstStyle>
            <a:lvl1pPr>
              <a:defRPr sz="3600" b="1">
                <a:solidFill>
                  <a:srgbClr val="0000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93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96D3F3DD-AD4B-495E-BC4E-907044239B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C0C0DB0A-082A-4936-B903-3255E72649A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4612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4BCBF1-D32C-4B99-8F0E-68A75D8FA3C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B80D1B4-CE5D-40E0-BB6E-3FFFB117AF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705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841A0B-2C9B-471F-8C9F-075925D969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884EE-0372-417D-861F-337C620CBAF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544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909D291-B292-4A9D-8DEF-804970E3702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4755FCB-C2E1-4AA5-AF94-A3BC1493BC7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195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035"/>
            <a:ext cx="2057400" cy="585073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035"/>
            <a:ext cx="6019800" cy="58507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520B8F2-0E15-4D91-8B42-B2E754798A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D2AEFD6-6389-43FB-9CD9-4BB9DF6AFFC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458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4EED72D-54BA-45DE-B6CB-16541296BB9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09A9385-2CE3-4E35-8B84-A6B60E80624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613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B6B1B5-2AEE-48F7-B974-253018E1E6A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BE8599-BA03-4C38-AB0F-084B584FC7D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054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2950B9-C0EE-4CC1-84C1-4EA70A1AA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5034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9492503-A5B6-4310-95EA-C401D8EF26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20229" name="Rectangle 5">
            <a:extLst>
              <a:ext uri="{FF2B5EF4-FFF2-40B4-BE49-F238E27FC236}">
                <a16:creationId xmlns:a16="http://schemas.microsoft.com/office/drawing/2014/main" id="{EA60316B-E505-4858-A034-E431276BE93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9400" y="6168629"/>
            <a:ext cx="2895600" cy="4768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000099"/>
                </a:solidFill>
              </a:defRPr>
            </a:lvl1pPr>
          </a:lstStyle>
          <a:p>
            <a:endParaRPr lang="en-US"/>
          </a:p>
        </p:txBody>
      </p:sp>
      <p:sp>
        <p:nvSpPr>
          <p:cNvPr id="820230" name="Rectangle 6">
            <a:extLst>
              <a:ext uri="{FF2B5EF4-FFF2-40B4-BE49-F238E27FC236}">
                <a16:creationId xmlns:a16="http://schemas.microsoft.com/office/drawing/2014/main" id="{C1C3E6E8-9F74-4E6C-8EF1-2F4FF712C4B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424"/>
            <a:ext cx="2133600" cy="4768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5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asymphony.com/software-testing-tools/qtest-explorer/test-execution-recorder/" TargetMode="External"/><Relationship Id="rId2" Type="http://schemas.openxmlformats.org/officeDocument/2006/relationships/hyperlink" Target="https://docs.microsoft.com/en-us/azure/devops/test/overview?view=azure-devops#manual-testing-in-test-manager" TargetMode="Externa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www.microfocus.com/en-us/products/sprinter-manual-software-testing/overview" TargetMode="External"/><Relationship Id="rId4" Type="http://schemas.openxmlformats.org/officeDocument/2006/relationships/hyperlink" Target="https://ontestpad.com/library/151/structure-example-exploratory-testing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aplus.asu.edu/embedded?id=80e96701-fbb8-4222-9a07-8a170cc3ef26&amp;siteId=61e0606e-415d-4001-8206-ffde48430c64" TargetMode="Externa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571" y="851517"/>
            <a:ext cx="3928849" cy="2991416"/>
          </a:xfrm>
        </p:spPr>
        <p:txBody>
          <a:bodyPr anchor="b">
            <a:normAutofit/>
          </a:bodyPr>
          <a:lstStyle/>
          <a:p>
            <a:pPr algn="l"/>
            <a:r>
              <a:rPr lang="en-US" sz="4100" b="1"/>
              <a:t>CSE 464 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572" y="3842932"/>
            <a:ext cx="3125336" cy="2163551"/>
          </a:xfrm>
        </p:spPr>
        <p:txBody>
          <a:bodyPr anchor="t">
            <a:normAutofit/>
          </a:bodyPr>
          <a:lstStyle/>
          <a:p>
            <a:pPr algn="l"/>
            <a:r>
              <a:rPr lang="en-US" b="1" dirty="0"/>
              <a:t>Exploratory Testing</a:t>
            </a:r>
            <a:endParaRPr lang="en-US" dirty="0"/>
          </a:p>
          <a:p>
            <a:pPr algn="l"/>
            <a:r>
              <a:rPr lang="en-US" b="1" dirty="0"/>
              <a:t>Janaka Balasooriya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2777" y="851518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CD383AD-A978-4D77-88E2-977C91664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627" y="2806221"/>
            <a:ext cx="2413000" cy="186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D3F77D-0941-47AC-BB5E-5B4BB47F1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8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A0FB5-1F56-275B-8C07-28F3946A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Testing – Basic Principle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99A09-B97D-6767-EF12-2968C1990045}"/>
              </a:ext>
            </a:extLst>
          </p:cNvPr>
          <p:cNvSpPr txBox="1"/>
          <p:nvPr/>
        </p:nvSpPr>
        <p:spPr>
          <a:xfrm>
            <a:off x="381000" y="1371600"/>
            <a:ext cx="6858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400" dirty="0"/>
              <a:t>Learn as you go.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Focus on goals, not steps.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Adapt and explore.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Document findings effectively.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Collaborate and share insights.</a:t>
            </a:r>
          </a:p>
        </p:txBody>
      </p:sp>
      <p:pic>
        <p:nvPicPr>
          <p:cNvPr id="5" name="Picture 2" descr="Exploratory testing process">
            <a:extLst>
              <a:ext uri="{FF2B5EF4-FFF2-40B4-BE49-F238E27FC236}">
                <a16:creationId xmlns:a16="http://schemas.microsoft.com/office/drawing/2014/main" id="{7C131ACC-38A8-90B0-8943-C8A7375BC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456671"/>
            <a:ext cx="4076700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211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04875"/>
          </a:xfrm>
        </p:spPr>
        <p:txBody>
          <a:bodyPr/>
          <a:lstStyle/>
          <a:p>
            <a:r>
              <a:rPr lang="en-US" dirty="0"/>
              <a:t>Exploratory Testing - Approach</a:t>
            </a:r>
          </a:p>
        </p:txBody>
      </p:sp>
      <p:pic>
        <p:nvPicPr>
          <p:cNvPr id="1026" name="Picture 2" descr="Exploratory testing proces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752600"/>
            <a:ext cx="4076700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95300" y="5867400"/>
            <a:ext cx="670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https://www.softwaretestinghelp.com/what-is-exploratory-testing/</a:t>
            </a:r>
          </a:p>
        </p:txBody>
      </p:sp>
      <p:sp>
        <p:nvSpPr>
          <p:cNvPr id="4" name="Line Callout 1 3"/>
          <p:cNvSpPr/>
          <p:nvPr/>
        </p:nvSpPr>
        <p:spPr>
          <a:xfrm>
            <a:off x="4191000" y="1143000"/>
            <a:ext cx="3657600" cy="1219200"/>
          </a:xfrm>
          <a:prstGeom prst="border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Understanding stakeholders including end users and their expectations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 the system</a:t>
            </a:r>
          </a:p>
        </p:txBody>
      </p:sp>
      <p:sp>
        <p:nvSpPr>
          <p:cNvPr id="5" name="Line Callout 1 (Border and Accent Bar) 4"/>
          <p:cNvSpPr/>
          <p:nvPr/>
        </p:nvSpPr>
        <p:spPr>
          <a:xfrm rot="1908506">
            <a:off x="5410473" y="3666353"/>
            <a:ext cx="3048000" cy="1447800"/>
          </a:xfrm>
          <a:prstGeom prst="accentBorder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Think about what the system supposed to do.  Also, check if its doing what it should not do</a:t>
            </a:r>
          </a:p>
        </p:txBody>
      </p:sp>
    </p:spTree>
    <p:extLst>
      <p:ext uri="{BB962C8B-B14F-4D97-AF65-F5344CB8AC3E}">
        <p14:creationId xmlns:p14="http://schemas.microsoft.com/office/powerpoint/2010/main" val="450366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99779-2C76-535B-24C8-A9530A935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8763000" cy="871688"/>
          </a:xfrm>
        </p:spPr>
        <p:txBody>
          <a:bodyPr/>
          <a:lstStyle/>
          <a:p>
            <a:r>
              <a:rPr lang="en-US" dirty="0"/>
              <a:t>AI Explanation of Exploratory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86A6FE-A1E2-5C44-DFCF-7B518C823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87" y="1219200"/>
            <a:ext cx="4191000" cy="4191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6FB49F-4925-D5B7-7FF6-A05E06BDBCD0}"/>
              </a:ext>
            </a:extLst>
          </p:cNvPr>
          <p:cNvSpPr txBox="1"/>
          <p:nvPr/>
        </p:nvSpPr>
        <p:spPr>
          <a:xfrm>
            <a:off x="5334000" y="1295400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not the best explanation – AI is not trustworthy always !</a:t>
            </a:r>
          </a:p>
        </p:txBody>
      </p:sp>
    </p:spTree>
    <p:extLst>
      <p:ext uri="{BB962C8B-B14F-4D97-AF65-F5344CB8AC3E}">
        <p14:creationId xmlns:p14="http://schemas.microsoft.com/office/powerpoint/2010/main" val="389233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5F048-E91F-B818-49A5-2A72781E8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CEBC-E858-1777-667D-05EEA9AA5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13" y="2895600"/>
            <a:ext cx="8949087" cy="871688"/>
          </a:xfrm>
        </p:spPr>
        <p:txBody>
          <a:bodyPr/>
          <a:lstStyle/>
          <a:p>
            <a:r>
              <a:rPr lang="en-US" dirty="0"/>
              <a:t>Exploratory Testing – Approaches</a:t>
            </a:r>
          </a:p>
        </p:txBody>
      </p:sp>
    </p:spTree>
    <p:extLst>
      <p:ext uri="{BB962C8B-B14F-4D97-AF65-F5344CB8AC3E}">
        <p14:creationId xmlns:p14="http://schemas.microsoft.com/office/powerpoint/2010/main" val="2990427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Exploratory Testing : Function Categorization Approach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842112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2295479" y="6248400"/>
            <a:ext cx="4553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http://www.satisfice.com/tools/procedure.pdf</a:t>
            </a:r>
          </a:p>
        </p:txBody>
      </p:sp>
    </p:spTree>
    <p:extLst>
      <p:ext uri="{BB962C8B-B14F-4D97-AF65-F5344CB8AC3E}">
        <p14:creationId xmlns:p14="http://schemas.microsoft.com/office/powerpoint/2010/main" val="3040855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137CE-50D2-C4A6-8CE7-F876E3825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0472"/>
            <a:ext cx="8949087" cy="871688"/>
          </a:xfrm>
        </p:spPr>
        <p:txBody>
          <a:bodyPr/>
          <a:lstStyle/>
          <a:p>
            <a:r>
              <a:rPr lang="en-US" dirty="0"/>
              <a:t>Exploratory Testing – Other Approaches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04C5E0-C9A5-C1C9-1089-3C6A7C6099C8}"/>
              </a:ext>
            </a:extLst>
          </p:cNvPr>
          <p:cNvSpPr txBox="1"/>
          <p:nvPr/>
        </p:nvSpPr>
        <p:spPr>
          <a:xfrm>
            <a:off x="533400" y="1397675"/>
            <a:ext cx="8686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Some Popular Heuristics for Exploratory Testing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SFDIPOT</a:t>
            </a:r>
            <a:r>
              <a:rPr lang="en-US" dirty="0"/>
              <a:t>: Structure, Function, Data, Interfaces, Platform, Operations,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CRISP</a:t>
            </a:r>
            <a:r>
              <a:rPr lang="en-US" dirty="0"/>
              <a:t>: Consistency, Reliability, Interactions, Security,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F4034F-4453-5E32-3FF5-D19BA85EDBCB}"/>
              </a:ext>
            </a:extLst>
          </p:cNvPr>
          <p:cNvSpPr txBox="1"/>
          <p:nvPr/>
        </p:nvSpPr>
        <p:spPr>
          <a:xfrm>
            <a:off x="457200" y="2867464"/>
            <a:ext cx="4786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Heuristics helps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Guide exploration.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Uncover areas of risk</a:t>
            </a:r>
          </a:p>
        </p:txBody>
      </p:sp>
    </p:spTree>
    <p:extLst>
      <p:ext uri="{BB962C8B-B14F-4D97-AF65-F5344CB8AC3E}">
        <p14:creationId xmlns:p14="http://schemas.microsoft.com/office/powerpoint/2010/main" val="3229285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6F2DC7-B286-8E2D-651B-CF8A1A9734D9}"/>
              </a:ext>
            </a:extLst>
          </p:cNvPr>
          <p:cNvSpPr/>
          <p:nvPr/>
        </p:nvSpPr>
        <p:spPr bwMode="auto">
          <a:xfrm>
            <a:off x="3810000" y="2971800"/>
            <a:ext cx="1295400" cy="457200"/>
          </a:xfrm>
          <a:prstGeom prst="round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i="1" dirty="0"/>
              <a:t>SFDIPOT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76707A-C3C9-59E7-D436-8E9E95F1CBBD}"/>
              </a:ext>
            </a:extLst>
          </p:cNvPr>
          <p:cNvSpPr txBox="1"/>
          <p:nvPr/>
        </p:nvSpPr>
        <p:spPr>
          <a:xfrm>
            <a:off x="304800" y="749361"/>
            <a:ext cx="2913798" cy="147732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Structure (s): 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The physical and logical components of the system, including its architecture, design, and layout.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9EC5D8-5EB8-CEF4-E155-CED52E3CF531}"/>
              </a:ext>
            </a:extLst>
          </p:cNvPr>
          <p:cNvSpPr txBox="1"/>
          <p:nvPr/>
        </p:nvSpPr>
        <p:spPr>
          <a:xfrm>
            <a:off x="6001602" y="2798886"/>
            <a:ext cx="2913798" cy="120032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Interface (I): 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Communication points between components or external systems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DBDB06-96A3-36C2-09DF-E875C61D1345}"/>
              </a:ext>
            </a:extLst>
          </p:cNvPr>
          <p:cNvSpPr txBox="1"/>
          <p:nvPr/>
        </p:nvSpPr>
        <p:spPr>
          <a:xfrm>
            <a:off x="6096000" y="1164860"/>
            <a:ext cx="2913798" cy="64633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Data (D): 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Inputs, outputs, and data storage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ACED27-9AFF-3913-C486-899710B592FB}"/>
              </a:ext>
            </a:extLst>
          </p:cNvPr>
          <p:cNvSpPr txBox="1"/>
          <p:nvPr/>
        </p:nvSpPr>
        <p:spPr>
          <a:xfrm>
            <a:off x="304800" y="2819400"/>
            <a:ext cx="2913798" cy="175432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Time (T): </a:t>
            </a: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Time-related functionalities(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Performance, response times, scheduling, date/time operations)</a:t>
            </a:r>
            <a:endParaRPr lang="en-US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B687C1-537F-7A01-5117-553A221F8B00}"/>
              </a:ext>
            </a:extLst>
          </p:cNvPr>
          <p:cNvSpPr txBox="1"/>
          <p:nvPr/>
        </p:nvSpPr>
        <p:spPr>
          <a:xfrm>
            <a:off x="1219200" y="4847273"/>
            <a:ext cx="2913798" cy="175432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Operations (O): 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Processes for operation and maintenance (Installation, configuration, monitoring, backups, updates)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9C0128-35FF-96F9-C48D-73DA7F1ACD9D}"/>
              </a:ext>
            </a:extLst>
          </p:cNvPr>
          <p:cNvSpPr txBox="1"/>
          <p:nvPr/>
        </p:nvSpPr>
        <p:spPr>
          <a:xfrm>
            <a:off x="5638800" y="4876800"/>
            <a:ext cx="2895600" cy="175432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Platform (P): </a:t>
            </a: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The environment in which the system runs, including hardware, software, and networks.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17CB3B-D72D-8AA3-F11E-88E4D9AED29A}"/>
              </a:ext>
            </a:extLst>
          </p:cNvPr>
          <p:cNvSpPr txBox="1"/>
          <p:nvPr/>
        </p:nvSpPr>
        <p:spPr>
          <a:xfrm>
            <a:off x="3581399" y="76199"/>
            <a:ext cx="2362202" cy="175432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Function (F): 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Features and capabilities of the system (Core functionalities, Business Logic.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014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E9D69-8DA8-A9C0-E3A0-525663E3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884" y="228600"/>
            <a:ext cx="9296400" cy="871688"/>
          </a:xfrm>
        </p:spPr>
        <p:txBody>
          <a:bodyPr/>
          <a:lstStyle/>
          <a:p>
            <a:r>
              <a:rPr lang="en-US" i="1" dirty="0"/>
              <a:t>SFDIPOT Example - </a:t>
            </a: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Online Shopping Store </a:t>
            </a:r>
            <a:b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27DAB1-981C-2A4D-E89D-A5D623FB8C8D}"/>
              </a:ext>
            </a:extLst>
          </p:cNvPr>
          <p:cNvSpPr txBox="1"/>
          <p:nvPr/>
        </p:nvSpPr>
        <p:spPr>
          <a:xfrm>
            <a:off x="463590" y="1219200"/>
            <a:ext cx="8070809" cy="4060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Testing 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Online Shopping Store Using Exploratory Testing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Structure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Check the layout of the cart page. Are all products and prices displayed correctly?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Test if adding/removing items updates totals.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Use edge cases (e.g., 1,000 items or special characters in item names).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Interfaces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Verify if APIs correctly fetch cart details and calculate totals.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Platform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Test the cart on mobile, desktop, and across browsers.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Operations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Check cart persistence after logging out and back in.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Time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Verify scheduled discounts (e.g., holiday sales) and how expiration times affect the cart, time based performance parameters like response time</a:t>
            </a:r>
          </a:p>
        </p:txBody>
      </p:sp>
    </p:spTree>
    <p:extLst>
      <p:ext uri="{BB962C8B-B14F-4D97-AF65-F5344CB8AC3E}">
        <p14:creationId xmlns:p14="http://schemas.microsoft.com/office/powerpoint/2010/main" val="2386110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dirty="0"/>
              <a:t>Tool Support for Exploratory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990600"/>
            <a:ext cx="80772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A3A3A"/>
                </a:solidFill>
                <a:latin typeface="Work Sans"/>
              </a:rPr>
              <a:t>Microsoft Azure Test Plans</a:t>
            </a:r>
          </a:p>
          <a:p>
            <a:r>
              <a:rPr lang="en-US" dirty="0">
                <a:solidFill>
                  <a:srgbClr val="3A3A3A"/>
                </a:solidFill>
                <a:latin typeface="Work Sans"/>
                <a:hlinkClick r:id="rId2"/>
              </a:rPr>
              <a:t>https://docs.microsoft.com/en-us/azure/devops/test/overview?view=azure-devops#manual-testing-in-test-manager</a:t>
            </a:r>
            <a:endParaRPr lang="en-US" dirty="0">
              <a:solidFill>
                <a:srgbClr val="3A3A3A"/>
              </a:solidFill>
              <a:latin typeface="Work Sans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A3A3A"/>
              </a:solidFill>
              <a:effectLst/>
              <a:latin typeface="Work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qTest</a:t>
            </a:r>
            <a:r>
              <a:rPr lang="en-US" dirty="0"/>
              <a:t> explorer</a:t>
            </a:r>
          </a:p>
          <a:p>
            <a:r>
              <a:rPr lang="en-US" dirty="0">
                <a:solidFill>
                  <a:srgbClr val="3A3A3A"/>
                </a:solidFill>
                <a:latin typeface="Work Sans"/>
                <a:hlinkClick r:id="rId3"/>
              </a:rPr>
              <a:t>https://www.qasymphony.com/software-testing-tools/qtest-explorer/test-execution-recorder/</a:t>
            </a:r>
            <a:endParaRPr lang="en-US" dirty="0">
              <a:solidFill>
                <a:srgbClr val="3A3A3A"/>
              </a:solidFill>
              <a:latin typeface="Work Sans"/>
            </a:endParaRPr>
          </a:p>
          <a:p>
            <a:endParaRPr lang="en-US" dirty="0">
              <a:solidFill>
                <a:srgbClr val="3A3A3A"/>
              </a:solidFill>
              <a:latin typeface="Work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Testpad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A3A3A"/>
              </a:solidFill>
              <a:effectLst/>
              <a:latin typeface="Work Sans"/>
            </a:endParaRPr>
          </a:p>
          <a:p>
            <a:r>
              <a:rPr lang="en-US" dirty="0">
                <a:solidFill>
                  <a:srgbClr val="3A3A3A"/>
                </a:solidFill>
                <a:latin typeface="Work Sans"/>
                <a:hlinkClick r:id="rId4"/>
              </a:rPr>
              <a:t>https://ontestpad.com/library/151/structure-example-exploratory-testing</a:t>
            </a:r>
            <a:endParaRPr lang="en-US" dirty="0">
              <a:solidFill>
                <a:srgbClr val="3A3A3A"/>
              </a:solidFill>
              <a:latin typeface="Work Sans"/>
            </a:endParaRPr>
          </a:p>
          <a:p>
            <a:endParaRPr lang="en-US" b="0" i="0" dirty="0">
              <a:solidFill>
                <a:srgbClr val="3A3A3A"/>
              </a:solidFill>
              <a:effectLst/>
              <a:latin typeface="Work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HP Sprinter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A3A3A"/>
              </a:solidFill>
              <a:effectLst/>
              <a:latin typeface="Work Sans"/>
            </a:endParaRPr>
          </a:p>
          <a:p>
            <a:r>
              <a:rPr lang="en-US" dirty="0">
                <a:solidFill>
                  <a:srgbClr val="3A3A3A"/>
                </a:solidFill>
                <a:latin typeface="Work Sans"/>
                <a:hlinkClick r:id="rId5"/>
              </a:rPr>
              <a:t>https://www.microfocus.com/en-us/products/sprinter-manual-software-testing/overview</a:t>
            </a:r>
            <a:endParaRPr lang="en-US" dirty="0">
              <a:solidFill>
                <a:srgbClr val="3A3A3A"/>
              </a:solidFill>
              <a:latin typeface="Work Sans"/>
            </a:endParaRPr>
          </a:p>
          <a:p>
            <a:endParaRPr lang="en-US" dirty="0">
              <a:solidFill>
                <a:srgbClr val="3A3A3A"/>
              </a:solidFill>
              <a:latin typeface="Work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A3A3A"/>
                </a:solidFill>
                <a:effectLst/>
                <a:latin typeface="Work Sans"/>
              </a:rPr>
              <a:t>…. more</a:t>
            </a:r>
          </a:p>
        </p:txBody>
      </p:sp>
    </p:spTree>
    <p:extLst>
      <p:ext uri="{BB962C8B-B14F-4D97-AF65-F5344CB8AC3E}">
        <p14:creationId xmlns:p14="http://schemas.microsoft.com/office/powerpoint/2010/main" val="171192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Exploratory Testing -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1219200"/>
            <a:ext cx="8763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Exploratory Testing Resources</a:t>
            </a:r>
          </a:p>
          <a:p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What is exploratory testing - video by </a:t>
            </a:r>
            <a:r>
              <a:rPr lang="en-US" sz="2400" dirty="0" err="1"/>
              <a:t>Cem</a:t>
            </a:r>
            <a:r>
              <a:rPr lang="en-US" sz="2400" dirty="0"/>
              <a:t> </a:t>
            </a:r>
            <a:r>
              <a:rPr lang="en-US" sz="2400" dirty="0" err="1"/>
              <a:t>Kaner</a:t>
            </a:r>
            <a:endParaRPr lang="en-US" sz="2400" dirty="0"/>
          </a:p>
          <a:p>
            <a:r>
              <a:rPr lang="en-US" sz="2400" dirty="0">
                <a:hlinkClick r:id="rId2"/>
              </a:rPr>
              <a:t>https://mediaplus.asu.edu/embedded?id=80e96701-fbb8-4222-9a07-8a170cc3ef26&amp;siteId=61e0606e-415d-4001-8206-ffde48430c64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What is exploratory testing - document</a:t>
            </a:r>
          </a:p>
          <a:p>
            <a:r>
              <a:rPr lang="en-US" sz="2400" dirty="0"/>
              <a:t>http://www.satisfice.com/tools/procedure.pdf</a:t>
            </a:r>
          </a:p>
          <a:p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Performing Exploratory Testing- Microsoft </a:t>
            </a:r>
          </a:p>
          <a:p>
            <a:r>
              <a:rPr lang="en-US" sz="2400" dirty="0"/>
              <a:t>https://docs.microsoft.com/en-us/azure/devops/test/insights-exploratory-testing?view=azure-devops</a:t>
            </a:r>
          </a:p>
        </p:txBody>
      </p:sp>
    </p:spTree>
    <p:extLst>
      <p:ext uri="{BB962C8B-B14F-4D97-AF65-F5344CB8AC3E}">
        <p14:creationId xmlns:p14="http://schemas.microsoft.com/office/powerpoint/2010/main" val="1599242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229600" cy="6794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b="1" dirty="0">
                <a:solidFill>
                  <a:srgbClr val="000099"/>
                </a:solidFill>
              </a:rPr>
              <a:t>Writing Test Cases : Anatomy of a Typical Test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606723"/>
            <a:ext cx="7620000" cy="3714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148" name="Group 10"/>
          <p:cNvGrpSpPr>
            <a:grpSpLocks/>
          </p:cNvGrpSpPr>
          <p:nvPr/>
        </p:nvGrpSpPr>
        <p:grpSpPr bwMode="auto">
          <a:xfrm>
            <a:off x="1527175" y="2795588"/>
            <a:ext cx="6032500" cy="3105150"/>
            <a:chOff x="1447800" y="1556266"/>
            <a:chExt cx="6031839" cy="4710498"/>
          </a:xfrm>
        </p:grpSpPr>
        <p:sp>
          <p:nvSpPr>
            <p:cNvPr id="6151" name="TextBox 3"/>
            <p:cNvSpPr txBox="1">
              <a:spLocks noChangeArrowheads="1"/>
            </p:cNvSpPr>
            <p:nvPr/>
          </p:nvSpPr>
          <p:spPr bwMode="auto">
            <a:xfrm>
              <a:off x="1447800" y="1556266"/>
              <a:ext cx="1676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Test case ID</a:t>
              </a:r>
            </a:p>
          </p:txBody>
        </p:sp>
        <p:sp>
          <p:nvSpPr>
            <p:cNvPr id="6152" name="TextBox 4"/>
            <p:cNvSpPr txBox="1">
              <a:spLocks noChangeArrowheads="1"/>
            </p:cNvSpPr>
            <p:nvPr/>
          </p:nvSpPr>
          <p:spPr bwMode="auto">
            <a:xfrm>
              <a:off x="1461655" y="2086745"/>
              <a:ext cx="1676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Purpose</a:t>
              </a:r>
            </a:p>
          </p:txBody>
        </p:sp>
        <p:sp>
          <p:nvSpPr>
            <p:cNvPr id="6153" name="TextBox 5"/>
            <p:cNvSpPr txBox="1">
              <a:spLocks noChangeArrowheads="1"/>
            </p:cNvSpPr>
            <p:nvPr/>
          </p:nvSpPr>
          <p:spPr bwMode="auto">
            <a:xfrm>
              <a:off x="1489364" y="2678668"/>
              <a:ext cx="1676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Preconditions</a:t>
              </a:r>
            </a:p>
          </p:txBody>
        </p:sp>
        <p:sp>
          <p:nvSpPr>
            <p:cNvPr id="6154" name="TextBox 6"/>
            <p:cNvSpPr txBox="1">
              <a:spLocks noChangeArrowheads="1"/>
            </p:cNvSpPr>
            <p:nvPr/>
          </p:nvSpPr>
          <p:spPr bwMode="auto">
            <a:xfrm>
              <a:off x="1489364" y="3440668"/>
              <a:ext cx="1676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6155" name="TextBox 7"/>
            <p:cNvSpPr txBox="1">
              <a:spLocks noChangeArrowheads="1"/>
            </p:cNvSpPr>
            <p:nvPr/>
          </p:nvSpPr>
          <p:spPr bwMode="auto">
            <a:xfrm>
              <a:off x="1506380" y="4327790"/>
              <a:ext cx="257694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Expected outputs</a:t>
              </a:r>
            </a:p>
          </p:txBody>
        </p:sp>
        <p:sp>
          <p:nvSpPr>
            <p:cNvPr id="6156" name="TextBox 8"/>
            <p:cNvSpPr txBox="1">
              <a:spLocks noChangeArrowheads="1"/>
            </p:cNvSpPr>
            <p:nvPr/>
          </p:nvSpPr>
          <p:spPr bwMode="auto">
            <a:xfrm>
              <a:off x="1506380" y="5051954"/>
              <a:ext cx="257694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Post conditions</a:t>
              </a:r>
            </a:p>
          </p:txBody>
        </p:sp>
        <p:sp>
          <p:nvSpPr>
            <p:cNvPr id="6157" name="TextBox 9"/>
            <p:cNvSpPr txBox="1">
              <a:spLocks noChangeArrowheads="1"/>
            </p:cNvSpPr>
            <p:nvPr/>
          </p:nvSpPr>
          <p:spPr bwMode="auto">
            <a:xfrm>
              <a:off x="1501403" y="5620433"/>
              <a:ext cx="5978236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Execution History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Date      Result   Version    Run By</a:t>
              </a:r>
            </a:p>
          </p:txBody>
        </p:sp>
      </p:grp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341129" y="1064805"/>
            <a:ext cx="8458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IEEE Standard 610 (1990) defines </a:t>
            </a:r>
            <a:r>
              <a:rPr lang="en-US" altLang="en-US" sz="1600" i="1">
                <a:latin typeface="Arial" panose="020B0604020202020204" pitchFamily="34" charset="0"/>
              </a:rPr>
              <a:t>test case </a:t>
            </a:r>
            <a:r>
              <a:rPr lang="en-US" altLang="en-US" sz="1600">
                <a:latin typeface="Arial" panose="020B0604020202020204" pitchFamily="34" charset="0"/>
              </a:rPr>
              <a:t>as follows: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“(1) A set of test </a:t>
            </a:r>
            <a:r>
              <a:rPr lang="en-US" altLang="en-US" sz="1600" b="1">
                <a:solidFill>
                  <a:srgbClr val="FF0000"/>
                </a:solidFill>
                <a:latin typeface="Arial" panose="020B0604020202020204" pitchFamily="34" charset="0"/>
              </a:rPr>
              <a:t>inputs</a:t>
            </a:r>
            <a:r>
              <a:rPr lang="en-US" altLang="en-US" sz="1600">
                <a:latin typeface="Arial" panose="020B0604020202020204" pitchFamily="34" charset="0"/>
              </a:rPr>
              <a:t>, </a:t>
            </a:r>
            <a:r>
              <a:rPr lang="en-US" altLang="en-US" sz="1600" b="1">
                <a:solidFill>
                  <a:srgbClr val="FF0000"/>
                </a:solidFill>
                <a:latin typeface="Arial" panose="020B0604020202020204" pitchFamily="34" charset="0"/>
              </a:rPr>
              <a:t>execution conditions</a:t>
            </a:r>
            <a:r>
              <a:rPr lang="en-US" altLang="en-US" sz="1600">
                <a:latin typeface="Arial" panose="020B0604020202020204" pitchFamily="34" charset="0"/>
              </a:rPr>
              <a:t>, and </a:t>
            </a:r>
            <a:r>
              <a:rPr lang="en-US" altLang="en-US" sz="1600" b="1">
                <a:solidFill>
                  <a:srgbClr val="FF0000"/>
                </a:solidFill>
                <a:latin typeface="Arial" panose="020B0604020202020204" pitchFamily="34" charset="0"/>
              </a:rPr>
              <a:t>expected results </a:t>
            </a:r>
            <a:r>
              <a:rPr lang="en-US" altLang="en-US" sz="1600">
                <a:latin typeface="Arial" panose="020B0604020202020204" pitchFamily="34" charset="0"/>
              </a:rPr>
              <a:t>developed for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particular objective, such as to exercise a particular program path or to verify compliance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with a specific requirement.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“(2) (IEEE Std 829-1983) </a:t>
            </a:r>
            <a:r>
              <a:rPr lang="en-US" altLang="en-US" sz="1600" b="1">
                <a:solidFill>
                  <a:srgbClr val="FF0000"/>
                </a:solidFill>
                <a:latin typeface="Arial" panose="020B0604020202020204" pitchFamily="34" charset="0"/>
              </a:rPr>
              <a:t>Documentation specifying inputs, predicted results, and a set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  <a:latin typeface="Arial" panose="020B0604020202020204" pitchFamily="34" charset="0"/>
              </a:rPr>
              <a:t>of execution conditions for a test item</a:t>
            </a:r>
            <a:r>
              <a:rPr lang="en-US" altLang="en-US" sz="1600">
                <a:latin typeface="Arial" panose="020B0604020202020204" pitchFamily="34" charset="0"/>
              </a:rPr>
              <a:t>.”</a:t>
            </a:r>
          </a:p>
        </p:txBody>
      </p:sp>
      <p:sp>
        <p:nvSpPr>
          <p:cNvPr id="6150" name="Rectangle 12"/>
          <p:cNvSpPr>
            <a:spLocks noChangeArrowheads="1"/>
          </p:cNvSpPr>
          <p:nvPr/>
        </p:nvSpPr>
        <p:spPr bwMode="auto">
          <a:xfrm>
            <a:off x="2411413" y="6488113"/>
            <a:ext cx="48275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http://www.kaner.com/pdfs/GoodTest.pdf</a:t>
            </a:r>
          </a:p>
        </p:txBody>
      </p:sp>
    </p:spTree>
    <p:extLst>
      <p:ext uri="{BB962C8B-B14F-4D97-AF65-F5344CB8AC3E}">
        <p14:creationId xmlns:p14="http://schemas.microsoft.com/office/powerpoint/2010/main" val="3330356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794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b="1" dirty="0">
                <a:solidFill>
                  <a:srgbClr val="000099"/>
                </a:solidFill>
              </a:rPr>
              <a:t>Characteristics of a Good Test Engineer : 10 Engineering Competences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295400"/>
            <a:ext cx="83820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Tx/>
              <a:buAutoNum type="arabicPeriod"/>
              <a:defRPr/>
            </a:pPr>
            <a:r>
              <a:rPr lang="en-US" sz="2400" dirty="0"/>
              <a:t>Analytical Problem Solving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 sz="2400" dirty="0"/>
              <a:t>Customer- focused Innovation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 sz="2400" dirty="0"/>
              <a:t>Technical excellence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 sz="2400" dirty="0"/>
              <a:t>Project/Time Management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 sz="2400" dirty="0"/>
              <a:t>Passion for quality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 sz="2400" dirty="0"/>
              <a:t>Strategic insight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 sz="2400" dirty="0"/>
              <a:t>Confidence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 sz="2400" dirty="0"/>
              <a:t>Impact and Influence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 sz="2400" dirty="0"/>
              <a:t>Cross-Boundary Collaboration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 sz="2400" dirty="0"/>
              <a:t>Interpersonal Awareness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400" dirty="0"/>
          </a:p>
        </p:txBody>
      </p:sp>
      <p:sp>
        <p:nvSpPr>
          <p:cNvPr id="7172" name="TextBox 2"/>
          <p:cNvSpPr txBox="1">
            <a:spLocks noChangeArrowheads="1"/>
          </p:cNvSpPr>
          <p:nvPr/>
        </p:nvSpPr>
        <p:spPr bwMode="auto">
          <a:xfrm>
            <a:off x="187325" y="5500688"/>
            <a:ext cx="8610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Reference : How We Test Software at Microsoft  by Alan Page ,  Ken Johnston ,  Bj Rollison </a:t>
            </a:r>
          </a:p>
        </p:txBody>
      </p:sp>
    </p:spTree>
    <p:extLst>
      <p:ext uri="{BB962C8B-B14F-4D97-AF65-F5344CB8AC3E}">
        <p14:creationId xmlns:p14="http://schemas.microsoft.com/office/powerpoint/2010/main" val="3810161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24200"/>
            <a:ext cx="8229600" cy="67887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Next Time :  More About Functional Testing</a:t>
            </a:r>
          </a:p>
        </p:txBody>
      </p:sp>
    </p:spTree>
    <p:extLst>
      <p:ext uri="{BB962C8B-B14F-4D97-AF65-F5344CB8AC3E}">
        <p14:creationId xmlns:p14="http://schemas.microsoft.com/office/powerpoint/2010/main" val="3892748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L1_Introduction_CSE360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1_L1_Introduction_CSE360  -  Compatibility Mode" id="{4238F970-C867-4C69-BCAE-0BE61BF6467E}" vid="{BC4CAC20-189F-479B-9018-01AA5296704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2876</TotalTime>
  <Words>757</Words>
  <Application>Microsoft Office PowerPoint</Application>
  <PresentationFormat>On-screen Show (4:3)</PresentationFormat>
  <Paragraphs>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Symbol</vt:lpstr>
      <vt:lpstr>Work Sans</vt:lpstr>
      <vt:lpstr>Office Theme</vt:lpstr>
      <vt:lpstr>1_L1_Introduction_CSE360</vt:lpstr>
      <vt:lpstr>CSE 464 : Software Quality Assurance and Testing</vt:lpstr>
      <vt:lpstr>PowerPoint Presentation</vt:lpstr>
      <vt:lpstr>Exploratory Testing – Basic Principle</vt:lpstr>
      <vt:lpstr>Exploratory Testing - Approach</vt:lpstr>
      <vt:lpstr>AI Explanation of Exploratory Testing</vt:lpstr>
      <vt:lpstr>Exploratory Testing – Approaches</vt:lpstr>
      <vt:lpstr>Exploratory Testing : Function Categorization Approach</vt:lpstr>
      <vt:lpstr>Exploratory Testing – Other Approaches</vt:lpstr>
      <vt:lpstr>PowerPoint Presentation</vt:lpstr>
      <vt:lpstr>SFDIPOT Example - Online Shopping Store  </vt:lpstr>
      <vt:lpstr>Tool Support for Exploratory Testing</vt:lpstr>
      <vt:lpstr>Exploratory Testing - Resources</vt:lpstr>
      <vt:lpstr>Writing Test Cases : Anatomy of a Typical Test Case</vt:lpstr>
      <vt:lpstr>Characteristics of a Good Test Engineer : 10 Engineering Competences</vt:lpstr>
      <vt:lpstr>Next Time :  More About Functional Testing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110</cp:revision>
  <cp:lastPrinted>2011-08-23T15:27:31Z</cp:lastPrinted>
  <dcterms:created xsi:type="dcterms:W3CDTF">2011-08-13T19:09:36Z</dcterms:created>
  <dcterms:modified xsi:type="dcterms:W3CDTF">2025-01-27T22:39:00Z</dcterms:modified>
</cp:coreProperties>
</file>