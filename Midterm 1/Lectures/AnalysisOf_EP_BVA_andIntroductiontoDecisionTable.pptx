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18"/>
  </p:notesMasterIdLst>
  <p:handoutMasterIdLst>
    <p:handoutMasterId r:id="rId19"/>
  </p:handoutMasterIdLst>
  <p:sldIdLst>
    <p:sldId id="256" r:id="rId3"/>
    <p:sldId id="307" r:id="rId4"/>
    <p:sldId id="304" r:id="rId5"/>
    <p:sldId id="300" r:id="rId6"/>
    <p:sldId id="301" r:id="rId7"/>
    <p:sldId id="302" r:id="rId8"/>
    <p:sldId id="305" r:id="rId9"/>
    <p:sldId id="314" r:id="rId10"/>
    <p:sldId id="315" r:id="rId11"/>
    <p:sldId id="311" r:id="rId12"/>
    <p:sldId id="312" r:id="rId13"/>
    <p:sldId id="290" r:id="rId14"/>
    <p:sldId id="309" r:id="rId15"/>
    <p:sldId id="310" r:id="rId16"/>
    <p:sldId id="313" r:id="rId1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FF00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41" autoAdjust="0"/>
    <p:restoredTop sz="94660"/>
  </p:normalViewPr>
  <p:slideViewPr>
    <p:cSldViewPr>
      <p:cViewPr>
        <p:scale>
          <a:sx n="86" d="100"/>
          <a:sy n="86" d="100"/>
        </p:scale>
        <p:origin x="936" y="45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649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4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1D3836-5C8F-4F3B-AAC1-41DEBED35A55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8649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4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B345C-6C28-4CAF-9AC1-451552B21F4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73500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9" y="0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/>
          <a:lstStyle>
            <a:lvl1pPr algn="r">
              <a:defRPr sz="1200"/>
            </a:lvl1pPr>
          </a:lstStyle>
          <a:p>
            <a:fld id="{B85F00AE-A56E-406D-AEB7-3AD9133B5FFF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9788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46" tIns="46223" rIns="92446" bIns="4622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1" y="4415790"/>
            <a:ext cx="5608320" cy="4183380"/>
          </a:xfrm>
          <a:prstGeom prst="rect">
            <a:avLst/>
          </a:prstGeom>
        </p:spPr>
        <p:txBody>
          <a:bodyPr vert="horz" lIns="92446" tIns="46223" rIns="92446" bIns="4622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9" y="8829967"/>
            <a:ext cx="3037840" cy="464820"/>
          </a:xfrm>
          <a:prstGeom prst="rect">
            <a:avLst/>
          </a:prstGeom>
        </p:spPr>
        <p:txBody>
          <a:bodyPr vert="horz" lIns="92446" tIns="46223" rIns="92446" bIns="46223" rtlCol="0" anchor="b"/>
          <a:lstStyle>
            <a:lvl1pPr algn="r">
              <a:defRPr sz="1200"/>
            </a:lvl1pPr>
          </a:lstStyle>
          <a:p>
            <a:fld id="{C009E05C-5A2C-4478-8307-C1C3B7A265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52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026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5451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4707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8747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198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725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1607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666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262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551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5751-B3B2-4B17-BD1A-3398C3F7C492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204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7387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1569"/>
            <a:ext cx="6858000" cy="2387799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236"/>
            <a:ext cx="6858000" cy="165556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10AE3D4-6C61-456E-9688-6BEB58B7090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90CD12A4-8CA4-4C40-AFF6-7BA30906B91B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25162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D097BF4F-14A4-4E96-AC95-C83D6536106A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xfrm>
            <a:off x="58738" y="6245424"/>
            <a:ext cx="1541462" cy="47684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3A58B009-A5B0-403E-A3FA-31EE00B64C6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33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>
            <a:extLst>
              <a:ext uri="{FF2B5EF4-FFF2-40B4-BE49-F238E27FC236}">
                <a16:creationId xmlns:a16="http://schemas.microsoft.com/office/drawing/2014/main" id="{6BBB3E7C-85F9-48A4-BC61-C8465056FF6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7839" y="6056115"/>
            <a:ext cx="2211387" cy="823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461D50-6109-4BAE-A0FF-7B881CB4E6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143"/>
            <a:ext cx="7886700" cy="2853928"/>
          </a:xfrm>
        </p:spPr>
        <p:txBody>
          <a:bodyPr anchor="b"/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859"/>
            <a:ext cx="7886700" cy="1500188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976157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102B77B-07A8-46E8-AC9C-F651CFF6952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38C08A0-F55A-47A0-88A8-4B3EA64CA92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9125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4332"/>
            <a:ext cx="7886700" cy="1326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680568"/>
            <a:ext cx="3868737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2505671"/>
            <a:ext cx="3868737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0568"/>
            <a:ext cx="3887788" cy="82510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671"/>
            <a:ext cx="3887788" cy="3684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D193EF7A-D11C-4980-980A-F2201D81D1A4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FD0E39D-4FE4-466D-8BA2-63184C9D840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7148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>
            <a:extLst>
              <a:ext uri="{FF2B5EF4-FFF2-40B4-BE49-F238E27FC236}">
                <a16:creationId xmlns:a16="http://schemas.microsoft.com/office/drawing/2014/main" id="{1866AA47-C13A-4B48-8717-9E1FC913777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2150" y="6088261"/>
            <a:ext cx="2065338" cy="7697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EA2B288-25D3-423C-83CB-7B026A0D76F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0350" y="6275785"/>
            <a:ext cx="2319338" cy="276999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defRPr/>
            </a:pPr>
            <a:r>
              <a:rPr lang="en-US" altLang="en-US" sz="1200" b="1">
                <a:solidFill>
                  <a:srgbClr val="8C4881"/>
                </a:solidFill>
              </a:rPr>
              <a:t>Janaka Balasooriya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2F516CB-9D79-446E-A699-808EEF45497A}"/>
              </a:ext>
            </a:extLst>
          </p:cNvPr>
          <p:cNvSpPr/>
          <p:nvPr/>
        </p:nvSpPr>
        <p:spPr bwMode="auto">
          <a:xfrm>
            <a:off x="423864" y="1001912"/>
            <a:ext cx="8296275" cy="75009"/>
          </a:xfrm>
          <a:prstGeom prst="rect">
            <a:avLst/>
          </a:prstGeom>
          <a:solidFill>
            <a:srgbClr val="00A2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 sz="180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0887" y="0"/>
            <a:ext cx="8229600" cy="871688"/>
          </a:xfrm>
        </p:spPr>
        <p:txBody>
          <a:bodyPr/>
          <a:lstStyle>
            <a:lvl1pPr>
              <a:defRPr sz="3600" b="1">
                <a:solidFill>
                  <a:srgbClr val="0000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95657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>
            <a:extLst>
              <a:ext uri="{FF2B5EF4-FFF2-40B4-BE49-F238E27FC236}">
                <a16:creationId xmlns:a16="http://schemas.microsoft.com/office/drawing/2014/main" id="{386B536A-129A-45B7-8B2C-E6725DCD612F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5636C187-682A-40DF-AFB3-0B40FA5E9C5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89458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9F617CF-8DA1-44C7-AD83-B79C6C2D731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FBF5420-F33D-4248-9974-C447D612C024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896803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9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625"/>
            <a:ext cx="4629150" cy="4873823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9" y="2057400"/>
            <a:ext cx="2949575" cy="38111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891EE5-05B7-478B-AB6D-7CD9D7F24FFC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F516A02-4F30-436B-B851-F5AD2167D55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6805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2D5B8CA9-D8A7-46D0-A75E-5C8B9DDF4B31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F869ACF-3DF6-4C07-BDCF-C7F46A457FDC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017903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035"/>
            <a:ext cx="2057400" cy="585073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035"/>
            <a:ext cx="6019800" cy="585073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3557029-9982-4551-BA9B-6EA34393E6E7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A947113F-F013-4024-B12F-3B344E7D4F5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72261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1"/>
            <a:ext cx="4038600" cy="217705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48709"/>
            <a:ext cx="4038600" cy="21770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ABCEC797-7BC8-44C4-A98D-49CD132107A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4464594C-52ED-4AB7-940F-517A3F7DB085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82874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5034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56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4848924-27C8-49CE-9F9C-DE33F869A99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29B0826-02B1-4CEF-B8FC-92525659761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791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760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585751-B3B2-4B17-BD1A-3398C3F7C492}" type="datetimeFigureOut">
              <a:rPr lang="en-US" smtClean="0"/>
              <a:pPr/>
              <a:t>2/6/2022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883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C1F0FF5-5656-4918-888A-AE630FB55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5034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FA5C9A2F-3769-44E1-AC47-9E49F84BB33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5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820229" name="Rectangle 5">
            <a:extLst>
              <a:ext uri="{FF2B5EF4-FFF2-40B4-BE49-F238E27FC236}">
                <a16:creationId xmlns:a16="http://schemas.microsoft.com/office/drawing/2014/main" id="{A27D3106-8010-485C-B6B5-29AD8C2366EA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79400" y="6168629"/>
            <a:ext cx="2895600" cy="476846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 b="1">
                <a:solidFill>
                  <a:srgbClr val="000099"/>
                </a:solidFill>
              </a:defRPr>
            </a:lvl1pPr>
          </a:lstStyle>
          <a:p>
            <a:endParaRPr lang="en-US"/>
          </a:p>
        </p:txBody>
      </p:sp>
      <p:sp>
        <p:nvSpPr>
          <p:cNvPr id="820230" name="Rectangle 6">
            <a:extLst>
              <a:ext uri="{FF2B5EF4-FFF2-40B4-BE49-F238E27FC236}">
                <a16:creationId xmlns:a16="http://schemas.microsoft.com/office/drawing/2014/main" id="{FD4899F0-7C27-4922-A3B9-79287B47FF73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424"/>
            <a:ext cx="2133600" cy="476845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B1F858E3-97C3-4A10-9940-68B7EEA8B1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01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0571" y="851517"/>
            <a:ext cx="3928849" cy="2991416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4100" b="1" dirty="0"/>
              <a:t>CSE 464 : Software Quality Assurance and Testing</a:t>
            </a:r>
            <a:br>
              <a:rPr lang="en-US" sz="4100" b="1" dirty="0"/>
            </a:br>
            <a:br>
              <a:rPr lang="en-US" sz="4100" b="1" dirty="0"/>
            </a:br>
            <a:endParaRPr lang="en-US" sz="4100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0572" y="3842932"/>
            <a:ext cx="3125336" cy="2163551"/>
          </a:xfrm>
        </p:spPr>
        <p:txBody>
          <a:bodyPr anchor="t">
            <a:normAutofit/>
          </a:bodyPr>
          <a:lstStyle/>
          <a:p>
            <a:pPr algn="l"/>
            <a:r>
              <a:rPr lang="en-US" dirty="0"/>
              <a:t>Effectiveness of EP and BVA</a:t>
            </a:r>
          </a:p>
          <a:p>
            <a:pPr algn="l"/>
            <a:endParaRPr lang="en-US" dirty="0"/>
          </a:p>
          <a:p>
            <a:pPr algn="l"/>
            <a:r>
              <a:rPr lang="en-US" sz="2600" dirty="0"/>
              <a:t>Janaka Balasooriya</a:t>
            </a: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32777" y="851518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Picture 4" descr="Logo&#10;&#10;Description automatically generated">
            <a:extLst>
              <a:ext uri="{FF2B5EF4-FFF2-40B4-BE49-F238E27FC236}">
                <a16:creationId xmlns:a16="http://schemas.microsoft.com/office/drawing/2014/main" id="{4C7B6348-F17D-4511-80DC-426DD6F8F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648627" y="2806221"/>
            <a:ext cx="2413000" cy="1863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06866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24652"/>
            <a:ext cx="8229600" cy="871688"/>
          </a:xfrm>
        </p:spPr>
        <p:txBody>
          <a:bodyPr>
            <a:noAutofit/>
          </a:bodyPr>
          <a:lstStyle/>
          <a:p>
            <a:r>
              <a:rPr lang="en-US" sz="3200" b="1" dirty="0"/>
              <a:t>Effectiveness of EP and Boundary Value Analysis – Triangle Problem</a:t>
            </a:r>
            <a:br>
              <a:rPr lang="en-US" sz="3200" b="1" dirty="0"/>
            </a:br>
            <a:endParaRPr lang="en-US" sz="3200" b="1" dirty="0"/>
          </a:p>
        </p:txBody>
      </p:sp>
      <p:sp>
        <p:nvSpPr>
          <p:cNvPr id="5" name="Content Placeholder 4"/>
          <p:cNvSpPr>
            <a:spLocks noGrp="1"/>
          </p:cNvSpPr>
          <p:nvPr>
            <p:ph idx="4294967295"/>
          </p:nvPr>
        </p:nvSpPr>
        <p:spPr>
          <a:xfrm>
            <a:off x="914400" y="5105400"/>
            <a:ext cx="8229600" cy="685800"/>
          </a:xfrm>
        </p:spPr>
        <p:txBody>
          <a:bodyPr>
            <a:normAutofit fontScale="70000" lnSpcReduction="20000"/>
          </a:bodyPr>
          <a:lstStyle/>
          <a:p>
            <a:pPr marL="0" lvl="1" indent="0">
              <a:buNone/>
            </a:pPr>
            <a:r>
              <a:rPr lang="en-US" dirty="0"/>
              <a:t>(Junit test cases for this discussion posted with lecture notes)</a:t>
            </a:r>
          </a:p>
          <a:p>
            <a:pPr marL="0" lvl="1" indent="0">
              <a:buNone/>
            </a:pPr>
            <a:r>
              <a:rPr lang="en-US" dirty="0"/>
              <a:t>Do we have a better technique?</a:t>
            </a:r>
          </a:p>
          <a:p>
            <a:pPr marL="0" indent="0">
              <a:buNone/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905329"/>
              </p:ext>
            </p:extLst>
          </p:nvPr>
        </p:nvGraphicFramePr>
        <p:xfrm>
          <a:off x="1524000" y="1397000"/>
          <a:ext cx="5867400" cy="3307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33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3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Testing Technique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Branches Covered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Weak</a:t>
                      </a:r>
                      <a:r>
                        <a:rPr lang="en-US" baseline="0" dirty="0"/>
                        <a:t> Normal/ Strong Normal (4 </a:t>
                      </a:r>
                      <a:r>
                        <a:rPr lang="en-US" baseline="0"/>
                        <a:t>Test cases)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18/28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Strong Normal + Weak Robust (14 Test cases)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24/28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Strong Normal + Weak Robust + Boundary Values (Normal) 27 Test cases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28/28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67364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-7620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dirty="0">
                <a:solidFill>
                  <a:srgbClr val="000099"/>
                </a:solidFill>
              </a:rPr>
              <a:t>Limitations of Boundary Value Analysis and Equivalent Partitioning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1000" y="1143000"/>
            <a:ext cx="85344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Both equivalent partition and boundary value analysis test case generation focus on the input domain, output domain, runtime environment  …</a:t>
            </a:r>
            <a:r>
              <a:rPr lang="en-US" sz="2400" dirty="0" err="1"/>
              <a:t>etc</a:t>
            </a:r>
            <a:r>
              <a:rPr lang="en-US" sz="2400" dirty="0"/>
              <a:t> while designing test cases.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Its quite likely that most of the logic paths of a complex program may not be executed and meaningful user interactions  can easily be overlooked in this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Sometimes it is more effective  if test cases are generated by </a:t>
            </a:r>
            <a:r>
              <a:rPr lang="en-US" sz="2400" b="1" dirty="0">
                <a:solidFill>
                  <a:srgbClr val="FF0000"/>
                </a:solidFill>
              </a:rPr>
              <a:t>combining inputs and outputs in more meaningful way</a:t>
            </a:r>
            <a:r>
              <a:rPr lang="en-US" sz="2400" dirty="0"/>
              <a:t> in the context of the application being tested.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dirty="0"/>
          </a:p>
          <a:p>
            <a:pPr marL="285750" indent="-285750">
              <a:buFont typeface="Arial" pitchFamily="34" charset="0"/>
              <a:buChar char="•"/>
            </a:pPr>
            <a:r>
              <a:rPr lang="en-US" sz="2400" dirty="0"/>
              <a:t>This technique is called the decision tables</a:t>
            </a:r>
          </a:p>
          <a:p>
            <a:pPr marL="285750" indent="-285750">
              <a:buFont typeface="Arial" pitchFamily="34" charset="0"/>
              <a:buChar char="•"/>
            </a:pP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343750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838200"/>
          </a:xfrm>
        </p:spPr>
        <p:txBody>
          <a:bodyPr/>
          <a:lstStyle/>
          <a:p>
            <a:r>
              <a:rPr lang="en-US" b="1" dirty="0">
                <a:solidFill>
                  <a:srgbClr val="000099"/>
                </a:solidFill>
              </a:rPr>
              <a:t>Decision Table </a:t>
            </a:r>
          </a:p>
        </p:txBody>
      </p:sp>
      <p:sp>
        <p:nvSpPr>
          <p:cNvPr id="3" name="Rectangle 2"/>
          <p:cNvSpPr/>
          <p:nvPr/>
        </p:nvSpPr>
        <p:spPr>
          <a:xfrm>
            <a:off x="304800" y="1028343"/>
            <a:ext cx="8763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• Originally known as Cause and Effect Graphing</a:t>
            </a:r>
          </a:p>
          <a:p>
            <a:pPr lvl="1"/>
            <a:r>
              <a:rPr lang="en-US" sz="2400" dirty="0"/>
              <a:t>– Done with a graphical technique that expressed AND-OR-NOT logic.</a:t>
            </a:r>
          </a:p>
          <a:p>
            <a:pPr lvl="1"/>
            <a:r>
              <a:rPr lang="en-US" sz="2400" dirty="0"/>
              <a:t>– Causes and Effects were graphed like circuit components</a:t>
            </a:r>
          </a:p>
          <a:p>
            <a:pPr lvl="1"/>
            <a:r>
              <a:rPr lang="en-US" sz="2400" dirty="0"/>
              <a:t>– Inputs to a circuit “caused” outputs (effects) </a:t>
            </a:r>
          </a:p>
          <a:p>
            <a:r>
              <a:rPr lang="en-US" sz="2400" dirty="0"/>
              <a:t>• Equivalent to forming a decision table in which:</a:t>
            </a:r>
          </a:p>
          <a:p>
            <a:pPr lvl="1"/>
            <a:r>
              <a:rPr lang="en-US" sz="2400" dirty="0"/>
              <a:t>– inputs are conditions</a:t>
            </a:r>
          </a:p>
          <a:p>
            <a:pPr lvl="1"/>
            <a:r>
              <a:rPr lang="en-US" sz="2400" dirty="0"/>
              <a:t>– outputs are actions</a:t>
            </a:r>
          </a:p>
          <a:p>
            <a:r>
              <a:rPr lang="en-US" sz="2400" dirty="0"/>
              <a:t>• Test every (possible) rule in the decision table.</a:t>
            </a:r>
          </a:p>
          <a:p>
            <a:r>
              <a:rPr lang="en-US" sz="2400" dirty="0"/>
              <a:t>• Recommended for logically complex situations.</a:t>
            </a:r>
          </a:p>
        </p:txBody>
      </p:sp>
    </p:spTree>
    <p:extLst>
      <p:ext uri="{BB962C8B-B14F-4D97-AF65-F5344CB8AC3E}">
        <p14:creationId xmlns:p14="http://schemas.microsoft.com/office/powerpoint/2010/main" val="1812901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650" y="1"/>
            <a:ext cx="8515350" cy="67803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35954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895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Decision Table for the Triangle Problem – Will be discussed in the class</a:t>
            </a:r>
          </a:p>
        </p:txBody>
      </p:sp>
    </p:spTree>
    <p:extLst>
      <p:ext uri="{BB962C8B-B14F-4D97-AF65-F5344CB8AC3E}">
        <p14:creationId xmlns:p14="http://schemas.microsoft.com/office/powerpoint/2010/main" val="3529127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4"/>
          <p:cNvSpPr txBox="1">
            <a:spLocks noChangeArrowheads="1"/>
          </p:cNvSpPr>
          <p:nvPr/>
        </p:nvSpPr>
        <p:spPr bwMode="auto">
          <a:xfrm>
            <a:off x="457200" y="1219200"/>
            <a:ext cx="8763000" cy="5035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dirty="0"/>
              <a:t>In this situation, a good way to start is to think backwards and generate equivalent classes based on output first. First consider valid data ranges for a, b, and c</a:t>
            </a:r>
          </a:p>
          <a:p>
            <a:pPr eaLnBrk="1" hangingPunct="1"/>
            <a:endParaRPr lang="en-US" dirty="0"/>
          </a:p>
          <a:p>
            <a:pPr eaLnBrk="1" hangingPunct="1"/>
            <a:r>
              <a:rPr lang="en-US" dirty="0"/>
              <a:t>Four possible outcomes and relationship among data inputs</a:t>
            </a:r>
          </a:p>
          <a:p>
            <a:pPr eaLnBrk="1" hangingPunct="1"/>
            <a:endParaRPr lang="en-US" b="1" dirty="0"/>
          </a:p>
          <a:p>
            <a:pPr eaLnBrk="1" hangingPunct="1"/>
            <a:r>
              <a:rPr lang="en-US" b="1" dirty="0"/>
              <a:t>Equilateral</a:t>
            </a:r>
          </a:p>
          <a:p>
            <a:pPr eaLnBrk="1" hangingPunct="1"/>
            <a:r>
              <a:rPr lang="en-US" b="1" dirty="0"/>
              <a:t>E1 = {&lt;a, b, c&gt; :  the triangle with sides a, b, and c where a=b=c}</a:t>
            </a:r>
          </a:p>
          <a:p>
            <a:pPr eaLnBrk="1" hangingPunct="1"/>
            <a:endParaRPr lang="en-US" b="1" dirty="0"/>
          </a:p>
          <a:p>
            <a:pPr eaLnBrk="1" hangingPunct="1"/>
            <a:r>
              <a:rPr lang="en-US" b="1" dirty="0"/>
              <a:t>Isosceles</a:t>
            </a:r>
          </a:p>
          <a:p>
            <a:pPr eaLnBrk="1" hangingPunct="1"/>
            <a:r>
              <a:rPr lang="en-US" b="1" dirty="0"/>
              <a:t>E2 = {&lt;a, b, c&gt; :  the triangle with sides a, b, and c where a=b, </a:t>
            </a:r>
            <a:r>
              <a:rPr lang="en-US" b="1" dirty="0" err="1"/>
              <a:t>a</a:t>
            </a:r>
            <a:r>
              <a:rPr lang="en-US" b="1" dirty="0" err="1">
                <a:sym typeface="Symbol" pitchFamily="18" charset="2"/>
              </a:rPr>
              <a:t></a:t>
            </a:r>
            <a:r>
              <a:rPr lang="en-US" b="1" dirty="0" err="1"/>
              <a:t>c</a:t>
            </a:r>
            <a:r>
              <a:rPr lang="en-US" b="1" dirty="0"/>
              <a:t> | b=c, </a:t>
            </a:r>
            <a:r>
              <a:rPr lang="en-US" b="1" dirty="0" err="1"/>
              <a:t>b</a:t>
            </a:r>
            <a:r>
              <a:rPr lang="en-US" b="1" dirty="0" err="1">
                <a:sym typeface="Symbol" pitchFamily="18" charset="2"/>
              </a:rPr>
              <a:t></a:t>
            </a:r>
            <a:r>
              <a:rPr lang="en-US" b="1" dirty="0" err="1"/>
              <a:t>a</a:t>
            </a:r>
            <a:r>
              <a:rPr lang="en-US" b="1" dirty="0"/>
              <a:t> | a=c , </a:t>
            </a:r>
            <a:r>
              <a:rPr lang="en-US" b="1" dirty="0" err="1"/>
              <a:t>a</a:t>
            </a:r>
            <a:r>
              <a:rPr lang="en-US" b="1" dirty="0" err="1">
                <a:sym typeface="Symbol" pitchFamily="18" charset="2"/>
              </a:rPr>
              <a:t></a:t>
            </a:r>
            <a:r>
              <a:rPr lang="en-US" b="1" dirty="0" err="1"/>
              <a:t>b</a:t>
            </a:r>
            <a:r>
              <a:rPr lang="en-US" b="1" dirty="0"/>
              <a:t>}</a:t>
            </a:r>
          </a:p>
          <a:p>
            <a:pPr eaLnBrk="1" hangingPunct="1"/>
            <a:endParaRPr lang="en-US" b="1" dirty="0"/>
          </a:p>
          <a:p>
            <a:pPr eaLnBrk="1" hangingPunct="1"/>
            <a:r>
              <a:rPr lang="en-US" b="1" dirty="0"/>
              <a:t>Scalene</a:t>
            </a:r>
          </a:p>
          <a:p>
            <a:pPr eaLnBrk="1" hangingPunct="1"/>
            <a:r>
              <a:rPr lang="en-US" b="1" dirty="0"/>
              <a:t>E3 = {&lt;a, b, c&gt; :  the triangle with sides a, b, and c where </a:t>
            </a:r>
            <a:r>
              <a:rPr lang="en-US" b="1" dirty="0" err="1"/>
              <a:t>a</a:t>
            </a:r>
            <a:r>
              <a:rPr lang="en-US" b="1" dirty="0" err="1">
                <a:sym typeface="Symbol" pitchFamily="18" charset="2"/>
              </a:rPr>
              <a:t></a:t>
            </a:r>
            <a:r>
              <a:rPr lang="en-US" b="1" dirty="0" err="1"/>
              <a:t>b</a:t>
            </a:r>
            <a:r>
              <a:rPr lang="en-US" b="1" dirty="0" err="1">
                <a:sym typeface="Symbol" pitchFamily="18" charset="2"/>
              </a:rPr>
              <a:t></a:t>
            </a:r>
            <a:r>
              <a:rPr lang="en-US" b="1" dirty="0" err="1"/>
              <a:t>c</a:t>
            </a:r>
            <a:r>
              <a:rPr lang="en-US" b="1" dirty="0"/>
              <a:t> }</a:t>
            </a:r>
          </a:p>
          <a:p>
            <a:pPr eaLnBrk="1" hangingPunct="1"/>
            <a:endParaRPr lang="en-US" b="1" dirty="0"/>
          </a:p>
          <a:p>
            <a:pPr eaLnBrk="1" hangingPunct="1"/>
            <a:r>
              <a:rPr lang="en-US" b="1" dirty="0"/>
              <a:t>Not A Triangle</a:t>
            </a:r>
          </a:p>
          <a:p>
            <a:pPr eaLnBrk="1" hangingPunct="1"/>
            <a:r>
              <a:rPr lang="en-US" b="1" dirty="0"/>
              <a:t>E4 =</a:t>
            </a:r>
            <a:r>
              <a:rPr lang="en-US" dirty="0"/>
              <a:t>  </a:t>
            </a:r>
            <a:r>
              <a:rPr lang="en-US" b="1" dirty="0"/>
              <a:t>{&lt;a, b, c&gt; :  the triangle with sides a, b, and c where a + b &lt;= c | a + c &lt;= b | b + c &lt;= a }</a:t>
            </a:r>
          </a:p>
        </p:txBody>
      </p:sp>
      <p:sp>
        <p:nvSpPr>
          <p:cNvPr id="25603" name="Title 1"/>
          <p:cNvSpPr>
            <a:spLocks/>
          </p:cNvSpPr>
          <p:nvPr/>
        </p:nvSpPr>
        <p:spPr bwMode="auto">
          <a:xfrm>
            <a:off x="304800" y="152400"/>
            <a:ext cx="8229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algn="ctr"/>
            <a:r>
              <a:rPr lang="en-US" sz="3600" b="1" dirty="0">
                <a:solidFill>
                  <a:srgbClr val="000099"/>
                </a:solidFill>
                <a:latin typeface="Calibri" pitchFamily="34" charset="0"/>
              </a:rPr>
              <a:t>Triangle Problem</a:t>
            </a:r>
          </a:p>
        </p:txBody>
      </p:sp>
    </p:spTree>
    <p:extLst>
      <p:ext uri="{BB962C8B-B14F-4D97-AF65-F5344CB8AC3E}">
        <p14:creationId xmlns:p14="http://schemas.microsoft.com/office/powerpoint/2010/main" val="40019259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59" name="Rectangle 119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685800"/>
          </a:xfrm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200" dirty="0"/>
              <a:t>Decision Table – </a:t>
            </a:r>
            <a:r>
              <a:rPr lang="en-US" altLang="en-US" sz="3200"/>
              <a:t>Triangle Problem</a:t>
            </a:r>
            <a:endParaRPr lang="en-US" altLang="en-US" sz="2000" dirty="0"/>
          </a:p>
        </p:txBody>
      </p:sp>
      <p:graphicFrame>
        <p:nvGraphicFramePr>
          <p:cNvPr id="116472" name="Group 2808"/>
          <p:cNvGraphicFramePr>
            <a:graphicFrameLocks noGrp="1"/>
          </p:cNvGraphicFramePr>
          <p:nvPr>
            <p:ph type="tbl" idx="1"/>
            <p:extLst>
              <p:ext uri="{D42A27DB-BD31-4B8C-83A1-F6EECF244321}">
                <p14:modId xmlns:p14="http://schemas.microsoft.com/office/powerpoint/2010/main" val="2808317710"/>
              </p:ext>
            </p:extLst>
          </p:nvPr>
        </p:nvGraphicFramePr>
        <p:xfrm>
          <a:off x="1371600" y="1066800"/>
          <a:ext cx="6096000" cy="3688080"/>
        </p:xfrm>
        <a:graphic>
          <a:graphicData uri="http://schemas.openxmlformats.org/drawingml/2006/table">
            <a:tbl>
              <a:tblPr/>
              <a:tblGrid>
                <a:gridCol w="2555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c1: a&lt;</a:t>
                      </a: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b+c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c2: b&lt;a+c?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—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c3: c&lt;</a:t>
                      </a:r>
                      <a:r>
                        <a:rPr kumimoji="0" lang="en-US" altLang="en-US" sz="16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a+b</a:t>
                      </a: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—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—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c4: a = b?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—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—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—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c5: a = c?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—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—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—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6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c6: b = c?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—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—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—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T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F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a1: Not a triangle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a2: Scalene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a3: Isosceles 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x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3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a4: Equilateral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3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a5: Impossible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Times New Roman" pitchFamily="18" charset="0"/>
                        </a:rPr>
                        <a:t>x</a:t>
                      </a: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012267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9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04800"/>
            <a:ext cx="8229600" cy="868363"/>
          </a:xfrm>
          <a:solidFill>
            <a:srgbClr val="FFFFFF"/>
          </a:solidFill>
          <a:ln/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sz="3200"/>
              <a:t>Corresponding Test Cases</a:t>
            </a:r>
          </a:p>
        </p:txBody>
      </p:sp>
      <p:graphicFrame>
        <p:nvGraphicFramePr>
          <p:cNvPr id="121406" name="Group 574"/>
          <p:cNvGraphicFramePr>
            <a:graphicFrameLocks noGrp="1"/>
          </p:cNvGraphicFramePr>
          <p:nvPr>
            <p:ph type="tbl" idx="1"/>
          </p:nvPr>
        </p:nvGraphicFramePr>
        <p:xfrm>
          <a:off x="1371600" y="1371600"/>
          <a:ext cx="6019800" cy="4525965"/>
        </p:xfrm>
        <a:graphic>
          <a:graphicData uri="http://schemas.openxmlformats.org/drawingml/2006/table">
            <a:tbl>
              <a:tblPr/>
              <a:tblGrid>
                <a:gridCol w="1428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5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71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Case ID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c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1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Expected Output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6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DT1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Not a Triangle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DT2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Not a Triangle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DT3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Not a Triangle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DT4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Equilateral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DT5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Impossible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6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DT6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Impossible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DT7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Isosceles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6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DT8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?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Impossible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DT9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Isosceles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62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DT10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Isosceles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7825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DT11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Scalene</a:t>
                      </a:r>
                      <a:endParaRPr kumimoji="0" lang="en-US" alt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3528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Triangle Problem – Decision Table (Length Restriction)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371600"/>
            <a:ext cx="8991600" cy="5099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429045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9718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Activity– Add Decision Table Test Cases for the Triangle Problem</a:t>
            </a:r>
          </a:p>
        </p:txBody>
      </p:sp>
    </p:spTree>
    <p:extLst>
      <p:ext uri="{BB962C8B-B14F-4D97-AF65-F5344CB8AC3E}">
        <p14:creationId xmlns:p14="http://schemas.microsoft.com/office/powerpoint/2010/main" val="3522451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66800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000099"/>
                </a:solidFill>
              </a:rPr>
              <a:t>Is Leap Year (in-class activity)- Decision Table </a:t>
            </a:r>
          </a:p>
        </p:txBody>
      </p:sp>
      <p:sp>
        <p:nvSpPr>
          <p:cNvPr id="3" name="Rectangle 2"/>
          <p:cNvSpPr/>
          <p:nvPr/>
        </p:nvSpPr>
        <p:spPr>
          <a:xfrm>
            <a:off x="609600" y="1371600"/>
            <a:ext cx="838200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A year is a leap year under the following conditions:</a:t>
            </a:r>
          </a:p>
          <a:p>
            <a:r>
              <a:rPr lang="en-US" sz="2400" dirty="0"/>
              <a:t>– The year is exactly divisible by 4</a:t>
            </a:r>
          </a:p>
          <a:p>
            <a:r>
              <a:rPr lang="en-US" sz="2400" dirty="0"/>
              <a:t>– Century years are leap years only if they are exactly divisible by 400</a:t>
            </a:r>
          </a:p>
          <a:p>
            <a:r>
              <a:rPr lang="en-US" sz="2400" dirty="0"/>
              <a:t>a) Develop a decision table to determine whether or not a given year is a leap year.</a:t>
            </a:r>
          </a:p>
          <a:p>
            <a:r>
              <a:rPr lang="en-US" sz="2400" dirty="0"/>
              <a:t>     – Hint: you might find it convenient to have an “impossible action” to identify impossible conditional situations.</a:t>
            </a:r>
          </a:p>
          <a:p>
            <a:r>
              <a:rPr lang="en-US" sz="2400" dirty="0"/>
              <a:t>b) Use your decision table to identify test cases for a </a:t>
            </a:r>
            <a:r>
              <a:rPr lang="en-US" sz="2400" dirty="0" err="1"/>
              <a:t>boolean</a:t>
            </a:r>
            <a:r>
              <a:rPr lang="en-US" sz="2400" dirty="0"/>
              <a:t> function </a:t>
            </a:r>
            <a:r>
              <a:rPr lang="en-US" sz="2400" dirty="0" err="1"/>
              <a:t>isLeap</a:t>
            </a:r>
            <a:r>
              <a:rPr lang="en-US" sz="2400" dirty="0"/>
              <a:t>(year) that returns True when the argument is a leap year, and False otherwise.</a:t>
            </a:r>
          </a:p>
          <a:p>
            <a:pPr algn="just"/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69728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457200"/>
            <a:ext cx="8610600" cy="563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971925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" y="-152400"/>
            <a:ext cx="8442118" cy="6248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712681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Next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8229600" cy="4525963"/>
          </a:xfrm>
        </p:spPr>
        <p:txBody>
          <a:bodyPr/>
          <a:lstStyle/>
          <a:p>
            <a:r>
              <a:rPr lang="en-US" dirty="0"/>
              <a:t>Limitations of EP, DT, and DVA : A case for state based testing</a:t>
            </a:r>
          </a:p>
          <a:p>
            <a:r>
              <a:rPr lang="en-US" dirty="0"/>
              <a:t>Introduction to state based testing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4296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L1_Introduction_CSE360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1_L1_Introduction_CSE360  -  Compatibility Mode" id="{4238F970-C867-4C69-BCAE-0BE61BF6467E}" vid="{BC4CAC20-189F-479B-9018-01AA5296704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1340</TotalTime>
  <Words>837</Words>
  <Application>Microsoft Office PowerPoint</Application>
  <PresentationFormat>On-screen Show (4:3)</PresentationFormat>
  <Paragraphs>212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Helvetica</vt:lpstr>
      <vt:lpstr>Office Theme</vt:lpstr>
      <vt:lpstr>1_L1_Introduction_CSE360</vt:lpstr>
      <vt:lpstr>CSE 464 : Software Quality Assurance and Testing  </vt:lpstr>
      <vt:lpstr>Effectiveness of EP and Boundary Value Analysis – Triangle Problem </vt:lpstr>
      <vt:lpstr>Limitations of Boundary Value Analysis and Equivalent Partitioning</vt:lpstr>
      <vt:lpstr>Decision Table </vt:lpstr>
      <vt:lpstr>PowerPoint Presentation</vt:lpstr>
      <vt:lpstr>Decision Table for the Triangle Problem – Will be discussed in the class</vt:lpstr>
      <vt:lpstr>PowerPoint Presentation</vt:lpstr>
      <vt:lpstr>Decision Table – Triangle Problem</vt:lpstr>
      <vt:lpstr>Corresponding Test Cases</vt:lpstr>
      <vt:lpstr>Triangle Problem – Decision Table (Length Restriction)</vt:lpstr>
      <vt:lpstr>Activity– Add Decision Table Test Cases for the Triangle Problem</vt:lpstr>
      <vt:lpstr>Is Leap Year (in-class activity)- Decision Table </vt:lpstr>
      <vt:lpstr>PowerPoint Presentation</vt:lpstr>
      <vt:lpstr>PowerPoint Presentation</vt:lpstr>
      <vt:lpstr>Next Time</vt:lpstr>
    </vt:vector>
  </TitlesOfParts>
  <Company>Toshiba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494/598 : Software Quality Assurance and Testing</dc:title>
  <dc:creator>pushpa</dc:creator>
  <cp:lastModifiedBy>Janaka Balasooriya</cp:lastModifiedBy>
  <cp:revision>106</cp:revision>
  <cp:lastPrinted>2014-09-15T20:53:01Z</cp:lastPrinted>
  <dcterms:created xsi:type="dcterms:W3CDTF">2011-08-13T19:09:36Z</dcterms:created>
  <dcterms:modified xsi:type="dcterms:W3CDTF">2022-02-06T18:55:59Z</dcterms:modified>
</cp:coreProperties>
</file>