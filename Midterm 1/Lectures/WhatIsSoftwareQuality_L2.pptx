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66" r:id="rId4"/>
    <p:sldId id="296" r:id="rId5"/>
    <p:sldId id="270" r:id="rId6"/>
    <p:sldId id="287" r:id="rId7"/>
    <p:sldId id="289" r:id="rId8"/>
    <p:sldId id="284" r:id="rId9"/>
    <p:sldId id="282" r:id="rId10"/>
    <p:sldId id="258" r:id="rId11"/>
    <p:sldId id="313" r:id="rId12"/>
    <p:sldId id="314" r:id="rId13"/>
    <p:sldId id="315" r:id="rId14"/>
    <p:sldId id="316" r:id="rId15"/>
    <p:sldId id="317" r:id="rId16"/>
    <p:sldId id="295" r:id="rId17"/>
    <p:sldId id="259" r:id="rId18"/>
    <p:sldId id="312" r:id="rId19"/>
    <p:sldId id="262" r:id="rId20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C816A-BDF5-40F8-BA29-E0C9B731DE9B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B8A7C2-1E93-453D-9FEB-BF955EA182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94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0C2DB5E5-80D0-4AA0-9E54-B29B2D0BED3C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165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38D0DA-0AFE-42E5-9C02-75D503CB67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7F6D704-8974-4D4F-AF31-AC7C4F6647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64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EA21F66-E81C-4D9A-A1D4-44DAE9DCA8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8D23AA2-75F2-4F66-92D3-110FE213456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30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00B69D87-0771-4DFB-BEA7-56404EC6AA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532164-E6CC-4B37-956A-127EE5A90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57469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608B54-CF5E-4AB9-B92D-481BEDD462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28966B-009B-4560-9B5C-D84B74F37B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7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9A5533-B164-43F3-B187-AF9176779F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C33CCD-2156-4D1B-B725-0C3A5DAEE52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24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50E82ADE-81DF-424A-88EC-D8C67DDA4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914E5A-1B2E-41C8-8B21-35512A378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5B3F86-2F0A-4B6D-AA10-DFF7FAE3D335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134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D826FA7-ED3E-46B2-9293-04AB3E32404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5315CA5-E751-402C-BB34-0230FFF128A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73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C0C1C0-EEE8-44C2-AF92-3408330346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2D0E537-10D7-4FBE-9530-E94B1F61A6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839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FFCA18-C98B-4D8D-9D64-2F957059AD9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CA60EC-71E5-4D57-8230-6ABC2FF5F2A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891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1B484A-11C5-45AD-96A1-8237AE85AE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DFB5BF-80D5-4370-8BBD-EEDF9B422A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5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4740909-7A93-4B05-93A5-B22AAD0220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E821D80-B3A9-4019-BDE1-A86D81776A7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3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AF91B1-8B03-4C0C-AA10-12ED3EE233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BC7FA66-BDA1-4FE0-839B-10CE150AA0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836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DFDB82-3B59-4B65-9911-37D9A2D6D9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78C564-7E92-46CB-95A1-BB21C7EC50E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78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t>1/11/2022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778302C-88C4-47C3-BFA8-95EA61F1AA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7F28DE-246A-4398-A4DD-FC89A571F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A2F2A841-5AB7-4623-9894-1B5E3E5D60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4C84290C-0C57-4520-9B0B-CEA6F3B07EA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7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5280702"/>
            <a:ext cx="5115227" cy="1033868"/>
          </a:xfrm>
        </p:spPr>
        <p:txBody>
          <a:bodyPr anchor="t">
            <a:normAutofit fontScale="85000" lnSpcReduction="10000"/>
          </a:bodyPr>
          <a:lstStyle/>
          <a:p>
            <a:pPr algn="l"/>
            <a:r>
              <a:rPr lang="en-US" dirty="0"/>
              <a:t>What is Software Quality – Part 2</a:t>
            </a:r>
          </a:p>
          <a:p>
            <a:pPr algn="l"/>
            <a:r>
              <a:rPr lang="en-US" b="1" dirty="0"/>
              <a:t>Janaka Balasooriya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4E750FD-9F63-424E-A10B-A449D121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627" y="2806221"/>
            <a:ext cx="2413000" cy="18635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0099"/>
                </a:solidFill>
              </a:rPr>
              <a:t>Ajenda</a:t>
            </a:r>
            <a:endParaRPr lang="en-US" b="1" dirty="0">
              <a:solidFill>
                <a:srgbClr val="00009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45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Defects and Software Quality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Quality assurance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Software testing (Why do we test? and What do we test?)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3600" dirty="0"/>
              <a:t>Reading Assignment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4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8229600" cy="1143000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Software Defects and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0" y="2133600"/>
            <a:ext cx="7086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99"/>
                </a:solidFill>
              </a:rPr>
              <a:t>Defect (or Bug): </a:t>
            </a:r>
            <a:r>
              <a:rPr lang="en-US" sz="2800" dirty="0"/>
              <a:t>is a problem with the software, either with its external behavior or with its external characteristics. </a:t>
            </a:r>
          </a:p>
        </p:txBody>
      </p:sp>
    </p:spTree>
    <p:extLst>
      <p:ext uri="{BB962C8B-B14F-4D97-AF65-F5344CB8AC3E}">
        <p14:creationId xmlns:p14="http://schemas.microsoft.com/office/powerpoint/2010/main" val="53824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686800" cy="685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Correctness, Defects (Bugs) and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937" y="519334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Good Quality = &gt; Less Defects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1436"/>
            <a:ext cx="8703675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62200" y="6172200"/>
            <a:ext cx="4648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Error, Fault, and Failure [1]</a:t>
            </a:r>
          </a:p>
        </p:txBody>
      </p:sp>
    </p:spTree>
    <p:extLst>
      <p:ext uri="{BB962C8B-B14F-4D97-AF65-F5344CB8AC3E}">
        <p14:creationId xmlns:p14="http://schemas.microsoft.com/office/powerpoint/2010/main" val="394943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Error, Fault, and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38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99"/>
                </a:solidFill>
              </a:rPr>
              <a:t>Error :  </a:t>
            </a:r>
            <a:r>
              <a:rPr lang="en-US" sz="2000" dirty="0"/>
              <a:t>A human action that produces an incorrect result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0099"/>
                </a:solidFill>
              </a:rPr>
              <a:t>Fault: </a:t>
            </a:r>
            <a:r>
              <a:rPr lang="en-US" sz="2000" dirty="0"/>
              <a:t>An incorrect step, process, or data definition in a program/ design/other software engineering artifact.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0099"/>
                </a:solidFill>
              </a:rPr>
              <a:t>Failure: </a:t>
            </a:r>
            <a:r>
              <a:rPr lang="en-US" sz="2000" dirty="0"/>
              <a:t>The inability of a system or a component to perform its required functions within specified performance requirements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0099"/>
                </a:solidFill>
              </a:rPr>
              <a:t>Defect (or Bug): </a:t>
            </a:r>
            <a:r>
              <a:rPr lang="en-US" sz="2000" dirty="0"/>
              <a:t>is a problem with the software, either with its external behavior or with its external characteristics. </a:t>
            </a:r>
            <a:r>
              <a:rPr lang="en-US" sz="2000" b="1" dirty="0">
                <a:solidFill>
                  <a:srgbClr val="000099"/>
                </a:solidFill>
              </a:rPr>
              <a:t>Defect is an instance of a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4589070"/>
            <a:ext cx="4267200" cy="1569660"/>
          </a:xfrm>
          <a:prstGeom prst="rect">
            <a:avLst/>
          </a:prstGeom>
          <a:noFill/>
          <a:ln>
            <a:solidFill>
              <a:srgbClr val="000099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if(x &lt; 5)</a:t>
            </a:r>
          </a:p>
          <a:p>
            <a:r>
              <a:rPr lang="en-US" sz="2400" dirty="0" err="1"/>
              <a:t>cout</a:t>
            </a:r>
            <a:r>
              <a:rPr lang="en-US" sz="2400" dirty="0"/>
              <a:t>&lt;&lt; “X is 5 or less;</a:t>
            </a:r>
          </a:p>
          <a:p>
            <a:r>
              <a:rPr lang="en-US" sz="2400" dirty="0"/>
              <a:t>else</a:t>
            </a:r>
          </a:p>
          <a:p>
            <a:r>
              <a:rPr lang="en-US" sz="2400" dirty="0" err="1"/>
              <a:t>cout</a:t>
            </a:r>
            <a:r>
              <a:rPr lang="en-US" sz="2400" dirty="0"/>
              <a:t>&lt;&lt;“X is greater than 5”;</a:t>
            </a:r>
          </a:p>
        </p:txBody>
      </p:sp>
    </p:spTree>
    <p:extLst>
      <p:ext uri="{BB962C8B-B14F-4D97-AF65-F5344CB8AC3E}">
        <p14:creationId xmlns:p14="http://schemas.microsoft.com/office/powerpoint/2010/main" val="151624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b="1" dirty="0">
                <a:solidFill>
                  <a:srgbClr val="000099"/>
                </a:solidFill>
              </a:rPr>
              <a:t>The First Computer Bug?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648200" y="1143000"/>
            <a:ext cx="4495800" cy="5105400"/>
          </a:xfrm>
        </p:spPr>
        <p:txBody>
          <a:bodyPr>
            <a:normAutofit fontScale="55000" lnSpcReduction="20000"/>
          </a:bodyPr>
          <a:lstStyle/>
          <a:p>
            <a:pPr eaLnBrk="1" hangingPunct="1"/>
            <a:r>
              <a:rPr lang="en-US" dirty="0"/>
              <a:t>In 1947, Grace Murray Hopper was working on the Harvard University Mark II Aiken Relay Calculator (a primitive computer).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On the 9th of September, 1947, when the machine was experiencing problems, an investigation showed that there was a </a:t>
            </a:r>
            <a:r>
              <a:rPr lang="en-US" b="1" dirty="0">
                <a:solidFill>
                  <a:srgbClr val="FF0000"/>
                </a:solidFill>
              </a:rPr>
              <a:t>moth trapped between the points of Relay #70, in Panel F</a:t>
            </a:r>
            <a:r>
              <a:rPr lang="en-US" dirty="0"/>
              <a:t>.</a:t>
            </a:r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The operators removed the moth and affixed it to the log. The entry reads: "First actual case of bug being found.“</a:t>
            </a:r>
          </a:p>
          <a:p>
            <a:pPr marL="0" indent="0"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The word went out that they had "debugged" the machine and the term "debugging a computer program" was born.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pic>
        <p:nvPicPr>
          <p:cNvPr id="4" name="Picture 5" descr="first-bu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42" y="1219200"/>
            <a:ext cx="4274457" cy="472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4687" y="60198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http://www.history.navy.mil/photos/images/h96000/h96566kc.htm</a:t>
            </a:r>
          </a:p>
        </p:txBody>
      </p:sp>
    </p:spTree>
    <p:extLst>
      <p:ext uri="{BB962C8B-B14F-4D97-AF65-F5344CB8AC3E}">
        <p14:creationId xmlns:p14="http://schemas.microsoft.com/office/powerpoint/2010/main" val="230070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Bugs are coming from ….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43000"/>
            <a:ext cx="6457950" cy="4857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0361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0"/>
            <a:ext cx="9220200" cy="87168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Cost of Defect (Bug) Identification and Repair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7838"/>
          </a:xfrm>
        </p:spPr>
        <p:txBody>
          <a:bodyPr/>
          <a:lstStyle/>
          <a:p>
            <a:fld id="{8DBBB79A-A285-4F02-A4CA-01BECD4F865B}" type="slidenum">
              <a:rPr lang="en-US"/>
              <a:pPr/>
              <a:t>8</a:t>
            </a:fld>
            <a:endParaRPr lang="en-US"/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8600" y="1066800"/>
            <a:ext cx="8915400" cy="99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Palatino" pitchFamily="-128" charset="0"/>
              </a:rPr>
              <a:t>The relative costs to find and repair an error or defect increase dramatically as we go from prevention to detection to internal failure to external failure costs.</a:t>
            </a:r>
            <a:endParaRPr lang="en-US" dirty="0">
              <a:latin typeface="Palatino" pitchFamily="-128" charset="0"/>
            </a:endParaRPr>
          </a:p>
        </p:txBody>
      </p:sp>
      <p:pic>
        <p:nvPicPr>
          <p:cNvPr id="167940" name="Picture 4" descr="Fig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309" y="1954184"/>
            <a:ext cx="5638800" cy="4250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7543800" y="3962400"/>
            <a:ext cx="1371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i="1" dirty="0"/>
              <a:t>Taken from “Software Testing” by Ron Patton</a:t>
            </a:r>
          </a:p>
        </p:txBody>
      </p:sp>
    </p:spTree>
    <p:extLst>
      <p:ext uri="{BB962C8B-B14F-4D97-AF65-F5344CB8AC3E}">
        <p14:creationId xmlns:p14="http://schemas.microsoft.com/office/powerpoint/2010/main" val="287323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229600" cy="60267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Software Quality Assurance: Towards High Quality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1371600"/>
            <a:ext cx="33129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generic categories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</a:rPr>
              <a:t>Defect Prevention : </a:t>
            </a:r>
            <a:r>
              <a:rPr lang="en-US" dirty="0"/>
              <a:t> </a:t>
            </a:r>
          </a:p>
          <a:p>
            <a:r>
              <a:rPr lang="en-US" dirty="0"/>
              <a:t>Avoid error sources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</a:rPr>
              <a:t>Defect Reduction:</a:t>
            </a:r>
          </a:p>
          <a:p>
            <a:r>
              <a:rPr lang="en-US" dirty="0"/>
              <a:t>Software Inspection, Testing,</a:t>
            </a:r>
          </a:p>
          <a:p>
            <a:r>
              <a:rPr lang="en-US" dirty="0"/>
              <a:t>Risk management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000099"/>
                </a:solidFill>
              </a:rPr>
              <a:t>Defect Containment:</a:t>
            </a:r>
          </a:p>
          <a:p>
            <a:r>
              <a:rPr lang="en-US" dirty="0"/>
              <a:t>Software fault tolerance …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7800"/>
            <a:ext cx="6172200" cy="4956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371600" y="6324600"/>
            <a:ext cx="411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Quality Assurance Stages [1]</a:t>
            </a:r>
          </a:p>
        </p:txBody>
      </p:sp>
    </p:spTree>
    <p:extLst>
      <p:ext uri="{BB962C8B-B14F-4D97-AF65-F5344CB8AC3E}">
        <p14:creationId xmlns:p14="http://schemas.microsoft.com/office/powerpoint/2010/main" val="3144022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5344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Software Quality Assurance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43000"/>
            <a:ext cx="8382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QA as dealing with defects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Defect prevention through error blocking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 Mitigating human errors by education and training (Product and domain specific knowledge, software development knowledge, knowledge about development methodology, technology and tools, development process knowledge)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Better manage software process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Using appropriate tools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Using better software design/architecture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Defect reduction through fault detection and removal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Inspection (code/design/requirement/test plan/test cases …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Testing : Failure observation and fault removal</a:t>
            </a:r>
          </a:p>
          <a:p>
            <a:pPr marL="742950" lvl="1" indent="-285750">
              <a:buFont typeface="Arial" pitchFamily="34" charset="0"/>
              <a:buChar char="•"/>
            </a:pP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Defect containment through failure prevention and containment</a:t>
            </a:r>
          </a:p>
          <a:p>
            <a:pPr marL="1200150" lvl="2" indent="-285750">
              <a:buFont typeface="Wingdings" pitchFamily="2" charset="2"/>
              <a:buChar char="Ø"/>
            </a:pPr>
            <a:r>
              <a:rPr lang="en-US" dirty="0"/>
              <a:t>Software fault tolerance (Executing the recovery block repeatedly, Duplication/parallel redundancy)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2564" y="6927"/>
            <a:ext cx="8686800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Software  Life Cycle Models and Quality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218762"/>
            <a:ext cx="86106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Software life cycle for a particular project depends on the nature of the project deliverables, time lines, resources available,  completeness of requirements …</a:t>
            </a:r>
            <a:r>
              <a:rPr lang="en-US" sz="2000" dirty="0" err="1"/>
              <a:t>etc</a:t>
            </a:r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Major categories of software life cycle models are </a:t>
            </a:r>
            <a:r>
              <a:rPr lang="en-US" sz="2000" b="1" dirty="0">
                <a:solidFill>
                  <a:srgbClr val="000099"/>
                </a:solidFill>
              </a:rPr>
              <a:t>Waterfall,  Incremental, Iterative,  Agile</a:t>
            </a:r>
          </a:p>
          <a:p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Aligning the SQA  techniques with the software life cycle model used to develop the software is imperative in ensuring high quality  software product.</a:t>
            </a:r>
          </a:p>
          <a:p>
            <a:endParaRPr lang="en-US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Investigating software quality assurance activities in the waterfall model allows us to get a better perspective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55391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709"/>
            <a:ext cx="9123218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Quality Assurance Activities in the Waterfall Model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19200"/>
            <a:ext cx="8639017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551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-16625" y="207012"/>
            <a:ext cx="9123218" cy="678873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000099"/>
                </a:solidFill>
              </a:rPr>
              <a:t>Quality Assurance Activities in the Waterfall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447800"/>
            <a:ext cx="7848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defect prevention in early phases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/>
              <a:t>Error sources are associated with early phases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/>
              <a:t>Inspections and reviews can be used to detect and remove error sources</a:t>
            </a:r>
          </a:p>
          <a:p>
            <a:pPr lvl="1"/>
            <a:endParaRPr lang="en-US" sz="2400" dirty="0"/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focused defect removal in testing phase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defect containment in late phases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/>
              <a:t>phase transitions: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/>
              <a:t>Inspection, review…</a:t>
            </a:r>
            <a:r>
              <a:rPr lang="en-US" sz="2400" dirty="0" err="1"/>
              <a:t>etc</a:t>
            </a:r>
            <a:r>
              <a:rPr lang="en-US" sz="2400" dirty="0"/>
              <a:t> except from testing to release.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400" dirty="0"/>
              <a:t>From testing to release its acceptance testing</a:t>
            </a:r>
          </a:p>
          <a:p>
            <a:pPr marL="457200" indent="-4572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914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209800"/>
            <a:ext cx="7886700" cy="1362671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000099"/>
                </a:solidFill>
              </a:rPr>
              <a:t>Quality Assurance Activities in Other Process Models</a:t>
            </a:r>
            <a:br>
              <a:rPr lang="en-US" sz="3200" b="1" dirty="0">
                <a:solidFill>
                  <a:srgbClr val="000099"/>
                </a:solidFill>
              </a:rPr>
            </a:br>
            <a:r>
              <a:rPr lang="en-US" sz="3200" b="1" dirty="0">
                <a:solidFill>
                  <a:srgbClr val="000099"/>
                </a:solidFill>
              </a:rPr>
              <a:t>will be discussed later in the semester</a:t>
            </a:r>
          </a:p>
        </p:txBody>
      </p:sp>
    </p:spTree>
    <p:extLst>
      <p:ext uri="{BB962C8B-B14F-4D97-AF65-F5344CB8AC3E}">
        <p14:creationId xmlns:p14="http://schemas.microsoft.com/office/powerpoint/2010/main" val="103536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Defect Repair Cost : Lion King CD-ROM 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2192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0099"/>
                </a:solidFill>
              </a:rPr>
              <a:t>Defect Prevention: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The root cause of the  problem was that the software did not work on a popular PC platform.  </a:t>
            </a:r>
            <a:r>
              <a:rPr lang="en-US" sz="2000" b="1" dirty="0">
                <a:solidFill>
                  <a:srgbClr val="C00000"/>
                </a:solidFill>
              </a:rPr>
              <a:t>How they could have eliminated the root cause?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0099"/>
                </a:solidFill>
              </a:rPr>
              <a:t>Defect Reduction:</a:t>
            </a:r>
          </a:p>
          <a:p>
            <a:pPr marL="0" indent="0">
              <a:buNone/>
            </a:pPr>
            <a:r>
              <a:rPr lang="en-US" sz="2000" dirty="0"/>
              <a:t>If the defect prevention did not happen, how testers could have identified the defect?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b="1" dirty="0">
                <a:solidFill>
                  <a:srgbClr val="000099"/>
                </a:solidFill>
              </a:rPr>
              <a:t>Defect Containment:  </a:t>
            </a:r>
          </a:p>
          <a:p>
            <a:pPr marL="0" indent="0">
              <a:buNone/>
            </a:pPr>
            <a:r>
              <a:rPr lang="en-US" sz="2000" dirty="0"/>
              <a:t>How Disney might have handled this?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59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45" y="13855"/>
            <a:ext cx="8610600" cy="82434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Software Quality Assurance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700" y="1053761"/>
            <a:ext cx="8610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 Software Testing is the most important part of QA and the most commonly performed QA activity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do we test?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In broader sense,  we test if the software </a:t>
            </a:r>
            <a:r>
              <a:rPr lang="en-US" b="1" dirty="0"/>
              <a:t>does the right thing </a:t>
            </a:r>
            <a:r>
              <a:rPr lang="en-US" dirty="0"/>
              <a:t>and the software </a:t>
            </a:r>
            <a:r>
              <a:rPr lang="en-US" b="1" dirty="0"/>
              <a:t>does the things right</a:t>
            </a:r>
            <a:r>
              <a:rPr lang="en-US" dirty="0"/>
              <a:t>.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Does the right thing : </a:t>
            </a:r>
            <a:r>
              <a:rPr lang="en-US" dirty="0"/>
              <a:t>based on the specification of the software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Does the thing right: </a:t>
            </a:r>
            <a:r>
              <a:rPr lang="en-US" dirty="0"/>
              <a:t>perform specific tasks correctly and satisfactory</a:t>
            </a:r>
          </a:p>
          <a:p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40283"/>
            <a:ext cx="5686425" cy="2726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8172" y="4267200"/>
            <a:ext cx="394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Software Quality vs. Testing [1]</a:t>
            </a:r>
          </a:p>
        </p:txBody>
      </p:sp>
    </p:spTree>
    <p:extLst>
      <p:ext uri="{BB962C8B-B14F-4D97-AF65-F5344CB8AC3E}">
        <p14:creationId xmlns:p14="http://schemas.microsoft.com/office/powerpoint/2010/main" val="194065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Why Do We Need Testing (Can we hire perfect software </a:t>
            </a:r>
            <a:r>
              <a:rPr lang="en-US" b="1" dirty="0" err="1">
                <a:solidFill>
                  <a:srgbClr val="000099"/>
                </a:solidFill>
              </a:rPr>
              <a:t>eng</a:t>
            </a:r>
            <a:r>
              <a:rPr lang="en-US" b="1" dirty="0">
                <a:solidFill>
                  <a:srgbClr val="000099"/>
                </a:solidFill>
              </a:rPr>
              <a:t>/programmers?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295400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Watts S. Humphrey at CMU conducted a study of 13000 programs and concluded that </a:t>
            </a:r>
            <a:r>
              <a:rPr lang="en-US" b="1" dirty="0">
                <a:solidFill>
                  <a:srgbClr val="FF0000"/>
                </a:solidFill>
              </a:rPr>
              <a:t>“on average professional coders make 100 to 150 errors in every thousand line of code they write”.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Reading assignment (posted with week 1 lectures):  Why Software is So Bad, By Charles C. Mann, Technology Review, June 27, 2002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04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13855"/>
            <a:ext cx="8229600" cy="9005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Homework: Reading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752600"/>
            <a:ext cx="8763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Quality Assurance : Chapter 2 from</a:t>
            </a:r>
          </a:p>
          <a:p>
            <a:endParaRPr lang="en-US" sz="2800" dirty="0"/>
          </a:p>
          <a:p>
            <a:r>
              <a:rPr lang="en-US" sz="2800" dirty="0"/>
              <a:t>[1] Software Quality Engineering: Testing, Quality Assurance, and Quantifiable Improvement, Jeff </a:t>
            </a:r>
            <a:r>
              <a:rPr lang="en-US" sz="2800" dirty="0" err="1"/>
              <a:t>Tian</a:t>
            </a:r>
            <a:r>
              <a:rPr lang="en-US" sz="2800" dirty="0"/>
              <a:t>, ISBN: 978-0-471-71345-6, Wiley-IEEE Computer Society Press </a:t>
            </a:r>
          </a:p>
        </p:txBody>
      </p:sp>
    </p:spTree>
    <p:extLst>
      <p:ext uri="{BB962C8B-B14F-4D97-AF65-F5344CB8AC3E}">
        <p14:creationId xmlns:p14="http://schemas.microsoft.com/office/powerpoint/2010/main" val="1885927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975</Words>
  <Application>Microsoft Office PowerPoint</Application>
  <PresentationFormat>On-screen Show (4:3)</PresentationFormat>
  <Paragraphs>127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Helvetica</vt:lpstr>
      <vt:lpstr>Palatino</vt:lpstr>
      <vt:lpstr>Times New Roman</vt:lpstr>
      <vt:lpstr>Wingdings</vt:lpstr>
      <vt:lpstr>Office Theme</vt:lpstr>
      <vt:lpstr>1_L1_Introduction_CSE360</vt:lpstr>
      <vt:lpstr>CSE 464 : Software Quality Assurance and Testing</vt:lpstr>
      <vt:lpstr>Ajenda</vt:lpstr>
      <vt:lpstr>Software Defects and Quality</vt:lpstr>
      <vt:lpstr>Correctness, Defects (Bugs) and Quality</vt:lpstr>
      <vt:lpstr>Error, Fault, and Failure</vt:lpstr>
      <vt:lpstr>The First Computer Bug?</vt:lpstr>
      <vt:lpstr>Bugs are coming from ….</vt:lpstr>
      <vt:lpstr>Cost of Defect (Bug) Identification and Repair</vt:lpstr>
      <vt:lpstr>Software Quality Assurance: Towards High Quality Software</vt:lpstr>
      <vt:lpstr>Software Quality Assurance Stages</vt:lpstr>
      <vt:lpstr>Software  Life Cycle Models and Quality Assurance</vt:lpstr>
      <vt:lpstr>Quality Assurance Activities in the Waterfall Model</vt:lpstr>
      <vt:lpstr>Quality Assurance Activities in the Waterfall Model</vt:lpstr>
      <vt:lpstr>Quality Assurance Activities in Other Process Models will be discussed later in the semester</vt:lpstr>
      <vt:lpstr>Defect Repair Cost : Lion King CD-ROM  Example</vt:lpstr>
      <vt:lpstr>Software Quality Assurance and Testing</vt:lpstr>
      <vt:lpstr>Why Do We Need Testing (Can we hire perfect software eng/programmers?</vt:lpstr>
      <vt:lpstr>Homework: Reading Assignment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78</cp:revision>
  <cp:lastPrinted>2012-08-23T16:16:29Z</cp:lastPrinted>
  <dcterms:created xsi:type="dcterms:W3CDTF">2011-08-13T19:09:36Z</dcterms:created>
  <dcterms:modified xsi:type="dcterms:W3CDTF">2022-01-11T18:10:47Z</dcterms:modified>
</cp:coreProperties>
</file>