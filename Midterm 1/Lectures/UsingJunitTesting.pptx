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450" r:id="rId2"/>
    <p:sldId id="451" r:id="rId3"/>
    <p:sldId id="452" r:id="rId4"/>
    <p:sldId id="461" r:id="rId5"/>
    <p:sldId id="453" r:id="rId6"/>
    <p:sldId id="454" r:id="rId7"/>
    <p:sldId id="455" r:id="rId8"/>
    <p:sldId id="456" r:id="rId9"/>
    <p:sldId id="457" r:id="rId10"/>
    <p:sldId id="462" r:id="rId11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>
      <p:cViewPr varScale="1">
        <p:scale>
          <a:sx n="86" d="100"/>
          <a:sy n="86" d="100"/>
        </p:scale>
        <p:origin x="936" y="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pPr/>
              <a:t>9/12/2019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9/12/2019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1pPr>
            <a:lvl2pPr marL="751122" indent="-288893"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2pPr>
            <a:lvl3pPr marL="1155573" indent="-231115"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3pPr>
            <a:lvl4pPr marL="1617802" indent="-231115"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4pPr>
            <a:lvl5pPr marL="2080031" indent="-231115"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9pPr>
          </a:lstStyle>
          <a:p>
            <a:fld id="{1DD46EB4-D321-4154-9447-1F1D12D5DC7E}" type="slidenum">
              <a:rPr lang="en-US" sz="1200">
                <a:latin typeface="Times" charset="0"/>
              </a:rPr>
              <a:pPr/>
              <a:t>2</a:t>
            </a:fld>
            <a:endParaRPr lang="en-US" sz="1200">
              <a:latin typeface="Times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mtClean="0"/>
              <a:t>XP Extreme Programming</a:t>
            </a:r>
          </a:p>
          <a:p>
            <a:pPr eaLnBrk="1" hangingPunct="1"/>
            <a:r>
              <a:rPr lang="en-US" smtClean="0"/>
              <a:t>Junit ist seit 1998 zum De-facto-Standard f</a:t>
            </a:r>
            <a:r>
              <a:rPr lang="en-US" altLang="ja-JP" smtClean="0"/>
              <a:t>ür Java Entwicklertests geworden und ist in den meisten IDEs integriert.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88025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93361" indent="-266678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66709" indent="-213342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93394" indent="-213342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20077" indent="-213342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46760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73445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200128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626812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it-IT">
                <a:latin typeface="Times New Roman" pitchFamily="18" charset="0"/>
              </a:rPr>
              <a:t>SWAT 2010</a:t>
            </a:r>
          </a:p>
        </p:txBody>
      </p:sp>
      <p:sp>
        <p:nvSpPr>
          <p:cNvPr id="8192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93361" indent="-266678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66709" indent="-213342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93394" indent="-213342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20077" indent="-213342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46760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73445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200128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626812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4BADE26-30B0-4805-AB4B-93F244C5D463}" type="slidenum">
              <a:rPr lang="it-IT">
                <a:latin typeface="Times New Roman" pitchFamily="18" charset="0"/>
              </a:rPr>
              <a:pPr/>
              <a:t>7</a:t>
            </a:fld>
            <a:endParaRPr lang="it-IT">
              <a:latin typeface="Times New Roman" pitchFamily="18" charset="0"/>
            </a:endParaRPr>
          </a:p>
        </p:txBody>
      </p:sp>
      <p:sp>
        <p:nvSpPr>
          <p:cNvPr id="819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819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2"/>
            <a:ext cx="5506066" cy="4183163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92479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93361" indent="-266678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66709" indent="-213342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93394" indent="-213342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20077" indent="-213342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46760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73445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200128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626812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it-IT">
                <a:latin typeface="Times New Roman" pitchFamily="18" charset="0"/>
              </a:rPr>
              <a:t>SWAT 2010</a:t>
            </a:r>
          </a:p>
        </p:txBody>
      </p:sp>
      <p:sp>
        <p:nvSpPr>
          <p:cNvPr id="8294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93361" indent="-266678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66709" indent="-213342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93394" indent="-213342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20077" indent="-213342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46760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73445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200128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626812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36BC5318-04E1-4CDA-9B8D-D5A9CC878D36}" type="slidenum">
              <a:rPr lang="it-IT">
                <a:latin typeface="Times New Roman" pitchFamily="18" charset="0"/>
              </a:rPr>
              <a:pPr/>
              <a:t>8</a:t>
            </a:fld>
            <a:endParaRPr lang="it-IT">
              <a:latin typeface="Times New Roman" pitchFamily="18" charset="0"/>
            </a:endParaRPr>
          </a:p>
        </p:txBody>
      </p:sp>
      <p:sp>
        <p:nvSpPr>
          <p:cNvPr id="829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829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2"/>
            <a:ext cx="5506066" cy="4183163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04727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93361" indent="-266678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66709" indent="-213342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93394" indent="-213342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20077" indent="-213342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46760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73445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200128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626812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it-IT">
                <a:latin typeface="Times New Roman" pitchFamily="18" charset="0"/>
              </a:rPr>
              <a:t>SWAT 2010</a:t>
            </a:r>
          </a:p>
        </p:txBody>
      </p:sp>
      <p:sp>
        <p:nvSpPr>
          <p:cNvPr id="839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93361" indent="-266678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66709" indent="-213342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93394" indent="-213342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20077" indent="-213342" defTabSz="92448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46760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73445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200128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626812" indent="-213342" defTabSz="92448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80F030A7-6C51-4833-A4B9-8679D136DAC7}" type="slidenum">
              <a:rPr lang="it-IT">
                <a:latin typeface="Times New Roman" pitchFamily="18" charset="0"/>
              </a:rPr>
              <a:pPr/>
              <a:t>9</a:t>
            </a:fld>
            <a:endParaRPr lang="it-IT">
              <a:latin typeface="Times New Roman" pitchFamily="18" charset="0"/>
            </a:endParaRPr>
          </a:p>
        </p:txBody>
      </p:sp>
      <p:sp>
        <p:nvSpPr>
          <p:cNvPr id="839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839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2"/>
            <a:ext cx="5506066" cy="4183163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14743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9/12/2019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9/12/2019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9/12/2019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9/12/2019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9/12/2019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9/12/2019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9/12/2019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9/12/2019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9/12/2019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9/12/2019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9/12/2019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9/12/2019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C_Sharp_(programming_language)" TargetMode="External"/><Relationship Id="rId13" Type="http://schemas.openxmlformats.org/officeDocument/2006/relationships/hyperlink" Target="http://en.wikipedia.org/wiki/FUnit" TargetMode="External"/><Relationship Id="rId18" Type="http://schemas.openxmlformats.org/officeDocument/2006/relationships/hyperlink" Target="http://en.wikipedia.org/wiki/JavaScript" TargetMode="External"/><Relationship Id="rId26" Type="http://schemas.openxmlformats.org/officeDocument/2006/relationships/hyperlink" Target="http://en.wikipedia.org/wiki/PHPUnit" TargetMode="External"/><Relationship Id="rId3" Type="http://schemas.openxmlformats.org/officeDocument/2006/relationships/hyperlink" Target="http://www.flexunit.org/" TargetMode="External"/><Relationship Id="rId21" Type="http://schemas.openxmlformats.org/officeDocument/2006/relationships/hyperlink" Target="http://www.sente.ch/software/ocunit/" TargetMode="External"/><Relationship Id="rId34" Type="http://schemas.openxmlformats.org/officeDocument/2006/relationships/hyperlink" Target="http://en.wikipedia.org/w/index.php?title=QTestLib&amp;action=edit&amp;redlink=1" TargetMode="External"/><Relationship Id="rId7" Type="http://schemas.openxmlformats.org/officeDocument/2006/relationships/hyperlink" Target="http://cunit.sourceforge.net/" TargetMode="External"/><Relationship Id="rId12" Type="http://schemas.openxmlformats.org/officeDocument/2006/relationships/hyperlink" Target="http://en.wikipedia.org/wiki/Fortran" TargetMode="External"/><Relationship Id="rId17" Type="http://schemas.openxmlformats.org/officeDocument/2006/relationships/hyperlink" Target="http://camelos.sourceforge.net/fpcUnit.html" TargetMode="External"/><Relationship Id="rId25" Type="http://schemas.openxmlformats.org/officeDocument/2006/relationships/hyperlink" Target="http://en.wikipedia.org/wiki/PHP" TargetMode="External"/><Relationship Id="rId33" Type="http://schemas.openxmlformats.org/officeDocument/2006/relationships/hyperlink" Target="http://en.wikipedia.org/wiki/Qt_(framework)" TargetMode="External"/><Relationship Id="rId2" Type="http://schemas.openxmlformats.org/officeDocument/2006/relationships/hyperlink" Target="http://en.wikipedia.org/wiki/Actionscript" TargetMode="External"/><Relationship Id="rId16" Type="http://schemas.openxmlformats.org/officeDocument/2006/relationships/hyperlink" Target="http://en.wikipedia.org/wiki/Free_Pascal" TargetMode="External"/><Relationship Id="rId20" Type="http://schemas.openxmlformats.org/officeDocument/2006/relationships/hyperlink" Target="http://en.wikipedia.org/wiki/Objective-C" TargetMode="External"/><Relationship Id="rId29" Type="http://schemas.openxmlformats.org/officeDocument/2006/relationships/hyperlink" Target="http://en.wikipedia.org/wiki/R_(programming_language)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en.wikipedia.org/wiki/C" TargetMode="External"/><Relationship Id="rId11" Type="http://schemas.openxmlformats.org/officeDocument/2006/relationships/hyperlink" Target="http://en.wikipedia.org/wiki/CPPUnit" TargetMode="External"/><Relationship Id="rId24" Type="http://schemas.openxmlformats.org/officeDocument/2006/relationships/hyperlink" Target="http://search.cpan.org/~mcast/Test-Unit-0.25/lib/Test/Unit.pm" TargetMode="External"/><Relationship Id="rId32" Type="http://schemas.openxmlformats.org/officeDocument/2006/relationships/hyperlink" Target="http://hackage.haskell.org/package/HUnit" TargetMode="External"/><Relationship Id="rId5" Type="http://schemas.openxmlformats.org/officeDocument/2006/relationships/hyperlink" Target="http://libre.adacore.com/libre/tools/aunit/" TargetMode="External"/><Relationship Id="rId15" Type="http://schemas.openxmlformats.org/officeDocument/2006/relationships/hyperlink" Target="http://en.wikipedia.org/wiki/DUnit" TargetMode="External"/><Relationship Id="rId23" Type="http://schemas.openxmlformats.org/officeDocument/2006/relationships/hyperlink" Target="http://search.cpan.org/~adie/Test-Class-0.31/lib/Test/Class.pm" TargetMode="External"/><Relationship Id="rId28" Type="http://schemas.openxmlformats.org/officeDocument/2006/relationships/hyperlink" Target="http://en.wikipedia.org/wiki/PyUnit" TargetMode="External"/><Relationship Id="rId10" Type="http://schemas.openxmlformats.org/officeDocument/2006/relationships/hyperlink" Target="http://en.wikipedia.org/wiki/C++" TargetMode="External"/><Relationship Id="rId19" Type="http://schemas.openxmlformats.org/officeDocument/2006/relationships/hyperlink" Target="http://en.wikipedia.org/wiki/JSUnit" TargetMode="External"/><Relationship Id="rId31" Type="http://schemas.openxmlformats.org/officeDocument/2006/relationships/hyperlink" Target="http://en.wikipedia.org/wiki/Haskell_(programming_language)" TargetMode="External"/><Relationship Id="rId4" Type="http://schemas.openxmlformats.org/officeDocument/2006/relationships/hyperlink" Target="http://en.wikipedia.org/wiki/Ada_(programming_language)" TargetMode="External"/><Relationship Id="rId9" Type="http://schemas.openxmlformats.org/officeDocument/2006/relationships/hyperlink" Target="http://en.wikipedia.org/wiki/NUnit" TargetMode="External"/><Relationship Id="rId14" Type="http://schemas.openxmlformats.org/officeDocument/2006/relationships/hyperlink" Target="http://en.wikipedia.org/wiki/CodeGear_Delphi" TargetMode="External"/><Relationship Id="rId22" Type="http://schemas.openxmlformats.org/officeDocument/2006/relationships/hyperlink" Target="http://en.wikipedia.org/wiki/Perl" TargetMode="External"/><Relationship Id="rId27" Type="http://schemas.openxmlformats.org/officeDocument/2006/relationships/hyperlink" Target="http://en.wikipedia.org/wiki/Python_(programming_language)" TargetMode="External"/><Relationship Id="rId30" Type="http://schemas.openxmlformats.org/officeDocument/2006/relationships/hyperlink" Target="http://runit.sourceforge.net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junit.org/apidocs/org/junit/Assert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Introduction to Junit </a:t>
            </a:r>
            <a:r>
              <a:rPr lang="en-US" dirty="0" smtClean="0"/>
              <a:t>Framework Features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CSE </a:t>
            </a:r>
            <a:r>
              <a:rPr lang="en-US" b="1" dirty="0" smtClean="0">
                <a:solidFill>
                  <a:srgbClr val="000099"/>
                </a:solidFill>
              </a:rPr>
              <a:t>464 </a:t>
            </a:r>
            <a:r>
              <a:rPr lang="en-US" b="1" dirty="0">
                <a:solidFill>
                  <a:srgbClr val="000099"/>
                </a:solidFill>
              </a:rPr>
              <a:t>: Software Quality Assurance and </a:t>
            </a:r>
            <a:r>
              <a:rPr lang="en-US" b="1" dirty="0" smtClean="0">
                <a:solidFill>
                  <a:srgbClr val="000099"/>
                </a:solidFill>
              </a:rPr>
              <a:t>Testing</a:t>
            </a:r>
          </a:p>
          <a:p>
            <a:endParaRPr lang="en-US" b="1" dirty="0">
              <a:solidFill>
                <a:srgbClr val="000099"/>
              </a:solidFill>
            </a:endParaRPr>
          </a:p>
        </p:txBody>
      </p:sp>
      <p:pic>
        <p:nvPicPr>
          <p:cNvPr id="5" name="Picture 6" descr="School of Computing, Informatics, and Decision Systems Engineer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04800"/>
            <a:ext cx="70532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961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9pPr>
          </a:lstStyle>
          <a:p>
            <a:r>
              <a:rPr lang="de-CH" sz="1200">
                <a:solidFill>
                  <a:srgbClr val="A7A7A7"/>
                </a:solidFill>
              </a:rPr>
              <a:t>© O. Nierstrasz</a:t>
            </a:r>
          </a:p>
        </p:txBody>
      </p:sp>
      <p:sp>
        <p:nvSpPr>
          <p:cNvPr id="921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9pPr>
          </a:lstStyle>
          <a:p>
            <a:r>
              <a:rPr lang="de-CH" sz="1000">
                <a:solidFill>
                  <a:srgbClr val="A7A7A7"/>
                </a:solidFill>
              </a:rPr>
              <a:t>P2 — A Testing Framework</a:t>
            </a:r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9pPr>
          </a:lstStyle>
          <a:p>
            <a:r>
              <a:rPr lang="de-CH" sz="1200">
                <a:solidFill>
                  <a:srgbClr val="A7A7A7"/>
                </a:solidFill>
              </a:rPr>
              <a:t>3.</a:t>
            </a:r>
            <a:fld id="{9715B65E-0802-4E61-BE23-9888EC36B543}" type="slidenum">
              <a:rPr lang="de-CH" sz="1200">
                <a:solidFill>
                  <a:srgbClr val="A7A7A7"/>
                </a:solidFill>
              </a:rPr>
              <a:pPr/>
              <a:t>2</a:t>
            </a:fld>
            <a:endParaRPr lang="de-CH" sz="1400">
              <a:solidFill>
                <a:srgbClr val="7E7E7E"/>
              </a:solidFill>
              <a:latin typeface="Times" charset="0"/>
            </a:endParaRPr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dirty="0" err="1" smtClean="0"/>
              <a:t>JUnit</a:t>
            </a:r>
            <a:r>
              <a:rPr lang="en-US" dirty="0" smtClean="0"/>
              <a:t> - A Testing Framework 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 err="1" smtClean="0">
                <a:latin typeface="Arial" charset="0"/>
              </a:rPr>
              <a:t>JUnit</a:t>
            </a:r>
            <a:r>
              <a:rPr lang="en-US" dirty="0" smtClean="0">
                <a:latin typeface="Arial" charset="0"/>
              </a:rPr>
              <a:t> is a simple framework to write repeatable tests. It is an instance of the </a:t>
            </a:r>
            <a:r>
              <a:rPr lang="en-US" dirty="0" err="1" smtClean="0">
                <a:latin typeface="Arial" charset="0"/>
              </a:rPr>
              <a:t>xUnit</a:t>
            </a:r>
            <a:r>
              <a:rPr lang="en-US" dirty="0" smtClean="0">
                <a:latin typeface="Arial" charset="0"/>
              </a:rPr>
              <a:t> architecture for unit testing frameworks written by Kent Beck and Erich Gamma</a:t>
            </a:r>
          </a:p>
          <a:p>
            <a:r>
              <a:rPr lang="en-US" dirty="0">
                <a:latin typeface="Arial" charset="0"/>
              </a:rPr>
              <a:t>http://www.dc.fi.udc.es/ai/tp/practica/junit/doc/cookbook/cookbook.htm</a:t>
            </a:r>
            <a:endParaRPr lang="en-US" dirty="0" smtClean="0">
              <a:latin typeface="Arial" charset="0"/>
            </a:endParaRPr>
          </a:p>
        </p:txBody>
      </p:sp>
      <p:pic>
        <p:nvPicPr>
          <p:cNvPr id="9223" name="Picture 4" descr="erichgamm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953000"/>
            <a:ext cx="1414463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5" descr="kentbec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4953000"/>
            <a:ext cx="1233488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477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Framework?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85800" y="1752600"/>
            <a:ext cx="79248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A </a:t>
            </a:r>
            <a:r>
              <a:rPr lang="en-US" sz="2800" i="1" dirty="0"/>
              <a:t>framework </a:t>
            </a:r>
            <a:r>
              <a:rPr lang="en-US" sz="2800" dirty="0"/>
              <a:t>is a </a:t>
            </a:r>
            <a:r>
              <a:rPr lang="en-US" sz="2800" b="1" dirty="0">
                <a:solidFill>
                  <a:srgbClr val="FF0000"/>
                </a:solidFill>
              </a:rPr>
              <a:t>semi-complete application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 </a:t>
            </a:r>
            <a:r>
              <a:rPr lang="en-US" sz="2800" dirty="0"/>
              <a:t>A framework </a:t>
            </a:r>
            <a:r>
              <a:rPr lang="en-US" sz="2800" dirty="0" smtClean="0"/>
              <a:t>provides a </a:t>
            </a:r>
            <a:r>
              <a:rPr lang="en-US" sz="2800" dirty="0"/>
              <a:t>reusable, common structure to share among applications.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Developers incorporate </a:t>
            </a:r>
            <a:r>
              <a:rPr lang="en-US" sz="2800" dirty="0"/>
              <a:t>the framework into their own application and </a:t>
            </a:r>
            <a:r>
              <a:rPr lang="en-US" sz="2800" b="1" dirty="0">
                <a:solidFill>
                  <a:srgbClr val="FF0000"/>
                </a:solidFill>
              </a:rPr>
              <a:t>extend it to </a:t>
            </a:r>
            <a:r>
              <a:rPr lang="en-US" sz="2800" b="1" dirty="0" smtClean="0">
                <a:solidFill>
                  <a:srgbClr val="FF0000"/>
                </a:solidFill>
              </a:rPr>
              <a:t>meet their </a:t>
            </a:r>
            <a:r>
              <a:rPr lang="en-US" sz="2800" b="1" dirty="0">
                <a:solidFill>
                  <a:srgbClr val="FF0000"/>
                </a:solidFill>
              </a:rPr>
              <a:t>specific needs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Frameworks </a:t>
            </a:r>
            <a:r>
              <a:rPr lang="en-US" sz="2800" dirty="0"/>
              <a:t>differ from toolkits by providing a </a:t>
            </a:r>
            <a:r>
              <a:rPr lang="en-US" sz="2800" dirty="0" smtClean="0"/>
              <a:t>coherent structure</a:t>
            </a:r>
            <a:r>
              <a:rPr lang="en-US" sz="2800" dirty="0"/>
              <a:t>, rather than a simple set of utility classes.</a:t>
            </a:r>
          </a:p>
        </p:txBody>
      </p:sp>
    </p:spTree>
    <p:extLst>
      <p:ext uri="{BB962C8B-B14F-4D97-AF65-F5344CB8AC3E}">
        <p14:creationId xmlns:p14="http://schemas.microsoft.com/office/powerpoint/2010/main" val="283739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xUnit</a:t>
            </a:r>
            <a:r>
              <a:rPr lang="en-US" dirty="0" smtClean="0"/>
              <a:t>…..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33400" y="1219200"/>
            <a:ext cx="79248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Junit</a:t>
            </a:r>
            <a:r>
              <a:rPr lang="en-US" dirty="0" smtClean="0"/>
              <a:t> has been ported to many other languages including</a:t>
            </a:r>
          </a:p>
          <a:p>
            <a:endParaRPr lang="en-US" dirty="0"/>
          </a:p>
          <a:p>
            <a:r>
              <a:rPr lang="en-US" dirty="0" err="1">
                <a:hlinkClick r:id="rId2" tooltip="Actionscript"/>
              </a:rPr>
              <a:t>Actionscript</a:t>
            </a:r>
            <a:r>
              <a:rPr lang="en-US" dirty="0"/>
              <a:t> (</a:t>
            </a:r>
            <a:r>
              <a:rPr lang="en-US" dirty="0" err="1">
                <a:hlinkClick r:id="rId3"/>
              </a:rPr>
              <a:t>FlexUnit</a:t>
            </a:r>
            <a:r>
              <a:rPr lang="en-US" dirty="0"/>
              <a:t>)</a:t>
            </a:r>
          </a:p>
          <a:p>
            <a:r>
              <a:rPr lang="en-US" dirty="0">
                <a:hlinkClick r:id="rId4" tooltip="Ada (programming language)"/>
              </a:rPr>
              <a:t>Ada</a:t>
            </a:r>
            <a:r>
              <a:rPr lang="en-US" dirty="0"/>
              <a:t> (</a:t>
            </a:r>
            <a:r>
              <a:rPr lang="en-US" dirty="0" err="1">
                <a:hlinkClick r:id="rId5"/>
              </a:rPr>
              <a:t>AUnit</a:t>
            </a:r>
            <a:r>
              <a:rPr lang="en-US" dirty="0"/>
              <a:t>)</a:t>
            </a:r>
          </a:p>
          <a:p>
            <a:r>
              <a:rPr lang="en-US" dirty="0">
                <a:hlinkClick r:id="rId6" tooltip="C"/>
              </a:rPr>
              <a:t>C</a:t>
            </a:r>
            <a:r>
              <a:rPr lang="en-US" dirty="0"/>
              <a:t> (</a:t>
            </a:r>
            <a:r>
              <a:rPr lang="en-US" dirty="0" err="1">
                <a:hlinkClick r:id="rId7"/>
              </a:rPr>
              <a:t>CUnit</a:t>
            </a:r>
            <a:r>
              <a:rPr lang="en-US" dirty="0"/>
              <a:t>)</a:t>
            </a:r>
          </a:p>
          <a:p>
            <a:r>
              <a:rPr lang="en-US" dirty="0">
                <a:hlinkClick r:id="rId8" tooltip="C Sharp (programming language)"/>
              </a:rPr>
              <a:t>C#</a:t>
            </a:r>
            <a:r>
              <a:rPr lang="en-US" dirty="0"/>
              <a:t> (</a:t>
            </a:r>
            <a:r>
              <a:rPr lang="en-US" dirty="0" err="1">
                <a:hlinkClick r:id="rId9" tooltip="NUnit"/>
              </a:rPr>
              <a:t>NUnit</a:t>
            </a:r>
            <a:r>
              <a:rPr lang="en-US" dirty="0"/>
              <a:t>)</a:t>
            </a:r>
          </a:p>
          <a:p>
            <a:r>
              <a:rPr lang="en-US" dirty="0">
                <a:hlinkClick r:id="rId10" tooltip="C++"/>
              </a:rPr>
              <a:t>C++</a:t>
            </a:r>
            <a:r>
              <a:rPr lang="en-US" dirty="0"/>
              <a:t> (</a:t>
            </a:r>
            <a:r>
              <a:rPr lang="en-US" dirty="0" err="1">
                <a:hlinkClick r:id="rId11" tooltip="CPPUnit"/>
              </a:rPr>
              <a:t>CPPUnit</a:t>
            </a:r>
            <a:r>
              <a:rPr lang="en-US" dirty="0"/>
              <a:t>)</a:t>
            </a:r>
          </a:p>
          <a:p>
            <a:r>
              <a:rPr lang="en-US" dirty="0">
                <a:hlinkClick r:id="rId12" tooltip="Fortran"/>
              </a:rPr>
              <a:t>Fortran</a:t>
            </a:r>
            <a:r>
              <a:rPr lang="en-US" dirty="0"/>
              <a:t> (</a:t>
            </a:r>
            <a:r>
              <a:rPr lang="en-US" dirty="0" err="1">
                <a:hlinkClick r:id="rId13" tooltip="FUnit"/>
              </a:rPr>
              <a:t>fUnit</a:t>
            </a:r>
            <a:r>
              <a:rPr lang="en-US" dirty="0"/>
              <a:t>)</a:t>
            </a:r>
          </a:p>
          <a:p>
            <a:r>
              <a:rPr lang="en-US" dirty="0">
                <a:hlinkClick r:id="rId14" tooltip="CodeGear Delphi"/>
              </a:rPr>
              <a:t>Delphi</a:t>
            </a:r>
            <a:r>
              <a:rPr lang="en-US" dirty="0"/>
              <a:t> (</a:t>
            </a:r>
            <a:r>
              <a:rPr lang="en-US" dirty="0" err="1">
                <a:hlinkClick r:id="rId15" tooltip="DUnit"/>
              </a:rPr>
              <a:t>DUnit</a:t>
            </a:r>
            <a:r>
              <a:rPr lang="en-US" dirty="0"/>
              <a:t>)</a:t>
            </a:r>
          </a:p>
          <a:p>
            <a:r>
              <a:rPr lang="en-US" dirty="0">
                <a:hlinkClick r:id="rId16" tooltip="Free Pascal"/>
              </a:rPr>
              <a:t>Free Pascal</a:t>
            </a:r>
            <a:r>
              <a:rPr lang="en-US" dirty="0"/>
              <a:t> (</a:t>
            </a:r>
            <a:r>
              <a:rPr lang="en-US" dirty="0" err="1">
                <a:hlinkClick r:id="rId17"/>
              </a:rPr>
              <a:t>FPCUnit</a:t>
            </a:r>
            <a:r>
              <a:rPr lang="en-US" dirty="0"/>
              <a:t>)</a:t>
            </a:r>
          </a:p>
          <a:p>
            <a:r>
              <a:rPr lang="en-US" dirty="0">
                <a:hlinkClick r:id="rId18" tooltip="JavaScript"/>
              </a:rPr>
              <a:t>JavaScript</a:t>
            </a:r>
            <a:r>
              <a:rPr lang="en-US" dirty="0"/>
              <a:t> (</a:t>
            </a:r>
            <a:r>
              <a:rPr lang="en-US" dirty="0" err="1">
                <a:hlinkClick r:id="rId19" tooltip="JSUnit"/>
              </a:rPr>
              <a:t>JSUnit</a:t>
            </a:r>
            <a:r>
              <a:rPr lang="en-US" dirty="0"/>
              <a:t>)</a:t>
            </a:r>
          </a:p>
          <a:p>
            <a:r>
              <a:rPr lang="en-US" dirty="0">
                <a:hlinkClick r:id="rId20" tooltip="Objective-C"/>
              </a:rPr>
              <a:t>Objective-C</a:t>
            </a:r>
            <a:r>
              <a:rPr lang="en-US" dirty="0"/>
              <a:t> (</a:t>
            </a:r>
            <a:r>
              <a:rPr lang="en-US" dirty="0" err="1">
                <a:hlinkClick r:id="rId21"/>
              </a:rPr>
              <a:t>OCUnit</a:t>
            </a:r>
            <a:r>
              <a:rPr lang="en-US" dirty="0"/>
              <a:t>)</a:t>
            </a:r>
          </a:p>
          <a:p>
            <a:r>
              <a:rPr lang="en-US" dirty="0">
                <a:hlinkClick r:id="rId22" tooltip="Perl"/>
              </a:rPr>
              <a:t>Perl</a:t>
            </a:r>
            <a:r>
              <a:rPr lang="en-US" dirty="0"/>
              <a:t> (</a:t>
            </a:r>
            <a:r>
              <a:rPr lang="en-US" dirty="0">
                <a:hlinkClick r:id="rId23"/>
              </a:rPr>
              <a:t>Test::Class</a:t>
            </a:r>
            <a:r>
              <a:rPr lang="en-US" dirty="0"/>
              <a:t> and </a:t>
            </a:r>
            <a:r>
              <a:rPr lang="en-US" dirty="0">
                <a:hlinkClick r:id="rId24"/>
              </a:rPr>
              <a:t>Test::Unit</a:t>
            </a:r>
            <a:r>
              <a:rPr lang="en-US" dirty="0"/>
              <a:t>)</a:t>
            </a:r>
          </a:p>
          <a:p>
            <a:r>
              <a:rPr lang="en-US" dirty="0">
                <a:hlinkClick r:id="rId25" tooltip="PHP"/>
              </a:rPr>
              <a:t>PHP</a:t>
            </a:r>
            <a:r>
              <a:rPr lang="en-US" dirty="0"/>
              <a:t> (</a:t>
            </a:r>
            <a:r>
              <a:rPr lang="en-US" dirty="0" err="1">
                <a:hlinkClick r:id="rId26" tooltip="PHPUnit"/>
              </a:rPr>
              <a:t>PHPUnit</a:t>
            </a:r>
            <a:r>
              <a:rPr lang="en-US" dirty="0"/>
              <a:t>)</a:t>
            </a:r>
          </a:p>
          <a:p>
            <a:r>
              <a:rPr lang="en-US" dirty="0">
                <a:hlinkClick r:id="rId27" tooltip="Python (programming language)"/>
              </a:rPr>
              <a:t>Python</a:t>
            </a:r>
            <a:r>
              <a:rPr lang="en-US" dirty="0"/>
              <a:t> (</a:t>
            </a:r>
            <a:r>
              <a:rPr lang="en-US" dirty="0" err="1">
                <a:hlinkClick r:id="rId28" tooltip="PyUnit"/>
              </a:rPr>
              <a:t>PyUnit</a:t>
            </a:r>
            <a:r>
              <a:rPr lang="en-US" dirty="0"/>
              <a:t>)</a:t>
            </a:r>
          </a:p>
          <a:p>
            <a:r>
              <a:rPr lang="en-US" dirty="0">
                <a:hlinkClick r:id="rId29" tooltip="R (programming language)"/>
              </a:rPr>
              <a:t>R</a:t>
            </a:r>
            <a:r>
              <a:rPr lang="en-US" dirty="0"/>
              <a:t> (</a:t>
            </a:r>
            <a:r>
              <a:rPr lang="en-US" dirty="0" err="1">
                <a:hlinkClick r:id="rId30"/>
              </a:rPr>
              <a:t>RUnit</a:t>
            </a:r>
            <a:r>
              <a:rPr lang="en-US" dirty="0"/>
              <a:t>)</a:t>
            </a:r>
          </a:p>
          <a:p>
            <a:r>
              <a:rPr lang="en-US" dirty="0">
                <a:hlinkClick r:id="rId31" tooltip="Haskell (programming language)"/>
              </a:rPr>
              <a:t>Haskell</a:t>
            </a:r>
            <a:r>
              <a:rPr lang="en-US" dirty="0"/>
              <a:t> (</a:t>
            </a:r>
            <a:r>
              <a:rPr lang="en-US" dirty="0" err="1">
                <a:hlinkClick r:id="rId32"/>
              </a:rPr>
              <a:t>HUnit</a:t>
            </a:r>
            <a:r>
              <a:rPr lang="en-US" dirty="0"/>
              <a:t>)</a:t>
            </a:r>
          </a:p>
          <a:p>
            <a:r>
              <a:rPr lang="en-US" dirty="0" err="1">
                <a:hlinkClick r:id="rId33" tooltip="Qt (framework)"/>
              </a:rPr>
              <a:t>Qt</a:t>
            </a:r>
            <a:r>
              <a:rPr lang="en-US" dirty="0"/>
              <a:t> (</a:t>
            </a:r>
            <a:r>
              <a:rPr lang="en-US" dirty="0" err="1">
                <a:hlinkClick r:id="rId34" tooltip="QTestLib (page does not exist)"/>
              </a:rPr>
              <a:t>QTestLib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834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Grp="1" noChangeArrowheads="1"/>
          </p:cNvSpPr>
          <p:nvPr>
            <p:ph type="title"/>
          </p:nvPr>
        </p:nvSpPr>
        <p:spPr>
          <a:xfrm>
            <a:off x="268288" y="194064"/>
            <a:ext cx="8610600" cy="6485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defTabSz="457200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 b="1" dirty="0" smtClean="0"/>
              <a:t>Framework Elements</a:t>
            </a:r>
          </a:p>
        </p:txBody>
      </p:sp>
      <p:sp>
        <p:nvSpPr>
          <p:cNvPr id="922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8788" y="1066800"/>
            <a:ext cx="8229600" cy="4144854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marL="341313" indent="-341313" defTabSz="457200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b="1" dirty="0" err="1" smtClean="0"/>
              <a:t>TestCase</a:t>
            </a:r>
            <a:endParaRPr lang="en-GB" sz="2800" b="1" dirty="0" smtClean="0"/>
          </a:p>
          <a:p>
            <a:pPr marL="741363" lvl="1" indent="-284163" defTabSz="457200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Base class for classes that contain tests</a:t>
            </a:r>
          </a:p>
          <a:p>
            <a:pPr marL="341313" indent="-341313" defTabSz="457200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b="1" dirty="0" smtClean="0"/>
              <a:t>assert</a:t>
            </a:r>
            <a:r>
              <a:rPr lang="en-GB" sz="2800" b="1" i="1" dirty="0" smtClean="0"/>
              <a:t>*</a:t>
            </a:r>
            <a:r>
              <a:rPr lang="en-GB" sz="2800" b="1" dirty="0" smtClean="0"/>
              <a:t>()</a:t>
            </a:r>
          </a:p>
          <a:p>
            <a:pPr marL="741363" lvl="1" indent="-284163" defTabSz="457200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Method family to </a:t>
            </a:r>
            <a:r>
              <a:rPr lang="en-GB" b="1" i="1" dirty="0" smtClean="0"/>
              <a:t>check conditions</a:t>
            </a:r>
          </a:p>
          <a:p>
            <a:pPr marL="457200" lvl="1" indent="0" defTabSz="45720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hlinkClick r:id="rId2"/>
              </a:rPr>
              <a:t>http://www.junit.org/apidocs/org/junit/Assert.html</a:t>
            </a:r>
            <a:endParaRPr lang="en-GB" b="1" i="1" dirty="0" smtClean="0"/>
          </a:p>
          <a:p>
            <a:pPr marL="341313" indent="-341313" defTabSz="457200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b="1" dirty="0" err="1" smtClean="0"/>
              <a:t>TestSuite</a:t>
            </a:r>
            <a:endParaRPr lang="en-GB" sz="2800" b="1" dirty="0" smtClean="0"/>
          </a:p>
          <a:p>
            <a:pPr marL="741363" lvl="1" indent="-284163" defTabSz="457200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Enables grouping several test cases</a:t>
            </a:r>
          </a:p>
          <a:p>
            <a:pPr marL="741363" lvl="1" indent="-284163" defTabSz="457200" eaLnBrk="1" hangingPunct="1">
              <a:buFont typeface="Wingdings" pitchFamily="2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243622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88037"/>
            <a:ext cx="8229600" cy="750163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JUnit</a:t>
            </a:r>
            <a:r>
              <a:rPr lang="en-US" dirty="0" smtClean="0"/>
              <a:t> and  Class Testing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257800" y="838200"/>
            <a:ext cx="37338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 err="1"/>
              <a:t>JUnit</a:t>
            </a:r>
            <a:r>
              <a:rPr lang="en-US" sz="2400" dirty="0"/>
              <a:t> annotations to provide resource initialization and reclamation methods:</a:t>
            </a:r>
          </a:p>
          <a:p>
            <a:r>
              <a:rPr lang="en-US" sz="2400" dirty="0"/>
              <a:t>@Before, @</a:t>
            </a:r>
            <a:r>
              <a:rPr lang="en-US" sz="2400" dirty="0" err="1"/>
              <a:t>BeforeClass</a:t>
            </a:r>
            <a:r>
              <a:rPr lang="en-US" sz="2400" dirty="0"/>
              <a:t>, @After, and @</a:t>
            </a:r>
            <a:r>
              <a:rPr lang="en-US" sz="2400" dirty="0" err="1"/>
              <a:t>AfterClass</a:t>
            </a:r>
            <a:endParaRPr lang="en-US" sz="2400" dirty="0"/>
          </a:p>
          <a:p>
            <a:endParaRPr lang="en-US" sz="24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A </a:t>
            </a:r>
            <a:r>
              <a:rPr lang="en-US" sz="2400" dirty="0"/>
              <a:t>variety of assert methods to make it easy to check the results of your tests</a:t>
            </a:r>
          </a:p>
          <a:p>
            <a:endParaRPr lang="en-US" sz="24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Integration </a:t>
            </a:r>
            <a:r>
              <a:rPr lang="en-US" sz="2400" dirty="0"/>
              <a:t>with popular </a:t>
            </a:r>
            <a:r>
              <a:rPr lang="en-US" sz="2400" dirty="0" smtClean="0"/>
              <a:t>IDEs like Eclipse</a:t>
            </a:r>
            <a:r>
              <a:rPr lang="en-US" sz="2400" dirty="0"/>
              <a:t>, </a:t>
            </a:r>
            <a:r>
              <a:rPr lang="en-US" sz="2400" dirty="0" err="1"/>
              <a:t>NetBeans</a:t>
            </a:r>
            <a:r>
              <a:rPr lang="en-US" sz="2400" dirty="0"/>
              <a:t>, </a:t>
            </a:r>
            <a:r>
              <a:rPr lang="en-US" sz="2400" dirty="0" err="1"/>
              <a:t>IntelliJ</a:t>
            </a:r>
            <a:r>
              <a:rPr lang="en-US" sz="2400" dirty="0"/>
              <a:t>, and </a:t>
            </a:r>
            <a:r>
              <a:rPr lang="en-US" sz="2400" dirty="0" err="1"/>
              <a:t>JBuilder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78" y="1066800"/>
            <a:ext cx="4926334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0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C9B9657-EFD5-4606-ACC5-4713EB88929C}" type="slidenum">
              <a:rPr lang="en-US">
                <a:latin typeface="Arial Black" pitchFamily="34" charset="0"/>
              </a:rPr>
              <a:pPr eaLnBrk="1" hangingPunct="1"/>
              <a:t>7</a:t>
            </a:fld>
            <a:endParaRPr lang="en-US">
              <a:latin typeface="Arial Black" pitchFamily="34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720725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b="1" dirty="0" err="1" smtClean="0"/>
              <a:t>Junit</a:t>
            </a:r>
            <a:r>
              <a:rPr lang="en-US" sz="3600" b="1" dirty="0" smtClean="0"/>
              <a:t> 4.x for testing programs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301037" cy="48244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 smtClean="0"/>
              <a:t>Import the JUnit 4 classes you need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solidFill>
                  <a:schemeClr val="accent2"/>
                </a:solidFill>
              </a:rPr>
              <a:t>	</a:t>
            </a:r>
            <a:r>
              <a:rPr lang="en-US" sz="2000" b="1" dirty="0" smtClean="0"/>
              <a:t>import </a:t>
            </a:r>
            <a:r>
              <a:rPr lang="en-US" sz="2000" b="1" dirty="0" err="1" smtClean="0"/>
              <a:t>org.junit</a:t>
            </a:r>
            <a:r>
              <a:rPr lang="en-US" sz="2000" b="1" dirty="0" smtClean="0"/>
              <a:t>.*;</a:t>
            </a:r>
            <a:br>
              <a:rPr lang="en-US" sz="2000" b="1" dirty="0" smtClean="0"/>
            </a:br>
            <a:r>
              <a:rPr lang="en-US" sz="2000" b="1" dirty="0" smtClean="0"/>
              <a:t>import static </a:t>
            </a:r>
            <a:r>
              <a:rPr lang="en-US" sz="2000" b="1" dirty="0" err="1" smtClean="0"/>
              <a:t>org.junit.Assert</a:t>
            </a:r>
            <a:r>
              <a:rPr lang="en-US" sz="2000" b="1" dirty="0" smtClean="0"/>
              <a:t>.*;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2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 smtClean="0"/>
              <a:t>Declare your (conventional) Java class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solidFill>
                  <a:schemeClr val="accent2"/>
                </a:solidFill>
              </a:rPr>
              <a:t>	</a:t>
            </a:r>
            <a:r>
              <a:rPr lang="en-US" sz="2000" b="1" dirty="0" smtClean="0"/>
              <a:t>public class </a:t>
            </a:r>
            <a:r>
              <a:rPr lang="en-US" sz="2000" b="1" dirty="0" err="1" smtClean="0"/>
              <a:t>MyProgramTest</a:t>
            </a:r>
            <a:r>
              <a:rPr lang="en-US" sz="2000" b="1" dirty="0" smtClean="0"/>
              <a:t> {   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b="1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 smtClean="0"/>
              <a:t>Declare any variables you are going to use, e.g., an instance of the class being tested</a:t>
            </a:r>
            <a:r>
              <a:rPr lang="en-US" sz="2600" dirty="0" smtClean="0"/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solidFill>
                  <a:schemeClr val="accent2"/>
                </a:solidFill>
              </a:rPr>
              <a:t>	</a:t>
            </a:r>
            <a:r>
              <a:rPr lang="en-US" sz="2000" b="1" dirty="0" err="1" smtClean="0"/>
              <a:t>MyProgram</a:t>
            </a:r>
            <a:r>
              <a:rPr lang="en-US" sz="2000" b="1" dirty="0" smtClean="0"/>
              <a:t> program;</a:t>
            </a:r>
            <a:br>
              <a:rPr lang="en-US" sz="2000" b="1" dirty="0" smtClean="0"/>
            </a:br>
            <a:r>
              <a:rPr lang="en-US" sz="2000" b="1" dirty="0" err="1" smtClean="0"/>
              <a:t>int</a:t>
            </a:r>
            <a:r>
              <a:rPr lang="en-US" sz="2000" b="1" dirty="0" smtClean="0"/>
              <a:t> [ ] array;</a:t>
            </a:r>
            <a:br>
              <a:rPr lang="en-US" sz="2000" b="1" dirty="0" smtClean="0"/>
            </a:br>
            <a:r>
              <a:rPr lang="en-US" sz="2000" b="1" dirty="0" err="1" smtClean="0"/>
              <a:t>int</a:t>
            </a:r>
            <a:r>
              <a:rPr lang="en-US" sz="2000" b="1" dirty="0" smtClean="0"/>
              <a:t> solution;</a:t>
            </a:r>
          </a:p>
        </p:txBody>
      </p:sp>
    </p:spTree>
    <p:extLst>
      <p:ext uri="{BB962C8B-B14F-4D97-AF65-F5344CB8AC3E}">
        <p14:creationId xmlns:p14="http://schemas.microsoft.com/office/powerpoint/2010/main" val="1461163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1CFEAB5-D904-49B2-A08D-0846D9E77863}" type="slidenum">
              <a:rPr lang="en-US">
                <a:latin typeface="Arial Black" pitchFamily="34" charset="0"/>
              </a:rPr>
              <a:pPr eaLnBrk="1" hangingPunct="1"/>
              <a:t>8</a:t>
            </a:fld>
            <a:endParaRPr lang="en-US">
              <a:latin typeface="Arial Black" pitchFamily="34" charset="0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8280400" cy="52562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smtClean="0"/>
              <a:t>If needed, define </a:t>
            </a:r>
            <a:r>
              <a:rPr lang="en-US" sz="2400" i="1" smtClean="0"/>
              <a:t>one</a:t>
            </a:r>
            <a:r>
              <a:rPr lang="en-US" sz="2400" smtClean="0"/>
              <a:t> method to be executed </a:t>
            </a:r>
            <a:r>
              <a:rPr lang="en-US" sz="2400" i="1" smtClean="0"/>
              <a:t>just once,</a:t>
            </a:r>
            <a:r>
              <a:rPr lang="en-US" sz="2400" smtClean="0"/>
              <a:t> when the class is </a:t>
            </a:r>
            <a:r>
              <a:rPr lang="en-US" sz="2400" u="sng" smtClean="0"/>
              <a:t>first loaded</a:t>
            </a:r>
            <a:r>
              <a:rPr lang="en-US" sz="2400" smtClean="0"/>
              <a:t>. For instance, when we need to connecting to a database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smtClean="0"/>
              <a:t>	@BeforeClass</a:t>
            </a:r>
            <a:br>
              <a:rPr lang="en-US" sz="2000" b="1" smtClean="0"/>
            </a:br>
            <a:r>
              <a:rPr lang="en-US" sz="2000" b="1" smtClean="0"/>
              <a:t>public static void setUpClass() throws Exception {</a:t>
            </a:r>
            <a:br>
              <a:rPr lang="en-US" sz="2000" b="1" smtClean="0"/>
            </a:br>
            <a:r>
              <a:rPr lang="en-US" sz="2000" b="1" smtClean="0"/>
              <a:t>        // one-time initialization code</a:t>
            </a:r>
            <a:br>
              <a:rPr lang="en-US" sz="2000" b="1" smtClean="0"/>
            </a:br>
            <a:r>
              <a:rPr lang="en-US" sz="2000" b="1" smtClean="0"/>
              <a:t>}</a:t>
            </a:r>
          </a:p>
          <a:p>
            <a:pPr eaLnBrk="1" hangingPunct="1">
              <a:lnSpc>
                <a:spcPct val="90000"/>
              </a:lnSpc>
            </a:pPr>
            <a:endParaRPr lang="en-US" sz="2000" b="1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smtClean="0"/>
              <a:t>If needed, define </a:t>
            </a:r>
            <a:r>
              <a:rPr lang="en-US" sz="2400" i="1" smtClean="0"/>
              <a:t>one</a:t>
            </a:r>
            <a:r>
              <a:rPr lang="en-US" sz="2400" smtClean="0"/>
              <a:t> method to be executed </a:t>
            </a:r>
            <a:r>
              <a:rPr lang="en-US" sz="2400" i="1" smtClean="0"/>
              <a:t>just once,</a:t>
            </a:r>
            <a:r>
              <a:rPr lang="en-US" sz="2400" smtClean="0"/>
              <a:t> to do cleanup after all the tests have been </a:t>
            </a:r>
            <a:r>
              <a:rPr lang="en-US" sz="2400" u="sng" smtClean="0"/>
              <a:t>completed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>
                <a:solidFill>
                  <a:schemeClr val="accent2"/>
                </a:solidFill>
              </a:rPr>
              <a:t>	</a:t>
            </a:r>
            <a:r>
              <a:rPr lang="en-US" sz="2000" b="1" smtClean="0"/>
              <a:t>@AfterClass</a:t>
            </a:r>
            <a:br>
              <a:rPr lang="en-US" sz="2000" b="1" smtClean="0"/>
            </a:br>
            <a:r>
              <a:rPr lang="en-US" sz="2000" b="1" smtClean="0"/>
              <a:t>public static void tearDownClass() throws Exception {</a:t>
            </a:r>
            <a:br>
              <a:rPr lang="en-US" sz="2000" b="1" smtClean="0"/>
            </a:br>
            <a:r>
              <a:rPr lang="en-US" sz="2000" b="1" smtClean="0"/>
              <a:t>        // one-time cleanup code</a:t>
            </a:r>
            <a:br>
              <a:rPr lang="en-US" sz="2000" b="1" smtClean="0"/>
            </a:br>
            <a:r>
              <a:rPr lang="en-US" sz="2000" b="1" smtClean="0"/>
              <a:t>}</a:t>
            </a:r>
          </a:p>
        </p:txBody>
      </p:sp>
      <p:sp>
        <p:nvSpPr>
          <p:cNvPr id="30724" name="Rectangle 5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720725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sz="3600" b="1" dirty="0" err="1" smtClean="0"/>
              <a:t>Junit</a:t>
            </a:r>
            <a:r>
              <a:rPr lang="en-US" sz="3600" b="1" dirty="0" smtClean="0"/>
              <a:t> 4.x for testing programs</a:t>
            </a:r>
          </a:p>
        </p:txBody>
      </p:sp>
    </p:spTree>
    <p:extLst>
      <p:ext uri="{BB962C8B-B14F-4D97-AF65-F5344CB8AC3E}">
        <p14:creationId xmlns:p14="http://schemas.microsoft.com/office/powerpoint/2010/main" val="342522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BDFEFE0-DFF3-4310-9393-A7772184EEEC}" type="slidenum">
              <a:rPr lang="en-US">
                <a:latin typeface="Arial Black" pitchFamily="34" charset="0"/>
              </a:rPr>
              <a:pPr eaLnBrk="1" hangingPunct="1"/>
              <a:t>9</a:t>
            </a:fld>
            <a:endParaRPr lang="en-US">
              <a:latin typeface="Arial Black" pitchFamily="34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68413"/>
            <a:ext cx="8497888" cy="53292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smtClean="0"/>
              <a:t>If needed, define </a:t>
            </a:r>
            <a:r>
              <a:rPr lang="en-US" sz="2400" i="1" smtClean="0"/>
              <a:t>one or more</a:t>
            </a:r>
            <a:r>
              <a:rPr lang="en-US" sz="2400" smtClean="0"/>
              <a:t> methods to be executed </a:t>
            </a:r>
            <a:r>
              <a:rPr lang="en-US" sz="2400" u="sng" smtClean="0"/>
              <a:t>before</a:t>
            </a:r>
            <a:r>
              <a:rPr lang="en-US" sz="2400" smtClean="0"/>
              <a:t> </a:t>
            </a:r>
            <a:r>
              <a:rPr lang="en-US" sz="2400" u="sng" smtClean="0"/>
              <a:t>each test</a:t>
            </a:r>
            <a:r>
              <a:rPr lang="en-US" sz="2400" smtClean="0"/>
              <a:t>, e.g., typically for initializing values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smtClean="0"/>
              <a:t>   </a:t>
            </a:r>
            <a:r>
              <a:rPr lang="en-US" sz="2000" b="1" smtClean="0"/>
              <a:t>@Before</a:t>
            </a:r>
            <a:br>
              <a:rPr lang="en-US" sz="2000" b="1" smtClean="0"/>
            </a:br>
            <a:r>
              <a:rPr lang="en-US" sz="2000" b="1" smtClean="0"/>
              <a:t>public void setUp() {</a:t>
            </a:r>
            <a:br>
              <a:rPr lang="en-US" sz="2000" b="1" smtClean="0"/>
            </a:br>
            <a:r>
              <a:rPr lang="en-US" sz="2000" b="1" smtClean="0"/>
              <a:t>    program = new MyProgram();</a:t>
            </a:r>
            <a:br>
              <a:rPr lang="en-US" sz="2000" b="1" smtClean="0"/>
            </a:br>
            <a:r>
              <a:rPr lang="en-US" sz="2000" b="1" smtClean="0"/>
              <a:t>    array = new int[] { 1, 2, 3, 4, 5 };</a:t>
            </a:r>
            <a:br>
              <a:rPr lang="en-US" sz="2000" b="1" smtClean="0"/>
            </a:br>
            <a:r>
              <a:rPr lang="en-US" sz="2000" b="1" smtClean="0"/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b="1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smtClean="0"/>
              <a:t>If needed, define </a:t>
            </a:r>
            <a:r>
              <a:rPr lang="en-US" sz="2400" i="1" smtClean="0"/>
              <a:t>one or more</a:t>
            </a:r>
            <a:r>
              <a:rPr lang="en-US" sz="2400" smtClean="0"/>
              <a:t> methods to be executed after </a:t>
            </a:r>
            <a:r>
              <a:rPr lang="en-US" sz="2400" u="sng" smtClean="0"/>
              <a:t>each test</a:t>
            </a:r>
            <a:r>
              <a:rPr lang="en-US" sz="2400" smtClean="0"/>
              <a:t>, e.g.,</a:t>
            </a:r>
            <a:r>
              <a:rPr lang="en-US" sz="2400" u="sng" smtClean="0"/>
              <a:t> </a:t>
            </a:r>
            <a:r>
              <a:rPr lang="en-US" sz="2400" smtClean="0"/>
              <a:t>typically for releasing resources (files, etc.)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smtClean="0">
                <a:solidFill>
                  <a:schemeClr val="accent2"/>
                </a:solidFill>
              </a:rPr>
              <a:t>   </a:t>
            </a:r>
            <a:r>
              <a:rPr lang="en-US" sz="2000" b="1" smtClean="0"/>
              <a:t>@After</a:t>
            </a:r>
            <a:br>
              <a:rPr lang="en-US" sz="2000" b="1" smtClean="0"/>
            </a:br>
            <a:r>
              <a:rPr lang="en-US" sz="2000" b="1" smtClean="0"/>
              <a:t>public void tearDown() {</a:t>
            </a:r>
            <a:br>
              <a:rPr lang="en-US" sz="2000" b="1" smtClean="0"/>
            </a:br>
            <a:r>
              <a:rPr lang="en-US" sz="2000" b="1" smtClean="0"/>
              <a:t>}</a:t>
            </a:r>
          </a:p>
        </p:txBody>
      </p:sp>
      <p:sp>
        <p:nvSpPr>
          <p:cNvPr id="31748" name="Rectangle 5"/>
          <p:cNvSpPr>
            <a:spLocks noGrp="1" noChangeArrowheads="1"/>
          </p:cNvSpPr>
          <p:nvPr>
            <p:ph type="title"/>
          </p:nvPr>
        </p:nvSpPr>
        <p:spPr>
          <a:xfrm>
            <a:off x="539750" y="404813"/>
            <a:ext cx="8229600" cy="720725"/>
          </a:xfrm>
          <a:noFill/>
        </p:spPr>
        <p:txBody>
          <a:bodyPr/>
          <a:lstStyle/>
          <a:p>
            <a:pPr eaLnBrk="1" hangingPunct="1"/>
            <a:r>
              <a:rPr lang="en-US" sz="3200" dirty="0" err="1" smtClean="0"/>
              <a:t>Junit</a:t>
            </a:r>
            <a:r>
              <a:rPr lang="en-US" sz="3200" dirty="0" smtClean="0"/>
              <a:t> 4.x for testing programs</a:t>
            </a:r>
          </a:p>
        </p:txBody>
      </p:sp>
    </p:spTree>
    <p:extLst>
      <p:ext uri="{BB962C8B-B14F-4D97-AF65-F5344CB8AC3E}">
        <p14:creationId xmlns:p14="http://schemas.microsoft.com/office/powerpoint/2010/main" val="16418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438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Study the Triangle problem and tax calculation problem Junit Test Cases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69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2329</TotalTime>
  <Words>336</Words>
  <Application>Microsoft Office PowerPoint</Application>
  <PresentationFormat>On-screen Show (4:3)</PresentationFormat>
  <Paragraphs>80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ＭＳ Ｐゴシック</vt:lpstr>
      <vt:lpstr>Arial</vt:lpstr>
      <vt:lpstr>Arial Black</vt:lpstr>
      <vt:lpstr>Calibri</vt:lpstr>
      <vt:lpstr>Helvetica</vt:lpstr>
      <vt:lpstr>Times</vt:lpstr>
      <vt:lpstr>Times New Roman</vt:lpstr>
      <vt:lpstr>Wingdings</vt:lpstr>
      <vt:lpstr>Office Theme</vt:lpstr>
      <vt:lpstr>Introduction to Junit Framework Features</vt:lpstr>
      <vt:lpstr>JUnit - A Testing Framework </vt:lpstr>
      <vt:lpstr>What is a Framework?</vt:lpstr>
      <vt:lpstr>xUnit…..</vt:lpstr>
      <vt:lpstr>Framework Elements</vt:lpstr>
      <vt:lpstr>JUnit and  Class Testing</vt:lpstr>
      <vt:lpstr>Junit 4.x for testing programs</vt:lpstr>
      <vt:lpstr>Junit 4.x for testing programs</vt:lpstr>
      <vt:lpstr>Junit 4.x for testing programs</vt:lpstr>
      <vt:lpstr>Study the Triangle problem and tax calculation problem Junit Test Cases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201</cp:revision>
  <cp:lastPrinted>2011-08-23T15:27:31Z</cp:lastPrinted>
  <dcterms:created xsi:type="dcterms:W3CDTF">2011-08-13T19:09:36Z</dcterms:created>
  <dcterms:modified xsi:type="dcterms:W3CDTF">2019-09-13T04:01:09Z</dcterms:modified>
</cp:coreProperties>
</file>