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6" r:id="rId3"/>
    <p:sldId id="307" r:id="rId4"/>
    <p:sldId id="321" r:id="rId5"/>
    <p:sldId id="308" r:id="rId6"/>
    <p:sldId id="319" r:id="rId7"/>
    <p:sldId id="309" r:id="rId8"/>
    <p:sldId id="310" r:id="rId9"/>
    <p:sldId id="322" r:id="rId10"/>
    <p:sldId id="320" r:id="rId1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70" d="100"/>
          <a:sy n="70" d="100"/>
        </p:scale>
        <p:origin x="1179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C816A-BDF5-40F8-BA29-E0C9B731DE9B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8A7C2-1E93-453D-9FEB-BF955EA18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69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9T18:34:2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0 919 0 0,'0'0'7656'0'0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C9E5504-211C-4EB8-A41B-738E8188062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07613B-DE92-4EFE-8135-C787B2B7CF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25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10F6FB8C-0243-49B0-8FDD-E9614FD569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21D7E3A-6E7D-4239-ACD6-A8AF439E15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6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D0C862C3-B33B-467E-8152-59870F4E1A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66FAEA-8F51-4898-A536-CDF1F9BB0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356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F002B5-DE2D-403B-8C61-6FB9CBA20D9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BD69CA-E954-4AD4-8FF9-53DDD9C4E4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8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4069D13-8B9C-4D13-860D-A1011392C42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63BB3AE-845F-48E9-A25A-25C96ABA15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2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BE7E1E59-4AC1-4957-8624-33B018FB63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EE3B04-920B-4AA1-A541-8587CAEA1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DB11D-8BA3-4C0B-8954-C16BF8A3B2E7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7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9E5FCA7-A126-439C-9E57-FF2D1B00351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F398B06-4DD7-436A-A57E-5855B8848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813185-CE99-48BD-96CC-44FBA1DDC7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1B1F1B-AAC0-4574-AA69-DBDBC8B21B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7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717DBE-5CE6-499F-9275-2BC46107AB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AAFBF3-8D02-4BBA-BC4C-FB4D76DF97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7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CEABF5-B819-4C0E-8464-611085D7B0B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00F3C6-1298-48BB-8A46-8C6FB0139BE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5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AB4B1D-3C8E-4027-97A9-C7AF9D4098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0A9F92F-B63B-4007-A0D1-E14945C8DF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91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4AF6D17-8D92-4246-AE73-71B67DFA753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C44FFD2-3A13-49FB-857E-5654F139CC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83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2A7716-05CF-4FB3-AF60-E1BF0D88E62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EE9D38-7FAB-4C40-98BE-156E91A695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4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737823-A0E6-46AA-98E3-6DC7C168A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24E0A8-CE9C-4EA8-BF8B-9EE43B484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E3510389-07DC-4E54-819B-619E0C126F2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07847271-2C3A-405B-A6FE-6687023D61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5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5" Type="http://schemas.openxmlformats.org/officeDocument/2006/relationships/image" Target="../media/image12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_quality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title"/>
          </p:nvPr>
        </p:nvSpPr>
        <p:spPr>
          <a:xfrm>
            <a:off x="-2224" y="3962400"/>
            <a:ext cx="4191000" cy="1326952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endParaRPr lang="en-US" sz="3000" dirty="0"/>
          </a:p>
          <a:p>
            <a:pPr>
              <a:lnSpc>
                <a:spcPct val="90000"/>
              </a:lnSpc>
            </a:pPr>
            <a:r>
              <a:rPr lang="en-US" sz="3000" b="1" dirty="0"/>
              <a:t>What is Software Quality: Part 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F79189-6653-458C-9116-93A73F0B4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567" y="5308449"/>
            <a:ext cx="3505200" cy="596503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Janaka Balasooriya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36AF32E-D691-4FBF-92CA-9A9206608F69}"/>
              </a:ext>
            </a:extLst>
          </p:cNvPr>
          <p:cNvSpPr txBox="1">
            <a:spLocks/>
          </p:cNvSpPr>
          <p:nvPr/>
        </p:nvSpPr>
        <p:spPr bwMode="auto">
          <a:xfrm>
            <a:off x="441721" y="1219200"/>
            <a:ext cx="3868737" cy="22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CSE 464 : Software Quality Assurance and Testing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4E750FD-9F63-424E-A10B-A449D121C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905000"/>
            <a:ext cx="3887788" cy="3002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Lecture Objective : Understand Software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600" dirty="0"/>
              <a:t>What is software quality?: A Closer Look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4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6927"/>
            <a:ext cx="8229600" cy="67887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What is Software Engineering?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1143000"/>
            <a:ext cx="6521450" cy="242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28600" y="3567545"/>
            <a:ext cx="876935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b="1" dirty="0">
                <a:latin typeface="+mn-lt"/>
                <a:cs typeface="Times New Roman" pitchFamily="18" charset="0"/>
              </a:rPr>
              <a:t>Quality:</a:t>
            </a:r>
            <a:r>
              <a:rPr lang="en-US" sz="1600" dirty="0">
                <a:latin typeface="+mn-lt"/>
                <a:cs typeface="Times New Roman" pitchFamily="18" charset="0"/>
              </a:rPr>
              <a:t> Conformance to explicitly stated </a:t>
            </a:r>
            <a:r>
              <a:rPr lang="en-US" sz="16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functional and performance requirements</a:t>
            </a:r>
            <a:r>
              <a:rPr lang="en-US" sz="1600" dirty="0">
                <a:latin typeface="+mn-lt"/>
                <a:cs typeface="Times New Roman" pitchFamily="18" charset="0"/>
              </a:rPr>
              <a:t>, explicitly documented development standards, and</a:t>
            </a:r>
            <a:r>
              <a:rPr lang="en-US" sz="16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 implicit characteristics that are expected </a:t>
            </a:r>
            <a:r>
              <a:rPr lang="en-US" sz="1600" dirty="0">
                <a:latin typeface="+mn-lt"/>
                <a:cs typeface="Times New Roman" pitchFamily="18" charset="0"/>
              </a:rPr>
              <a:t>of all professionally developed software.</a:t>
            </a:r>
          </a:p>
          <a:p>
            <a:pPr algn="just" eaLnBrk="1" hangingPunct="1"/>
            <a:endParaRPr lang="en-US" sz="1600" b="1" dirty="0">
              <a:latin typeface="+mn-lt"/>
              <a:cs typeface="Times New Roman" pitchFamily="18" charset="0"/>
            </a:endParaRPr>
          </a:p>
          <a:p>
            <a:pPr algn="just" eaLnBrk="1" hangingPunct="1"/>
            <a:r>
              <a:rPr lang="en-US" sz="1600" b="1" dirty="0">
                <a:latin typeface="+mn-lt"/>
                <a:cs typeface="Times New Roman" pitchFamily="18" charset="0"/>
              </a:rPr>
              <a:t>Process Model:</a:t>
            </a:r>
            <a:r>
              <a:rPr lang="en-US" sz="1600" dirty="0">
                <a:latin typeface="+mn-lt"/>
                <a:cs typeface="Times New Roman" pitchFamily="18" charset="0"/>
              </a:rPr>
              <a:t> Defines a framework that uses software engineering methods to build quality software.</a:t>
            </a:r>
          </a:p>
          <a:p>
            <a:pPr algn="just" eaLnBrk="1" hangingPunct="1"/>
            <a:endParaRPr lang="en-US" sz="1600" dirty="0">
              <a:latin typeface="+mn-lt"/>
              <a:cs typeface="Times New Roman" pitchFamily="18" charset="0"/>
            </a:endParaRPr>
          </a:p>
          <a:p>
            <a:pPr algn="just" eaLnBrk="1" hangingPunct="1"/>
            <a:r>
              <a:rPr lang="en-US" sz="1600" b="1" dirty="0">
                <a:latin typeface="+mn-lt"/>
                <a:cs typeface="Times New Roman" pitchFamily="18" charset="0"/>
              </a:rPr>
              <a:t>Methods:</a:t>
            </a:r>
            <a:r>
              <a:rPr lang="en-US" sz="1600" dirty="0">
                <a:latin typeface="+mn-lt"/>
                <a:cs typeface="Times New Roman" pitchFamily="18" charset="0"/>
              </a:rPr>
              <a:t> technical details about how </a:t>
            </a:r>
            <a:r>
              <a:rPr lang="en-US" sz="1600" dirty="0" err="1">
                <a:latin typeface="+mn-lt"/>
                <a:cs typeface="Times New Roman" pitchFamily="18" charset="0"/>
              </a:rPr>
              <a:t>to’s</a:t>
            </a:r>
            <a:r>
              <a:rPr lang="en-US" sz="1600" dirty="0">
                <a:latin typeface="+mn-lt"/>
                <a:cs typeface="Times New Roman" pitchFamily="18" charset="0"/>
              </a:rPr>
              <a:t> for building software.</a:t>
            </a:r>
          </a:p>
          <a:p>
            <a:pPr algn="just" eaLnBrk="1" hangingPunct="1"/>
            <a:endParaRPr lang="en-US" sz="1600" dirty="0">
              <a:latin typeface="+mn-lt"/>
              <a:cs typeface="Times New Roman" pitchFamily="18" charset="0"/>
            </a:endParaRPr>
          </a:p>
          <a:p>
            <a:pPr algn="just" eaLnBrk="1" hangingPunct="1"/>
            <a:r>
              <a:rPr lang="en-US" sz="1600" b="1" dirty="0">
                <a:latin typeface="+mn-lt"/>
                <a:cs typeface="Times New Roman" pitchFamily="18" charset="0"/>
              </a:rPr>
              <a:t>Tools:</a:t>
            </a:r>
            <a:r>
              <a:rPr lang="en-US" sz="1600" dirty="0">
                <a:latin typeface="+mn-lt"/>
                <a:cs typeface="Times New Roman" pitchFamily="18" charset="0"/>
              </a:rPr>
              <a:t> Provides automated or semi-automated support for methods and process</a:t>
            </a:r>
          </a:p>
          <a:p>
            <a:pPr eaLnBrk="1" hangingPunct="1">
              <a:spcBef>
                <a:spcPct val="50000"/>
              </a:spcBef>
            </a:pP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808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90BD-BF2A-EB1A-EB38-93E2B434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Models</a:t>
            </a:r>
          </a:p>
        </p:txBody>
      </p:sp>
      <p:pic>
        <p:nvPicPr>
          <p:cNvPr id="1026" name="Picture 2" descr="Agile vs DevOps">
            <a:extLst>
              <a:ext uri="{FF2B5EF4-FFF2-40B4-BE49-F238E27FC236}">
                <a16:creationId xmlns:a16="http://schemas.microsoft.com/office/drawing/2014/main" id="{6449A7B5-47BC-059C-54D5-C1BFDA31A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794" y="1219200"/>
            <a:ext cx="5904341" cy="32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589C3-DE17-04F5-088C-A502A563C7B2}"/>
              </a:ext>
            </a:extLst>
          </p:cNvPr>
          <p:cNvSpPr txBox="1"/>
          <p:nvPr/>
        </p:nvSpPr>
        <p:spPr>
          <a:xfrm>
            <a:off x="3873964" y="4572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https://reqtest.com/agile-blog/agile-vs-devops/</a:t>
            </a:r>
          </a:p>
        </p:txBody>
      </p:sp>
      <p:pic>
        <p:nvPicPr>
          <p:cNvPr id="1030" name="Picture 6" descr="Waterfall">
            <a:extLst>
              <a:ext uri="{FF2B5EF4-FFF2-40B4-BE49-F238E27FC236}">
                <a16:creationId xmlns:a16="http://schemas.microsoft.com/office/drawing/2014/main" id="{AD14455D-29D0-9BB9-BFD5-AA58015FE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5" y="1252003"/>
            <a:ext cx="3055394" cy="320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A582A1-42FA-05DD-69BF-6C52E68FB627}"/>
              </a:ext>
            </a:extLst>
          </p:cNvPr>
          <p:cNvSpPr txBox="1"/>
          <p:nvPr/>
        </p:nvSpPr>
        <p:spPr>
          <a:xfrm>
            <a:off x="138545" y="4661885"/>
            <a:ext cx="29094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https://www.veritis.com/blog/waterfall-vs-agile-vs-devops-which-production-method-should-you-take/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55BE1A7-53C7-7B85-19AF-FFFD8826A759}"/>
                  </a:ext>
                </a:extLst>
              </p14:cNvPr>
              <p14:cNvContentPartPr/>
              <p14:nvPr/>
            </p14:nvContentPartPr>
            <p14:xfrm>
              <a:off x="7376793" y="2687793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55BE1A7-53C7-7B85-19AF-FFFD8826A75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67793" y="267879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61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762000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What is Software Quality?</a:t>
            </a:r>
            <a:endParaRPr lang="en-US" dirty="0">
              <a:solidFill>
                <a:srgbClr val="0000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1752600"/>
            <a:ext cx="84582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en-US" sz="2000" dirty="0"/>
              <a:t>Answer to this question depends on whom you ask the question, under what circumstance, for what kind of software systems …so on. 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marL="457200" indent="-457200" algn="just">
              <a:buFont typeface="Arial" pitchFamily="34" charset="0"/>
              <a:buChar char="•"/>
            </a:pPr>
            <a:endParaRPr lang="en-US" sz="2000" dirty="0"/>
          </a:p>
          <a:p>
            <a:pPr marL="457200" indent="-457200" algn="just">
              <a:buFont typeface="Arial" pitchFamily="34" charset="0"/>
              <a:buChar char="•"/>
            </a:pPr>
            <a:endParaRPr lang="en-US" sz="2000" dirty="0"/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000" dirty="0"/>
              <a:t>Different stake-holders of the software system are looking for different quality factors.</a:t>
            </a:r>
          </a:p>
        </p:txBody>
      </p:sp>
      <p:pic>
        <p:nvPicPr>
          <p:cNvPr id="4" name="Picture 16" descr="http://t3.gstatic.com/images?q=tbn:ANd9GcQMIkAbhEmX_tqx2zdqlNo9XB_14ZsrkCpJoJ8us3egupi6gcsRp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39" y="2542133"/>
            <a:ext cx="2507961" cy="180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://t1.gstatic.com/images?q=tbn:ANd9GcT1-P1Xe3mmbqmHA8U5xDQXhWBwlPOu4gNi9JIL0wY3f29O3MS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514424"/>
            <a:ext cx="2819400" cy="18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133600" y="4495800"/>
            <a:ext cx="525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How do You Compare the Quality of These Cars?</a:t>
            </a:r>
            <a:endParaRPr lang="en-US" dirty="0"/>
          </a:p>
        </p:txBody>
      </p:sp>
      <p:pic>
        <p:nvPicPr>
          <p:cNvPr id="1026" name="Picture 2" descr="Image result for racing cars 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213" y="2514426"/>
            <a:ext cx="2530374" cy="182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68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373436"/>
                </a:solidFill>
                <a:latin typeface="Minion-MIT"/>
              </a:rPr>
              <a:t>Watts S. Humphrey’s </a:t>
            </a:r>
            <a:r>
              <a:rPr lang="en-US" dirty="0"/>
              <a:t>View of Better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971800" y="1828800"/>
            <a:ext cx="6096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73436"/>
                </a:solidFill>
                <a:latin typeface="Minion-MIT"/>
              </a:rPr>
              <a:t>Good software, in Humphrey’s view, “is usable, reliable, defect free, cost effective and maintainable and software now is none of those things. </a:t>
            </a:r>
          </a:p>
          <a:p>
            <a:endParaRPr lang="en-US" sz="2800" dirty="0">
              <a:solidFill>
                <a:srgbClr val="373436"/>
              </a:solidFill>
              <a:latin typeface="Minion-MIT"/>
            </a:endParaRPr>
          </a:p>
          <a:p>
            <a:r>
              <a:rPr lang="en-US" sz="2800" dirty="0">
                <a:solidFill>
                  <a:srgbClr val="373436"/>
                </a:solidFill>
                <a:latin typeface="Minion-MIT"/>
              </a:rPr>
              <a:t>You can’t take something out of the box and know it’s going to work.”</a:t>
            </a:r>
            <a:endParaRPr lang="en-US" sz="2800" dirty="0"/>
          </a:p>
        </p:txBody>
      </p:sp>
      <p:pic>
        <p:nvPicPr>
          <p:cNvPr id="1026" name="Picture 2" descr="Image resul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2400300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5854" y="4572000"/>
            <a:ext cx="27625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Many consider him as the "father of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3" tooltip="Software quality"/>
              </a:rPr>
              <a:t>software quality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633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Software Quality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ISO-9126 =&gt; ISO 25010 (most recent)</a:t>
            </a:r>
          </a:p>
          <a:p>
            <a:r>
              <a:rPr lang="en-US" dirty="0"/>
              <a:t>SEI- CMM</a:t>
            </a:r>
          </a:p>
          <a:p>
            <a:r>
              <a:rPr lang="en-US" dirty="0"/>
              <a:t>McCall’s Quality Factors</a:t>
            </a:r>
          </a:p>
          <a:p>
            <a:endParaRPr lang="en-US" dirty="0"/>
          </a:p>
          <a:p>
            <a:r>
              <a:rPr lang="en-US" dirty="0"/>
              <a:t>…. Many more</a:t>
            </a:r>
          </a:p>
        </p:txBody>
      </p:sp>
    </p:spTree>
    <p:extLst>
      <p:ext uri="{BB962C8B-B14F-4D97-AF65-F5344CB8AC3E}">
        <p14:creationId xmlns:p14="http://schemas.microsoft.com/office/powerpoint/2010/main" val="14615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ISO – 25010 - Old</a:t>
            </a:r>
          </a:p>
        </p:txBody>
      </p:sp>
      <p:sp>
        <p:nvSpPr>
          <p:cNvPr id="3" name="Oval 2"/>
          <p:cNvSpPr/>
          <p:nvPr/>
        </p:nvSpPr>
        <p:spPr>
          <a:xfrm>
            <a:off x="3709550" y="2788490"/>
            <a:ext cx="1700649" cy="1600200"/>
          </a:xfrm>
          <a:prstGeom prst="ellipse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Software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82" y="2660069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000099"/>
                </a:solidFill>
              </a:rPr>
              <a:t>Portability : </a:t>
            </a:r>
            <a:r>
              <a:rPr lang="en-US" dirty="0">
                <a:solidFill>
                  <a:schemeClr val="tx1"/>
                </a:solidFill>
              </a:rPr>
              <a:t>Cross platform compatibility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755073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Functionality : </a:t>
            </a:r>
            <a:r>
              <a:rPr lang="en-US" dirty="0">
                <a:solidFill>
                  <a:schemeClr val="tx1"/>
                </a:solidFill>
              </a:rPr>
              <a:t>Satisfy stated/implemented needs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2617" y="2598703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Reliability: </a:t>
            </a:r>
          </a:p>
          <a:p>
            <a:r>
              <a:rPr lang="en-US" dirty="0">
                <a:solidFill>
                  <a:schemeClr val="tx1"/>
                </a:solidFill>
              </a:rPr>
              <a:t>Capability to maintain its desired level of performance </a:t>
            </a:r>
            <a:r>
              <a:rPr lang="en-US" dirty="0"/>
              <a:t>as required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5188" y="4031673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Maintainability : </a:t>
            </a:r>
            <a:r>
              <a:rPr lang="en-US" dirty="0">
                <a:solidFill>
                  <a:schemeClr val="tx1"/>
                </a:solidFill>
              </a:rPr>
              <a:t>How easy it is to modify and test the software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96000" y="4031673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Usability: </a:t>
            </a:r>
            <a:r>
              <a:rPr lang="en-US" dirty="0">
                <a:solidFill>
                  <a:schemeClr val="tx1"/>
                </a:solidFill>
              </a:rPr>
              <a:t>How easy it is to understand, learn, and use the software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54926" y="5337456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Efficiency : </a:t>
            </a:r>
            <a:r>
              <a:rPr lang="en-US" dirty="0">
                <a:solidFill>
                  <a:schemeClr val="tx1"/>
                </a:solidFill>
              </a:rPr>
              <a:t>Level of performance and resources usage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0" name="Down Arrow 9"/>
          <p:cNvSpPr/>
          <p:nvPr/>
        </p:nvSpPr>
        <p:spPr>
          <a:xfrm>
            <a:off x="4258606" y="1922318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10800000">
            <a:off x="4258606" y="4651656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 rot="15522680">
            <a:off x="3411657" y="4052989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 rot="7466183">
            <a:off x="5391530" y="4048230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 rot="18095493">
            <a:off x="3351488" y="2045356"/>
            <a:ext cx="339321" cy="884618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 rot="5400000">
            <a:off x="5510248" y="2893938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764" y="1101622"/>
            <a:ext cx="2981526" cy="13860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r>
              <a:rPr lang="en-US" b="1" dirty="0">
                <a:solidFill>
                  <a:srgbClr val="000099"/>
                </a:solidFill>
              </a:rPr>
              <a:t>Security : </a:t>
            </a:r>
            <a:r>
              <a:rPr lang="en-US" dirty="0">
                <a:solidFill>
                  <a:schemeClr val="tx1"/>
                </a:solidFill>
              </a:rPr>
              <a:t>Safeguard against malicious, incidental attacks as well as prevent lost of theft of information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79091" y="1125681"/>
            <a:ext cx="2981526" cy="1143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r>
              <a:rPr lang="en-US" b="1" dirty="0">
                <a:solidFill>
                  <a:srgbClr val="000099"/>
                </a:solidFill>
              </a:rPr>
              <a:t>Compatibility : </a:t>
            </a:r>
            <a:r>
              <a:rPr lang="en-US" dirty="0">
                <a:solidFill>
                  <a:schemeClr val="tx1"/>
                </a:solidFill>
              </a:rPr>
              <a:t>Ability to exchange information with other products, component, and systems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 rot="16200000">
            <a:off x="3229763" y="2963067"/>
            <a:ext cx="364747" cy="5948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 rot="3432506">
            <a:off x="5331470" y="2088344"/>
            <a:ext cx="405107" cy="828438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6188" y="5377945"/>
            <a:ext cx="29565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https://iso25000.com/index.php/en/iso-25000-standards/iso-25010</a:t>
            </a:r>
          </a:p>
        </p:txBody>
      </p:sp>
    </p:spTree>
    <p:extLst>
      <p:ext uri="{BB962C8B-B14F-4D97-AF65-F5344CB8AC3E}">
        <p14:creationId xmlns:p14="http://schemas.microsoft.com/office/powerpoint/2010/main" val="1453004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C3707-23A3-D8F6-416D-7C37A87B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2A723-5263-5B2E-9232-BF1804FC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ISO 25010 - New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20C564-CDAF-DF33-108E-B5F2F5AF2AEC}"/>
              </a:ext>
            </a:extLst>
          </p:cNvPr>
          <p:cNvSpPr/>
          <p:nvPr/>
        </p:nvSpPr>
        <p:spPr>
          <a:xfrm>
            <a:off x="3709550" y="2788490"/>
            <a:ext cx="1700649" cy="1600200"/>
          </a:xfrm>
          <a:prstGeom prst="ellipse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Software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Quality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A1A189-C440-F308-1062-481056894CE2}"/>
              </a:ext>
            </a:extLst>
          </p:cNvPr>
          <p:cNvSpPr/>
          <p:nvPr/>
        </p:nvSpPr>
        <p:spPr>
          <a:xfrm>
            <a:off x="10482" y="2660069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r>
              <a:rPr lang="en-US" b="1" dirty="0">
                <a:solidFill>
                  <a:srgbClr val="000099"/>
                </a:solidFill>
              </a:rPr>
              <a:t>Safety : </a:t>
            </a:r>
            <a:r>
              <a:rPr lang="en-US" sz="1400" dirty="0">
                <a:solidFill>
                  <a:schemeClr val="tx1"/>
                </a:solidFill>
              </a:rPr>
              <a:t>Degree to which a product under defined conditions to avoid human life, health or environment endangerment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BB35B-320A-5619-7522-E4E21035A122}"/>
              </a:ext>
            </a:extLst>
          </p:cNvPr>
          <p:cNvSpPr/>
          <p:nvPr/>
        </p:nvSpPr>
        <p:spPr>
          <a:xfrm>
            <a:off x="3048000" y="755073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Functionality : </a:t>
            </a:r>
            <a:r>
              <a:rPr lang="en-US" dirty="0">
                <a:solidFill>
                  <a:schemeClr val="tx1"/>
                </a:solidFill>
              </a:rPr>
              <a:t>Satisfy stated/implemented needs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C97F1-929E-4C48-2A14-37996D8F4698}"/>
              </a:ext>
            </a:extLst>
          </p:cNvPr>
          <p:cNvSpPr/>
          <p:nvPr/>
        </p:nvSpPr>
        <p:spPr>
          <a:xfrm>
            <a:off x="6124824" y="2395896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Reliability: </a:t>
            </a:r>
          </a:p>
          <a:p>
            <a:r>
              <a:rPr lang="en-US" dirty="0">
                <a:solidFill>
                  <a:schemeClr val="tx1"/>
                </a:solidFill>
              </a:rPr>
              <a:t>Capability to maintain its desired level of performance </a:t>
            </a:r>
            <a:r>
              <a:rPr lang="en-US" dirty="0"/>
              <a:t>as required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D46863-BD8D-5DF8-A4CF-517E39980142}"/>
              </a:ext>
            </a:extLst>
          </p:cNvPr>
          <p:cNvSpPr/>
          <p:nvPr/>
        </p:nvSpPr>
        <p:spPr>
          <a:xfrm>
            <a:off x="161470" y="3937210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Maintainability : </a:t>
            </a:r>
            <a:r>
              <a:rPr lang="en-US" dirty="0">
                <a:solidFill>
                  <a:schemeClr val="tx1"/>
                </a:solidFill>
              </a:rPr>
              <a:t>How easy it is to modify and test the software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F9330-9B8E-1B25-89E0-7EBEEEFEB5A6}"/>
              </a:ext>
            </a:extLst>
          </p:cNvPr>
          <p:cNvSpPr/>
          <p:nvPr/>
        </p:nvSpPr>
        <p:spPr>
          <a:xfrm>
            <a:off x="6085518" y="3709247"/>
            <a:ext cx="3048000" cy="1378527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Interaction Capability: </a:t>
            </a:r>
            <a:r>
              <a:rPr lang="en-US" dirty="0">
                <a:solidFill>
                  <a:schemeClr val="tx1"/>
                </a:solidFill>
              </a:rPr>
              <a:t>Degree to which a system can be interacted with by specified users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4DFB29-90F1-67B5-698D-F2FBBA23FA20}"/>
              </a:ext>
            </a:extLst>
          </p:cNvPr>
          <p:cNvSpPr/>
          <p:nvPr/>
        </p:nvSpPr>
        <p:spPr>
          <a:xfrm>
            <a:off x="1292291" y="5168696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Efficiency : </a:t>
            </a:r>
            <a:r>
              <a:rPr lang="en-US" dirty="0">
                <a:solidFill>
                  <a:schemeClr val="tx1"/>
                </a:solidFill>
              </a:rPr>
              <a:t>Level of performance and resources usage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88E71E3E-8AF2-4104-0CDD-C546137E4CFA}"/>
              </a:ext>
            </a:extLst>
          </p:cNvPr>
          <p:cNvSpPr/>
          <p:nvPr/>
        </p:nvSpPr>
        <p:spPr>
          <a:xfrm>
            <a:off x="4258606" y="1922318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7F342665-0C73-9EDC-2BE2-3BD5B6AC32AB}"/>
              </a:ext>
            </a:extLst>
          </p:cNvPr>
          <p:cNvSpPr/>
          <p:nvPr/>
        </p:nvSpPr>
        <p:spPr>
          <a:xfrm rot="10800000">
            <a:off x="4391146" y="4516709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C21AA3AA-B3F1-E777-7953-6F13182EF91A}"/>
              </a:ext>
            </a:extLst>
          </p:cNvPr>
          <p:cNvSpPr/>
          <p:nvPr/>
        </p:nvSpPr>
        <p:spPr>
          <a:xfrm rot="15522680">
            <a:off x="3411657" y="4052989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E69C38E8-73DA-7C5C-A8D4-91DE7761F5C5}"/>
              </a:ext>
            </a:extLst>
          </p:cNvPr>
          <p:cNvSpPr/>
          <p:nvPr/>
        </p:nvSpPr>
        <p:spPr>
          <a:xfrm rot="7466183">
            <a:off x="5391530" y="4048230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94A88C34-5163-174B-03F0-56A852C7C3A2}"/>
              </a:ext>
            </a:extLst>
          </p:cNvPr>
          <p:cNvSpPr/>
          <p:nvPr/>
        </p:nvSpPr>
        <p:spPr>
          <a:xfrm rot="18095493">
            <a:off x="3351488" y="2045356"/>
            <a:ext cx="339321" cy="884618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9BA9948A-EB4F-827F-9E69-A2BACDB61688}"/>
              </a:ext>
            </a:extLst>
          </p:cNvPr>
          <p:cNvSpPr/>
          <p:nvPr/>
        </p:nvSpPr>
        <p:spPr>
          <a:xfrm rot="5400000">
            <a:off x="5510248" y="2893938"/>
            <a:ext cx="405107" cy="6927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DE53E-1735-3C93-15CF-3872088F518D}"/>
              </a:ext>
            </a:extLst>
          </p:cNvPr>
          <p:cNvSpPr/>
          <p:nvPr/>
        </p:nvSpPr>
        <p:spPr>
          <a:xfrm>
            <a:off x="-8500" y="1022572"/>
            <a:ext cx="2981526" cy="13860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r>
              <a:rPr lang="en-US" b="1" dirty="0">
                <a:solidFill>
                  <a:srgbClr val="000099"/>
                </a:solidFill>
              </a:rPr>
              <a:t>Security : </a:t>
            </a:r>
            <a:r>
              <a:rPr lang="en-US" dirty="0">
                <a:solidFill>
                  <a:schemeClr val="tx1"/>
                </a:solidFill>
              </a:rPr>
              <a:t>Safeguard against malicious, incidental attacks as well as prevent lost of theft of information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55C94C-A366-8084-C14F-EA73616ACC5E}"/>
              </a:ext>
            </a:extLst>
          </p:cNvPr>
          <p:cNvSpPr/>
          <p:nvPr/>
        </p:nvSpPr>
        <p:spPr>
          <a:xfrm>
            <a:off x="6141884" y="1111519"/>
            <a:ext cx="2981526" cy="1143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endParaRPr lang="en-US" b="1" dirty="0">
              <a:solidFill>
                <a:srgbClr val="000099"/>
              </a:solidFill>
            </a:endParaRPr>
          </a:p>
          <a:p>
            <a:pPr algn="ctr"/>
            <a:r>
              <a:rPr lang="en-US" b="1" dirty="0">
                <a:solidFill>
                  <a:srgbClr val="000099"/>
                </a:solidFill>
              </a:rPr>
              <a:t>Compatibility : </a:t>
            </a:r>
            <a:r>
              <a:rPr lang="en-US" dirty="0">
                <a:solidFill>
                  <a:schemeClr val="tx1"/>
                </a:solidFill>
              </a:rPr>
              <a:t>Ability to exchange information with other products, component, and systems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893D4E82-D43E-53BE-0A4C-58CED2F030FD}"/>
              </a:ext>
            </a:extLst>
          </p:cNvPr>
          <p:cNvSpPr/>
          <p:nvPr/>
        </p:nvSpPr>
        <p:spPr>
          <a:xfrm rot="16200000">
            <a:off x="3229763" y="2963067"/>
            <a:ext cx="364747" cy="594827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5E118C54-B6E0-870B-6780-5CDB3368A280}"/>
              </a:ext>
            </a:extLst>
          </p:cNvPr>
          <p:cNvSpPr/>
          <p:nvPr/>
        </p:nvSpPr>
        <p:spPr>
          <a:xfrm rot="3432506">
            <a:off x="5331470" y="2088344"/>
            <a:ext cx="405107" cy="828438"/>
          </a:xfrm>
          <a:prstGeom prst="downArrow">
            <a:avLst/>
          </a:prstGeom>
          <a:solidFill>
            <a:srgbClr val="000099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E580D6-73A6-72CB-0559-5E40F64826A4}"/>
              </a:ext>
            </a:extLst>
          </p:cNvPr>
          <p:cNvSpPr/>
          <p:nvPr/>
        </p:nvSpPr>
        <p:spPr>
          <a:xfrm>
            <a:off x="1066800" y="6521021"/>
            <a:ext cx="62110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https://iso25000.com/index.php/en/iso-25000-standards/iso-25010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6D46D-0D8D-B8A3-9D50-FCB70A2104AC}"/>
              </a:ext>
            </a:extLst>
          </p:cNvPr>
          <p:cNvSpPr/>
          <p:nvPr/>
        </p:nvSpPr>
        <p:spPr>
          <a:xfrm>
            <a:off x="5193874" y="5174296"/>
            <a:ext cx="3048000" cy="1143000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Flexibility : </a:t>
            </a:r>
            <a:r>
              <a:rPr lang="en-US" dirty="0">
                <a:solidFill>
                  <a:schemeClr val="tx1"/>
                </a:solidFill>
              </a:rPr>
              <a:t>Degree to which a product can be adapted to changes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54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D15D-F116-495B-8915-8E8EA408D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743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Next =&gt; Software Quality – Online Shopping Store Example</a:t>
            </a:r>
          </a:p>
        </p:txBody>
      </p:sp>
    </p:spTree>
    <p:extLst>
      <p:ext uri="{BB962C8B-B14F-4D97-AF65-F5344CB8AC3E}">
        <p14:creationId xmlns:p14="http://schemas.microsoft.com/office/powerpoint/2010/main" val="2969751035"/>
      </p:ext>
    </p:extLst>
  </p:cSld>
  <p:clrMapOvr>
    <a:masterClrMapping/>
  </p:clrMapOvr>
</p:sld>
</file>

<file path=ppt/theme/theme1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1_L1_Introduction_CSE360</Template>
  <TotalTime>533</TotalTime>
  <Words>520</Words>
  <Application>Microsoft Office PowerPoint</Application>
  <PresentationFormat>On-screen Show (4:3)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Minion-MIT</vt:lpstr>
      <vt:lpstr>1_L1_Introduction_CSE360</vt:lpstr>
      <vt:lpstr> What is Software Quality: Part 1</vt:lpstr>
      <vt:lpstr>Lecture Objective : Understand Software Quality</vt:lpstr>
      <vt:lpstr>What is Software Engineering?</vt:lpstr>
      <vt:lpstr>Process Models</vt:lpstr>
      <vt:lpstr>What is Software Quality?</vt:lpstr>
      <vt:lpstr>Watts S. Humphrey’s View of Better Software</vt:lpstr>
      <vt:lpstr>Software Quality Frameworks</vt:lpstr>
      <vt:lpstr>ISO – 25010 - Old</vt:lpstr>
      <vt:lpstr>ISO 25010 - New</vt:lpstr>
      <vt:lpstr>Next =&gt; Software Quality – Online Shopping Store Example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86</cp:revision>
  <cp:lastPrinted>2012-08-23T16:16:29Z</cp:lastPrinted>
  <dcterms:created xsi:type="dcterms:W3CDTF">2011-08-13T19:09:36Z</dcterms:created>
  <dcterms:modified xsi:type="dcterms:W3CDTF">2025-01-14T18:15:08Z</dcterms:modified>
</cp:coreProperties>
</file>