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326" r:id="rId3"/>
    <p:sldId id="281" r:id="rId4"/>
    <p:sldId id="282" r:id="rId5"/>
    <p:sldId id="289" r:id="rId6"/>
    <p:sldId id="284" r:id="rId7"/>
    <p:sldId id="316" r:id="rId8"/>
    <p:sldId id="290" r:id="rId9"/>
    <p:sldId id="298" r:id="rId10"/>
    <p:sldId id="299" r:id="rId11"/>
    <p:sldId id="300" r:id="rId12"/>
    <p:sldId id="317" r:id="rId13"/>
    <p:sldId id="310" r:id="rId14"/>
    <p:sldId id="311" r:id="rId15"/>
    <p:sldId id="314" r:id="rId16"/>
    <p:sldId id="312" r:id="rId17"/>
    <p:sldId id="315" r:id="rId18"/>
    <p:sldId id="320" r:id="rId19"/>
    <p:sldId id="318" r:id="rId20"/>
    <p:sldId id="319" r:id="rId21"/>
    <p:sldId id="325" r:id="rId22"/>
    <p:sldId id="309" r:id="rId2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4669"/>
  </p:normalViewPr>
  <p:slideViewPr>
    <p:cSldViewPr>
      <p:cViewPr varScale="1">
        <p:scale>
          <a:sx n="114" d="100"/>
          <a:sy n="114" d="100"/>
        </p:scale>
        <p:origin x="17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8EDDA5-D8E5-1112-9314-8DA601BE03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B2A1B-2066-3030-531E-F7B7B636AF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A2C2581-2A7F-FA4A-850B-BE2C85956852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94375-9129-3CF8-0948-51E188346C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04165-B4EC-04EE-3F80-B16C71C2E1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6C855D7-90C3-2549-B3B2-75F50808E2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30E128-1CAD-371A-26E6-9A8300A68A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3C65F-4B36-9C66-62E7-B70C0974C0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FFD0678-86BB-3848-8932-1FCEB48953B2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752797-05B9-2FAF-85F6-ACBC47020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52554D1-6237-0276-F5CA-4580514C1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E20BD-4CE6-A7B4-C5C9-83DF696098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A5981-4B1A-6DFD-CE5C-E95B76C89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2F6A582-7756-6848-B940-12786EE594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C904FD8-8FA8-BEB0-E521-FACA198873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424" tIns="46213" rIns="92424" bIns="46213" anchor="b"/>
          <a:lstStyle>
            <a:lvl1pPr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6116C7F3-302E-A948-9760-14C8AECCA0FB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algn="r">
                <a:spcBef>
                  <a:spcPct val="0"/>
                </a:spcBef>
              </a:pPr>
              <a:t>7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04FE8CC-22F4-C76D-DF24-EB8C5385D3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B994A06-5988-39CF-9FC2-3047BC708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4416425"/>
            <a:ext cx="5046663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2424" tIns="46213" rIns="92424" bIns="46213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3C2CEB4-704F-439E-B3CB-E62089BB859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424" tIns="46213" rIns="92424" bIns="46213" anchor="b"/>
          <a:lstStyle>
            <a:lvl1pPr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E1AF2209-752A-E94C-AC5F-2D8AB33AE8E7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algn="r">
                <a:spcBef>
                  <a:spcPct val="0"/>
                </a:spcBef>
              </a:pPr>
              <a:t>8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D5CDB53-D0E8-3C64-4151-ADB980BFB7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DA1DE19-8325-D6A0-2E12-16F9CBCE4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4416425"/>
            <a:ext cx="5046663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2424" tIns="46213" rIns="92424" bIns="46213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F88F035-6BCF-B92E-7DB6-C48C21B135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424" tIns="46213" rIns="92424" bIns="46213" anchor="b"/>
          <a:lstStyle>
            <a:lvl1pPr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E0C273D2-377B-8444-BF0A-A4E78284D023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algn="r">
                <a:spcBef>
                  <a:spcPct val="0"/>
                </a:spcBef>
              </a:pPr>
              <a:t>9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9C3BB35-DB5D-8391-F676-FFB88BDAEF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8647BA6-BB79-0E8E-24AA-C1927620E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4416425"/>
            <a:ext cx="5046663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2424" tIns="46213" rIns="92424" bIns="46213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DB287696-E02D-85BF-2ACF-67796EFD819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424" tIns="46213" rIns="92424" bIns="46213" anchor="b"/>
          <a:lstStyle>
            <a:lvl1pPr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15E5ED51-A18A-224D-AF62-F3FDE2970CF1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algn="r">
                <a:spcBef>
                  <a:spcPct val="0"/>
                </a:spcBef>
              </a:pPr>
              <a:t>10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E896795-DE16-600C-0295-BEA12393E8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2510FF90-EE76-0EBB-5512-FBE88366B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4416425"/>
            <a:ext cx="5046663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2424" tIns="46213" rIns="92424" bIns="46213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2AF3EB1C-2015-C40D-3C69-86BC7CA4D2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424" tIns="46213" rIns="92424" bIns="46213" anchor="b"/>
          <a:lstStyle>
            <a:lvl1pPr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5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55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B8A8CDFD-63BC-B04B-83B3-32374E4491FF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algn="r">
                <a:spcBef>
                  <a:spcPct val="0"/>
                </a:spcBef>
              </a:pPr>
              <a:t>17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D4455F9-B776-6F0E-E5A9-7D1F086313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2B50594-FF27-6D9C-3527-1264C9234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4416425"/>
            <a:ext cx="5046663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2424" tIns="46213" rIns="92424" bIns="46213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A0CC4-3DDA-C071-350F-71A6FB4F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33E7A-DDB6-F440-92CC-CADDB8E8EBB3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537AE-143D-1E63-AE62-CC16B508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14420-A9E1-7E9D-27DA-BE69847B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BFFCF-E3E0-3345-99D4-80CCC6CA40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07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3C0E7-5A79-F08B-8630-38BB43A2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89F2E-C230-EA4F-A4C5-39E52A16357F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79E7-4EF9-C03F-5555-4AA316C0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D219-0797-EE80-A7B3-C8B75858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CBF2C-9F93-2D4F-BDB7-9343A03A9C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05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B868E-315F-65D9-FB5A-1E5DAD10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0A84EC-E6EB-5048-969E-B9D434B06522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BF0C9-3C0C-9BE1-3DE9-05E8B9EE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34D4D-1200-08C7-777E-C302AC37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43064-3D0C-F240-989E-057462B490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66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16C8D2-071F-92E3-6C9E-3FD3FE0C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4785E-AC2C-904E-B40C-9271628080BE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3179378-5791-2EA6-6512-E86A4F96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B76A4F-7F49-1059-4DDF-D733B6C7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186E4-1EA6-3542-9FE1-28D509E9D7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70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F23B87B-BC3A-0167-CEC0-A82CEF84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CFA22-5B03-6A4A-9FD2-09AFFAAF2F36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D69480-3F0B-80E1-80A8-EAB3C0A3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914F4B7-7471-073D-A0CD-4264B1F0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693B9-B1A4-A144-A8EA-E4221ED82A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80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AA3550-BFC1-B3CD-C627-82415182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398ED-0CFB-AF4B-867A-529D2A99C62B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DEC1A-3FF9-8466-0E7D-9FB96DC5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7B4321-4044-2E26-C0C9-1D8082B4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53524-6C5A-6640-8A97-726501BDAF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03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153A5A8-6036-FA81-050C-5967F357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1B49A-29C3-8444-B164-4F6AF1C3DF71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3DBB94-7E2A-3CA3-CDB5-1B815CF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FD5486-0664-A855-8D1F-162C8E9E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4123D-DCFA-2A4C-AEB5-22EA0A6DB3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33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6DDBCB-454E-3B7A-8B15-F2D8D0E5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3161B-6982-E640-8CD4-988A018B007E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4F84F1-ED33-FBDC-9835-2CF264A6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8B6928B-049F-B4C0-4707-3598A807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873AC-569C-B047-AE9B-D56F0AFDE6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90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76D0310-603F-D343-D101-EA5C6331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077E8-320F-C841-AB8A-D1B51F7EB354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A911B7-46D1-51E8-BB49-A18B9DBF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7B4565-CA18-0738-1437-2691CCA0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730FC-0A30-BC40-AEDF-EF924433BA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56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66EF8-2E58-A79D-D907-45A92A6E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A0567-0059-1C4E-9576-E82F5D45A023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E194-D13A-E5F2-7CEC-5E965D33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46E63-D97E-A46F-AC25-8F38C7C5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38C35-0E78-6D47-B1DD-2461062A1D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86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51B64-CAF1-8B2E-89DF-3B02C98F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442E5-F3B4-894A-9F00-F4FDB58FD596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C861A-D50E-D63C-DBE3-6B557C32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778B0-25E0-0D08-2952-881FA041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8C36F-418D-6546-A49D-E6B03FAB63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1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CA531A-CC24-760F-CC0A-8C01A53FA4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AE9E23-ECA7-F31F-4FDD-1FA1B9D2A1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4C9CE-1085-6741-A867-7A0C8D4848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227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A5D1A8A9-5AFF-0213-EE42-069BB9DAB3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225"/>
            <a:ext cx="1541462" cy="4778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B870AE8-2578-7C4F-BE57-AFAA4B1AA2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7848A81-FE68-1D42-9F50-50A6C66DCD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544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FE907FAB-208C-708B-4F42-9E1C2C17B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6056313"/>
            <a:ext cx="2211387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FA08F-32E6-4940-4ED8-E63BE944C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388"/>
            <a:ext cx="2319338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2146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4FB6B4-A291-FE88-3FD4-12142B07A65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CCD6EF-F862-00FA-FBFD-D8F27A2C37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051D6-BA6A-9B41-BF0D-50017DBD3D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365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5B9DB0E-00F0-D564-3BFF-C91C2E29E1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BA1C9DC-D92F-ABD6-265A-12344C8087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09FF6-585C-D445-ACD2-3C6927EA25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490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1CDF5807-F736-BD1A-2409-7E7FCDB63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063"/>
            <a:ext cx="20653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555675-3009-92B2-C009-7C880D923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388"/>
            <a:ext cx="2319338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DB883-780E-2971-3203-EA0631FE7D1D}"/>
              </a:ext>
            </a:extLst>
          </p:cNvPr>
          <p:cNvSpPr/>
          <p:nvPr/>
        </p:nvSpPr>
        <p:spPr bwMode="auto">
          <a:xfrm>
            <a:off x="423863" y="1001713"/>
            <a:ext cx="8296275" cy="74612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106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4EFE10C-A955-A872-FF67-740A666225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92FD86A-9D4B-A8A7-A81D-F4066154D9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2EDA7-A2DB-584C-A8F7-07D27AD337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9670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4E981E-B0E7-A321-9810-2D67C0B32C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F9E69B-6ED2-13BB-90AD-31DE0AAB57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C7B7E-61EC-614F-87B7-13DD50665E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343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331A92-66CE-C757-8493-F47BB724D0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6B865-88CE-DC67-FB52-0CB4C6D030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DCDF0-C443-5F41-85D0-C281EDBE2D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266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28F4E0-26C1-19E8-1BBC-D0CAA15BB92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66A0CB-7DA4-FBF0-262C-35BD44B363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D9A84-5D65-AB46-A281-9B7EA78D55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5953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45020E-A3F4-973F-E109-5676FF923AA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29827E-CF95-6E42-46DA-C8AB38480A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D3E96-F710-C447-93A0-3DF8150E9E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22674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3805755-B237-7826-ED5F-B63C61AB1F7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D9F0D5C-7A2F-7EE6-E915-648775F7E2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29A07-ACF3-714A-AE00-199895B96B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920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1A4E57-181A-1FAE-346A-D8C4894FC13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9F1C2E-70CE-8F0E-2696-3670F0C706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C4BB8-8798-C344-9E86-67737B8734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47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676F052-BE74-BC20-39ED-2F71A5C5C37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BBF484A-0EEE-6EC9-58B1-1E8A4090A0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FA09E-30AE-9A99-3C7A-8411AEC5B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9F8FCC3-7609-0947-AB57-EAA313FDAB6E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634C-9867-048C-948F-3DB8EBC84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12DDF-408A-E935-D231-A42890086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0D31192-5011-8E4D-92C8-F5F07C4214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45D327A-8EFF-8290-2C66-4E8F3B502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1E1D58-B965-DDAB-BB34-9C7CD820E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16CE5F64-65B7-A988-1ACD-F9DA02E874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90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4A3392AB-02B9-9FAE-A843-F85386EFC9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7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16467845-F868-BB42-840E-59B39983E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8" r:id="rId2"/>
    <p:sldLayoutId id="2147483699" r:id="rId3"/>
    <p:sldLayoutId id="2147483689" r:id="rId4"/>
    <p:sldLayoutId id="2147483690" r:id="rId5"/>
    <p:sldLayoutId id="214748370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1128FBC4-554F-DA25-CE1A-04ED30F0D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738" y="850900"/>
            <a:ext cx="3929062" cy="2992438"/>
          </a:xfrm>
        </p:spPr>
        <p:txBody>
          <a:bodyPr anchor="b"/>
          <a:lstStyle/>
          <a:p>
            <a:pPr algn="l"/>
            <a:r>
              <a:rPr lang="en-US" altLang="en-US" sz="4100" b="1"/>
              <a:t>CSE 464 : Software Quality Assurance and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F4D26-5481-58DA-E6D6-2426943E2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738" y="4267200"/>
            <a:ext cx="4360862" cy="216376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en-US" b="1" dirty="0"/>
              <a:t>Functional Testing I: Equivalent Classes </a:t>
            </a:r>
          </a:p>
          <a:p>
            <a:pPr algn="l">
              <a:defRPr/>
            </a:pPr>
            <a:r>
              <a:rPr lang="en-US" b="1" dirty="0"/>
              <a:t>Janaka Balasooriya</a:t>
            </a:r>
          </a:p>
        </p:txBody>
      </p:sp>
      <p:pic>
        <p:nvPicPr>
          <p:cNvPr id="8196" name="Picture 5" descr="Logo&#10;&#10;Description automatically generated">
            <a:extLst>
              <a:ext uri="{FF2B5EF4-FFF2-40B4-BE49-F238E27FC236}">
                <a16:creationId xmlns:a16="http://schemas.microsoft.com/office/drawing/2014/main" id="{CF8AB622-2251-0D4F-82EB-E8A0FFB63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057400"/>
            <a:ext cx="24130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AFE9-37B0-3E34-0952-EB319E092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04800"/>
            <a:ext cx="91440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>
                <a:solidFill>
                  <a:srgbClr val="000099"/>
                </a:solidFill>
              </a:rPr>
              <a:t>Functional Testing (Specified Behavioral Testing)  Approaches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A39D1383-ED63-A2BD-A762-7CF53E601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90600"/>
            <a:ext cx="8877300" cy="630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 Equivalent classes and Boundary Value Analysis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/>
              <a:t> Use cases and Decision Table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/>
              <a:t> State based testing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/>
              <a:t> Domain Testing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/>
              <a:t> Exploratory Testing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/>
              <a:t>  …………..Many more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u="sng">
                <a:solidFill>
                  <a:srgbClr val="000099"/>
                </a:solidFill>
              </a:rPr>
              <a:t>Characteristics of a good test case [1]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 </a:t>
            </a:r>
            <a:r>
              <a:rPr lang="en-US" altLang="en-US" sz="2000" b="1">
                <a:solidFill>
                  <a:srgbClr val="000099"/>
                </a:solidFill>
              </a:rPr>
              <a:t>It has a reasonable probability of finding a defect:</a:t>
            </a:r>
            <a:r>
              <a:rPr lang="en-US" altLang="en-US" sz="2000"/>
              <a:t> Work backward and think about possible ways of failing a particular program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 </a:t>
            </a:r>
            <a:r>
              <a:rPr lang="en-US" altLang="en-US" sz="2000" b="1">
                <a:solidFill>
                  <a:srgbClr val="000099"/>
                </a:solidFill>
              </a:rPr>
              <a:t>Its not redundant :</a:t>
            </a:r>
            <a:r>
              <a:rPr lang="en-US" altLang="en-US" sz="2000"/>
              <a:t> No two test cases try to catch the same defect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b="1">
                <a:solidFill>
                  <a:srgbClr val="000099"/>
                </a:solidFill>
              </a:rPr>
              <a:t> It’s the best of its bread :</a:t>
            </a:r>
            <a:r>
              <a:rPr lang="en-US" altLang="en-US" sz="2000"/>
              <a:t> Most suitable data set for a particular test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A55C-E2B6-B18A-4141-E523A3D04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0"/>
            <a:ext cx="82296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</a:rPr>
              <a:t>Equivalent Classes and Boundary Value Analysis</a:t>
            </a:r>
            <a:br>
              <a:rPr lang="en-US" sz="4000" dirty="0">
                <a:solidFill>
                  <a:srgbClr val="000099"/>
                </a:solidFill>
              </a:rPr>
            </a:br>
            <a:r>
              <a:rPr lang="en-US" sz="4000" dirty="0">
                <a:solidFill>
                  <a:srgbClr val="000099"/>
                </a:solidFill>
              </a:rPr>
              <a:t>Chapter 5 and Chapter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AE14913-22D6-135F-7216-BEE6D5EC6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0"/>
            <a:ext cx="8229600" cy="871538"/>
          </a:xfrm>
        </p:spPr>
        <p:txBody>
          <a:bodyPr/>
          <a:lstStyle/>
          <a:p>
            <a:r>
              <a:rPr lang="en-US" altLang="en-US">
                <a:solidFill>
                  <a:srgbClr val="000099"/>
                </a:solidFill>
              </a:rPr>
              <a:t>Equivalent Partition</a:t>
            </a: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D5EBAE23-CF12-98A1-D322-618C9238D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8153400" cy="497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C3C6-4B6E-6F77-A67A-DDEE644B9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228600"/>
            <a:ext cx="82296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</a:rPr>
              <a:t>What is an Equivalent class?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21E1477E-E151-6F3F-4C4F-FA9B4429C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90600"/>
            <a:ext cx="8305800" cy="594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 They all test the same thing so if one catches a defect, others probably will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Thus, test case generation using </a:t>
            </a:r>
            <a:r>
              <a:rPr lang="en-US" altLang="en-US" sz="2000" b="1">
                <a:solidFill>
                  <a:schemeClr val="hlink"/>
                </a:solidFill>
              </a:rPr>
              <a:t>equivalence class</a:t>
            </a:r>
            <a:r>
              <a:rPr lang="en-US" altLang="en-US" sz="2000"/>
              <a:t> allows a tester to subdivide the input domain into a relatively small number of sub-domains, say N&gt;1, as shown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In strict mathematical terms, the sub-domains by </a:t>
            </a:r>
            <a:r>
              <a:rPr lang="en-US" altLang="en-US" sz="2000" b="1">
                <a:solidFill>
                  <a:srgbClr val="FF0000"/>
                </a:solidFill>
              </a:rPr>
              <a:t>definition are disjoint</a:t>
            </a:r>
            <a:r>
              <a:rPr lang="en-US" altLang="en-US" sz="2000"/>
              <a:t>.   The four subsets shown in (a) constitute a partition of the input domain while the subsets  in (b) are not. Each subset is known as an </a:t>
            </a:r>
            <a:r>
              <a:rPr lang="en-US" altLang="en-US" sz="2000" b="1">
                <a:solidFill>
                  <a:schemeClr val="hlink"/>
                </a:solidFill>
              </a:rPr>
              <a:t>equivalence class</a:t>
            </a:r>
            <a:r>
              <a:rPr lang="en-US" altLang="en-US" sz="2000"/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/>
              <a:t>Finding equivalent classes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Consider both valid and invalid inputs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Look for equivalent output events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Look for equivalent operating environments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/>
              <a:t> Organize them in a table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</p:txBody>
      </p:sp>
      <p:pic>
        <p:nvPicPr>
          <p:cNvPr id="12292" name="Picture 5" descr="equivalence-partitions">
            <a:extLst>
              <a:ext uri="{FF2B5EF4-FFF2-40B4-BE49-F238E27FC236}">
                <a16:creationId xmlns:a16="http://schemas.microsoft.com/office/drawing/2014/main" id="{9FC8A390-4CFF-2E71-DE27-C61F10E37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932238"/>
            <a:ext cx="3017838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8479BE2A-C446-DAFE-F074-54F124930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514600"/>
            <a:ext cx="8229600" cy="1143000"/>
          </a:xfrm>
        </p:spPr>
        <p:txBody>
          <a:bodyPr/>
          <a:lstStyle/>
          <a:p>
            <a:r>
              <a:rPr lang="en-US" altLang="en-US"/>
              <a:t>Equivalent Partitioning (equivalent classes) – A Quick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237795B-A9B5-39BE-8EE7-F4E6D8B6D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9525" y="0"/>
            <a:ext cx="9144000" cy="871538"/>
          </a:xfrm>
        </p:spPr>
        <p:txBody>
          <a:bodyPr anchor="b"/>
          <a:lstStyle/>
          <a:p>
            <a:r>
              <a:rPr lang="en-US" altLang="en-US" sz="2800"/>
              <a:t>Equivalent Partitioning Examples</a:t>
            </a:r>
            <a:br>
              <a:rPr lang="en-US" altLang="en-US" sz="2800"/>
            </a:br>
            <a:r>
              <a:rPr lang="en-US" altLang="en-US" sz="2800"/>
              <a:t> Example 1</a:t>
            </a:r>
          </a:p>
        </p:txBody>
      </p:sp>
      <p:sp>
        <p:nvSpPr>
          <p:cNvPr id="483332" name="Text Box 4">
            <a:extLst>
              <a:ext uri="{FF2B5EF4-FFF2-40B4-BE49-F238E27FC236}">
                <a16:creationId xmlns:a16="http://schemas.microsoft.com/office/drawing/2014/main" id="{E33ADAD8-5C80-43BA-6179-FF377B29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44588"/>
            <a:ext cx="42672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6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Consider  an application  that takes an integer denoted by </a:t>
            </a:r>
            <a:r>
              <a:rPr lang="en-US" altLang="en-US" sz="1600">
                <a:solidFill>
                  <a:schemeClr val="hlink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age</a:t>
            </a:r>
            <a:r>
              <a:rPr lang="en-US" altLang="en-US" sz="16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as its input. Let us suppose that the only legal values of </a:t>
            </a:r>
            <a:r>
              <a:rPr lang="en-US" altLang="en-US" sz="1600">
                <a:solidFill>
                  <a:schemeClr val="hlink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age</a:t>
            </a:r>
            <a:r>
              <a:rPr lang="en-US" altLang="en-US" sz="16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are in the range [1..120]. The set of input values is now divided into a set E containing all integers in the range [1..120] and a set U containing the remaining integers. 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8391B57-A294-8DFC-D947-4DCCDFCF0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144588"/>
            <a:ext cx="4419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6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Further, assume that the application is required to process all values in the range [1..61] in accordance with requirement R1 and those in the range [62..120] according to requirement R2. Thus E is further subdivided into two regions depending on the expected behavior.  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51AC64A1-FB7F-3D4C-F317-6B1F17F10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425" y="4038600"/>
            <a:ext cx="47736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6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Similarly, it is expected that all invalid inputs less than or equal to 0 are to be treated in one way while all greater than 120 are to be treated differently.  This leads to a subdivision of U into two categories.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BE6FCB0-ACCE-0E37-12AB-DF56F6850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871538"/>
          </a:xfrm>
        </p:spPr>
        <p:txBody>
          <a:bodyPr anchor="b"/>
          <a:lstStyle/>
          <a:p>
            <a:r>
              <a:rPr lang="en-US" altLang="en-US" sz="3200"/>
              <a:t>Example 2: Equivalence classes for variables: strings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D9BA5-631C-6529-766E-504833728A33}"/>
              </a:ext>
            </a:extLst>
          </p:cNvPr>
          <p:cNvSpPr txBox="1"/>
          <p:nvPr/>
        </p:nvSpPr>
        <p:spPr>
          <a:xfrm>
            <a:off x="304800" y="1219200"/>
            <a:ext cx="8382000" cy="2586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Suppose you want to write test cases to test if variable names are valid for a given programming language that has following rules</a:t>
            </a:r>
          </a:p>
          <a:p>
            <a:pPr eaLnBrk="1" hangingPunct="1">
              <a:defRPr/>
            </a:pPr>
            <a:endParaRPr lang="en-US" dirty="0">
              <a:latin typeface="Arial" charset="0"/>
            </a:endParaRP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dirty="0">
                <a:latin typeface="Arial" charset="0"/>
              </a:rPr>
              <a:t>Variable names must start with a letter.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dirty="0">
                <a:latin typeface="Arial" charset="0"/>
              </a:rPr>
              <a:t>Variable names can have uppercase letters, lowercase letters, digits and _.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dirty="0">
                <a:latin typeface="Arial" charset="0"/>
              </a:rPr>
              <a:t>Maximum length is 100 characters.</a:t>
            </a:r>
          </a:p>
          <a:p>
            <a:pPr eaLnBrk="1" hangingPunct="1">
              <a:defRPr/>
            </a:pPr>
            <a:endParaRPr lang="en-US" dirty="0">
              <a:latin typeface="Arial" charset="0"/>
            </a:endParaRP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How can you partition the input string domain to test if a given variable name is valid?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FAF42F5-1396-443E-7857-EC112D481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0"/>
            <a:ext cx="8229600" cy="871538"/>
          </a:xfrm>
        </p:spPr>
        <p:txBody>
          <a:bodyPr anchor="b"/>
          <a:lstStyle/>
          <a:p>
            <a:r>
              <a:rPr lang="en-US" altLang="en-US" sz="3200"/>
              <a:t>Example 3: Equivalence classes for variables: arrays</a:t>
            </a:r>
          </a:p>
        </p:txBody>
      </p:sp>
      <p:sp>
        <p:nvSpPr>
          <p:cNvPr id="18435" name="TextBox 1">
            <a:extLst>
              <a:ext uri="{FF2B5EF4-FFF2-40B4-BE49-F238E27FC236}">
                <a16:creationId xmlns:a16="http://schemas.microsoft.com/office/drawing/2014/main" id="{A47D8C8A-AA78-B8D7-CD19-4D4B9662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8" y="1219200"/>
            <a:ext cx="8534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Suppose you want to test and application that reads integers stored in an array and count how many even numbers in the array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How can you partition the input domain to test this application?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4104560-C28A-643B-7E92-EB4AB7D4B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1463"/>
            <a:ext cx="8229600" cy="871537"/>
          </a:xfrm>
        </p:spPr>
        <p:txBody>
          <a:bodyPr anchor="b"/>
          <a:lstStyle/>
          <a:p>
            <a:r>
              <a:rPr lang="en-US" altLang="en-US"/>
              <a:t>Equivalence classes for operating environments</a:t>
            </a:r>
          </a:p>
        </p:txBody>
      </p:sp>
      <p:sp>
        <p:nvSpPr>
          <p:cNvPr id="20483" name="Text Box 20">
            <a:extLst>
              <a:ext uri="{FF2B5EF4-FFF2-40B4-BE49-F238E27FC236}">
                <a16:creationId xmlns:a16="http://schemas.microsoft.com/office/drawing/2014/main" id="{C935248D-F427-6651-49C3-2FF68D1A3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8534400" cy="542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When software is developed, usually we have a targeted  OS, minimum memory requirements ..etc.  So, look for equivalent classes based on operating environment also.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For example, if the program has been designed to work on a computer has between 64 and 256K of available memory, then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Equivalent classes are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Available memory is between 64-256 K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Available memory is less than 64 K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Available memory is larger than 256 K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8DD7B357-8136-20E4-0539-8D17BB29BB25}"/>
              </a:ext>
            </a:extLst>
          </p:cNvPr>
          <p:cNvSpPr txBox="1">
            <a:spLocks/>
          </p:cNvSpPr>
          <p:nvPr/>
        </p:nvSpPr>
        <p:spPr bwMode="auto">
          <a:xfrm>
            <a:off x="304800" y="3048000"/>
            <a:ext cx="82296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99"/>
                </a:solidFill>
                <a:latin typeface="Calibri" panose="020F0502020204030204" pitchFamily="34" charset="0"/>
              </a:rPr>
              <a:t>Equivalent Partitioning :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CD53878-DB2B-1DA4-A8E3-AF88FBEFD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763" y="76200"/>
            <a:ext cx="9144001" cy="871538"/>
          </a:xfrm>
        </p:spPr>
        <p:txBody>
          <a:bodyPr/>
          <a:lstStyle/>
          <a:p>
            <a:r>
              <a:rPr lang="en-US" altLang="en-US">
                <a:solidFill>
                  <a:srgbClr val="000099"/>
                </a:solidFill>
              </a:rPr>
              <a:t>Classification of Equivalent Partitioning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30314-783C-535E-8C12-78EDA4AC378A}"/>
              </a:ext>
            </a:extLst>
          </p:cNvPr>
          <p:cNvSpPr/>
          <p:nvPr/>
        </p:nvSpPr>
        <p:spPr>
          <a:xfrm>
            <a:off x="603250" y="1219200"/>
            <a:ext cx="8382000" cy="4894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dirty="0">
                <a:latin typeface="Arial" charset="0"/>
              </a:rPr>
              <a:t>Forms of Equivalence Class Testing (based on the textbook classification)</a:t>
            </a:r>
          </a:p>
          <a:p>
            <a:pPr eaLnBrk="1" hangingPunct="1">
              <a:defRPr/>
            </a:pPr>
            <a:r>
              <a:rPr lang="en-US" sz="2400" dirty="0">
                <a:latin typeface="Arial" charset="0"/>
              </a:rPr>
              <a:t>•   </a:t>
            </a:r>
            <a:r>
              <a:rPr lang="en-US" sz="2400" b="1" dirty="0">
                <a:solidFill>
                  <a:srgbClr val="000099"/>
                </a:solidFill>
                <a:latin typeface="Arial" charset="0"/>
              </a:rPr>
              <a:t>Weak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Arial" charset="0"/>
              </a:rPr>
              <a:t>Normal: </a:t>
            </a:r>
            <a:r>
              <a:rPr lang="en-US" sz="2400" dirty="0">
                <a:latin typeface="Arial" charset="0"/>
              </a:rPr>
              <a:t>classes of valid values of inputs </a:t>
            </a:r>
          </a:p>
          <a:p>
            <a:pPr eaLnBrk="1" hangingPunct="1">
              <a:defRPr/>
            </a:pPr>
            <a:r>
              <a:rPr lang="en-US" sz="2400" dirty="0">
                <a:latin typeface="Arial" charset="0"/>
              </a:rPr>
              <a:t>•   </a:t>
            </a:r>
            <a:r>
              <a:rPr lang="en-US" sz="2400" b="1" dirty="0">
                <a:solidFill>
                  <a:srgbClr val="000099"/>
                </a:solidFill>
                <a:latin typeface="Arial" charset="0"/>
              </a:rPr>
              <a:t>Strong Normal:  Valid inputs </a:t>
            </a:r>
            <a:r>
              <a:rPr lang="en-US" sz="2400" dirty="0">
                <a:latin typeface="Arial" charset="0"/>
              </a:rPr>
              <a:t>one from each class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000099"/>
                </a:solidFill>
                <a:latin typeface="Arial" charset="0"/>
              </a:rPr>
              <a:t>Weak Robust: </a:t>
            </a:r>
            <a:r>
              <a:rPr lang="en-US" sz="2400" dirty="0">
                <a:latin typeface="Arial" charset="0"/>
              </a:rPr>
              <a:t>classes of valid and invalid values of inputs (single fault assumption)</a:t>
            </a:r>
          </a:p>
          <a:p>
            <a:pPr eaLnBrk="1" hangingPunct="1">
              <a:defRPr/>
            </a:pPr>
            <a:r>
              <a:rPr lang="en-US" sz="2400" dirty="0">
                <a:latin typeface="Arial" charset="0"/>
              </a:rPr>
              <a:t>•  </a:t>
            </a:r>
            <a:r>
              <a:rPr lang="en-US" sz="2400" b="1" dirty="0">
                <a:solidFill>
                  <a:srgbClr val="000099"/>
                </a:solidFill>
                <a:latin typeface="Arial" charset="0"/>
              </a:rPr>
              <a:t>Strong Robust: </a:t>
            </a:r>
            <a:r>
              <a:rPr lang="en-US" sz="2400" dirty="0">
                <a:latin typeface="Arial" charset="0"/>
              </a:rPr>
              <a:t>(multiple fault assumption) one from each class in Cartesian Product</a:t>
            </a:r>
          </a:p>
          <a:p>
            <a:pPr eaLnBrk="1" hangingPunct="1">
              <a:defRPr/>
            </a:pPr>
            <a:endParaRPr lang="en-US" sz="2400" dirty="0">
              <a:latin typeface="Arial" charset="0"/>
            </a:endParaRPr>
          </a:p>
          <a:p>
            <a:pPr eaLnBrk="1" hangingPunct="1">
              <a:defRPr/>
            </a:pPr>
            <a:r>
              <a:rPr lang="en-US" sz="2400" dirty="0">
                <a:latin typeface="Arial" charset="0"/>
              </a:rPr>
              <a:t>Let’s  compare these for a function of two  variables, F(x1, x2)</a:t>
            </a:r>
          </a:p>
          <a:p>
            <a:pPr eaLnBrk="1" hangingPunct="1">
              <a:defRPr/>
            </a:pPr>
            <a:r>
              <a:rPr lang="en-US" sz="2400" dirty="0">
                <a:latin typeface="Arial" charset="0"/>
              </a:rPr>
              <a:t>• Extension to problems with 3 or more variables is not that difficult.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2911AEE5-8FCA-9940-6B62-E77A5DDD7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513"/>
            <a:ext cx="6324600" cy="499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9" name="Rectangle 2">
            <a:extLst>
              <a:ext uri="{FF2B5EF4-FFF2-40B4-BE49-F238E27FC236}">
                <a16:creationId xmlns:a16="http://schemas.microsoft.com/office/drawing/2014/main" id="{30CD6042-1406-4F22-FAEB-507BB71A6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828800"/>
            <a:ext cx="3200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Identify equivalence classes of valid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Test cases have all valid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OK for regression testing.</a:t>
            </a:r>
            <a:endParaRPr lang="en-US" altLang="en-US" sz="1800"/>
          </a:p>
        </p:txBody>
      </p:sp>
      <p:sp>
        <p:nvSpPr>
          <p:cNvPr id="24580" name="Title 1">
            <a:extLst>
              <a:ext uri="{FF2B5EF4-FFF2-40B4-BE49-F238E27FC236}">
                <a16:creationId xmlns:a16="http://schemas.microsoft.com/office/drawing/2014/main" id="{B1D45BD2-46D8-FA3D-71B3-F0F592E4E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-4763"/>
            <a:ext cx="8229600" cy="871538"/>
          </a:xfrm>
        </p:spPr>
        <p:txBody>
          <a:bodyPr/>
          <a:lstStyle/>
          <a:p>
            <a:r>
              <a:rPr lang="en-US" altLang="en-US"/>
              <a:t>Weak Normal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0918AB6-128F-9320-2565-48A1737DB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81600"/>
            <a:ext cx="8991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Identify equivalence classes of valid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Test cases from Cartesian Product of valid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Detects due to interactions with valid values of any number of variables.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OK for regression testing, better for progression  testing.</a:t>
            </a:r>
            <a:endParaRPr lang="en-US" altLang="en-US" sz="1800"/>
          </a:p>
        </p:txBody>
      </p:sp>
      <p:pic>
        <p:nvPicPr>
          <p:cNvPr id="25603" name="Picture 2">
            <a:extLst>
              <a:ext uri="{FF2B5EF4-FFF2-40B4-BE49-F238E27FC236}">
                <a16:creationId xmlns:a16="http://schemas.microsoft.com/office/drawing/2014/main" id="{545479D2-A46B-ABB1-FA3C-195C1B919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750"/>
            <a:ext cx="8915400" cy="501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D5FD4A8-3422-C573-FF2C-AA29F5746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5414963"/>
            <a:ext cx="9144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Identify equivalence classes of valid and invalid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Test cases have all valid values except one invalid value.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OK for regression testing.</a:t>
            </a:r>
            <a:endParaRPr lang="en-US" altLang="en-US" sz="1800"/>
          </a:p>
        </p:txBody>
      </p:sp>
      <p:sp>
        <p:nvSpPr>
          <p:cNvPr id="26627" name="TextBox 1">
            <a:extLst>
              <a:ext uri="{FF2B5EF4-FFF2-40B4-BE49-F238E27FC236}">
                <a16:creationId xmlns:a16="http://schemas.microsoft.com/office/drawing/2014/main" id="{5B021494-62FB-65F6-A6AC-DF8DBB0AB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8610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/>
              <a:t>Weak Robust Equivalent Class Testing </a:t>
            </a:r>
          </a:p>
        </p:txBody>
      </p:sp>
      <p:pic>
        <p:nvPicPr>
          <p:cNvPr id="26628" name="Picture 5">
            <a:extLst>
              <a:ext uri="{FF2B5EF4-FFF2-40B4-BE49-F238E27FC236}">
                <a16:creationId xmlns:a16="http://schemas.microsoft.com/office/drawing/2014/main" id="{06E209B1-156A-649F-BDBE-EA42E4CFE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114800"/>
            <a:ext cx="87249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9" name="Picture 6">
            <a:extLst>
              <a:ext uri="{FF2B5EF4-FFF2-40B4-BE49-F238E27FC236}">
                <a16:creationId xmlns:a16="http://schemas.microsoft.com/office/drawing/2014/main" id="{8BA410D0-8D7A-B320-2573-49A7DD4F0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81075"/>
            <a:ext cx="7239000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F5F5D24-F410-6E48-9A47-06AE2A658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" y="5657850"/>
            <a:ext cx="91725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Identify equivalence classes of valid and invalid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Test cases from Cartesian Product of all classes.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• </a:t>
            </a:r>
            <a:r>
              <a:rPr lang="en-US" altLang="en-US" sz="1800" b="1"/>
              <a:t>Detects faults due to interactions with any values of any number of variables.</a:t>
            </a:r>
            <a:endParaRPr lang="en-US" altLang="en-US" sz="1800"/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FF09C3CE-8E95-9E5C-2123-E917EE105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3175"/>
            <a:ext cx="8969375" cy="52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2" name="Title 1">
            <a:extLst>
              <a:ext uri="{FF2B5EF4-FFF2-40B4-BE49-F238E27FC236}">
                <a16:creationId xmlns:a16="http://schemas.microsoft.com/office/drawing/2014/main" id="{EF10BBCD-03A2-5182-4072-F55ED8F6D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0"/>
            <a:ext cx="8229600" cy="871538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A34459A-89DC-B610-8F88-2EB99DCED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0"/>
            <a:ext cx="8229600" cy="871538"/>
          </a:xfrm>
        </p:spPr>
        <p:txBody>
          <a:bodyPr anchor="b"/>
          <a:lstStyle/>
          <a:p>
            <a:r>
              <a:rPr lang="en-US" altLang="en-US"/>
              <a:t>Another Partitioning Example</a:t>
            </a:r>
          </a:p>
        </p:txBody>
      </p:sp>
      <p:sp>
        <p:nvSpPr>
          <p:cNvPr id="522243" name="Text Box 3">
            <a:extLst>
              <a:ext uri="{FF2B5EF4-FFF2-40B4-BE49-F238E27FC236}">
                <a16:creationId xmlns:a16="http://schemas.microsoft.com/office/drawing/2014/main" id="{3E6C7B4D-0D49-730B-EDF8-CA3E5D227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447800"/>
            <a:ext cx="80676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Consider an application that requires two integer inputs</a:t>
            </a:r>
            <a:r>
              <a:rPr lang="en-US" altLang="en-US" sz="1800">
                <a:solidFill>
                  <a:schemeClr val="hlink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x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1800">
                <a:solidFill>
                  <a:schemeClr val="hlink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. Each of these inputs is expected to lie in the following ranges: 3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x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7,  7&lt;x 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 15 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and 5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9, 9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&lt;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20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.  No other constrains specified.</a:t>
            </a:r>
          </a:p>
        </p:txBody>
      </p:sp>
      <p:sp>
        <p:nvSpPr>
          <p:cNvPr id="28676" name="Text Box 6">
            <a:extLst>
              <a:ext uri="{FF2B5EF4-FFF2-40B4-BE49-F238E27FC236}">
                <a16:creationId xmlns:a16="http://schemas.microsoft.com/office/drawing/2014/main" id="{8DDADA19-F9E3-3A57-A379-14AA61A79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581400"/>
            <a:ext cx="81692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99"/>
                </a:solidFill>
              </a:rPr>
              <a:t>Design equivalent classes to test this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CB14858-5AE6-2D6B-CD7F-802153A2B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590800"/>
            <a:ext cx="8229600" cy="871538"/>
          </a:xfrm>
        </p:spPr>
        <p:txBody>
          <a:bodyPr/>
          <a:lstStyle/>
          <a:p>
            <a:r>
              <a:rPr lang="en-US" altLang="en-US" sz="4000"/>
              <a:t>In-class activity</a:t>
            </a:r>
            <a:br>
              <a:rPr lang="en-US" altLang="en-US" sz="4000"/>
            </a:br>
            <a:r>
              <a:rPr lang="en-US" altLang="en-US" sz="4000"/>
              <a:t>Will be assigned during the class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51D57A22-1494-E642-4953-111A0B7C2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525713"/>
            <a:ext cx="8229600" cy="871537"/>
          </a:xfrm>
        </p:spPr>
        <p:txBody>
          <a:bodyPr/>
          <a:lstStyle/>
          <a:p>
            <a:r>
              <a:rPr lang="en-US" altLang="en-US" sz="4000"/>
              <a:t>Junit Demo – In-class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BA1722D-635D-8D0E-4C92-6198A10B8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0"/>
            <a:ext cx="8229600" cy="871538"/>
          </a:xfrm>
        </p:spPr>
        <p:txBody>
          <a:bodyPr/>
          <a:lstStyle/>
          <a:p>
            <a:r>
              <a:rPr lang="en-US" altLang="en-US">
                <a:solidFill>
                  <a:srgbClr val="000099"/>
                </a:solidFill>
              </a:rPr>
              <a:t>Next Time</a:t>
            </a:r>
          </a:p>
        </p:txBody>
      </p:sp>
      <p:sp>
        <p:nvSpPr>
          <p:cNvPr id="32771" name="TextBox 2">
            <a:extLst>
              <a:ext uri="{FF2B5EF4-FFF2-40B4-BE49-F238E27FC236}">
                <a16:creationId xmlns:a16="http://schemas.microsoft.com/office/drawing/2014/main" id="{50758970-4222-8AAB-5D7B-86C9757D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83820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Meanwhile Something to work on (No submission requited, we will use this as one of the examples in designing test cases)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Triangle program accepts three integers a, b, and c as inputs. These are taken to be sides of  a triangle. The output of the program is the type of triangle determined by the three sides: </a:t>
            </a:r>
            <a:r>
              <a:rPr lang="en-US" altLang="en-US" sz="2000" b="1">
                <a:solidFill>
                  <a:srgbClr val="000099"/>
                </a:solidFill>
              </a:rPr>
              <a:t>Equilateral, Isosceles, Scalene</a:t>
            </a:r>
            <a:r>
              <a:rPr lang="en-US" altLang="en-US" sz="2000"/>
              <a:t>, or Not A Triangle. In addition  1 &lt;= a &lt;= 200, 1 &lt;= b &lt;= 200, and 1 &lt;= c &lt;= 200.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Also, to be a triangle sum of any two sides should be greater than the other side ( a &lt; b +c , c &lt; a + b, b &lt; a +c 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a) How do you plan to test this program?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b) Design test cases based on your plan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B3111B1-815E-2D1F-CCAB-6A27477C2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0"/>
            <a:ext cx="8229600" cy="871538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Next Time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C620D9A-5FD4-1F70-A917-3127AD56BCE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38200" y="2362200"/>
            <a:ext cx="8229600" cy="1447800"/>
          </a:xfrm>
        </p:spPr>
        <p:txBody>
          <a:bodyPr/>
          <a:lstStyle/>
          <a:p>
            <a:r>
              <a:rPr lang="en-US" altLang="en-US"/>
              <a:t>Analysis of the Triangle problem</a:t>
            </a:r>
          </a:p>
          <a:p>
            <a:r>
              <a:rPr lang="en-US" altLang="en-US"/>
              <a:t>Boundary value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1127</Words>
  <Application>Microsoft Macintosh PowerPoint</Application>
  <PresentationFormat>On-screen Show (4:3)</PresentationFormat>
  <Paragraphs>98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Times New Roman</vt:lpstr>
      <vt:lpstr>ＭＳ Ｐゴシック</vt:lpstr>
      <vt:lpstr>Symbol</vt:lpstr>
      <vt:lpstr>Office Theme</vt:lpstr>
      <vt:lpstr>1_L1_Introduction_CSE360</vt:lpstr>
      <vt:lpstr>CSE 464 : Software Quality Assurance and Testing</vt:lpstr>
      <vt:lpstr>Functional Testing (Specified Behavioral Testing)  Approaches</vt:lpstr>
      <vt:lpstr>Equivalent Classes and Boundary Value Analysis Chapter 5 and Chapter 6</vt:lpstr>
      <vt:lpstr>Equivalent Partition</vt:lpstr>
      <vt:lpstr>What is an Equivalent class?</vt:lpstr>
      <vt:lpstr>Equivalent Partitioning (equivalent classes) – A Quick Review</vt:lpstr>
      <vt:lpstr>Equivalent Partitioning Examples  Example 1</vt:lpstr>
      <vt:lpstr>Example 2: Equivalence classes for variables: strings</vt:lpstr>
      <vt:lpstr>Example 3: Equivalence classes for variables: arrays</vt:lpstr>
      <vt:lpstr>Equivalence classes for operating environments</vt:lpstr>
      <vt:lpstr>PowerPoint Presentation</vt:lpstr>
      <vt:lpstr>Classification of Equivalent Partitioning</vt:lpstr>
      <vt:lpstr>Weak Normal </vt:lpstr>
      <vt:lpstr>PowerPoint Presentation</vt:lpstr>
      <vt:lpstr>PowerPoint Presentation</vt:lpstr>
      <vt:lpstr>PowerPoint Presentation</vt:lpstr>
      <vt:lpstr>Another Partitioning Example</vt:lpstr>
      <vt:lpstr>In-class activity Will be assigned during the class time</vt:lpstr>
      <vt:lpstr>Junit Demo – In-class</vt:lpstr>
      <vt:lpstr>Next Time</vt:lpstr>
      <vt:lpstr> Next Time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Bhavya Patel (Student)</cp:lastModifiedBy>
  <cp:revision>122</cp:revision>
  <cp:lastPrinted>2011-08-23T15:27:31Z</cp:lastPrinted>
  <dcterms:created xsi:type="dcterms:W3CDTF">2011-08-13T19:09:36Z</dcterms:created>
  <dcterms:modified xsi:type="dcterms:W3CDTF">2025-10-01T22:18:58Z</dcterms:modified>
</cp:coreProperties>
</file>