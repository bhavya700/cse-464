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handoutMasterIdLst>
    <p:handoutMasterId r:id="rId15"/>
  </p:handoutMasterIdLst>
  <p:sldIdLst>
    <p:sldId id="257" r:id="rId3"/>
    <p:sldId id="279" r:id="rId4"/>
    <p:sldId id="281" r:id="rId5"/>
    <p:sldId id="261" r:id="rId6"/>
    <p:sldId id="280" r:id="rId7"/>
    <p:sldId id="262" r:id="rId8"/>
    <p:sldId id="263" r:id="rId9"/>
    <p:sldId id="278" r:id="rId10"/>
    <p:sldId id="270" r:id="rId11"/>
    <p:sldId id="282" r:id="rId12"/>
    <p:sldId id="271" r:id="rId13"/>
    <p:sldId id="256" r:id="rId1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CC00"/>
    <a:srgbClr val="0099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3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164C6B3-2D96-4214-925E-F511124DED9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39C7922-F135-4FB2-899D-544597543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666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4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9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2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0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4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48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1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28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3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9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E61315-848B-4E63-AFE8-4351861CF9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D12BB0-898B-48C0-B7FE-70255021BE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28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C7789F5D-41D3-4AF8-9A6F-6DCE1EDFF07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955632B-53B9-4C68-A85F-18C4D74DCE0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96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B069A04B-9C4E-4FBB-97D3-7675C9C509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20DA9F-92C9-47BA-AC2E-FF26A3425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1243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47D8FF-3AEF-43F3-A49B-E22BF1A111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EE2EDE-69D2-4ABE-AFDA-18B6449E32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24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ED4AFEE-8C8B-471D-BAAB-670E81BB95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90BE73C-DC54-4EA4-A145-773120A237C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63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EC1A86C4-8987-4D34-9917-1A51F00696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FD847A-8105-45A7-9EED-3242B5410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63310-D7E0-4C24-B74F-23794B785AD1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03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5B2A5DB-3347-4EAC-854A-9593363DC6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256719A-0A40-47FB-B724-5C925E16055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72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9EB4A0-609E-4C12-9D58-AF8394B663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EF8718-DB70-4678-AD46-7D174D3F05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44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03180D-CC39-45CB-8823-4AA5BC2509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E5DD87-55CF-4FA4-BA04-AE4D4A13BA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40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1F20E6-CCEA-4104-93AF-6DFF92FFB5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731654D-AC2F-4166-ADC4-4541AE487C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17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9979BA-2C58-4137-B2C6-8C188921158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72C308-16E1-4265-9B81-5C4F531A86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69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E6A8CC5-F99C-472B-B0C0-EA5094E3988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35D2840-19BC-4B35-B5F7-E2FDD5C62B6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05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3CF7FB-2437-4792-9687-39E15776A41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785C8B-15CD-455D-A260-02338F7539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3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87A48-34FC-46B7-814C-7EA83C88E2DF}" type="datetimeFigureOut">
              <a:rPr lang="en-US" smtClean="0"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9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8D8211-C13D-40FC-9C8A-78716A002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9A0F8D-01F6-4214-89B1-1A675BE4D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97163C24-5B9C-42A5-AC1A-A5EDD7F5E8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85B7F529-CD17-4B29-A216-D22E47C070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D025B84-2526-43A5-9DE2-27203EF3F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2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D8053C-AF28-403A-90F2-67A100EDE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8187" y="1593658"/>
            <a:ext cx="4803195" cy="2959419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9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8187" y="4659464"/>
            <a:ext cx="4803195" cy="717208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b="1" dirty="0"/>
              <a:t>Analysis of BVA, EP, and DT</a:t>
            </a:r>
          </a:p>
          <a:p>
            <a:pPr algn="l">
              <a:lnSpc>
                <a:spcPct val="90000"/>
              </a:lnSpc>
            </a:pPr>
            <a:r>
              <a:rPr lang="en-US" sz="2000" b="1" dirty="0"/>
              <a:t>(Strengths Limitations and Applicability)</a:t>
            </a:r>
          </a:p>
          <a:p>
            <a:pPr algn="l">
              <a:lnSpc>
                <a:spcPct val="90000"/>
              </a:lnSpc>
            </a:pPr>
            <a:endParaRPr lang="en-US" sz="2000" dirty="0"/>
          </a:p>
          <a:p>
            <a:pPr algn="l">
              <a:lnSpc>
                <a:spcPct val="90000"/>
              </a:lnSpc>
            </a:pPr>
            <a:r>
              <a:rPr lang="en-US" sz="2000" b="1" dirty="0"/>
              <a:t>Janaka Balasooriya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2CB03B2-24A4-41F2-9491-9A90B3807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3900" y="2117380"/>
            <a:ext cx="3055094" cy="2359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3EE64F-16AA-4E92-AC75-26714B95F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68187" y="746452"/>
            <a:ext cx="846286" cy="847206"/>
            <a:chOff x="8183879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2C925BF-6697-4E5C-A269-2F88053AC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34BFECD-A97E-4D3F-A8CF-03115207D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248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Last Lecture: Decision Table </a:t>
            </a:r>
          </a:p>
        </p:txBody>
      </p:sp>
      <p:sp>
        <p:nvSpPr>
          <p:cNvPr id="3" name="Rectangle 2"/>
          <p:cNvSpPr/>
          <p:nvPr/>
        </p:nvSpPr>
        <p:spPr>
          <a:xfrm>
            <a:off x="386542" y="1600200"/>
            <a:ext cx="8763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Originally known as Cause and Effect Graphing</a:t>
            </a:r>
          </a:p>
          <a:p>
            <a:pPr lvl="1"/>
            <a:r>
              <a:rPr lang="en-US" sz="2400" dirty="0"/>
              <a:t>– Done with a graphical technique that expressed AND-OR-NOT logic.</a:t>
            </a:r>
          </a:p>
          <a:p>
            <a:pPr lvl="1"/>
            <a:r>
              <a:rPr lang="en-US" sz="2400" dirty="0"/>
              <a:t>– Causes and Effects were graphed like circuit components</a:t>
            </a:r>
          </a:p>
          <a:p>
            <a:pPr lvl="1"/>
            <a:r>
              <a:rPr lang="en-US" sz="2400" dirty="0"/>
              <a:t>– Inputs to a circuit “caused” outputs (effects) </a:t>
            </a:r>
          </a:p>
          <a:p>
            <a:r>
              <a:rPr lang="en-US" sz="2400" dirty="0"/>
              <a:t>• Equivalent to forming a decision table in which:</a:t>
            </a:r>
          </a:p>
          <a:p>
            <a:pPr lvl="1"/>
            <a:r>
              <a:rPr lang="en-US" sz="2400" dirty="0"/>
              <a:t>– inputs are conditions</a:t>
            </a:r>
          </a:p>
          <a:p>
            <a:pPr lvl="1"/>
            <a:r>
              <a:rPr lang="en-US" sz="2400" dirty="0"/>
              <a:t>– outputs are actions</a:t>
            </a:r>
          </a:p>
          <a:p>
            <a:r>
              <a:rPr lang="en-US" sz="2400" dirty="0"/>
              <a:t>• Test every (possible) rule in the decision table.</a:t>
            </a:r>
          </a:p>
          <a:p>
            <a:r>
              <a:rPr lang="en-US" sz="2400" dirty="0"/>
              <a:t>• Recommended for logically complex situations.</a:t>
            </a:r>
          </a:p>
        </p:txBody>
      </p:sp>
    </p:spTree>
    <p:extLst>
      <p:ext uri="{BB962C8B-B14F-4D97-AF65-F5344CB8AC3E}">
        <p14:creationId xmlns:p14="http://schemas.microsoft.com/office/powerpoint/2010/main" val="346473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Decision Tables Do Not Work?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2954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Well When…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The order of inputs is important.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Time duration of input events is important.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Times at which inputs occur is important.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Special Considerations are needed When…</a:t>
            </a:r>
          </a:p>
          <a:p>
            <a:r>
              <a:rPr lang="en-US" b="1" dirty="0"/>
              <a:t>Conditions are mutually exclusive.</a:t>
            </a:r>
          </a:p>
          <a:p>
            <a:r>
              <a:rPr lang="en-US" b="1" dirty="0"/>
              <a:t>There are many conditions. (n </a:t>
            </a:r>
            <a:r>
              <a:rPr lang="en-US" b="1" dirty="0" err="1"/>
              <a:t>boolean</a:t>
            </a:r>
            <a:r>
              <a:rPr lang="en-US" b="1" dirty="0"/>
              <a:t> conditions determine a table with 2^n rules!)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40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10668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0099"/>
                </a:solidFill>
              </a:rPr>
              <a:t>Retrospective on Boundary Value (BVA), Equivalent Partitioning (EP), and Decision Table (DT)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2369127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• </a:t>
            </a:r>
            <a:r>
              <a:rPr lang="en-US" sz="3600" b="1" dirty="0"/>
              <a:t>Test case development effort</a:t>
            </a:r>
          </a:p>
          <a:p>
            <a:r>
              <a:rPr lang="en-US" sz="3600" dirty="0"/>
              <a:t>• </a:t>
            </a:r>
            <a:r>
              <a:rPr lang="en-US" sz="3600" b="1" dirty="0"/>
              <a:t>Test case effectiveness</a:t>
            </a:r>
          </a:p>
          <a:p>
            <a:r>
              <a:rPr lang="en-US" sz="3600" dirty="0"/>
              <a:t>• </a:t>
            </a:r>
            <a:r>
              <a:rPr lang="en-US" sz="3600" b="1" dirty="0"/>
              <a:t>Test method selection guidelines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28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7"/>
          <p:cNvSpPr>
            <a:spLocks noGrp="1" noChangeArrowheads="1"/>
          </p:cNvSpPr>
          <p:nvPr>
            <p:ph type="title"/>
          </p:nvPr>
        </p:nvSpPr>
        <p:spPr bwMode="auto"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200"/>
              <a:t>The Test Method Pendulum</a:t>
            </a:r>
          </a:p>
        </p:txBody>
      </p:sp>
      <p:graphicFrame>
        <p:nvGraphicFramePr>
          <p:cNvPr id="66568" name="Object 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30762284"/>
              </p:ext>
            </p:extLst>
          </p:nvPr>
        </p:nvGraphicFramePr>
        <p:xfrm>
          <a:off x="0" y="1370013"/>
          <a:ext cx="7237413" cy="455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Visio" r:id="rId3" imgW="4732189" imgH="2977560" progId="Visio.Drawing.11">
                  <p:embed/>
                </p:oleObj>
              </mc:Choice>
              <mc:Fallback>
                <p:oleObj name="Visio" r:id="rId3" imgW="4732189" imgH="29775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70013"/>
                        <a:ext cx="7237413" cy="455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191000" y="990600"/>
            <a:ext cx="4267200" cy="3505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5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Test case development effort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779115"/>
            <a:ext cx="4918364" cy="2764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47800"/>
            <a:ext cx="4833937" cy="278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62400" y="1219200"/>
            <a:ext cx="518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Boundary value: almost mechanical</a:t>
            </a:r>
          </a:p>
          <a:p>
            <a:r>
              <a:rPr lang="en-US" dirty="0"/>
              <a:t>• </a:t>
            </a:r>
            <a:r>
              <a:rPr lang="en-US" b="1" dirty="0"/>
              <a:t>Equivalence class: some effort to identify classes</a:t>
            </a:r>
          </a:p>
          <a:p>
            <a:r>
              <a:rPr lang="en-US" dirty="0"/>
              <a:t>• </a:t>
            </a:r>
            <a:r>
              <a:rPr lang="en-US" b="1" dirty="0"/>
              <a:t>Decision table: still more effort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4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09"/>
            <a:ext cx="8229600" cy="962891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Test Case Effectiveness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524000"/>
            <a:ext cx="85344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• True trade-off between development effort and number of test cases.</a:t>
            </a:r>
          </a:p>
          <a:p>
            <a:r>
              <a:rPr lang="en-US" sz="2000" dirty="0"/>
              <a:t>• Vulnerabilities</a:t>
            </a:r>
          </a:p>
          <a:p>
            <a:pPr lvl="1"/>
            <a:r>
              <a:rPr lang="en-US" sz="2000" dirty="0"/>
              <a:t>– </a:t>
            </a:r>
            <a:r>
              <a:rPr lang="en-US" sz="2000" dirty="0">
                <a:solidFill>
                  <a:srgbClr val="FF0000"/>
                </a:solidFill>
              </a:rPr>
              <a:t>Boundary value </a:t>
            </a:r>
            <a:r>
              <a:rPr lang="en-US" sz="2000" dirty="0"/>
              <a:t>testing has </a:t>
            </a:r>
            <a:r>
              <a:rPr lang="en-US" sz="2000" dirty="0">
                <a:solidFill>
                  <a:srgbClr val="FF0000"/>
                </a:solidFill>
              </a:rPr>
              <a:t>gaps and redundancies</a:t>
            </a:r>
            <a:r>
              <a:rPr lang="en-US" sz="2000" dirty="0"/>
              <a:t>, and many test cases.</a:t>
            </a:r>
          </a:p>
          <a:p>
            <a:pPr lvl="1"/>
            <a:r>
              <a:rPr lang="en-US" sz="2000" dirty="0"/>
              <a:t>– </a:t>
            </a:r>
            <a:r>
              <a:rPr lang="en-US" sz="2000" dirty="0">
                <a:solidFill>
                  <a:srgbClr val="0033CC"/>
                </a:solidFill>
              </a:rPr>
              <a:t>Equivalence class </a:t>
            </a:r>
            <a:r>
              <a:rPr lang="en-US" sz="2000" dirty="0"/>
              <a:t>testing </a:t>
            </a:r>
            <a:r>
              <a:rPr lang="en-US" sz="2000" dirty="0">
                <a:solidFill>
                  <a:srgbClr val="0033CC"/>
                </a:solidFill>
              </a:rPr>
              <a:t>eliminates the gaps and redundancies</a:t>
            </a:r>
            <a:r>
              <a:rPr lang="en-US" sz="2000" dirty="0"/>
              <a:t>, but </a:t>
            </a:r>
            <a:r>
              <a:rPr lang="en-US" sz="2000" dirty="0">
                <a:solidFill>
                  <a:srgbClr val="0033CC"/>
                </a:solidFill>
              </a:rPr>
              <a:t>cannot deal with dependencies </a:t>
            </a:r>
            <a:r>
              <a:rPr lang="en-US" sz="2000" dirty="0"/>
              <a:t>among variables</a:t>
            </a:r>
            <a:r>
              <a:rPr lang="en-US" sz="2000" dirty="0">
                <a:solidFill>
                  <a:srgbClr val="0033CC"/>
                </a:solidFill>
              </a:rPr>
              <a:t>.</a:t>
            </a:r>
          </a:p>
          <a:p>
            <a:pPr lvl="1"/>
            <a:r>
              <a:rPr lang="en-US" sz="2000" dirty="0"/>
              <a:t>– </a:t>
            </a:r>
            <a:r>
              <a:rPr lang="en-US" sz="2000" dirty="0">
                <a:solidFill>
                  <a:srgbClr val="009900"/>
                </a:solidFill>
              </a:rPr>
              <a:t>Decision table </a:t>
            </a:r>
            <a:r>
              <a:rPr lang="en-US" sz="2000" dirty="0"/>
              <a:t>testing extends equivalence class testing by </a:t>
            </a:r>
            <a:r>
              <a:rPr lang="en-US" sz="2000" dirty="0">
                <a:solidFill>
                  <a:srgbClr val="009900"/>
                </a:solidFill>
              </a:rPr>
              <a:t>dealing with dependencies</a:t>
            </a:r>
            <a:r>
              <a:rPr lang="en-US" sz="2000" dirty="0"/>
              <a:t>, and supports algebraic reduction of test cases.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So, we need to apply these techniques in mix in most of the situation. See </a:t>
            </a:r>
            <a:r>
              <a:rPr lang="en-US" sz="2000" b="1" dirty="0"/>
              <a:t>Triangle problem solution.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41991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dirty="0"/>
              <a:t>Triangle Problem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2500"/>
            <a:ext cx="8229600" cy="57912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Triangle Problem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Decision Table Based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Test Cases : 14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Logic path coverage : 28/28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Equivalent Partitions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Weak Robust  + Strong Normal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Test cases = 10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Logic Path Coverage = 24/28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Weak Robust  + Strong Normal + BV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Test cases = 23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Logic Path Coverage = 28/28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Conclusion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More dependencies among inputs (Triangle inequality in addition to valid and invalid).  DT is good at covering such dependencies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Note: These numbers are from the code coverage of triangle Junit test cases 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8549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</a:t>
            </a:r>
            <a:r>
              <a:rPr lang="en-US" b="1" dirty="0">
                <a:solidFill>
                  <a:srgbClr val="000099"/>
                </a:solidFill>
              </a:rPr>
              <a:t>BVA, EP, and DT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90887" y="1524000"/>
            <a:ext cx="7821613" cy="25146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6000" b="1" dirty="0"/>
              <a:t>Program Behaviors : </a:t>
            </a:r>
          </a:p>
          <a:p>
            <a:r>
              <a:rPr lang="en-US" sz="5100" dirty="0"/>
              <a:t>In general, software can be classified into two possible groups: </a:t>
            </a:r>
            <a:r>
              <a:rPr lang="en-US" sz="5100" b="1" dirty="0">
                <a:solidFill>
                  <a:srgbClr val="FF0000"/>
                </a:solidFill>
              </a:rPr>
              <a:t>stateless and state-oriented</a:t>
            </a:r>
            <a:r>
              <a:rPr lang="en-US" sz="5100" dirty="0"/>
              <a:t>.</a:t>
            </a:r>
          </a:p>
          <a:p>
            <a:r>
              <a:rPr lang="en-US" sz="5100" dirty="0"/>
              <a:t>Actions of state-oriented systems depend on the previous inputs/outputs of the system.</a:t>
            </a:r>
          </a:p>
          <a:p>
            <a:r>
              <a:rPr lang="en-US" sz="5100" dirty="0"/>
              <a:t>So, in a situation where the system is state-oriented, we need to have a way to model the behavior of the system.</a:t>
            </a:r>
          </a:p>
          <a:p>
            <a:r>
              <a:rPr lang="en-US" sz="5100" dirty="0"/>
              <a:t>Several behavior modeling approaches are being used in software testing : FSM (Finite State Model), Petri-Net, and </a:t>
            </a:r>
            <a:r>
              <a:rPr lang="en-US" sz="5100" dirty="0" err="1"/>
              <a:t>StateCharts</a:t>
            </a:r>
            <a:r>
              <a:rPr lang="en-US" sz="5100" dirty="0"/>
              <a:t> are more common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6398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</a:t>
            </a:r>
            <a:r>
              <a:rPr lang="en-US" b="1" dirty="0">
                <a:solidFill>
                  <a:srgbClr val="000099"/>
                </a:solidFill>
              </a:rPr>
              <a:t>BVA, EP, and DT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192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Common System Behavior Models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961120"/>
              </p:ext>
            </p:extLst>
          </p:nvPr>
        </p:nvGraphicFramePr>
        <p:xfrm>
          <a:off x="685800" y="1889760"/>
          <a:ext cx="73914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425">
                <a:tc>
                  <a:txBody>
                    <a:bodyPr/>
                    <a:lstStyle/>
                    <a:p>
                      <a:r>
                        <a:rPr lang="en-US" dirty="0"/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Finite State Machine (FSM)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Petri-Net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/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/>
                        <a:t>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/>
                        <a:t>Repetition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/>
                        <a:t>Multiple-causes of output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/>
                        <a:t>Mutual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dirty="0"/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62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Deadlock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04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Concurrency, Mutual Exclusion, and 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668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Mutual Exclusion</a:t>
            </a:r>
          </a:p>
          <a:p>
            <a:r>
              <a:rPr lang="en-US" dirty="0"/>
              <a:t>file sharing by reading and writing processes</a:t>
            </a:r>
          </a:p>
          <a:p>
            <a:r>
              <a:rPr lang="en-US" dirty="0"/>
              <a:t>OS interrupt handling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lock is not set </a:t>
            </a:r>
          </a:p>
          <a:p>
            <a:pPr marL="0" indent="0">
              <a:buNone/>
            </a:pPr>
            <a:r>
              <a:rPr lang="en-US" dirty="0"/>
              <a:t>then set the lock </a:t>
            </a:r>
          </a:p>
          <a:p>
            <a:pPr marL="0" indent="0">
              <a:buNone/>
            </a:pPr>
            <a:r>
              <a:rPr lang="en-US" dirty="0"/>
              <a:t>    enter critical section ... </a:t>
            </a:r>
          </a:p>
          <a:p>
            <a:pPr marL="0" indent="0">
              <a:buNone/>
            </a:pPr>
            <a:r>
              <a:rPr lang="en-US" dirty="0"/>
              <a:t>    leave critical section </a:t>
            </a:r>
          </a:p>
          <a:p>
            <a:pPr marL="0" indent="0">
              <a:buNone/>
            </a:pPr>
            <a:r>
              <a:rPr lang="en-US" dirty="0"/>
              <a:t>unset the lock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67400" y="2916382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5" name="Rectangle 4"/>
          <p:cNvSpPr/>
          <p:nvPr/>
        </p:nvSpPr>
        <p:spPr>
          <a:xfrm>
            <a:off x="7543800" y="2895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6" name="Oval 5"/>
          <p:cNvSpPr/>
          <p:nvPr/>
        </p:nvSpPr>
        <p:spPr>
          <a:xfrm>
            <a:off x="5867400" y="46482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46482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cxnSp>
        <p:nvCxnSpPr>
          <p:cNvPr id="9" name="Straight Arrow Connector 8"/>
          <p:cNvCxnSpPr>
            <a:endCxn id="6" idx="0"/>
          </p:cNvCxnSpPr>
          <p:nvPr/>
        </p:nvCxnSpPr>
        <p:spPr>
          <a:xfrm>
            <a:off x="6172200" y="3505200"/>
            <a:ext cx="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2"/>
            <a:endCxn id="7" idx="0"/>
          </p:cNvCxnSpPr>
          <p:nvPr/>
        </p:nvCxnSpPr>
        <p:spPr>
          <a:xfrm>
            <a:off x="7848600" y="3505200"/>
            <a:ext cx="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</p:cNvCxnSpPr>
          <p:nvPr/>
        </p:nvCxnSpPr>
        <p:spPr>
          <a:xfrm flipH="1">
            <a:off x="6324600" y="3505200"/>
            <a:ext cx="1524000" cy="1143000"/>
          </a:xfrm>
          <a:prstGeom prst="straightConnector1">
            <a:avLst/>
          </a:prstGeom>
          <a:ln w="19050" cmpd="sng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0"/>
          </p:cNvCxnSpPr>
          <p:nvPr/>
        </p:nvCxnSpPr>
        <p:spPr>
          <a:xfrm>
            <a:off x="6192982" y="3449782"/>
            <a:ext cx="1655618" cy="1198418"/>
          </a:xfrm>
          <a:prstGeom prst="straightConnector1">
            <a:avLst/>
          </a:prstGeom>
          <a:ln w="19050" cmpd="sng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5000" y="5562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Deadlock Situation</a:t>
            </a:r>
          </a:p>
        </p:txBody>
      </p:sp>
    </p:spTree>
    <p:extLst>
      <p:ext uri="{BB962C8B-B14F-4D97-AF65-F5344CB8AC3E}">
        <p14:creationId xmlns:p14="http://schemas.microsoft.com/office/powerpoint/2010/main" val="3608958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Model Based Testing</a:t>
            </a:r>
          </a:p>
        </p:txBody>
      </p:sp>
    </p:spTree>
    <p:extLst>
      <p:ext uri="{BB962C8B-B14F-4D97-AF65-F5344CB8AC3E}">
        <p14:creationId xmlns:p14="http://schemas.microsoft.com/office/powerpoint/2010/main" val="21003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607</Words>
  <Application>Microsoft Office PowerPoint</Application>
  <PresentationFormat>On-screen Show (4:3)</PresentationFormat>
  <Paragraphs>149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Helvetica</vt:lpstr>
      <vt:lpstr>Office Theme</vt:lpstr>
      <vt:lpstr>1_L1_Introduction_CSE360</vt:lpstr>
      <vt:lpstr>Visio</vt:lpstr>
      <vt:lpstr>CSE 464 : Software Quality Assurance and Testing</vt:lpstr>
      <vt:lpstr>Last Lecture: Decision Table </vt:lpstr>
      <vt:lpstr>When Decision Tables Do Not Work? </vt:lpstr>
      <vt:lpstr>Retrospective on Boundary Value (BVA), Equivalent Partitioning (EP), and Decision Table (DT) Techniques</vt:lpstr>
      <vt:lpstr>The Test Method Pendulum</vt:lpstr>
      <vt:lpstr>Test case development effort</vt:lpstr>
      <vt:lpstr>Test Case Effectiveness</vt:lpstr>
      <vt:lpstr>Triangle Problem Analysis</vt:lpstr>
      <vt:lpstr>Limitations of BVA, EP, and DT</vt:lpstr>
      <vt:lpstr>Limitations of BVA, EP, and DT</vt:lpstr>
      <vt:lpstr>Concurrency, Mutual Exclusion, and Deadlocks</vt:lpstr>
      <vt:lpstr>Next Time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janaka</dc:creator>
  <cp:lastModifiedBy>Janaka Balasooriya</cp:lastModifiedBy>
  <cp:revision>26</cp:revision>
  <cp:lastPrinted>2013-09-16T16:38:33Z</cp:lastPrinted>
  <dcterms:created xsi:type="dcterms:W3CDTF">2013-09-15T19:00:21Z</dcterms:created>
  <dcterms:modified xsi:type="dcterms:W3CDTF">2022-02-06T18:53:31Z</dcterms:modified>
</cp:coreProperties>
</file>