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6" r:id="rId3"/>
    <p:sldId id="291" r:id="rId4"/>
    <p:sldId id="303" r:id="rId5"/>
    <p:sldId id="301" r:id="rId6"/>
    <p:sldId id="304" r:id="rId7"/>
    <p:sldId id="307" r:id="rId8"/>
    <p:sldId id="308" r:id="rId9"/>
    <p:sldId id="309" r:id="rId10"/>
    <p:sldId id="315" r:id="rId11"/>
    <p:sldId id="314" r:id="rId12"/>
    <p:sldId id="310" r:id="rId13"/>
    <p:sldId id="313" r:id="rId14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36" name="Slide Number Placeholder 3"/>
          <p:cNvSpPr txBox="1">
            <a:spLocks noGrp="1"/>
          </p:cNvSpPr>
          <p:nvPr/>
        </p:nvSpPr>
        <p:spPr bwMode="auto">
          <a:xfrm>
            <a:off x="3899396" y="8832195"/>
            <a:ext cx="2982417" cy="464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9254" tIns="0" rIns="19254" bIns="0" anchor="b"/>
          <a:lstStyle>
            <a:lvl1pPr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 defTabSz="963613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r"/>
            <a:fld id="{B9F30305-F8CB-4DA2-A798-587DEA98D8A5}" type="slidenum">
              <a:rPr lang="en-US" sz="1100" b="0" i="1">
                <a:solidFill>
                  <a:schemeClr val="tx1"/>
                </a:solidFill>
              </a:rPr>
              <a:pPr algn="r"/>
              <a:t>11</a:t>
            </a:fld>
            <a:endParaRPr lang="en-US" sz="1100" b="0" i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857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949C6FC-C657-43D3-B900-556C59280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DC2DE66-A3D4-43EB-B4AD-91617A9FD91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8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C26B71D4-CD2D-4DC8-A867-699569F4346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D98D143B-52B4-44DA-95B2-BE3AE0BF83C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829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7A3E0349-34D2-457E-A380-8CAAD435141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326B4-34A8-4132-A456-515A94BF0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04937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BFE4CD-58D9-4F05-BA26-CB425A58EBF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4A9E30-FB94-4728-B4B0-8A7CFE9B21F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798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C03F5D1-B05A-4AE1-8B43-50A5AF608F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20860BC-701B-407D-8A0B-2C071C4BFC1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6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80167240-2B46-4987-9367-F3D45A3627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30BB28-92F6-49A1-902E-B950EA3A6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2128BE-CF83-4126-AFAC-C6F88CAD546B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4462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0CD4D91-8A1B-446D-9156-CBE64C7DFB8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D4448F8-6DCC-4AC2-9842-76C4EE840FB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824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5643E11-6668-44A9-9E6A-0537B52C59F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77091E-A2E0-40F1-8A44-C396A0829FE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003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45184B-8922-4ED0-AD8D-FEA9588882A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46C48E-C5AC-480E-9501-CFD486E199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74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CCC3EAC-59B8-4F91-97F1-441EF871D23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9495148-B25A-434B-A70E-295080B7F0E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8272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1059D87-1EAE-434F-88E9-16C5E230670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B38BEA4-8567-4C35-A410-798629D19A0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2785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591185D0-27A1-4DF1-AFE1-E11746EAAA9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408FF97-F2E7-4F3D-9AD4-B6777857C9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779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E683B9-0003-4FF7-8F10-025161E919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03F733-8322-451F-A818-3862D0CA41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22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2/22/2023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88A87B-EEAB-46F5-B588-54FC3B8F4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7D7D35C-2C8F-469D-A2FF-9B40CB3EB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C344D96E-7086-4AB9-85BE-A0367F62A5A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8465B65C-9259-4E09-B555-31F63845048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64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125336" cy="216355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b="1"/>
              <a:t>Structural (code-based) Based Testing II</a:t>
            </a:r>
          </a:p>
          <a:p>
            <a:pPr algn="l">
              <a:lnSpc>
                <a:spcPct val="90000"/>
              </a:lnSpc>
            </a:pPr>
            <a:endParaRPr lang="en-US" sz="2700"/>
          </a:p>
          <a:p>
            <a:pPr algn="l">
              <a:lnSpc>
                <a:spcPct val="90000"/>
              </a:lnSpc>
            </a:pPr>
            <a:r>
              <a:rPr lang="en-US" sz="2700" b="1" err="1"/>
              <a:t>Janaka</a:t>
            </a:r>
            <a:r>
              <a:rPr lang="en-US" sz="2700" b="1"/>
              <a:t> </a:t>
            </a:r>
            <a:r>
              <a:rPr lang="en-US" sz="2700" b="1" err="1"/>
              <a:t>Balasooriya</a:t>
            </a:r>
            <a:endParaRPr lang="en-US" sz="2700" b="1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233B870F-5E2C-49C2-BBB8-5B522A310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8627" y="2806221"/>
            <a:ext cx="2413000" cy="186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From the Last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1594" y="1219200"/>
            <a:ext cx="876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Code based testing focus more on the statements, logic paths, and data in a program under test and test cases are directly based on testing the correctness of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294" y="2514600"/>
            <a:ext cx="82296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u="sng" dirty="0"/>
              <a:t>Code Based Testing Strategies:</a:t>
            </a:r>
          </a:p>
          <a:p>
            <a:endParaRPr lang="en-US" dirty="0"/>
          </a:p>
          <a:p>
            <a:pPr marL="342900" indent="-342900">
              <a:buAutoNum type="alphaLcParenR"/>
            </a:pPr>
            <a:r>
              <a:rPr lang="en-US" dirty="0"/>
              <a:t>Basic path testing (Control flow coverage)</a:t>
            </a:r>
          </a:p>
          <a:p>
            <a:pPr marL="342900" indent="-342900">
              <a:buFontTx/>
              <a:buAutoNum type="alphaLcParenR"/>
            </a:pPr>
            <a:r>
              <a:rPr lang="en-US" dirty="0"/>
              <a:t>Statement coverage</a:t>
            </a:r>
          </a:p>
          <a:p>
            <a:pPr marL="342900" indent="-342900">
              <a:buAutoNum type="alphaLcParenR"/>
            </a:pPr>
            <a:r>
              <a:rPr lang="en-US" dirty="0"/>
              <a:t>Decision-to-Decision testing</a:t>
            </a:r>
          </a:p>
          <a:p>
            <a:pPr marL="342900" indent="-342900">
              <a:buAutoNum type="alphaLcParenR"/>
            </a:pPr>
            <a:r>
              <a:rPr lang="en-US" dirty="0"/>
              <a:t>Dataflow coverage</a:t>
            </a:r>
          </a:p>
          <a:p>
            <a:pPr marL="342900" indent="-342900">
              <a:buAutoNum type="alphaLcParenR"/>
            </a:pPr>
            <a:r>
              <a:rPr lang="en-US" dirty="0"/>
              <a:t>Condition testing</a:t>
            </a:r>
          </a:p>
          <a:p>
            <a:pPr marL="342900" indent="-342900">
              <a:buAutoNum type="alphaLcParenR"/>
            </a:pPr>
            <a:r>
              <a:rPr lang="en-US" dirty="0"/>
              <a:t>Code based risk assessments (complexity of the code, object oriented matrices …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342900" indent="-342900">
              <a:buAutoNum type="alphaLcParenR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Most of these testing  techniques see the program as a </a:t>
            </a:r>
            <a:r>
              <a:rPr lang="en-US" b="1" dirty="0">
                <a:solidFill>
                  <a:srgbClr val="FF0000"/>
                </a:solidFill>
              </a:rPr>
              <a:t>graph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Program Graphs of Structured Programming Constructs</a:t>
            </a:r>
            <a:endParaRPr lang="en-US" sz="3200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1524000"/>
            <a:ext cx="8458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Develop graph structures for following fundamental constructs</a:t>
            </a:r>
          </a:p>
          <a:p>
            <a:r>
              <a:rPr lang="en-US" sz="2800" dirty="0"/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Sequence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Pre-test Loop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Post-test Loop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If-Then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If-Then-Else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Switch-Case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0300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76200"/>
            <a:ext cx="8839200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30269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Control Flow Graph Example : The if, and if-else Statements</a:t>
            </a:r>
          </a:p>
        </p:txBody>
      </p:sp>
      <p:sp>
        <p:nvSpPr>
          <p:cNvPr id="230428" name="Text Box 28"/>
          <p:cNvSpPr txBox="1">
            <a:spLocks noChangeArrowheads="1"/>
          </p:cNvSpPr>
          <p:nvPr/>
        </p:nvSpPr>
        <p:spPr bwMode="auto">
          <a:xfrm>
            <a:off x="653249" y="1326480"/>
            <a:ext cx="1577975" cy="16287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Helvetica" charset="0"/>
              </a:rPr>
              <a:t>if (x &lt; y)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y = 0;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3205957" y="1149473"/>
            <a:ext cx="2433638" cy="2324100"/>
            <a:chOff x="3159" y="2035"/>
            <a:chExt cx="1533" cy="1464"/>
          </a:xfrm>
        </p:grpSpPr>
        <p:grpSp>
          <p:nvGrpSpPr>
            <p:cNvPr id="17418" name="Group 30"/>
            <p:cNvGrpSpPr>
              <a:grpSpLocks/>
            </p:cNvGrpSpPr>
            <p:nvPr/>
          </p:nvGrpSpPr>
          <p:grpSpPr bwMode="auto">
            <a:xfrm>
              <a:off x="4079" y="3203"/>
              <a:ext cx="350" cy="296"/>
              <a:chOff x="4738" y="2684"/>
              <a:chExt cx="350" cy="296"/>
            </a:xfrm>
          </p:grpSpPr>
          <p:sp>
            <p:nvSpPr>
              <p:cNvPr id="17432" name="Oval 31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3" name="Text Box 32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17419" name="Group 33"/>
            <p:cNvGrpSpPr>
              <a:grpSpLocks/>
            </p:cNvGrpSpPr>
            <p:nvPr/>
          </p:nvGrpSpPr>
          <p:grpSpPr bwMode="auto">
            <a:xfrm>
              <a:off x="4079" y="2229"/>
              <a:ext cx="350" cy="296"/>
              <a:chOff x="3838" y="2684"/>
              <a:chExt cx="350" cy="296"/>
            </a:xfrm>
          </p:grpSpPr>
          <p:sp>
            <p:nvSpPr>
              <p:cNvPr id="17430" name="Oval 34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1" name="Text Box 35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17420" name="Line 36"/>
            <p:cNvSpPr>
              <a:spLocks noChangeShapeType="1"/>
            </p:cNvSpPr>
            <p:nvPr/>
          </p:nvSpPr>
          <p:spPr bwMode="auto">
            <a:xfrm flipV="1">
              <a:off x="4001" y="2514"/>
              <a:ext cx="194" cy="2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Line 37"/>
            <p:cNvSpPr>
              <a:spLocks noChangeShapeType="1"/>
            </p:cNvSpPr>
            <p:nvPr/>
          </p:nvSpPr>
          <p:spPr bwMode="auto">
            <a:xfrm>
              <a:off x="4009" y="2988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Line 38"/>
            <p:cNvSpPr>
              <a:spLocks noChangeShapeType="1"/>
            </p:cNvSpPr>
            <p:nvPr/>
          </p:nvSpPr>
          <p:spPr bwMode="auto">
            <a:xfrm>
              <a:off x="4254" y="2035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23" name="Group 39"/>
            <p:cNvGrpSpPr>
              <a:grpSpLocks/>
            </p:cNvGrpSpPr>
            <p:nvPr/>
          </p:nvGrpSpPr>
          <p:grpSpPr bwMode="auto">
            <a:xfrm>
              <a:off x="3714" y="2716"/>
              <a:ext cx="350" cy="296"/>
              <a:chOff x="4288" y="1746"/>
              <a:chExt cx="350" cy="296"/>
            </a:xfrm>
          </p:grpSpPr>
          <p:sp>
            <p:nvSpPr>
              <p:cNvPr id="17428" name="Oval 40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29" name="Text Box 41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17424" name="Line 42"/>
            <p:cNvSpPr>
              <a:spLocks noChangeShapeType="1"/>
            </p:cNvSpPr>
            <p:nvPr/>
          </p:nvSpPr>
          <p:spPr bwMode="auto">
            <a:xfrm>
              <a:off x="4253" y="2537"/>
              <a:ext cx="2" cy="6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Text Box 43"/>
            <p:cNvSpPr txBox="1">
              <a:spLocks noChangeArrowheads="1"/>
            </p:cNvSpPr>
            <p:nvPr/>
          </p:nvSpPr>
          <p:spPr bwMode="auto">
            <a:xfrm>
              <a:off x="4220" y="2664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&gt;= y</a:t>
              </a:r>
            </a:p>
          </p:txBody>
        </p:sp>
        <p:sp>
          <p:nvSpPr>
            <p:cNvPr id="17426" name="Text Box 44"/>
            <p:cNvSpPr txBox="1">
              <a:spLocks noChangeArrowheads="1"/>
            </p:cNvSpPr>
            <p:nvPr/>
          </p:nvSpPr>
          <p:spPr bwMode="auto">
            <a:xfrm>
              <a:off x="3707" y="2462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&lt; y</a:t>
              </a:r>
            </a:p>
          </p:txBody>
        </p:sp>
        <p:sp>
          <p:nvSpPr>
            <p:cNvPr id="17427" name="Text Box 45"/>
            <p:cNvSpPr txBox="1">
              <a:spLocks noChangeArrowheads="1"/>
            </p:cNvSpPr>
            <p:nvPr/>
          </p:nvSpPr>
          <p:spPr bwMode="auto">
            <a:xfrm>
              <a:off x="3159" y="2722"/>
              <a:ext cx="59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y = 0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= x + 1</a:t>
              </a:r>
            </a:p>
          </p:txBody>
        </p:sp>
      </p:grpSp>
      <p:sp>
        <p:nvSpPr>
          <p:cNvPr id="49" name="Text Box 3"/>
          <p:cNvSpPr txBox="1">
            <a:spLocks noChangeArrowheads="1"/>
          </p:cNvSpPr>
          <p:nvPr/>
        </p:nvSpPr>
        <p:spPr bwMode="auto">
          <a:xfrm>
            <a:off x="653249" y="3650296"/>
            <a:ext cx="1577975" cy="2847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Helvetica" charset="0"/>
              </a:rPr>
              <a:t>if (x &lt; y)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y = 0;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else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x = y;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50" name="Group 4"/>
          <p:cNvGrpSpPr>
            <a:grpSpLocks/>
          </p:cNvGrpSpPr>
          <p:nvPr/>
        </p:nvGrpSpPr>
        <p:grpSpPr bwMode="auto">
          <a:xfrm>
            <a:off x="3080544" y="3956683"/>
            <a:ext cx="3232150" cy="2324100"/>
            <a:chOff x="1256" y="873"/>
            <a:chExt cx="2036" cy="1464"/>
          </a:xfrm>
        </p:grpSpPr>
        <p:grpSp>
          <p:nvGrpSpPr>
            <p:cNvPr id="51" name="Group 5"/>
            <p:cNvGrpSpPr>
              <a:grpSpLocks/>
            </p:cNvGrpSpPr>
            <p:nvPr/>
          </p:nvGrpSpPr>
          <p:grpSpPr bwMode="auto">
            <a:xfrm>
              <a:off x="1811" y="873"/>
              <a:ext cx="1080" cy="1464"/>
              <a:chOff x="1811" y="873"/>
              <a:chExt cx="1080" cy="1464"/>
            </a:xfrm>
          </p:grpSpPr>
          <p:grpSp>
            <p:nvGrpSpPr>
              <p:cNvPr id="56" name="Group 6"/>
              <p:cNvGrpSpPr>
                <a:grpSpLocks/>
              </p:cNvGrpSpPr>
              <p:nvPr/>
            </p:nvGrpSpPr>
            <p:grpSpPr bwMode="auto">
              <a:xfrm>
                <a:off x="2176" y="2041"/>
                <a:ext cx="350" cy="296"/>
                <a:chOff x="4738" y="2684"/>
                <a:chExt cx="350" cy="296"/>
              </a:xfrm>
            </p:grpSpPr>
            <p:sp>
              <p:nvSpPr>
                <p:cNvPr id="72" name="Oval 7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Text Box 8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57" name="Group 9"/>
              <p:cNvGrpSpPr>
                <a:grpSpLocks/>
              </p:cNvGrpSpPr>
              <p:nvPr/>
            </p:nvGrpSpPr>
            <p:grpSpPr bwMode="auto">
              <a:xfrm>
                <a:off x="2176" y="1067"/>
                <a:ext cx="350" cy="296"/>
                <a:chOff x="3838" y="2684"/>
                <a:chExt cx="350" cy="296"/>
              </a:xfrm>
            </p:grpSpPr>
            <p:sp>
              <p:nvSpPr>
                <p:cNvPr id="70" name="Oval 10"/>
                <p:cNvSpPr>
                  <a:spLocks noChangeArrowheads="1"/>
                </p:cNvSpPr>
                <p:nvPr/>
              </p:nvSpPr>
              <p:spPr bwMode="auto">
                <a:xfrm>
                  <a:off x="3838" y="2684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3915" y="27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</p:grpSp>
          <p:sp>
            <p:nvSpPr>
              <p:cNvPr id="58" name="Line 12"/>
              <p:cNvSpPr>
                <a:spLocks noChangeShapeType="1"/>
              </p:cNvSpPr>
              <p:nvPr/>
            </p:nvSpPr>
            <p:spPr bwMode="auto">
              <a:xfrm flipV="1">
                <a:off x="2098" y="1352"/>
                <a:ext cx="194" cy="23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Line 13"/>
              <p:cNvSpPr>
                <a:spLocks noChangeShapeType="1"/>
              </p:cNvSpPr>
              <p:nvPr/>
            </p:nvSpPr>
            <p:spPr bwMode="auto">
              <a:xfrm>
                <a:off x="2106" y="1826"/>
                <a:ext cx="146" cy="22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Line 14"/>
              <p:cNvSpPr>
                <a:spLocks noChangeShapeType="1"/>
              </p:cNvSpPr>
              <p:nvPr/>
            </p:nvSpPr>
            <p:spPr bwMode="auto">
              <a:xfrm>
                <a:off x="2448" y="1347"/>
                <a:ext cx="144" cy="24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Line 15"/>
              <p:cNvSpPr>
                <a:spLocks noChangeShapeType="1"/>
              </p:cNvSpPr>
              <p:nvPr/>
            </p:nvSpPr>
            <p:spPr bwMode="auto">
              <a:xfrm>
                <a:off x="2351" y="873"/>
                <a:ext cx="0" cy="1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2" name="Group 16"/>
              <p:cNvGrpSpPr>
                <a:grpSpLocks/>
              </p:cNvGrpSpPr>
              <p:nvPr/>
            </p:nvGrpSpPr>
            <p:grpSpPr bwMode="auto">
              <a:xfrm>
                <a:off x="1811" y="1554"/>
                <a:ext cx="1080" cy="296"/>
                <a:chOff x="1567" y="1522"/>
                <a:chExt cx="1080" cy="296"/>
              </a:xfrm>
            </p:grpSpPr>
            <p:grpSp>
              <p:nvGrpSpPr>
                <p:cNvPr id="64" name="Group 17"/>
                <p:cNvGrpSpPr>
                  <a:grpSpLocks/>
                </p:cNvGrpSpPr>
                <p:nvPr/>
              </p:nvGrpSpPr>
              <p:grpSpPr bwMode="auto">
                <a:xfrm>
                  <a:off x="1567" y="1522"/>
                  <a:ext cx="350" cy="296"/>
                  <a:chOff x="4288" y="1746"/>
                  <a:chExt cx="350" cy="296"/>
                </a:xfrm>
              </p:grpSpPr>
              <p:sp>
                <p:nvSpPr>
                  <p:cNvPr id="68" name="Oval 18"/>
                  <p:cNvSpPr>
                    <a:spLocks noChangeArrowheads="1"/>
                  </p:cNvSpPr>
                  <p:nvPr/>
                </p:nvSpPr>
                <p:spPr bwMode="auto">
                  <a:xfrm>
                    <a:off x="4288" y="1746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9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5" y="1769"/>
                    <a:ext cx="19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r"/>
                    <a:r>
                      <a:rPr lang="en-US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p:grpSp>
            <p:grpSp>
              <p:nvGrpSpPr>
                <p:cNvPr id="65" name="Group 20"/>
                <p:cNvGrpSpPr>
                  <a:grpSpLocks/>
                </p:cNvGrpSpPr>
                <p:nvPr/>
              </p:nvGrpSpPr>
              <p:grpSpPr bwMode="auto">
                <a:xfrm>
                  <a:off x="2297" y="1522"/>
                  <a:ext cx="350" cy="296"/>
                  <a:chOff x="4288" y="1746"/>
                  <a:chExt cx="350" cy="296"/>
                </a:xfrm>
              </p:grpSpPr>
              <p:sp>
                <p:nvSpPr>
                  <p:cNvPr id="66" name="Oval 21"/>
                  <p:cNvSpPr>
                    <a:spLocks noChangeArrowheads="1"/>
                  </p:cNvSpPr>
                  <p:nvPr/>
                </p:nvSpPr>
                <p:spPr bwMode="auto">
                  <a:xfrm>
                    <a:off x="4288" y="1746"/>
                    <a:ext cx="350" cy="296"/>
                  </a:xfrm>
                  <a:prstGeom prst="ellipse">
                    <a:avLst/>
                  </a:prstGeom>
                  <a:solidFill>
                    <a:srgbClr val="0066FF"/>
                  </a:solidFill>
                  <a:ln w="1905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7" name="Text Box 2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65" y="1769"/>
                    <a:ext cx="19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1pPr>
                    <a:lvl2pPr marL="742950" indent="-28575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2pPr>
                    <a:lvl3pPr marL="11430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3pPr>
                    <a:lvl4pPr marL="16002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4pPr>
                    <a:lvl5pPr marL="2057400" indent="-228600"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000" b="1">
                        <a:solidFill>
                          <a:srgbClr val="FAFD00"/>
                        </a:solidFill>
                        <a:latin typeface="Times New Roman" pitchFamily="18" charset="0"/>
                      </a:defRPr>
                    </a:lvl9pPr>
                  </a:lstStyle>
                  <a:p>
                    <a:pPr algn="r"/>
                    <a:r>
                      <a:rPr lang="en-US">
                        <a:solidFill>
                          <a:schemeClr val="tx1"/>
                        </a:solidFill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3" name="Line 23"/>
              <p:cNvSpPr>
                <a:spLocks noChangeShapeType="1"/>
              </p:cNvSpPr>
              <p:nvPr/>
            </p:nvSpPr>
            <p:spPr bwMode="auto">
              <a:xfrm flipH="1">
                <a:off x="2452" y="1814"/>
                <a:ext cx="134" cy="2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2" name="Text Box 24"/>
            <p:cNvSpPr txBox="1">
              <a:spLocks noChangeArrowheads="1"/>
            </p:cNvSpPr>
            <p:nvPr/>
          </p:nvSpPr>
          <p:spPr bwMode="auto">
            <a:xfrm>
              <a:off x="2468" y="1300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&gt;= y</a:t>
              </a:r>
            </a:p>
          </p:txBody>
        </p:sp>
        <p:sp>
          <p:nvSpPr>
            <p:cNvPr id="53" name="Text Box 25"/>
            <p:cNvSpPr txBox="1">
              <a:spLocks noChangeArrowheads="1"/>
            </p:cNvSpPr>
            <p:nvPr/>
          </p:nvSpPr>
          <p:spPr bwMode="auto">
            <a:xfrm>
              <a:off x="1804" y="1300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&lt; y</a:t>
              </a:r>
            </a:p>
          </p:txBody>
        </p:sp>
        <p:sp>
          <p:nvSpPr>
            <p:cNvPr id="54" name="Text Box 26"/>
            <p:cNvSpPr txBox="1">
              <a:spLocks noChangeArrowheads="1"/>
            </p:cNvSpPr>
            <p:nvPr/>
          </p:nvSpPr>
          <p:spPr bwMode="auto">
            <a:xfrm>
              <a:off x="2820" y="1598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= y</a:t>
              </a:r>
            </a:p>
          </p:txBody>
        </p:sp>
        <p:sp>
          <p:nvSpPr>
            <p:cNvPr id="55" name="Text Box 27"/>
            <p:cNvSpPr txBox="1">
              <a:spLocks noChangeArrowheads="1"/>
            </p:cNvSpPr>
            <p:nvPr/>
          </p:nvSpPr>
          <p:spPr bwMode="auto">
            <a:xfrm>
              <a:off x="1256" y="1560"/>
              <a:ext cx="592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y = 0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= x + 1</a:t>
              </a:r>
            </a:p>
          </p:txBody>
        </p:sp>
      </p:grpSp>
      <p:sp>
        <p:nvSpPr>
          <p:cNvPr id="2" name="Rectangle 1"/>
          <p:cNvSpPr/>
          <p:nvPr/>
        </p:nvSpPr>
        <p:spPr>
          <a:xfrm>
            <a:off x="5473745" y="3362989"/>
            <a:ext cx="367025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Introduction to Software Testing  (</a:t>
            </a:r>
            <a:r>
              <a:rPr lang="en-US" dirty="0" err="1"/>
              <a:t>Ch</a:t>
            </a:r>
            <a:r>
              <a:rPr lang="en-US" dirty="0"/>
              <a:t> 2) © </a:t>
            </a:r>
            <a:r>
              <a:rPr lang="en-US" dirty="0" err="1"/>
              <a:t>Ammann</a:t>
            </a:r>
            <a:r>
              <a:rPr lang="en-US" dirty="0"/>
              <a:t> &amp; Offutt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228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4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Control Flow Graph Example : while and for Loops</a:t>
            </a:r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78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957B205D-CE6F-452A-BC2A-45D50438FE00}" type="slidenum">
              <a:rPr lang="en-US" sz="900" b="0" smtClean="0">
                <a:solidFill>
                  <a:schemeClr val="tx1"/>
                </a:solidFill>
              </a:rPr>
              <a:pPr/>
              <a:t>6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20486" name="Text Box 4"/>
          <p:cNvSpPr txBox="1">
            <a:spLocks noChangeArrowheads="1"/>
          </p:cNvSpPr>
          <p:nvPr/>
        </p:nvSpPr>
        <p:spPr bwMode="auto">
          <a:xfrm>
            <a:off x="381000" y="1509713"/>
            <a:ext cx="1668463" cy="19335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while (x &lt; y)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2" name="Group 63"/>
          <p:cNvGrpSpPr>
            <a:grpSpLocks/>
          </p:cNvGrpSpPr>
          <p:nvPr/>
        </p:nvGrpSpPr>
        <p:grpSpPr bwMode="auto">
          <a:xfrm>
            <a:off x="2578100" y="1042988"/>
            <a:ext cx="1182688" cy="777875"/>
            <a:chOff x="1904" y="888"/>
            <a:chExt cx="745" cy="490"/>
          </a:xfrm>
        </p:grpSpPr>
        <p:grpSp>
          <p:nvGrpSpPr>
            <p:cNvPr id="20542" name="Group 10"/>
            <p:cNvGrpSpPr>
              <a:grpSpLocks/>
            </p:cNvGrpSpPr>
            <p:nvPr/>
          </p:nvGrpSpPr>
          <p:grpSpPr bwMode="auto">
            <a:xfrm>
              <a:off x="2299" y="1082"/>
              <a:ext cx="350" cy="296"/>
              <a:chOff x="3838" y="2684"/>
              <a:chExt cx="350" cy="296"/>
            </a:xfrm>
          </p:grpSpPr>
          <p:sp>
            <p:nvSpPr>
              <p:cNvPr id="20545" name="Oval 11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6" name="Text Box 12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0543" name="Line 16"/>
            <p:cNvSpPr>
              <a:spLocks noChangeShapeType="1"/>
            </p:cNvSpPr>
            <p:nvPr/>
          </p:nvSpPr>
          <p:spPr bwMode="auto">
            <a:xfrm>
              <a:off x="2474" y="888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Text Box 27"/>
            <p:cNvSpPr txBox="1">
              <a:spLocks noChangeArrowheads="1"/>
            </p:cNvSpPr>
            <p:nvPr/>
          </p:nvSpPr>
          <p:spPr bwMode="auto">
            <a:xfrm>
              <a:off x="1904" y="1123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= 0</a:t>
              </a:r>
            </a:p>
          </p:txBody>
        </p:sp>
      </p:grpSp>
      <p:grpSp>
        <p:nvGrpSpPr>
          <p:cNvPr id="4" name="Group 69"/>
          <p:cNvGrpSpPr>
            <a:grpSpLocks/>
          </p:cNvGrpSpPr>
          <p:nvPr/>
        </p:nvGrpSpPr>
        <p:grpSpPr bwMode="auto">
          <a:xfrm>
            <a:off x="2728913" y="2986088"/>
            <a:ext cx="1562100" cy="992187"/>
            <a:chOff x="1999" y="2112"/>
            <a:chExt cx="984" cy="625"/>
          </a:xfrm>
        </p:grpSpPr>
        <p:grpSp>
          <p:nvGrpSpPr>
            <p:cNvPr id="20534" name="Group 21"/>
            <p:cNvGrpSpPr>
              <a:grpSpLocks/>
            </p:cNvGrpSpPr>
            <p:nvPr/>
          </p:nvGrpSpPr>
          <p:grpSpPr bwMode="auto">
            <a:xfrm>
              <a:off x="2633" y="2112"/>
              <a:ext cx="350" cy="296"/>
              <a:chOff x="4288" y="1746"/>
              <a:chExt cx="350" cy="296"/>
            </a:xfrm>
          </p:grpSpPr>
          <p:sp>
            <p:nvSpPr>
              <p:cNvPr id="20540" name="Oval 22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1" name="Text Box 23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grpSp>
          <p:nvGrpSpPr>
            <p:cNvPr id="20535" name="Group 65"/>
            <p:cNvGrpSpPr>
              <a:grpSpLocks/>
            </p:cNvGrpSpPr>
            <p:nvPr/>
          </p:nvGrpSpPr>
          <p:grpSpPr bwMode="auto">
            <a:xfrm>
              <a:off x="1999" y="2112"/>
              <a:ext cx="592" cy="625"/>
              <a:chOff x="1999" y="2112"/>
              <a:chExt cx="592" cy="625"/>
            </a:xfrm>
          </p:grpSpPr>
          <p:grpSp>
            <p:nvGrpSpPr>
              <p:cNvPr id="20536" name="Group 18"/>
              <p:cNvGrpSpPr>
                <a:grpSpLocks/>
              </p:cNvGrpSpPr>
              <p:nvPr/>
            </p:nvGrpSpPr>
            <p:grpSpPr bwMode="auto">
              <a:xfrm>
                <a:off x="2023" y="2112"/>
                <a:ext cx="350" cy="296"/>
                <a:chOff x="4288" y="1746"/>
                <a:chExt cx="350" cy="296"/>
              </a:xfrm>
            </p:grpSpPr>
            <p:sp>
              <p:nvSpPr>
                <p:cNvPr id="20538" name="Oval 19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539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  <p:sp>
            <p:nvSpPr>
              <p:cNvPr id="20537" name="Text Box 28"/>
              <p:cNvSpPr txBox="1">
                <a:spLocks noChangeArrowheads="1"/>
              </p:cNvSpPr>
              <p:nvPr/>
            </p:nvSpPr>
            <p:spPr bwMode="auto">
              <a:xfrm>
                <a:off x="1999" y="2448"/>
                <a:ext cx="592" cy="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sz="1600">
                    <a:solidFill>
                      <a:schemeClr val="tx1"/>
                    </a:solidFill>
                  </a:rPr>
                  <a:t>y =f(x,y)</a:t>
                </a:r>
              </a:p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lang="en-US" sz="1600">
                    <a:solidFill>
                      <a:schemeClr val="tx1"/>
                    </a:solidFill>
                  </a:rPr>
                  <a:t>x = x + 1</a:t>
                </a:r>
              </a:p>
            </p:txBody>
          </p:sp>
        </p:grpSp>
      </p:grpSp>
      <p:grpSp>
        <p:nvGrpSpPr>
          <p:cNvPr id="8" name="Group 68"/>
          <p:cNvGrpSpPr>
            <a:grpSpLocks/>
          </p:cNvGrpSpPr>
          <p:nvPr/>
        </p:nvGrpSpPr>
        <p:grpSpPr bwMode="auto">
          <a:xfrm>
            <a:off x="2655888" y="2276475"/>
            <a:ext cx="1744662" cy="1120775"/>
            <a:chOff x="1953" y="1665"/>
            <a:chExt cx="1099" cy="706"/>
          </a:xfrm>
        </p:grpSpPr>
        <p:sp>
          <p:nvSpPr>
            <p:cNvPr id="20529" name="Line 14"/>
            <p:cNvSpPr>
              <a:spLocks noChangeShapeType="1"/>
            </p:cNvSpPr>
            <p:nvPr/>
          </p:nvSpPr>
          <p:spPr bwMode="auto">
            <a:xfrm>
              <a:off x="2566" y="1910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Line 24"/>
            <p:cNvSpPr>
              <a:spLocks noChangeShapeType="1"/>
            </p:cNvSpPr>
            <p:nvPr/>
          </p:nvSpPr>
          <p:spPr bwMode="auto">
            <a:xfrm flipH="1">
              <a:off x="2296" y="1918"/>
              <a:ext cx="114" cy="2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Text Box 25"/>
            <p:cNvSpPr txBox="1">
              <a:spLocks noChangeArrowheads="1"/>
            </p:cNvSpPr>
            <p:nvPr/>
          </p:nvSpPr>
          <p:spPr bwMode="auto">
            <a:xfrm>
              <a:off x="2580" y="1850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&gt;= y</a:t>
              </a:r>
            </a:p>
          </p:txBody>
        </p:sp>
        <p:sp>
          <p:nvSpPr>
            <p:cNvPr id="20532" name="Text Box 26"/>
            <p:cNvSpPr txBox="1">
              <a:spLocks noChangeArrowheads="1"/>
            </p:cNvSpPr>
            <p:nvPr/>
          </p:nvSpPr>
          <p:spPr bwMode="auto">
            <a:xfrm>
              <a:off x="1953" y="1850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&lt; y</a:t>
              </a:r>
            </a:p>
          </p:txBody>
        </p:sp>
        <p:cxnSp>
          <p:nvCxnSpPr>
            <p:cNvPr id="20533" name="AutoShape 30"/>
            <p:cNvCxnSpPr>
              <a:cxnSpLocks noChangeShapeType="1"/>
              <a:stCxn id="20538" idx="3"/>
              <a:endCxn id="20503" idx="1"/>
            </p:cNvCxnSpPr>
            <p:nvPr/>
          </p:nvCxnSpPr>
          <p:spPr bwMode="auto">
            <a:xfrm rot="5400000" flipH="1" flipV="1">
              <a:off x="1860" y="1879"/>
              <a:ext cx="706" cy="277"/>
            </a:xfrm>
            <a:prstGeom prst="curvedConnector5">
              <a:avLst>
                <a:gd name="adj1" fmla="val -25639"/>
                <a:gd name="adj2" fmla="val -145852"/>
                <a:gd name="adj3" fmla="val 125639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95616" name="Text Box 32"/>
          <p:cNvSpPr txBox="1">
            <a:spLocks noChangeArrowheads="1"/>
          </p:cNvSpPr>
          <p:nvPr/>
        </p:nvSpPr>
        <p:spPr bwMode="auto">
          <a:xfrm>
            <a:off x="3436938" y="4071938"/>
            <a:ext cx="2662237" cy="1323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Helvetica" charset="0"/>
              </a:rPr>
              <a:t>for (x = 0; x &lt; y; x++)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</a:t>
            </a:r>
          </a:p>
        </p:txBody>
      </p:sp>
      <p:grpSp>
        <p:nvGrpSpPr>
          <p:cNvPr id="9" name="Group 77"/>
          <p:cNvGrpSpPr>
            <a:grpSpLocks/>
          </p:cNvGrpSpPr>
          <p:nvPr/>
        </p:nvGrpSpPr>
        <p:grpSpPr bwMode="auto">
          <a:xfrm>
            <a:off x="7534275" y="2341563"/>
            <a:ext cx="555625" cy="1162050"/>
            <a:chOff x="4746" y="1706"/>
            <a:chExt cx="350" cy="732"/>
          </a:xfrm>
        </p:grpSpPr>
        <p:grpSp>
          <p:nvGrpSpPr>
            <p:cNvPr id="20524" name="Group 37"/>
            <p:cNvGrpSpPr>
              <a:grpSpLocks/>
            </p:cNvGrpSpPr>
            <p:nvPr/>
          </p:nvGrpSpPr>
          <p:grpSpPr bwMode="auto">
            <a:xfrm>
              <a:off x="4746" y="1900"/>
              <a:ext cx="350" cy="296"/>
              <a:chOff x="3838" y="2684"/>
              <a:chExt cx="350" cy="296"/>
            </a:xfrm>
          </p:grpSpPr>
          <p:sp>
            <p:nvSpPr>
              <p:cNvPr id="20527" name="Oval 38" descr="Light downward diagonal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pattFill prst="ltDnDiag">
                <a:fgClr>
                  <a:srgbClr val="3399FF"/>
                </a:fgClr>
                <a:bgClr>
                  <a:schemeClr val="bg1"/>
                </a:bgClr>
              </a:patt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8" name="Text Box 39" descr="Light downward diagonal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pattFill prst="ltDnDiag">
                <a:fgClr>
                  <a:srgbClr val="3399FF"/>
                </a:fgClr>
                <a:bgClr>
                  <a:schemeClr val="bg1"/>
                </a:bgClr>
              </a:patt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0525" name="Line 41"/>
            <p:cNvSpPr>
              <a:spLocks noChangeShapeType="1"/>
            </p:cNvSpPr>
            <p:nvPr/>
          </p:nvSpPr>
          <p:spPr bwMode="auto">
            <a:xfrm flipH="1">
              <a:off x="4921" y="2193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Line 42"/>
            <p:cNvSpPr>
              <a:spLocks noChangeShapeType="1"/>
            </p:cNvSpPr>
            <p:nvPr/>
          </p:nvSpPr>
          <p:spPr bwMode="auto">
            <a:xfrm>
              <a:off x="4921" y="1706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5639" name="Text Box 55"/>
          <p:cNvSpPr txBox="1">
            <a:spLocks noChangeArrowheads="1"/>
          </p:cNvSpPr>
          <p:nvPr/>
        </p:nvSpPr>
        <p:spPr bwMode="auto">
          <a:xfrm>
            <a:off x="7602538" y="5316538"/>
            <a:ext cx="939800" cy="21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 algn="ctr">
              <a:lnSpc>
                <a:spcPct val="50000"/>
              </a:lnSpc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x = x + 1</a:t>
            </a:r>
          </a:p>
        </p:txBody>
      </p:sp>
      <p:grpSp>
        <p:nvGrpSpPr>
          <p:cNvPr id="11" name="Group 71"/>
          <p:cNvGrpSpPr>
            <a:grpSpLocks/>
          </p:cNvGrpSpPr>
          <p:nvPr/>
        </p:nvGrpSpPr>
        <p:grpSpPr bwMode="auto">
          <a:xfrm>
            <a:off x="6088063" y="3516313"/>
            <a:ext cx="2641600" cy="2122487"/>
            <a:chOff x="3835" y="2446"/>
            <a:chExt cx="1664" cy="1337"/>
          </a:xfrm>
        </p:grpSpPr>
        <p:grpSp>
          <p:nvGrpSpPr>
            <p:cNvPr id="20505" name="Group 34"/>
            <p:cNvGrpSpPr>
              <a:grpSpLocks/>
            </p:cNvGrpSpPr>
            <p:nvPr/>
          </p:nvGrpSpPr>
          <p:grpSpPr bwMode="auto">
            <a:xfrm>
              <a:off x="4747" y="2446"/>
              <a:ext cx="350" cy="296"/>
              <a:chOff x="4738" y="2684"/>
              <a:chExt cx="350" cy="296"/>
            </a:xfrm>
          </p:grpSpPr>
          <p:sp>
            <p:nvSpPr>
              <p:cNvPr id="20522" name="Oval 35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3" name="Text Box 36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solidFill>
                <a:srgbClr val="0066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r>
                  <a:rPr lang="en-US">
                    <a:solidFill>
                      <a:schemeClr val="tx1"/>
                    </a:solidFill>
                  </a:rPr>
                  <a:t>2</a:t>
                </a:r>
              </a:p>
            </p:txBody>
          </p:sp>
        </p:grpSp>
        <p:sp>
          <p:nvSpPr>
            <p:cNvPr id="20506" name="Line 40"/>
            <p:cNvSpPr>
              <a:spLocks noChangeShapeType="1"/>
            </p:cNvSpPr>
            <p:nvPr/>
          </p:nvSpPr>
          <p:spPr bwMode="auto">
            <a:xfrm>
              <a:off x="5013" y="2728"/>
              <a:ext cx="146" cy="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07" name="Group 43"/>
            <p:cNvGrpSpPr>
              <a:grpSpLocks/>
            </p:cNvGrpSpPr>
            <p:nvPr/>
          </p:nvGrpSpPr>
          <p:grpSpPr bwMode="auto">
            <a:xfrm>
              <a:off x="4468" y="2930"/>
              <a:ext cx="350" cy="296"/>
              <a:chOff x="4288" y="1746"/>
              <a:chExt cx="350" cy="296"/>
            </a:xfrm>
          </p:grpSpPr>
          <p:sp>
            <p:nvSpPr>
              <p:cNvPr id="20520" name="Oval 44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21" name="Text Box 45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3</a:t>
                </a:r>
              </a:p>
            </p:txBody>
          </p:sp>
        </p:grpSp>
        <p:grpSp>
          <p:nvGrpSpPr>
            <p:cNvPr id="20508" name="Group 46"/>
            <p:cNvGrpSpPr>
              <a:grpSpLocks/>
            </p:cNvGrpSpPr>
            <p:nvPr/>
          </p:nvGrpSpPr>
          <p:grpSpPr bwMode="auto">
            <a:xfrm>
              <a:off x="5080" y="2930"/>
              <a:ext cx="350" cy="296"/>
              <a:chOff x="4288" y="1746"/>
              <a:chExt cx="350" cy="296"/>
            </a:xfrm>
          </p:grpSpPr>
          <p:sp>
            <p:nvSpPr>
              <p:cNvPr id="20518" name="Oval 4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9" name="Text Box 48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sp>
          <p:nvSpPr>
            <p:cNvPr id="20509" name="Line 49"/>
            <p:cNvSpPr>
              <a:spLocks noChangeShapeType="1"/>
            </p:cNvSpPr>
            <p:nvPr/>
          </p:nvSpPr>
          <p:spPr bwMode="auto">
            <a:xfrm flipH="1">
              <a:off x="4743" y="2736"/>
              <a:ext cx="114" cy="2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Text Box 50"/>
            <p:cNvSpPr txBox="1">
              <a:spLocks noChangeArrowheads="1"/>
            </p:cNvSpPr>
            <p:nvPr/>
          </p:nvSpPr>
          <p:spPr bwMode="auto">
            <a:xfrm>
              <a:off x="5027" y="2668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&gt;= y</a:t>
              </a:r>
            </a:p>
          </p:txBody>
        </p:sp>
        <p:sp>
          <p:nvSpPr>
            <p:cNvPr id="20511" name="Text Box 51"/>
            <p:cNvSpPr txBox="1">
              <a:spLocks noChangeArrowheads="1"/>
            </p:cNvSpPr>
            <p:nvPr/>
          </p:nvSpPr>
          <p:spPr bwMode="auto">
            <a:xfrm>
              <a:off x="4400" y="2668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x &lt; y</a:t>
              </a:r>
            </a:p>
          </p:txBody>
        </p:sp>
        <p:sp>
          <p:nvSpPr>
            <p:cNvPr id="20512" name="Text Box 53"/>
            <p:cNvSpPr txBox="1">
              <a:spLocks noChangeArrowheads="1"/>
            </p:cNvSpPr>
            <p:nvPr/>
          </p:nvSpPr>
          <p:spPr bwMode="auto">
            <a:xfrm>
              <a:off x="3835" y="3028"/>
              <a:ext cx="686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y = f (x, y)</a:t>
              </a:r>
            </a:p>
          </p:txBody>
        </p:sp>
        <p:cxnSp>
          <p:nvCxnSpPr>
            <p:cNvPr id="20513" name="AutoShape 54"/>
            <p:cNvCxnSpPr>
              <a:cxnSpLocks noChangeShapeType="1"/>
              <a:stCxn id="20516" idx="3"/>
              <a:endCxn id="20522" idx="1"/>
            </p:cNvCxnSpPr>
            <p:nvPr/>
          </p:nvCxnSpPr>
          <p:spPr bwMode="auto">
            <a:xfrm rot="5400000" flipH="1" flipV="1">
              <a:off x="4027" y="2975"/>
              <a:ext cx="1263" cy="279"/>
            </a:xfrm>
            <a:prstGeom prst="curvedConnector5">
              <a:avLst>
                <a:gd name="adj1" fmla="val -14329"/>
                <a:gd name="adj2" fmla="val -164162"/>
                <a:gd name="adj3" fmla="val 114329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0514" name="Group 56"/>
            <p:cNvGrpSpPr>
              <a:grpSpLocks/>
            </p:cNvGrpSpPr>
            <p:nvPr/>
          </p:nvGrpSpPr>
          <p:grpSpPr bwMode="auto">
            <a:xfrm>
              <a:off x="4468" y="3487"/>
              <a:ext cx="350" cy="296"/>
              <a:chOff x="4288" y="1746"/>
              <a:chExt cx="350" cy="296"/>
            </a:xfrm>
          </p:grpSpPr>
          <p:sp>
            <p:nvSpPr>
              <p:cNvPr id="20516" name="Oval 57"/>
              <p:cNvSpPr>
                <a:spLocks noChangeArrowheads="1"/>
              </p:cNvSpPr>
              <p:nvPr/>
            </p:nvSpPr>
            <p:spPr bwMode="auto">
              <a:xfrm>
                <a:off x="4288" y="1746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17" name="Text Box 58"/>
              <p:cNvSpPr txBox="1">
                <a:spLocks noChangeArrowheads="1"/>
              </p:cNvSpPr>
              <p:nvPr/>
            </p:nvSpPr>
            <p:spPr bwMode="auto">
              <a:xfrm>
                <a:off x="4365" y="1769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  <p:sp>
          <p:nvSpPr>
            <p:cNvPr id="20515" name="Line 59"/>
            <p:cNvSpPr>
              <a:spLocks noChangeShapeType="1"/>
            </p:cNvSpPr>
            <p:nvPr/>
          </p:nvSpPr>
          <p:spPr bwMode="auto">
            <a:xfrm flipH="1">
              <a:off x="4642" y="3232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70"/>
          <p:cNvGrpSpPr>
            <a:grpSpLocks/>
          </p:cNvGrpSpPr>
          <p:nvPr/>
        </p:nvGrpSpPr>
        <p:grpSpPr bwMode="auto">
          <a:xfrm>
            <a:off x="3206750" y="1816100"/>
            <a:ext cx="2620963" cy="871538"/>
            <a:chOff x="2300" y="1375"/>
            <a:chExt cx="1651" cy="549"/>
          </a:xfrm>
        </p:grpSpPr>
        <p:sp>
          <p:nvSpPr>
            <p:cNvPr id="20499" name="Line 15"/>
            <p:cNvSpPr>
              <a:spLocks noChangeShapeType="1"/>
            </p:cNvSpPr>
            <p:nvPr/>
          </p:nvSpPr>
          <p:spPr bwMode="auto">
            <a:xfrm flipH="1">
              <a:off x="2474" y="1375"/>
              <a:ext cx="1" cy="24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00" name="Group 67"/>
            <p:cNvGrpSpPr>
              <a:grpSpLocks/>
            </p:cNvGrpSpPr>
            <p:nvPr/>
          </p:nvGrpSpPr>
          <p:grpSpPr bwMode="auto">
            <a:xfrm>
              <a:off x="2300" y="1375"/>
              <a:ext cx="1651" cy="549"/>
              <a:chOff x="2300" y="1375"/>
              <a:chExt cx="1651" cy="549"/>
            </a:xfrm>
          </p:grpSpPr>
          <p:grpSp>
            <p:nvGrpSpPr>
              <p:cNvPr id="20501" name="Group 7"/>
              <p:cNvGrpSpPr>
                <a:grpSpLocks/>
              </p:cNvGrpSpPr>
              <p:nvPr/>
            </p:nvGrpSpPr>
            <p:grpSpPr bwMode="auto">
              <a:xfrm>
                <a:off x="2300" y="1628"/>
                <a:ext cx="350" cy="296"/>
                <a:chOff x="4738" y="2684"/>
                <a:chExt cx="350" cy="296"/>
              </a:xfrm>
            </p:grpSpPr>
            <p:sp>
              <p:nvSpPr>
                <p:cNvPr id="20503" name="Oval 8" descr="Dark downward diagonal"/>
                <p:cNvSpPr>
                  <a:spLocks noChangeArrowheads="1"/>
                </p:cNvSpPr>
                <p:nvPr/>
              </p:nvSpPr>
              <p:spPr bwMode="auto">
                <a:xfrm>
                  <a:off x="4738" y="2684"/>
                  <a:ext cx="350" cy="296"/>
                </a:xfrm>
                <a:prstGeom prst="ellipse">
                  <a:avLst/>
                </a:prstGeom>
                <a:pattFill prst="dkDnDiag">
                  <a:fgClr>
                    <a:srgbClr val="0066FF"/>
                  </a:fgClr>
                  <a:bgClr>
                    <a:schemeClr val="bg1"/>
                  </a:bgClr>
                </a:patt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504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4815" y="2707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r>
                    <a:rPr lang="en-US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sp>
            <p:nvSpPr>
              <p:cNvPr id="20502" name="AutoShape 66"/>
              <p:cNvSpPr>
                <a:spLocks/>
              </p:cNvSpPr>
              <p:nvPr/>
            </p:nvSpPr>
            <p:spPr bwMode="auto">
              <a:xfrm>
                <a:off x="2950" y="1375"/>
                <a:ext cx="1001" cy="262"/>
              </a:xfrm>
              <a:prstGeom prst="borderCallout2">
                <a:avLst>
                  <a:gd name="adj1" fmla="val 27481"/>
                  <a:gd name="adj2" fmla="val -4796"/>
                  <a:gd name="adj3" fmla="val 27481"/>
                  <a:gd name="adj4" fmla="val -23676"/>
                  <a:gd name="adj5" fmla="val 134731"/>
                  <a:gd name="adj6" fmla="val -35065"/>
                </a:avLst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algn="ctr"/>
                <a:r>
                  <a:rPr lang="en-US" i="1" dirty="0"/>
                  <a:t>decision</a:t>
                </a:r>
                <a:r>
                  <a:rPr lang="en-US" dirty="0"/>
                  <a:t> node</a:t>
                </a:r>
              </a:p>
            </p:txBody>
          </p:sp>
        </p:grpSp>
      </p:grpSp>
      <p:grpSp>
        <p:nvGrpSpPr>
          <p:cNvPr id="19" name="Group 78"/>
          <p:cNvGrpSpPr>
            <a:grpSpLocks/>
          </p:cNvGrpSpPr>
          <p:nvPr/>
        </p:nvGrpSpPr>
        <p:grpSpPr bwMode="auto">
          <a:xfrm>
            <a:off x="5194300" y="2513013"/>
            <a:ext cx="2462213" cy="655637"/>
            <a:chOff x="3272" y="1814"/>
            <a:chExt cx="1551" cy="413"/>
          </a:xfrm>
        </p:grpSpPr>
        <p:sp>
          <p:nvSpPr>
            <p:cNvPr id="20497" name="Text Box 52"/>
            <p:cNvSpPr txBox="1">
              <a:spLocks noChangeArrowheads="1"/>
            </p:cNvSpPr>
            <p:nvPr/>
          </p:nvSpPr>
          <p:spPr bwMode="auto">
            <a:xfrm>
              <a:off x="4351" y="1941"/>
              <a:ext cx="4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x = 0</a:t>
              </a:r>
            </a:p>
          </p:txBody>
        </p:sp>
        <p:sp>
          <p:nvSpPr>
            <p:cNvPr id="20498" name="AutoShape 72"/>
            <p:cNvSpPr>
              <a:spLocks/>
            </p:cNvSpPr>
            <p:nvPr/>
          </p:nvSpPr>
          <p:spPr bwMode="auto">
            <a:xfrm>
              <a:off x="3272" y="1814"/>
              <a:ext cx="1116" cy="413"/>
            </a:xfrm>
            <a:prstGeom prst="borderCallout2">
              <a:avLst>
                <a:gd name="adj1" fmla="val 17435"/>
                <a:gd name="adj2" fmla="val 104301"/>
                <a:gd name="adj3" fmla="val 17435"/>
                <a:gd name="adj4" fmla="val 123926"/>
                <a:gd name="adj5" fmla="val 47218"/>
                <a:gd name="adj6" fmla="val 144264"/>
              </a:avLst>
            </a:prstGeom>
            <a:solidFill>
              <a:srgbClr val="0066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pPr algn="ctr"/>
              <a:r>
                <a:rPr lang="en-US"/>
                <a:t>implicitly initializes loop</a:t>
              </a:r>
            </a:p>
          </p:txBody>
        </p:sp>
      </p:grpSp>
      <p:sp>
        <p:nvSpPr>
          <p:cNvPr id="195660" name="AutoShape 76"/>
          <p:cNvSpPr>
            <a:spLocks/>
          </p:cNvSpPr>
          <p:nvPr/>
        </p:nvSpPr>
        <p:spPr bwMode="auto">
          <a:xfrm>
            <a:off x="4619625" y="5900738"/>
            <a:ext cx="1931988" cy="655637"/>
          </a:xfrm>
          <a:prstGeom prst="borderCallout2">
            <a:avLst>
              <a:gd name="adj1" fmla="val 17435"/>
              <a:gd name="adj2" fmla="val 103944"/>
              <a:gd name="adj3" fmla="val 17435"/>
              <a:gd name="adj4" fmla="val 126954"/>
              <a:gd name="adj5" fmla="val -53755"/>
              <a:gd name="adj6" fmla="val 142319"/>
            </a:avLst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algn="ctr"/>
            <a:r>
              <a:rPr lang="en-US"/>
              <a:t>implicitly increments loop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1146" y="5837536"/>
            <a:ext cx="39523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Introduction to Software Testing  (</a:t>
            </a:r>
            <a:r>
              <a:rPr lang="en-US" sz="1200" dirty="0" err="1"/>
              <a:t>Ch</a:t>
            </a:r>
            <a:r>
              <a:rPr lang="en-US" sz="1200" dirty="0"/>
              <a:t> 2) © </a:t>
            </a:r>
            <a:r>
              <a:rPr lang="en-US" sz="1200" dirty="0" err="1"/>
              <a:t>Ammann</a:t>
            </a:r>
            <a:r>
              <a:rPr lang="en-US" sz="1200" dirty="0"/>
              <a:t> &amp; Offutt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12716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9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6" grpId="0" animBg="1"/>
      <p:bldP spid="195639" grpId="0"/>
      <p:bldP spid="19566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Activity : do Loop, break and continue</a:t>
            </a:r>
          </a:p>
        </p:txBody>
      </p:sp>
      <p:sp>
        <p:nvSpPr>
          <p:cNvPr id="21510" name="Text Box 4"/>
          <p:cNvSpPr txBox="1">
            <a:spLocks noChangeArrowheads="1"/>
          </p:cNvSpPr>
          <p:nvPr/>
        </p:nvSpPr>
        <p:spPr bwMode="auto">
          <a:xfrm>
            <a:off x="381000" y="1600200"/>
            <a:ext cx="1957387" cy="25558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do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 while (x &lt; y);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println (y)</a:t>
            </a:r>
          </a:p>
          <a:p>
            <a:endParaRPr lang="en-US">
              <a:solidFill>
                <a:schemeClr val="tx1"/>
              </a:solidFill>
              <a:latin typeface="Helvetica" charset="0"/>
            </a:endParaRPr>
          </a:p>
        </p:txBody>
      </p:sp>
      <p:sp>
        <p:nvSpPr>
          <p:cNvPr id="117" name="Text Box 4"/>
          <p:cNvSpPr txBox="1">
            <a:spLocks noChangeArrowheads="1"/>
          </p:cNvSpPr>
          <p:nvPr/>
        </p:nvSpPr>
        <p:spPr bwMode="auto">
          <a:xfrm>
            <a:off x="6553200" y="1219200"/>
            <a:ext cx="2093912" cy="4710113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x = 0;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while (x &lt; y)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y = f (x, y);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if (y == 0)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} else if y &lt; 0)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{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y = y*2;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   continue;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   x = x + 1;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 dirty="0">
                <a:solidFill>
                  <a:schemeClr val="tx1"/>
                </a:solidFill>
                <a:latin typeface="Helvetica" charset="0"/>
              </a:rPr>
              <a:t>print (y);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019800"/>
            <a:ext cx="58458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Introduction to Software Testing  (</a:t>
            </a:r>
            <a:r>
              <a:rPr lang="en-US" dirty="0" err="1"/>
              <a:t>Ch</a:t>
            </a:r>
            <a:r>
              <a:rPr lang="en-US" dirty="0"/>
              <a:t> 2) © </a:t>
            </a:r>
            <a:r>
              <a:rPr lang="en-US" dirty="0" err="1"/>
              <a:t>Ammann</a:t>
            </a:r>
            <a:r>
              <a:rPr lang="en-US" dirty="0"/>
              <a:t> &amp; Offutt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26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Control Flow Graph Example : The case (switch) Structure</a:t>
            </a:r>
          </a:p>
        </p:txBody>
      </p:sp>
      <p:sp>
        <p:nvSpPr>
          <p:cNvPr id="22532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010400" y="6245225"/>
            <a:ext cx="2133600" cy="4778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fld id="{6703E835-C5F1-4BD2-8CFA-410AA0BC34F3}" type="slidenum">
              <a:rPr lang="en-US" sz="900" b="0" smtClean="0">
                <a:solidFill>
                  <a:schemeClr val="tx1"/>
                </a:solidFill>
              </a:rPr>
              <a:pPr/>
              <a:t>8</a:t>
            </a:fld>
            <a:endParaRPr lang="en-US" sz="900" b="0">
              <a:solidFill>
                <a:schemeClr val="tx1"/>
              </a:solidFill>
            </a:endParaRPr>
          </a:p>
        </p:txBody>
      </p:sp>
      <p:sp>
        <p:nvSpPr>
          <p:cNvPr id="22534" name="Text Box 4"/>
          <p:cNvSpPr txBox="1">
            <a:spLocks noChangeArrowheads="1"/>
          </p:cNvSpPr>
          <p:nvPr/>
        </p:nvSpPr>
        <p:spPr bwMode="auto">
          <a:xfrm>
            <a:off x="1247775" y="1571625"/>
            <a:ext cx="1841500" cy="4371975"/>
          </a:xfrm>
          <a:prstGeom prst="rect">
            <a:avLst/>
          </a:prstGeom>
          <a:solidFill>
            <a:srgbClr val="0066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r>
              <a:rPr lang="en-US">
                <a:solidFill>
                  <a:schemeClr val="tx1"/>
                </a:solidFill>
                <a:latin typeface="Helvetica" charset="0"/>
              </a:rPr>
              <a:t>read ( c) 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switch ( c )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{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case ‘N’: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   y = 25;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case ‘Y’: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   y = 50;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default: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   y = 0;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      break;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}</a:t>
            </a:r>
          </a:p>
          <a:p>
            <a:r>
              <a:rPr lang="en-US">
                <a:solidFill>
                  <a:schemeClr val="tx1"/>
                </a:solidFill>
                <a:latin typeface="Helvetica" charset="0"/>
              </a:rPr>
              <a:t>print (y);</a:t>
            </a:r>
          </a:p>
        </p:txBody>
      </p: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4340225" y="2195513"/>
            <a:ext cx="3659188" cy="3124200"/>
            <a:chOff x="2734" y="1383"/>
            <a:chExt cx="2305" cy="1968"/>
          </a:xfrm>
        </p:grpSpPr>
        <p:grpSp>
          <p:nvGrpSpPr>
            <p:cNvPr id="22536" name="Group 7"/>
            <p:cNvGrpSpPr>
              <a:grpSpLocks/>
            </p:cNvGrpSpPr>
            <p:nvPr/>
          </p:nvGrpSpPr>
          <p:grpSpPr bwMode="auto">
            <a:xfrm>
              <a:off x="3679" y="2950"/>
              <a:ext cx="350" cy="296"/>
              <a:chOff x="4738" y="2684"/>
              <a:chExt cx="350" cy="296"/>
            </a:xfrm>
          </p:grpSpPr>
          <p:sp>
            <p:nvSpPr>
              <p:cNvPr id="22565" name="Oval 8"/>
              <p:cNvSpPr>
                <a:spLocks noChangeArrowheads="1"/>
              </p:cNvSpPr>
              <p:nvPr/>
            </p:nvSpPr>
            <p:spPr bwMode="auto">
              <a:xfrm>
                <a:off x="47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6" name="Text Box 9"/>
              <p:cNvSpPr txBox="1">
                <a:spLocks noChangeArrowheads="1"/>
              </p:cNvSpPr>
              <p:nvPr/>
            </p:nvSpPr>
            <p:spPr bwMode="auto">
              <a:xfrm>
                <a:off x="48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5</a:t>
                </a:r>
              </a:p>
            </p:txBody>
          </p:sp>
        </p:grpSp>
        <p:grpSp>
          <p:nvGrpSpPr>
            <p:cNvPr id="22537" name="Group 10"/>
            <p:cNvGrpSpPr>
              <a:grpSpLocks/>
            </p:cNvGrpSpPr>
            <p:nvPr/>
          </p:nvGrpSpPr>
          <p:grpSpPr bwMode="auto">
            <a:xfrm>
              <a:off x="3679" y="1577"/>
              <a:ext cx="350" cy="296"/>
              <a:chOff x="3838" y="2684"/>
              <a:chExt cx="350" cy="296"/>
            </a:xfrm>
          </p:grpSpPr>
          <p:sp>
            <p:nvSpPr>
              <p:cNvPr id="22563" name="Oval 11"/>
              <p:cNvSpPr>
                <a:spLocks noChangeArrowheads="1"/>
              </p:cNvSpPr>
              <p:nvPr/>
            </p:nvSpPr>
            <p:spPr bwMode="auto">
              <a:xfrm>
                <a:off x="3838" y="2684"/>
                <a:ext cx="350" cy="296"/>
              </a:xfrm>
              <a:prstGeom prst="ellipse">
                <a:avLst/>
              </a:prstGeom>
              <a:solidFill>
                <a:srgbClr val="0066FF"/>
              </a:solidFill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64" name="Text Box 12"/>
              <p:cNvSpPr txBox="1">
                <a:spLocks noChangeArrowheads="1"/>
              </p:cNvSpPr>
              <p:nvPr/>
            </p:nvSpPr>
            <p:spPr bwMode="auto">
              <a:xfrm>
                <a:off x="3915" y="2707"/>
                <a:ext cx="19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1pPr>
                <a:lvl2pPr marL="742950" indent="-28575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2pPr>
                <a:lvl3pPr marL="11430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3pPr>
                <a:lvl4pPr marL="16002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4pPr>
                <a:lvl5pPr marL="2057400" indent="-228600"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b="1">
                    <a:solidFill>
                      <a:srgbClr val="FAFD00"/>
                    </a:solidFill>
                    <a:latin typeface="Times New Roman" pitchFamily="18" charset="0"/>
                  </a:defRPr>
                </a:lvl9pPr>
              </a:lstStyle>
              <a:p>
                <a:pPr algn="r"/>
                <a:r>
                  <a:rPr lang="en-US">
                    <a:solidFill>
                      <a:schemeClr val="tx1"/>
                    </a:solidFill>
                  </a:rPr>
                  <a:t>1</a:t>
                </a:r>
              </a:p>
            </p:txBody>
          </p:sp>
        </p:grpSp>
        <p:sp>
          <p:nvSpPr>
            <p:cNvPr id="22538" name="Line 13"/>
            <p:cNvSpPr>
              <a:spLocks noChangeShapeType="1"/>
            </p:cNvSpPr>
            <p:nvPr/>
          </p:nvSpPr>
          <p:spPr bwMode="auto">
            <a:xfrm flipV="1">
              <a:off x="3438" y="1827"/>
              <a:ext cx="292" cy="5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Line 14"/>
            <p:cNvSpPr>
              <a:spLocks noChangeShapeType="1"/>
            </p:cNvSpPr>
            <p:nvPr/>
          </p:nvSpPr>
          <p:spPr bwMode="auto">
            <a:xfrm>
              <a:off x="3428" y="2485"/>
              <a:ext cx="301" cy="4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Line 15"/>
            <p:cNvSpPr>
              <a:spLocks noChangeShapeType="1"/>
            </p:cNvSpPr>
            <p:nvPr/>
          </p:nvSpPr>
          <p:spPr bwMode="auto">
            <a:xfrm>
              <a:off x="3964" y="1836"/>
              <a:ext cx="293" cy="51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Line 16"/>
            <p:cNvSpPr>
              <a:spLocks noChangeShapeType="1"/>
            </p:cNvSpPr>
            <p:nvPr/>
          </p:nvSpPr>
          <p:spPr bwMode="auto">
            <a:xfrm>
              <a:off x="3854" y="1383"/>
              <a:ext cx="0" cy="18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Line 24"/>
            <p:cNvSpPr>
              <a:spLocks noChangeShapeType="1"/>
            </p:cNvSpPr>
            <p:nvPr/>
          </p:nvSpPr>
          <p:spPr bwMode="auto">
            <a:xfrm flipH="1">
              <a:off x="3960" y="2484"/>
              <a:ext cx="311" cy="4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Text Box 25"/>
            <p:cNvSpPr txBox="1">
              <a:spLocks noChangeArrowheads="1"/>
            </p:cNvSpPr>
            <p:nvPr/>
          </p:nvSpPr>
          <p:spPr bwMode="auto">
            <a:xfrm>
              <a:off x="3964" y="1598"/>
              <a:ext cx="6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read ( c );</a:t>
              </a:r>
            </a:p>
          </p:txBody>
        </p:sp>
        <p:sp>
          <p:nvSpPr>
            <p:cNvPr id="22544" name="Text Box 26"/>
            <p:cNvSpPr txBox="1">
              <a:spLocks noChangeArrowheads="1"/>
            </p:cNvSpPr>
            <p:nvPr/>
          </p:nvSpPr>
          <p:spPr bwMode="auto">
            <a:xfrm>
              <a:off x="3057" y="1811"/>
              <a:ext cx="5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c == ‘N’</a:t>
              </a:r>
            </a:p>
          </p:txBody>
        </p:sp>
        <p:sp>
          <p:nvSpPr>
            <p:cNvPr id="22545" name="Text Box 27"/>
            <p:cNvSpPr txBox="1">
              <a:spLocks noChangeArrowheads="1"/>
            </p:cNvSpPr>
            <p:nvPr/>
          </p:nvSpPr>
          <p:spPr bwMode="auto">
            <a:xfrm>
              <a:off x="4502" y="2489"/>
              <a:ext cx="5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y = 0;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break;</a:t>
              </a:r>
            </a:p>
          </p:txBody>
        </p:sp>
        <p:grpSp>
          <p:nvGrpSpPr>
            <p:cNvPr id="22546" name="Group 32"/>
            <p:cNvGrpSpPr>
              <a:grpSpLocks/>
            </p:cNvGrpSpPr>
            <p:nvPr/>
          </p:nvGrpSpPr>
          <p:grpSpPr bwMode="auto">
            <a:xfrm>
              <a:off x="3111" y="2263"/>
              <a:ext cx="1486" cy="296"/>
              <a:chOff x="3329" y="1774"/>
              <a:chExt cx="1486" cy="296"/>
            </a:xfrm>
          </p:grpSpPr>
          <p:grpSp>
            <p:nvGrpSpPr>
              <p:cNvPr id="22554" name="Group 18"/>
              <p:cNvGrpSpPr>
                <a:grpSpLocks/>
              </p:cNvGrpSpPr>
              <p:nvPr/>
            </p:nvGrpSpPr>
            <p:grpSpPr bwMode="auto">
              <a:xfrm>
                <a:off x="3329" y="1774"/>
                <a:ext cx="350" cy="296"/>
                <a:chOff x="4288" y="1746"/>
                <a:chExt cx="350" cy="296"/>
              </a:xfrm>
            </p:grpSpPr>
            <p:sp>
              <p:nvSpPr>
                <p:cNvPr id="22561" name="Oval 19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</p:grpSp>
          <p:grpSp>
            <p:nvGrpSpPr>
              <p:cNvPr id="22555" name="Group 21"/>
              <p:cNvGrpSpPr>
                <a:grpSpLocks/>
              </p:cNvGrpSpPr>
              <p:nvPr/>
            </p:nvGrpSpPr>
            <p:grpSpPr bwMode="auto">
              <a:xfrm>
                <a:off x="4465" y="1774"/>
                <a:ext cx="350" cy="296"/>
                <a:chOff x="4288" y="1746"/>
                <a:chExt cx="350" cy="296"/>
              </a:xfrm>
            </p:grpSpPr>
            <p:sp>
              <p:nvSpPr>
                <p:cNvPr id="22559" name="Oval 22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60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</p:grpSp>
          <p:grpSp>
            <p:nvGrpSpPr>
              <p:cNvPr id="22556" name="Group 29"/>
              <p:cNvGrpSpPr>
                <a:grpSpLocks/>
              </p:cNvGrpSpPr>
              <p:nvPr/>
            </p:nvGrpSpPr>
            <p:grpSpPr bwMode="auto">
              <a:xfrm>
                <a:off x="3897" y="1774"/>
                <a:ext cx="350" cy="296"/>
                <a:chOff x="4288" y="1746"/>
                <a:chExt cx="350" cy="296"/>
              </a:xfrm>
            </p:grpSpPr>
            <p:sp>
              <p:nvSpPr>
                <p:cNvPr id="22557" name="Oval 30"/>
                <p:cNvSpPr>
                  <a:spLocks noChangeArrowheads="1"/>
                </p:cNvSpPr>
                <p:nvPr/>
              </p:nvSpPr>
              <p:spPr bwMode="auto">
                <a:xfrm>
                  <a:off x="4288" y="1746"/>
                  <a:ext cx="350" cy="296"/>
                </a:xfrm>
                <a:prstGeom prst="ellipse">
                  <a:avLst/>
                </a:prstGeom>
                <a:solidFill>
                  <a:srgbClr val="0066FF"/>
                </a:solidFill>
                <a:ln w="190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558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4365" y="1769"/>
                  <a:ext cx="19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1pPr>
                  <a:lvl2pPr marL="742950" indent="-28575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2pPr>
                  <a:lvl3pPr marL="11430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3pPr>
                  <a:lvl4pPr marL="16002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4pPr>
                  <a:lvl5pPr marL="2057400" indent="-228600"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 b="1">
                      <a:solidFill>
                        <a:srgbClr val="FAFD00"/>
                      </a:solidFill>
                      <a:latin typeface="Times New Roman" pitchFamily="18" charset="0"/>
                    </a:defRPr>
                  </a:lvl9pPr>
                </a:lstStyle>
                <a:p>
                  <a:pPr algn="r"/>
                  <a:r>
                    <a:rPr lang="en-US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</p:grpSp>
        </p:grpSp>
        <p:sp>
          <p:nvSpPr>
            <p:cNvPr id="22547" name="Line 33"/>
            <p:cNvSpPr>
              <a:spLocks noChangeShapeType="1"/>
            </p:cNvSpPr>
            <p:nvPr/>
          </p:nvSpPr>
          <p:spPr bwMode="auto">
            <a:xfrm flipH="1">
              <a:off x="3852" y="1873"/>
              <a:ext cx="4" cy="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Line 34"/>
            <p:cNvSpPr>
              <a:spLocks noChangeShapeType="1"/>
            </p:cNvSpPr>
            <p:nvPr/>
          </p:nvSpPr>
          <p:spPr bwMode="auto">
            <a:xfrm flipH="1">
              <a:off x="3856" y="2563"/>
              <a:ext cx="0" cy="3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Text Box 39"/>
            <p:cNvSpPr txBox="1">
              <a:spLocks noChangeArrowheads="1"/>
            </p:cNvSpPr>
            <p:nvPr/>
          </p:nvSpPr>
          <p:spPr bwMode="auto">
            <a:xfrm>
              <a:off x="3557" y="1953"/>
              <a:ext cx="5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c == ‘Y’</a:t>
              </a:r>
            </a:p>
          </p:txBody>
        </p:sp>
        <p:sp>
          <p:nvSpPr>
            <p:cNvPr id="22550" name="Text Box 40"/>
            <p:cNvSpPr txBox="1">
              <a:spLocks noChangeArrowheads="1"/>
            </p:cNvSpPr>
            <p:nvPr/>
          </p:nvSpPr>
          <p:spPr bwMode="auto">
            <a:xfrm>
              <a:off x="4048" y="1936"/>
              <a:ext cx="5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default</a:t>
              </a:r>
            </a:p>
          </p:txBody>
        </p:sp>
        <p:sp>
          <p:nvSpPr>
            <p:cNvPr id="22551" name="Text Box 41"/>
            <p:cNvSpPr txBox="1">
              <a:spLocks noChangeArrowheads="1"/>
            </p:cNvSpPr>
            <p:nvPr/>
          </p:nvSpPr>
          <p:spPr bwMode="auto">
            <a:xfrm>
              <a:off x="3594" y="2583"/>
              <a:ext cx="508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y = 50;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break;</a:t>
              </a:r>
            </a:p>
          </p:txBody>
        </p:sp>
        <p:sp>
          <p:nvSpPr>
            <p:cNvPr id="22552" name="Text Box 42"/>
            <p:cNvSpPr txBox="1">
              <a:spLocks noChangeArrowheads="1"/>
            </p:cNvSpPr>
            <p:nvPr/>
          </p:nvSpPr>
          <p:spPr bwMode="auto">
            <a:xfrm>
              <a:off x="2734" y="2489"/>
              <a:ext cx="49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y = 25;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break;</a:t>
              </a:r>
            </a:p>
          </p:txBody>
        </p:sp>
        <p:sp>
          <p:nvSpPr>
            <p:cNvPr id="22553" name="Text Box 43"/>
            <p:cNvSpPr txBox="1">
              <a:spLocks noChangeArrowheads="1"/>
            </p:cNvSpPr>
            <p:nvPr/>
          </p:nvSpPr>
          <p:spPr bwMode="auto">
            <a:xfrm>
              <a:off x="3886" y="3139"/>
              <a:ext cx="66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1pPr>
              <a:lvl2pPr marL="742950" indent="-28575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2pPr>
              <a:lvl3pPr marL="11430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3pPr>
              <a:lvl4pPr marL="16002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4pPr>
              <a:lvl5pPr marL="2057400" indent="-228600"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b="1">
                  <a:solidFill>
                    <a:srgbClr val="FAFD00"/>
                  </a:solidFill>
                  <a:latin typeface="Times New Roman" pitchFamily="18" charset="0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1600">
                  <a:solidFill>
                    <a:schemeClr val="tx1"/>
                  </a:solidFill>
                </a:rPr>
                <a:t>print (y);</a:t>
              </a:r>
            </a:p>
          </p:txBody>
        </p:sp>
      </p:grpSp>
      <p:sp>
        <p:nvSpPr>
          <p:cNvPr id="37" name="Rectangle 36"/>
          <p:cNvSpPr/>
          <p:nvPr/>
        </p:nvSpPr>
        <p:spPr>
          <a:xfrm>
            <a:off x="3785440" y="5487988"/>
            <a:ext cx="4953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Introduction to Software Testing  (</a:t>
            </a:r>
            <a:r>
              <a:rPr lang="en-US" dirty="0" err="1"/>
              <a:t>Ch</a:t>
            </a:r>
            <a:r>
              <a:rPr lang="en-US" dirty="0"/>
              <a:t> 2) © </a:t>
            </a:r>
            <a:r>
              <a:rPr lang="en-US" dirty="0" err="1"/>
              <a:t>Ammann</a:t>
            </a:r>
            <a:r>
              <a:rPr lang="en-US" dirty="0"/>
              <a:t> &amp; Offutt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422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en-US" dirty="0"/>
              <a:t>Draw the control flow graph of the loan calculation  problem discussed in the class</a:t>
            </a:r>
          </a:p>
          <a:p>
            <a:endParaRPr lang="en-US" dirty="0"/>
          </a:p>
          <a:p>
            <a:r>
              <a:rPr lang="en-US" dirty="0"/>
              <a:t>Then identify all the </a:t>
            </a:r>
            <a:r>
              <a:rPr lang="en-US"/>
              <a:t>independent paths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Develop test cases and write Junit program to test the application</a:t>
            </a:r>
          </a:p>
        </p:txBody>
      </p:sp>
    </p:spTree>
    <p:extLst>
      <p:ext uri="{BB962C8B-B14F-4D97-AF65-F5344CB8AC3E}">
        <p14:creationId xmlns:p14="http://schemas.microsoft.com/office/powerpoint/2010/main" val="3735248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en-US" dirty="0"/>
              <a:t>Draw the control flow graph of the triangle problem discussed in the class</a:t>
            </a:r>
          </a:p>
          <a:p>
            <a:endParaRPr lang="en-US" dirty="0"/>
          </a:p>
          <a:p>
            <a:r>
              <a:rPr lang="en-US" dirty="0"/>
              <a:t>Then identify all the independent paths</a:t>
            </a:r>
          </a:p>
        </p:txBody>
      </p:sp>
    </p:spTree>
    <p:extLst>
      <p:ext uri="{BB962C8B-B14F-4D97-AF65-F5344CB8AC3E}">
        <p14:creationId xmlns:p14="http://schemas.microsoft.com/office/powerpoint/2010/main" val="324720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Basic Path Testing : </a:t>
            </a:r>
            <a:r>
              <a:rPr lang="en-US" sz="3600" b="1" dirty="0" err="1"/>
              <a:t>CountC</a:t>
            </a:r>
            <a:r>
              <a:rPr lang="en-US" sz="3600" b="1" dirty="0"/>
              <a:t> function Example</a:t>
            </a:r>
          </a:p>
        </p:txBody>
      </p:sp>
      <p:sp>
        <p:nvSpPr>
          <p:cNvPr id="23558" name="Text Box 4"/>
          <p:cNvSpPr txBox="1">
            <a:spLocks noChangeArrowheads="1"/>
          </p:cNvSpPr>
          <p:nvPr/>
        </p:nvSpPr>
        <p:spPr bwMode="auto">
          <a:xfrm>
            <a:off x="1017588" y="1520825"/>
            <a:ext cx="63658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000" b="1">
                <a:solidFill>
                  <a:srgbClr val="FAFD00"/>
                </a:solidFill>
                <a:latin typeface="Times New Roman" pitchFamily="18" charset="0"/>
              </a:defRPr>
            </a:lvl1pPr>
            <a:lvl2pPr marL="742950" indent="-285750">
              <a:defRPr sz="2000" b="1">
                <a:solidFill>
                  <a:srgbClr val="FAFD00"/>
                </a:solidFill>
                <a:latin typeface="Times New Roman" pitchFamily="18" charset="0"/>
              </a:defRPr>
            </a:lvl2pPr>
            <a:lvl3pPr marL="11430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3pPr>
            <a:lvl4pPr marL="16002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4pPr>
            <a:lvl5pPr marL="2057400" indent="-228600">
              <a:defRPr sz="2000" b="1">
                <a:solidFill>
                  <a:srgbClr val="FAFD00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rgbClr val="FAFD00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94494" y="1295400"/>
            <a:ext cx="5334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 private static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CountC</a:t>
            </a:r>
            <a:r>
              <a:rPr lang="en-US" sz="1400" dirty="0"/>
              <a:t>(String </a:t>
            </a:r>
            <a:r>
              <a:rPr lang="en-US" sz="1400" dirty="0" err="1"/>
              <a:t>myString</a:t>
            </a:r>
            <a:r>
              <a:rPr lang="en-US" sz="1400" dirty="0"/>
              <a:t>)</a:t>
            </a:r>
          </a:p>
          <a:p>
            <a:r>
              <a:rPr lang="en-US" sz="1400" dirty="0"/>
              <a:t>   {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    </a:t>
            </a:r>
            <a:r>
              <a:rPr lang="en-US" sz="1400" b="1" dirty="0" err="1">
                <a:solidFill>
                  <a:srgbClr val="FF0000"/>
                </a:solidFill>
              </a:rPr>
              <a:t>int</a:t>
            </a:r>
            <a:r>
              <a:rPr lang="en-US" sz="1400" b="1" dirty="0">
                <a:solidFill>
                  <a:srgbClr val="FF0000"/>
                </a:solidFill>
              </a:rPr>
              <a:t> index =0, </a:t>
            </a:r>
            <a:r>
              <a:rPr lang="en-US" sz="1400" b="1" dirty="0" err="1">
                <a:solidFill>
                  <a:srgbClr val="FF0000"/>
                </a:solidFill>
              </a:rPr>
              <a:t>i</a:t>
            </a:r>
            <a:r>
              <a:rPr lang="en-US" sz="1400" b="1" dirty="0">
                <a:solidFill>
                  <a:srgbClr val="FF0000"/>
                </a:solidFill>
              </a:rPr>
              <a:t>=0, j=0, k=0;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   char A='A', B='B', C='C';</a:t>
            </a:r>
          </a:p>
          <a:p>
            <a:r>
              <a:rPr lang="en-US" sz="1400" dirty="0"/>
              <a:t>      </a:t>
            </a:r>
            <a:r>
              <a:rPr lang="en-US" sz="1400" b="1" dirty="0">
                <a:solidFill>
                  <a:srgbClr val="000099"/>
                </a:solidFill>
              </a:rPr>
              <a:t>if(</a:t>
            </a:r>
            <a:r>
              <a:rPr lang="en-US" sz="1400" b="1" dirty="0" err="1">
                <a:solidFill>
                  <a:srgbClr val="000099"/>
                </a:solidFill>
              </a:rPr>
              <a:t>myString.charAt</a:t>
            </a:r>
            <a:r>
              <a:rPr lang="en-US" sz="1400" b="1" dirty="0">
                <a:solidFill>
                  <a:srgbClr val="000099"/>
                </a:solidFill>
              </a:rPr>
              <a:t>(index) == A)</a:t>
            </a:r>
          </a:p>
          <a:p>
            <a:r>
              <a:rPr lang="en-US" sz="1400" dirty="0"/>
              <a:t>      {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         while(++index &lt; </a:t>
            </a:r>
            <a:r>
              <a:rPr lang="en-US" sz="1400" b="1" dirty="0" err="1">
                <a:solidFill>
                  <a:srgbClr val="0070C0"/>
                </a:solidFill>
              </a:rPr>
              <a:t>myString.length</a:t>
            </a:r>
            <a:r>
              <a:rPr lang="en-US" sz="1400" b="1" dirty="0">
                <a:solidFill>
                  <a:srgbClr val="0070C0"/>
                </a:solidFill>
              </a:rPr>
              <a:t>())</a:t>
            </a:r>
          </a:p>
          <a:p>
            <a:r>
              <a:rPr lang="en-US" sz="1400" dirty="0"/>
              <a:t>         {</a:t>
            </a:r>
          </a:p>
          <a:p>
            <a:r>
              <a:rPr lang="en-US" sz="1400" dirty="0"/>
              <a:t>              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if(</a:t>
            </a:r>
            <a:r>
              <a:rPr lang="en-US" sz="14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myString.charAt</a:t>
            </a: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(index) == B)</a:t>
            </a:r>
          </a:p>
          <a:p>
            <a:r>
              <a:rPr lang="en-US" sz="1400" dirty="0"/>
              <a:t>              {</a:t>
            </a:r>
          </a:p>
          <a:p>
            <a:r>
              <a:rPr lang="en-US" sz="1400" dirty="0"/>
              <a:t>                 j=j+1;</a:t>
            </a:r>
          </a:p>
          <a:p>
            <a:r>
              <a:rPr lang="en-US" sz="1400" dirty="0"/>
              <a:t>              </a:t>
            </a:r>
            <a:r>
              <a:rPr lang="en-US" sz="1400" b="1" dirty="0">
                <a:solidFill>
                  <a:srgbClr val="7030A0"/>
                </a:solidFill>
              </a:rPr>
              <a:t>}else if(</a:t>
            </a:r>
            <a:r>
              <a:rPr lang="en-US" sz="1400" b="1" dirty="0" err="1">
                <a:solidFill>
                  <a:srgbClr val="7030A0"/>
                </a:solidFill>
              </a:rPr>
              <a:t>myString.charAt</a:t>
            </a:r>
            <a:r>
              <a:rPr lang="en-US" sz="1400" b="1" dirty="0">
                <a:solidFill>
                  <a:srgbClr val="7030A0"/>
                </a:solidFill>
              </a:rPr>
              <a:t>(index) == C)</a:t>
            </a:r>
          </a:p>
          <a:p>
            <a:r>
              <a:rPr lang="en-US" sz="1400" dirty="0"/>
              <a:t>                        {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                      </a:t>
            </a:r>
            <a:r>
              <a:rPr lang="en-US" sz="1400" b="1" dirty="0" err="1">
                <a:solidFill>
                  <a:srgbClr val="FF0000"/>
                </a:solidFill>
              </a:rPr>
              <a:t>i</a:t>
            </a:r>
            <a:r>
              <a:rPr lang="en-US" sz="1400" b="1" dirty="0">
                <a:solidFill>
                  <a:srgbClr val="FF0000"/>
                </a:solidFill>
              </a:rPr>
              <a:t> += j;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                      k += 1;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                      j=0</a:t>
            </a:r>
            <a:r>
              <a:rPr lang="en-US" sz="1400" dirty="0"/>
              <a:t>;</a:t>
            </a:r>
          </a:p>
          <a:p>
            <a:r>
              <a:rPr lang="en-US" sz="1400" dirty="0"/>
              <a:t>                       }</a:t>
            </a:r>
          </a:p>
          <a:p>
            <a:r>
              <a:rPr lang="en-US" sz="1400" dirty="0"/>
              <a:t>         }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           i=</a:t>
            </a:r>
            <a:r>
              <a:rPr lang="en-US" sz="1400" b="1" dirty="0" err="1">
                <a:solidFill>
                  <a:srgbClr val="FF0000"/>
                </a:solidFill>
              </a:rPr>
              <a:t>i+j</a:t>
            </a:r>
            <a:r>
              <a:rPr lang="en-US" sz="1400" b="1" dirty="0">
                <a:solidFill>
                  <a:srgbClr val="FF0000"/>
                </a:solidFill>
              </a:rPr>
              <a:t>;</a:t>
            </a:r>
          </a:p>
          <a:p>
            <a:r>
              <a:rPr lang="en-US" sz="1400" dirty="0"/>
              <a:t>       }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       return </a:t>
            </a:r>
            <a:r>
              <a:rPr lang="en-US" sz="1400" b="1" dirty="0" err="1">
                <a:solidFill>
                  <a:srgbClr val="FF0000"/>
                </a:solidFill>
              </a:rPr>
              <a:t>i</a:t>
            </a:r>
            <a:r>
              <a:rPr lang="en-US" sz="1400" b="1" dirty="0">
                <a:solidFill>
                  <a:srgbClr val="FF0000"/>
                </a:solidFill>
              </a:rPr>
              <a:t>;</a:t>
            </a:r>
          </a:p>
          <a:p>
            <a:r>
              <a:rPr lang="en-US" sz="1400" dirty="0"/>
              <a:t>   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5400" y="1179036"/>
            <a:ext cx="38862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LcParenR"/>
            </a:pPr>
            <a:r>
              <a:rPr lang="en-US" dirty="0"/>
              <a:t>Draw the flow graph</a:t>
            </a:r>
          </a:p>
          <a:p>
            <a:pPr marL="342900" indent="-342900">
              <a:buAutoNum type="alphaLcParenR"/>
            </a:pPr>
            <a:r>
              <a:rPr lang="en-US" dirty="0"/>
              <a:t>Identify all independent paths</a:t>
            </a:r>
          </a:p>
          <a:p>
            <a:pPr marL="342900" indent="-342900">
              <a:buAutoNum type="alphaLcParenR"/>
            </a:pPr>
            <a:r>
              <a:rPr lang="en-US" dirty="0"/>
              <a:t>Design test cases</a:t>
            </a:r>
          </a:p>
          <a:p>
            <a:pPr marL="342900" indent="-342900">
              <a:buAutoNum type="alphaLcParenR"/>
            </a:pPr>
            <a:r>
              <a:rPr lang="en-US" dirty="0"/>
              <a:t>Write a Junit code to test the correctness of the code. Objective of the program is to count number of C’s on a string if the string start with A and has C’s followed by</a:t>
            </a:r>
          </a:p>
        </p:txBody>
      </p:sp>
    </p:spTree>
    <p:extLst>
      <p:ext uri="{BB962C8B-B14F-4D97-AF65-F5344CB8AC3E}">
        <p14:creationId xmlns:p14="http://schemas.microsoft.com/office/powerpoint/2010/main" val="1614851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many Independent Paths Here?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22" y="1828800"/>
            <a:ext cx="794385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6361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858</Words>
  <Application>Microsoft Office PowerPoint</Application>
  <PresentationFormat>On-screen Show (4:3)</PresentationFormat>
  <Paragraphs>188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Helvetica</vt:lpstr>
      <vt:lpstr>Times New Roman</vt:lpstr>
      <vt:lpstr>Office Theme</vt:lpstr>
      <vt:lpstr>1_L1_Introduction_CSE360</vt:lpstr>
      <vt:lpstr>CSE 464 : Software Quality Assurance and Testing</vt:lpstr>
      <vt:lpstr>From the Last Lecture</vt:lpstr>
      <vt:lpstr>Program Graphs of Structured Programming Constructs</vt:lpstr>
      <vt:lpstr>PowerPoint Presentation</vt:lpstr>
      <vt:lpstr>Control Flow Graph Example : The if, and if-else Statements</vt:lpstr>
      <vt:lpstr>Control Flow Graph Example : while and for Loops</vt:lpstr>
      <vt:lpstr>Activity : do Loop, break and continue</vt:lpstr>
      <vt:lpstr>Control Flow Graph Example : The case (switch) Structure</vt:lpstr>
      <vt:lpstr>Class  Activity</vt:lpstr>
      <vt:lpstr>Class  Activity</vt:lpstr>
      <vt:lpstr>Basic Path Testing : CountC function Example</vt:lpstr>
      <vt:lpstr>How many Independent Paths Here?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109</cp:revision>
  <cp:lastPrinted>2011-08-23T15:27:31Z</cp:lastPrinted>
  <dcterms:created xsi:type="dcterms:W3CDTF">2011-08-13T19:09:36Z</dcterms:created>
  <dcterms:modified xsi:type="dcterms:W3CDTF">2023-02-22T17:04:08Z</dcterms:modified>
</cp:coreProperties>
</file>