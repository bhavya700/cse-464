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256" r:id="rId3"/>
    <p:sldId id="299" r:id="rId4"/>
    <p:sldId id="315" r:id="rId5"/>
    <p:sldId id="301" r:id="rId6"/>
    <p:sldId id="302" r:id="rId7"/>
    <p:sldId id="306" r:id="rId8"/>
    <p:sldId id="304" r:id="rId9"/>
    <p:sldId id="305" r:id="rId10"/>
    <p:sldId id="311" r:id="rId11"/>
    <p:sldId id="314" r:id="rId12"/>
    <p:sldId id="260" r:id="rId13"/>
    <p:sldId id="290" r:id="rId14"/>
    <p:sldId id="316" r:id="rId15"/>
    <p:sldId id="262" r:id="rId1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>
      <p:cViewPr varScale="1">
        <p:scale>
          <a:sx n="86" d="100"/>
          <a:sy n="86" d="100"/>
        </p:scale>
        <p:origin x="936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6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C816A-BDF5-40F8-BA29-E0C9B731DE9B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B8A7C2-1E93-453D-9FEB-BF955EA18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5694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81B32F1-F5C0-446D-91AE-267E8363B2DB}" type="slidenum">
              <a:rPr lang="en-US"/>
              <a:pPr eaLnBrk="1" hangingPunct="1"/>
              <a:t>7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860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D5E9B2E-ED83-489F-86F8-C847E1DD3155}" type="slidenum">
              <a:rPr lang="en-US"/>
              <a:pPr eaLnBrk="1" hangingPunct="1"/>
              <a:t>8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589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2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6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0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1569"/>
            <a:ext cx="6858000" cy="23877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236"/>
            <a:ext cx="6858000" cy="165556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B3F6266-F355-42E8-A9ED-553CB4EB8DA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C08B042-B552-495C-A86E-84CF166FFC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36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525BFB0F-6C13-43FD-B43E-382F95F384F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8738" y="6245424"/>
            <a:ext cx="1541462" cy="47684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86C151E-D215-46CD-99EE-0A892B3F6EB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436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D9B49908-7BF3-47CC-BF25-C2A576389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839" y="6056115"/>
            <a:ext cx="2211387" cy="823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F73621-0CB3-49EF-BEF3-0AFC05BD5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143"/>
            <a:ext cx="7886700" cy="285392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859"/>
            <a:ext cx="7886700" cy="15001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7257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87762F6-5F8F-4E70-94A9-27DB1C1DB54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9218547-8810-4E5C-B8C1-BCEC512CE50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068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4332"/>
            <a:ext cx="7886700" cy="1326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0568"/>
            <a:ext cx="3868737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671"/>
            <a:ext cx="3868737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0568"/>
            <a:ext cx="3887788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671"/>
            <a:ext cx="3887788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647644D-4AF7-40E2-ABD2-C92DE46B23E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F5D404D-7469-4CFE-B321-643D797E19D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5224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9DF05D8E-B70F-4257-9F95-3AD9F1E451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50" y="6088261"/>
            <a:ext cx="2065338" cy="769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072163-D364-4494-8925-1F1E8D938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412DB8-557E-4645-8D40-64E61BD51277}"/>
              </a:ext>
            </a:extLst>
          </p:cNvPr>
          <p:cNvSpPr/>
          <p:nvPr/>
        </p:nvSpPr>
        <p:spPr bwMode="auto">
          <a:xfrm>
            <a:off x="423864" y="1001912"/>
            <a:ext cx="8296275" cy="75009"/>
          </a:xfrm>
          <a:prstGeom prst="rect">
            <a:avLst/>
          </a:prstGeom>
          <a:solidFill>
            <a:srgbClr val="00A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887" y="0"/>
            <a:ext cx="8229600" cy="871688"/>
          </a:xfrm>
        </p:spPr>
        <p:txBody>
          <a:bodyPr/>
          <a:lstStyle>
            <a:lvl1pPr>
              <a:defRPr sz="3600" b="1">
                <a:solidFill>
                  <a:srgbClr val="0000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8861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6D680E69-7E02-479D-AF43-5DAA91506D0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4B029B9-42A8-451D-BD1A-B02A25FA6DD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123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3E7DA19-1FBD-4667-9350-5CF00EBFADB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C69A17-3DAB-4C4B-A38D-CFE34B83FB0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8861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7E5496-A566-44D7-BAB0-EAA96FC935E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2F0940-3AEA-4514-870A-E9780536D07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3165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F27B390-86A8-41C7-9993-AB9A1D30325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9440F7A-D9D0-4D10-B391-3E0938E6059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082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035"/>
            <a:ext cx="2057400" cy="585073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035"/>
            <a:ext cx="6019800" cy="585073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B454836-E81C-4213-8F54-EAADC0C84E0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170355A-856B-4A63-B0CE-96D94813410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938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1C88C06-26C9-42F9-B519-01EB2DCFDD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044C3363-DA44-4E0D-94BC-66B05160858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431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DFC89B-20BE-4839-94AF-F3B79D3D1F2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5B4B34D-483F-4734-9CF0-201CF6DF543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02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751-B3B2-4B17-BD1A-3398C3F7C492}" type="datetimeFigureOut">
              <a:rPr lang="en-US" smtClean="0"/>
              <a:t>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A7AA195-D2A3-472D-8F18-5E9BCB553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5034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8E9D8DC-6C54-45D9-8626-5E5DF00F53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820229" name="Rectangle 5">
            <a:extLst>
              <a:ext uri="{FF2B5EF4-FFF2-40B4-BE49-F238E27FC236}">
                <a16:creationId xmlns:a16="http://schemas.microsoft.com/office/drawing/2014/main" id="{254EB33C-9920-461B-9E65-4FAC65D812E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9400" y="6168629"/>
            <a:ext cx="2895600" cy="4768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solidFill>
                  <a:srgbClr val="000099"/>
                </a:solidFill>
              </a:defRPr>
            </a:lvl1pPr>
          </a:lstStyle>
          <a:p>
            <a:endParaRPr lang="en-US"/>
          </a:p>
        </p:txBody>
      </p:sp>
      <p:sp>
        <p:nvSpPr>
          <p:cNvPr id="820230" name="Rectangle 6">
            <a:extLst>
              <a:ext uri="{FF2B5EF4-FFF2-40B4-BE49-F238E27FC236}">
                <a16:creationId xmlns:a16="http://schemas.microsoft.com/office/drawing/2014/main" id="{085A968C-8947-424F-B480-B7E901FB730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424"/>
            <a:ext cx="2133600" cy="4768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23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www.youtube.com/watch?v=gp_D8r-2hwk" TargetMode="Externa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ired.com/software/coolapps/news/2005/11/69355?currentPage=2" TargetMode="Externa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iegel.de/sport/sonst/olympia-2012-software-fehler-schuld-an-heidler-drama-im-hammerwurf-a-849533.html" TargetMode="External"/><Relationship Id="rId7" Type="http://schemas.openxmlformats.org/officeDocument/2006/relationships/hyperlink" Target="https://www.it-cisq.org/press-releases/12-06-22/" TargetMode="External"/><Relationship Id="rId2" Type="http://schemas.openxmlformats.org/officeDocument/2006/relationships/hyperlink" Target="http://en.wikipedia.org/wiki/Heartbleed" TargetMode="Externa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www.theverge.com/2020/4/9/21197162/boeing-737-max-software-hardware-computer-fcc-crash" TargetMode="External"/><Relationship Id="rId5" Type="http://schemas.openxmlformats.org/officeDocument/2006/relationships/hyperlink" Target="http://www.bloomberg.com/news/2012-10-17/knight-capital-reports-net-loss-as-software-error-takes-toll-1-.html" TargetMode="External"/><Relationship Id="rId4" Type="http://schemas.openxmlformats.org/officeDocument/2006/relationships/hyperlink" Target="http://www.zdnet.com/nasa-fixes-bug-that-put-curiosity-mars-rover-on-standby-7000012892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10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571" y="851517"/>
            <a:ext cx="3928849" cy="2991416"/>
          </a:xfrm>
        </p:spPr>
        <p:txBody>
          <a:bodyPr anchor="b">
            <a:normAutofit/>
          </a:bodyPr>
          <a:lstStyle/>
          <a:p>
            <a:pPr algn="l"/>
            <a:r>
              <a:rPr lang="en-US" sz="4100" b="1" dirty="0">
                <a:solidFill>
                  <a:srgbClr val="000099"/>
                </a:solidFill>
              </a:rPr>
              <a:t>CSE 464 : Software Quality Assurance and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0572" y="3842932"/>
            <a:ext cx="3125336" cy="216355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b="1" dirty="0"/>
              <a:t>Introductory Lecture</a:t>
            </a:r>
          </a:p>
          <a:p>
            <a:pPr algn="l">
              <a:lnSpc>
                <a:spcPct val="90000"/>
              </a:lnSpc>
            </a:pPr>
            <a:endParaRPr lang="en-US" sz="2700" dirty="0"/>
          </a:p>
          <a:p>
            <a:pPr algn="l">
              <a:lnSpc>
                <a:spcPct val="90000"/>
              </a:lnSpc>
            </a:pPr>
            <a:r>
              <a:rPr lang="en-US" sz="2700" b="1" dirty="0"/>
              <a:t>Janaka Balasooriya</a:t>
            </a:r>
          </a:p>
        </p:txBody>
      </p:sp>
      <p:sp>
        <p:nvSpPr>
          <p:cNvPr id="40" name="Freeform: Shape 12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32777" y="851518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59064BF-C471-4F6D-ACA6-E8C664FE7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627" y="2806221"/>
            <a:ext cx="2413000" cy="186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68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Why Software Quality Matters?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1295400"/>
            <a:ext cx="8077200" cy="4525963"/>
          </a:xfrm>
        </p:spPr>
        <p:txBody>
          <a:bodyPr>
            <a:normAutofit/>
          </a:bodyPr>
          <a:lstStyle/>
          <a:p>
            <a:r>
              <a:rPr lang="en-US" dirty="0"/>
              <a:t>Avoid software malfunctions (possibly disasters)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https://www.youtube.com/watch?v=gp_D8r-2hwk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5" descr="ariane-explos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733800"/>
            <a:ext cx="4114800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3853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7168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Why Software Quality Matters?: Another way to look !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04800" y="1997839"/>
            <a:ext cx="86868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373436"/>
                </a:solidFill>
                <a:latin typeface="Minion-MIT"/>
              </a:rPr>
              <a:t>“If the automobile industry had developed like the software industry,” the mogul proclaims, “we would all be driving $25 cars that get 1,000 miles to the gallon.” To which an automobile executive retorts, “Yeah, and if cars were like software, they would crash twice a day for no reason, and when you called for service, they’d tell you to reinstall the engine.”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1371600" y="5181600"/>
            <a:ext cx="6934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Why Software Is So Bad, by Charles C. Mann  July 1, 2002</a:t>
            </a:r>
          </a:p>
        </p:txBody>
      </p:sp>
    </p:spTree>
    <p:extLst>
      <p:ext uri="{BB962C8B-B14F-4D97-AF65-F5344CB8AC3E}">
        <p14:creationId xmlns:p14="http://schemas.microsoft.com/office/powerpoint/2010/main" val="2700125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743200"/>
            <a:ext cx="7886700" cy="1034057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Infamous Software Failures Due to Bad Quality – A Closer Look</a:t>
            </a:r>
          </a:p>
        </p:txBody>
      </p:sp>
    </p:spTree>
    <p:extLst>
      <p:ext uri="{BB962C8B-B14F-4D97-AF65-F5344CB8AC3E}">
        <p14:creationId xmlns:p14="http://schemas.microsoft.com/office/powerpoint/2010/main" val="2901445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380" y="347512"/>
            <a:ext cx="8516019" cy="871688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Disney’s “Lion King”, the 1</a:t>
            </a:r>
            <a:r>
              <a:rPr lang="en-US" sz="3600" b="1" baseline="30000" dirty="0">
                <a:solidFill>
                  <a:srgbClr val="000099"/>
                </a:solidFill>
              </a:rPr>
              <a:t>st</a:t>
            </a:r>
            <a:r>
              <a:rPr lang="en-US" sz="3600" b="1" dirty="0">
                <a:solidFill>
                  <a:srgbClr val="000099"/>
                </a:solidFill>
              </a:rPr>
              <a:t> multimedia CD-ROM</a:t>
            </a:r>
            <a:br>
              <a:rPr lang="en-US" sz="3600" b="1" dirty="0">
                <a:solidFill>
                  <a:srgbClr val="000099"/>
                </a:solidFill>
              </a:rPr>
            </a:br>
            <a:endParaRPr lang="en-US" sz="3600" b="1" dirty="0">
              <a:solidFill>
                <a:srgbClr val="000099"/>
              </a:solidFill>
            </a:endParaRPr>
          </a:p>
        </p:txBody>
      </p:sp>
      <p:sp>
        <p:nvSpPr>
          <p:cNvPr id="75878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524000"/>
            <a:ext cx="8248650" cy="41148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en-US" sz="2400" dirty="0"/>
              <a:t>During Christmas – sales expectations very huge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Customer Service phones began to ring as many customers couldn't run  watch the movie.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Failure to properly test SW on many different PC models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Worked well on the models that Disney programmers used to create the game !!</a:t>
            </a:r>
          </a:p>
        </p:txBody>
      </p:sp>
      <p:sp>
        <p:nvSpPr>
          <p:cNvPr id="758788" name="Text Box 4"/>
          <p:cNvSpPr txBox="1">
            <a:spLocks noChangeArrowheads="1"/>
          </p:cNvSpPr>
          <p:nvPr/>
        </p:nvSpPr>
        <p:spPr bwMode="auto">
          <a:xfrm>
            <a:off x="2308225" y="5791200"/>
            <a:ext cx="44119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1" dirty="0"/>
              <a:t>Taken From “Software Testing” by Ron Patton</a:t>
            </a:r>
          </a:p>
        </p:txBody>
      </p:sp>
    </p:spTree>
    <p:extLst>
      <p:ext uri="{BB962C8B-B14F-4D97-AF65-F5344CB8AC3E}">
        <p14:creationId xmlns:p14="http://schemas.microsoft.com/office/powerpoint/2010/main" val="4064370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5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5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5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5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8787" grpId="0" build="p" autoUpdateAnimBg="0"/>
      <p:bldP spid="75878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12222"/>
            <a:ext cx="9144000" cy="87168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A Medical Software Example: Quality and Risk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010400" y="6245225"/>
            <a:ext cx="2133600" cy="477838"/>
          </a:xfrm>
        </p:spPr>
        <p:txBody>
          <a:bodyPr/>
          <a:lstStyle/>
          <a:p>
            <a:fld id="{56AE35B7-5C09-456D-86BB-7CC170618856}" type="slidenum">
              <a:rPr lang="en-US"/>
              <a:pPr/>
              <a:t>6</a:t>
            </a:fld>
            <a:endParaRPr lang="en-US"/>
          </a:p>
        </p:txBody>
      </p:sp>
      <p:sp>
        <p:nvSpPr>
          <p:cNvPr id="1689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28600" y="1350951"/>
            <a:ext cx="8001000" cy="3297249"/>
          </a:xfrm>
        </p:spPr>
        <p:txBody>
          <a:bodyPr/>
          <a:lstStyle/>
          <a:p>
            <a:r>
              <a:rPr lang="en-US" sz="2000" i="1" dirty="0">
                <a:latin typeface="Palatino" pitchFamily="-128" charset="0"/>
              </a:rPr>
              <a:t>“People bet their jobs, their comforts, their safety, their entertainment, their decisions, and their very lives on computer software. It better be right.”</a:t>
            </a:r>
            <a:r>
              <a:rPr lang="en-US" sz="2000" dirty="0">
                <a:latin typeface="Palatino" pitchFamily="-128" charset="0"/>
              </a:rPr>
              <a:t> SEPA, Chapter 1</a:t>
            </a:r>
          </a:p>
          <a:p>
            <a:r>
              <a:rPr lang="en-US" sz="2000" dirty="0">
                <a:latin typeface="Palatino" pitchFamily="-128" charset="0"/>
              </a:rPr>
              <a:t>Example:</a:t>
            </a:r>
          </a:p>
          <a:p>
            <a:pPr lvl="1">
              <a:spcBef>
                <a:spcPts val="600"/>
              </a:spcBef>
            </a:pPr>
            <a:r>
              <a:rPr lang="en-US" sz="1800" i="1" dirty="0">
                <a:latin typeface="Palatino" pitchFamily="-128" charset="0"/>
              </a:rPr>
              <a:t>Throughout the month of November, 2000 at a hospital in Panama, 28 patients received massive overdoses of gamma rays during treatment for a variety of cancers. In the months that followed, five of these patients died from radiation poisoning and 15 others developed serious complications. What caused this tragedy?  A software package was modified by hospital technicians to compute modified doses of radiation for each patient. </a:t>
            </a:r>
          </a:p>
        </p:txBody>
      </p:sp>
      <p:sp>
        <p:nvSpPr>
          <p:cNvPr id="2" name="Rectangle 1"/>
          <p:cNvSpPr/>
          <p:nvPr/>
        </p:nvSpPr>
        <p:spPr>
          <a:xfrm>
            <a:off x="235527" y="5212644"/>
            <a:ext cx="8305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http://www.wired.com/software/coolapps/news/2005/11/69355?currentPage=2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274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>
                <a:solidFill>
                  <a:srgbClr val="000099"/>
                </a:solidFill>
              </a:rPr>
              <a:t>Ariane</a:t>
            </a:r>
            <a:r>
              <a:rPr lang="en-US" b="1" dirty="0">
                <a:solidFill>
                  <a:srgbClr val="000099"/>
                </a:solidFill>
              </a:rPr>
              <a:t> 5 Failure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half" idx="4294967295"/>
          </p:nvPr>
        </p:nvSpPr>
        <p:spPr>
          <a:xfrm>
            <a:off x="228600" y="1066800"/>
            <a:ext cx="4191000" cy="1905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/>
              <a:t>A software bug caused European Space Agency’s Ariane 5 rocket to crash 40 seconds into its first flight in 1996 (</a:t>
            </a:r>
            <a:r>
              <a:rPr lang="en-US" sz="2000" b="1" i="1" dirty="0"/>
              <a:t>cost: half billion dollars</a:t>
            </a:r>
            <a:r>
              <a:rPr lang="en-US" sz="2000" dirty="0"/>
              <a:t>)</a:t>
            </a:r>
          </a:p>
          <a:p>
            <a:pPr eaLnBrk="1" hangingPunct="1">
              <a:lnSpc>
                <a:spcPct val="90000"/>
              </a:lnSpc>
            </a:pPr>
            <a:endParaRPr lang="en-US" sz="2000" dirty="0"/>
          </a:p>
          <a:p>
            <a:pPr eaLnBrk="1" hangingPunct="1">
              <a:lnSpc>
                <a:spcPct val="90000"/>
              </a:lnSpc>
            </a:pPr>
            <a:endParaRPr lang="en-US" sz="2000" dirty="0"/>
          </a:p>
        </p:txBody>
      </p:sp>
      <p:sp>
        <p:nvSpPr>
          <p:cNvPr id="7172" name="Rectangle 4"/>
          <p:cNvSpPr>
            <a:spLocks noGrp="1" noChangeArrowheads="1"/>
          </p:cNvSpPr>
          <p:nvPr>
            <p:ph sz="half" idx="4294967295"/>
          </p:nvPr>
        </p:nvSpPr>
        <p:spPr>
          <a:xfrm>
            <a:off x="228600" y="2815215"/>
            <a:ext cx="8229600" cy="35766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/>
              <a:t>The bug was caused because of a software component that was being reused from </a:t>
            </a:r>
            <a:r>
              <a:rPr lang="en-US" sz="2000" dirty="0" err="1"/>
              <a:t>Ariane</a:t>
            </a:r>
            <a:r>
              <a:rPr lang="en-US" sz="2000" dirty="0"/>
              <a:t> 4 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A software exception occurred during execution of a data conversion from 64-bit floating point to 16-bit signed integer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The value was larger than 32,767, the largest integer storable in a 16 bit signed integer, and thus the conversion failed and an exception was raised by the program  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When the primary computer system failed due to this problem, the secondary system started running.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The secondary system was running the same software, so it failed too! </a:t>
            </a:r>
          </a:p>
          <a:p>
            <a:pPr eaLnBrk="1" hangingPunct="1">
              <a:lnSpc>
                <a:spcPct val="90000"/>
              </a:lnSpc>
            </a:pPr>
            <a:endParaRPr lang="en-US" sz="1800" dirty="0"/>
          </a:p>
        </p:txBody>
      </p:sp>
      <p:pic>
        <p:nvPicPr>
          <p:cNvPr id="7173" name="Picture 5" descr="ariane-explos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143000"/>
            <a:ext cx="4114800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0566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>
                <a:solidFill>
                  <a:srgbClr val="000099"/>
                </a:solidFill>
              </a:rPr>
              <a:t>Ariane</a:t>
            </a:r>
            <a:r>
              <a:rPr lang="en-US" b="1" dirty="0">
                <a:solidFill>
                  <a:srgbClr val="000099"/>
                </a:solidFill>
              </a:rPr>
              <a:t> 5 Failure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81000" y="1371600"/>
            <a:ext cx="8001000" cy="4525963"/>
          </a:xfrm>
        </p:spPr>
        <p:txBody>
          <a:bodyPr>
            <a:normAutofit fontScale="70000" lnSpcReduction="20000"/>
          </a:bodyPr>
          <a:lstStyle/>
          <a:p>
            <a:pPr eaLnBrk="1" hangingPunct="1"/>
            <a:r>
              <a:rPr lang="en-US" dirty="0"/>
              <a:t>The programmers for </a:t>
            </a:r>
            <a:r>
              <a:rPr lang="en-US" dirty="0" err="1"/>
              <a:t>Ariane</a:t>
            </a:r>
            <a:r>
              <a:rPr lang="en-US" dirty="0"/>
              <a:t> 4 had decided that this particular velocity figure would never be large enough to raise this exception. </a:t>
            </a:r>
          </a:p>
          <a:p>
            <a:pPr lvl="1" eaLnBrk="1" hangingPunct="1"/>
            <a:r>
              <a:rPr lang="en-US" dirty="0" err="1"/>
              <a:t>Ariane</a:t>
            </a:r>
            <a:r>
              <a:rPr lang="en-US" dirty="0"/>
              <a:t> 5 was a faster rocket than </a:t>
            </a:r>
            <a:r>
              <a:rPr lang="en-US" dirty="0" err="1"/>
              <a:t>Ariane</a:t>
            </a:r>
            <a:r>
              <a:rPr lang="en-US" dirty="0"/>
              <a:t> 4! </a:t>
            </a:r>
          </a:p>
          <a:p>
            <a:pPr eaLnBrk="1" hangingPunct="1"/>
            <a:r>
              <a:rPr lang="en-US" dirty="0"/>
              <a:t>The calculation containing the bug actually served no purpose once the rocket was in the air. </a:t>
            </a:r>
          </a:p>
          <a:p>
            <a:pPr lvl="1" eaLnBrk="1" hangingPunct="1"/>
            <a:r>
              <a:rPr lang="en-US" dirty="0"/>
              <a:t>Engineers chose long ago, in an earlier version of the </a:t>
            </a:r>
            <a:r>
              <a:rPr lang="en-US" dirty="0" err="1"/>
              <a:t>Ariane</a:t>
            </a:r>
            <a:r>
              <a:rPr lang="en-US" dirty="0"/>
              <a:t> rocket, to leave this function running for the first 40 seconds of flight to make it easy to restart the system in the event of a brief hold in the countdown.</a:t>
            </a:r>
            <a:br>
              <a:rPr lang="en-US" dirty="0"/>
            </a:br>
            <a:endParaRPr lang="en-US" dirty="0"/>
          </a:p>
          <a:p>
            <a:pPr eaLnBrk="1" hangingPunct="1"/>
            <a:r>
              <a:rPr lang="en-US" dirty="0"/>
              <a:t>You can read the report of </a:t>
            </a:r>
            <a:r>
              <a:rPr lang="en-US" dirty="0" err="1"/>
              <a:t>Ariane</a:t>
            </a:r>
            <a:r>
              <a:rPr lang="en-US" dirty="0"/>
              <a:t> 5 failure at:</a:t>
            </a:r>
          </a:p>
          <a:p>
            <a:pPr eaLnBrk="1" hangingPunct="1">
              <a:buFontTx/>
              <a:buNone/>
            </a:pPr>
            <a:r>
              <a:rPr lang="en-US" dirty="0"/>
              <a:t>     http://www.ima.umn.edu/~arnold/disasters/ariane5rep.html</a:t>
            </a:r>
          </a:p>
        </p:txBody>
      </p:sp>
    </p:spTree>
    <p:extLst>
      <p:ext uri="{BB962C8B-B14F-4D97-AF65-F5344CB8AC3E}">
        <p14:creationId xmlns:p14="http://schemas.microsoft.com/office/powerpoint/2010/main" val="3125573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188"/>
            <a:ext cx="8229600" cy="87168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Several Other “high profile” Software Failures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1430338"/>
            <a:ext cx="8458200" cy="452596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Security bug in the open-source </a:t>
            </a:r>
            <a:r>
              <a:rPr lang="en-US" b="1" dirty="0" err="1"/>
              <a:t>OpenSSL</a:t>
            </a:r>
            <a:r>
              <a:rPr lang="en-US" b="1" dirty="0"/>
              <a:t> </a:t>
            </a:r>
            <a:r>
              <a:rPr lang="en-US" b="1" dirty="0" err="1"/>
              <a:t>cryprography</a:t>
            </a:r>
            <a:r>
              <a:rPr lang="en-US" b="1" dirty="0"/>
              <a:t> library </a:t>
            </a:r>
            <a:r>
              <a:rPr lang="en-US" b="1" dirty="0" err="1">
                <a:hlinkClick r:id="rId2"/>
              </a:rPr>
              <a:t>Heartbleed</a:t>
            </a:r>
            <a:endParaRPr lang="en-US" b="1" dirty="0"/>
          </a:p>
          <a:p>
            <a:r>
              <a:rPr lang="en-US" b="1" dirty="0"/>
              <a:t>Measuring error in Olympic games </a:t>
            </a:r>
            <a:r>
              <a:rPr lang="en-US" b="1" dirty="0">
                <a:hlinkClick r:id="rId3"/>
              </a:rPr>
              <a:t>Hammer throwing, London, August 2012</a:t>
            </a:r>
            <a:endParaRPr lang="en-US" b="1" dirty="0"/>
          </a:p>
          <a:p>
            <a:r>
              <a:rPr lang="en-US" b="1" dirty="0"/>
              <a:t>Software bug leads to retardation of brake system </a:t>
            </a:r>
            <a:r>
              <a:rPr lang="en-US" b="1" dirty="0">
                <a:hlinkClick r:id="rId4"/>
              </a:rPr>
              <a:t>Delay in admission of new ICE trains, November 2012</a:t>
            </a:r>
            <a:endParaRPr lang="en-US" b="1" dirty="0"/>
          </a:p>
          <a:p>
            <a:r>
              <a:rPr lang="en-US" b="1" dirty="0"/>
              <a:t>Curiosity mars rover bug </a:t>
            </a:r>
            <a:r>
              <a:rPr lang="en-US" b="1" dirty="0">
                <a:hlinkClick r:id="rId4"/>
              </a:rPr>
              <a:t>NASA fixes bug, March 2013</a:t>
            </a:r>
            <a:r>
              <a:rPr lang="en-US" b="1" dirty="0"/>
              <a:t>,</a:t>
            </a:r>
          </a:p>
          <a:p>
            <a:r>
              <a:rPr lang="en-US" b="1" dirty="0"/>
              <a:t>Software update leads to erroneous orders at Stock Exchange: </a:t>
            </a:r>
            <a:r>
              <a:rPr lang="en-US" b="1" dirty="0">
                <a:hlinkClick r:id="rId5"/>
              </a:rPr>
              <a:t>Knight Capital looses $389 million, August 2012</a:t>
            </a:r>
            <a:endParaRPr lang="en-US" b="1" dirty="0"/>
          </a:p>
          <a:p>
            <a:r>
              <a:rPr lang="en-US" b="1" dirty="0"/>
              <a:t>Boing Max 777 Crash (2019): </a:t>
            </a:r>
            <a:r>
              <a:rPr lang="en-US" b="1" dirty="0">
                <a:hlinkClick r:id="rId6"/>
              </a:rPr>
              <a:t>https://www.theverge.com/2020/4/9/21197162/boeing-737-max-software-hardware-computer-fcc-crash</a:t>
            </a:r>
            <a:endParaRPr lang="en-US" b="1" dirty="0"/>
          </a:p>
          <a:p>
            <a:r>
              <a:rPr lang="en-US" b="1" dirty="0">
                <a:hlinkClick r:id="rId7"/>
              </a:rPr>
              <a:t>https://www.it-cisq.org/press-releases/12-06-22/</a:t>
            </a:r>
            <a:r>
              <a:rPr lang="en-US" b="1" dirty="0"/>
              <a:t> (CISQ Cost of Poor software quality report - 2022)</a:t>
            </a:r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752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514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Computer Engineers and Scientists have a big responsivity to </a:t>
            </a:r>
            <a:r>
              <a:rPr lang="en-US" u="sng" dirty="0"/>
              <a:t>Design</a:t>
            </a:r>
            <a:r>
              <a:rPr lang="en-US" dirty="0"/>
              <a:t>, </a:t>
            </a:r>
            <a:r>
              <a:rPr lang="en-US" u="sng" dirty="0"/>
              <a:t>Develop</a:t>
            </a:r>
            <a:r>
              <a:rPr lang="en-US" dirty="0"/>
              <a:t>, and </a:t>
            </a:r>
            <a:r>
              <a:rPr lang="en-US" u="sng" dirty="0"/>
              <a:t>Release</a:t>
            </a:r>
            <a:r>
              <a:rPr lang="en-US" dirty="0"/>
              <a:t> better quality Software </a:t>
            </a:r>
          </a:p>
        </p:txBody>
      </p:sp>
    </p:spTree>
    <p:extLst>
      <p:ext uri="{BB962C8B-B14F-4D97-AF65-F5344CB8AC3E}">
        <p14:creationId xmlns:p14="http://schemas.microsoft.com/office/powerpoint/2010/main" val="1986895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66343"/>
            <a:ext cx="8839200" cy="914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Course Objectives/Outcomes</a:t>
            </a:r>
            <a:br>
              <a:rPr lang="en-US" b="1" dirty="0">
                <a:solidFill>
                  <a:srgbClr val="000099"/>
                </a:solidFill>
              </a:rPr>
            </a:br>
            <a:r>
              <a:rPr lang="en-US" b="1" dirty="0">
                <a:solidFill>
                  <a:srgbClr val="000099"/>
                </a:solidFill>
              </a:rPr>
              <a:t>class website: my.asu.edu</a:t>
            </a:r>
          </a:p>
        </p:txBody>
      </p:sp>
      <p:sp>
        <p:nvSpPr>
          <p:cNvPr id="3" name="Rectangle 2"/>
          <p:cNvSpPr/>
          <p:nvPr/>
        </p:nvSpPr>
        <p:spPr>
          <a:xfrm>
            <a:off x="443345" y="1190316"/>
            <a:ext cx="8382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By the end of this course, students should be able to</a:t>
            </a:r>
            <a:endParaRPr lang="en-US" b="1" i="1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b="1" i="1" dirty="0">
                <a:solidFill>
                  <a:srgbClr val="FF0000"/>
                </a:solidFill>
              </a:rPr>
              <a:t>explain</a:t>
            </a:r>
            <a:r>
              <a:rPr lang="en-US" dirty="0"/>
              <a:t> fundamental SQA considerations and understand the role of testing in SQA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b="1" i="1" dirty="0">
                <a:solidFill>
                  <a:srgbClr val="FF0000"/>
                </a:solidFill>
              </a:rPr>
              <a:t>explain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the basis of various approaches in unit, integration, and system testing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b="1" i="1" dirty="0">
                <a:solidFill>
                  <a:srgbClr val="FF0000"/>
                </a:solidFill>
              </a:rPr>
              <a:t>understand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how testing is applied throughout the software life cycle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b="1" i="1" dirty="0">
                <a:solidFill>
                  <a:srgbClr val="FF0000"/>
                </a:solidFill>
              </a:rPr>
              <a:t>able</a:t>
            </a:r>
            <a:r>
              <a:rPr lang="en-US" dirty="0"/>
              <a:t> to use an automated testing tool to write test cases and perform testing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b="1" i="1" dirty="0">
                <a:solidFill>
                  <a:srgbClr val="FF0000"/>
                </a:solidFill>
              </a:rPr>
              <a:t>carryout</a:t>
            </a:r>
            <a:r>
              <a:rPr lang="en-US" dirty="0"/>
              <a:t> test driven development for complex software using testing tools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b="1" i="1" dirty="0">
                <a:solidFill>
                  <a:srgbClr val="FF0000"/>
                </a:solidFill>
              </a:rPr>
              <a:t>able </a:t>
            </a:r>
            <a:r>
              <a:rPr lang="en-US" dirty="0"/>
              <a:t>to perform inspections, reviews, and walkthroughs of code and design of a large software system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b="1" i="1" dirty="0">
                <a:solidFill>
                  <a:srgbClr val="FF0000"/>
                </a:solidFill>
              </a:rPr>
              <a:t>explain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basic principles of software configuration management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b="1" i="1" dirty="0">
                <a:solidFill>
                  <a:srgbClr val="FF0000"/>
                </a:solidFill>
              </a:rPr>
              <a:t>gain</a:t>
            </a:r>
            <a:r>
              <a:rPr lang="en-US" dirty="0"/>
              <a:t> a solid understanding of state of the art in software testing</a:t>
            </a:r>
          </a:p>
          <a:p>
            <a:pPr marL="742950" lvl="1" indent="-285750">
              <a:buFont typeface="Arial" pitchFamily="34" charset="0"/>
              <a:buChar char="•"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20704" y="5737784"/>
            <a:ext cx="71309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sz="2800" b="1" dirty="0">
                <a:solidFill>
                  <a:srgbClr val="000099"/>
                </a:solidFill>
              </a:rPr>
              <a:t>The Course Syllabus and Tentative Schedule</a:t>
            </a:r>
          </a:p>
        </p:txBody>
      </p:sp>
      <p:sp>
        <p:nvSpPr>
          <p:cNvPr id="5" name="Down Arrow 4"/>
          <p:cNvSpPr/>
          <p:nvPr/>
        </p:nvSpPr>
        <p:spPr>
          <a:xfrm>
            <a:off x="3886200" y="5224790"/>
            <a:ext cx="484632" cy="5664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486400" y="5091453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Above objectives will be met by following</a:t>
            </a:r>
          </a:p>
        </p:txBody>
      </p:sp>
    </p:spTree>
    <p:extLst>
      <p:ext uri="{BB962C8B-B14F-4D97-AF65-F5344CB8AC3E}">
        <p14:creationId xmlns:p14="http://schemas.microsoft.com/office/powerpoint/2010/main" val="357015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Assessment and Grading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1274982"/>
            <a:ext cx="8686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Homework/Projects - 40%</a:t>
            </a:r>
          </a:p>
          <a:p>
            <a:r>
              <a:rPr lang="en-US" dirty="0"/>
              <a:t>Quizzes and Class Activities - 15%</a:t>
            </a:r>
          </a:p>
          <a:p>
            <a:r>
              <a:rPr lang="en-US" dirty="0"/>
              <a:t>Midterm I – 12.5%</a:t>
            </a:r>
          </a:p>
          <a:p>
            <a:r>
              <a:rPr lang="en-US" dirty="0"/>
              <a:t>Midterm II – 15%</a:t>
            </a:r>
          </a:p>
          <a:p>
            <a:r>
              <a:rPr lang="en-US" dirty="0"/>
              <a:t>Final Exam – 17.5%</a:t>
            </a:r>
          </a:p>
          <a:p>
            <a:r>
              <a:rPr lang="en-US" dirty="0"/>
              <a:t>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93231"/>
              </p:ext>
            </p:extLst>
          </p:nvPr>
        </p:nvGraphicFramePr>
        <p:xfrm>
          <a:off x="381000" y="3733800"/>
          <a:ext cx="6096000" cy="23622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Final Grade 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Percentage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A+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&gt;= 97%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4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&gt;= 90% and &lt; 97%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4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B+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&gt;= 87% and &lt; 90%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4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&gt;= 80% and &lt; 87%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4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C+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&gt;= 77 and &lt; 80%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4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&gt;= 70% and &lt; 77%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4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&gt;= 60% and &lt; 70%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46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Calibri"/>
                          <a:cs typeface="Latha"/>
                        </a:rPr>
                        <a:t>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&lt; 60%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191000" y="1143000"/>
            <a:ext cx="457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/>
              <a:t>Homework/Project Objectives:</a:t>
            </a:r>
            <a:r>
              <a:rPr lang="en-US" dirty="0"/>
              <a:t>  Apply testing, configuration management and quality control techniques in software development process. Use appropriate tools in testing, test documentation, and configuration management. </a:t>
            </a:r>
          </a:p>
        </p:txBody>
      </p:sp>
    </p:spTree>
    <p:extLst>
      <p:ext uri="{BB962C8B-B14F-4D97-AF65-F5344CB8AC3E}">
        <p14:creationId xmlns:p14="http://schemas.microsoft.com/office/powerpoint/2010/main" val="580806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345C-2BA9-262D-7F9A-DD3D83D44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ISTQB &amp; CSE 464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DAEB20-6994-C6D5-FE0E-6350E2A55282}"/>
              </a:ext>
            </a:extLst>
          </p:cNvPr>
          <p:cNvSpPr txBox="1"/>
          <p:nvPr/>
        </p:nvSpPr>
        <p:spPr>
          <a:xfrm>
            <a:off x="457200" y="1104647"/>
            <a:ext cx="8305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CSE 464 covers The International Software Testing Qualifications Board (ISTQB)https://www.istqb.org/ professional tester certification foundation level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C9ED63-C0FA-5145-ECEE-106406C92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50978"/>
            <a:ext cx="8382000" cy="5438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5071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3855"/>
            <a:ext cx="8229600" cy="90054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Homework: Reading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1676400"/>
            <a:ext cx="838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Read the articles “</a:t>
            </a:r>
            <a:r>
              <a:rPr lang="en-US" sz="2800" dirty="0" err="1"/>
              <a:t>WhySoftwareIsSoBad</a:t>
            </a:r>
            <a:r>
              <a:rPr lang="en-US" sz="2800" dirty="0"/>
              <a:t>”  and “The Boeing 737 MAX Saga: Lessons for Software Organizations” posted with this lecture note </a:t>
            </a:r>
          </a:p>
        </p:txBody>
      </p:sp>
    </p:spTree>
    <p:extLst>
      <p:ext uri="{BB962C8B-B14F-4D97-AF65-F5344CB8AC3E}">
        <p14:creationId xmlns:p14="http://schemas.microsoft.com/office/powerpoint/2010/main" val="1885927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L1_Introduction_CSE360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1_L1_Introduction_CSE360  -  Compatibility Mode" id="{4238F970-C867-4C69-BCAE-0BE61BF6467E}" vid="{BC4CAC20-189F-479B-9018-01AA5296704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Project Hubble Lecture Template_Standard</Template>
  <TotalTime>484</TotalTime>
  <Words>1064</Words>
  <Application>Microsoft Office PowerPoint</Application>
  <PresentationFormat>On-screen Show (4:3)</PresentationFormat>
  <Paragraphs>93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Minion-MIT</vt:lpstr>
      <vt:lpstr>Palatino</vt:lpstr>
      <vt:lpstr>Times New Roman</vt:lpstr>
      <vt:lpstr>Office Theme</vt:lpstr>
      <vt:lpstr>1_L1_Introduction_CSE360</vt:lpstr>
      <vt:lpstr>CSE 464 : Software Quality Assurance and Testing</vt:lpstr>
      <vt:lpstr>Why Software Quality Matters?</vt:lpstr>
      <vt:lpstr>Why Software Quality Matters?: Another way to look !</vt:lpstr>
      <vt:lpstr>Infamous Software Failures Due to Bad Quality – A Closer Look</vt:lpstr>
      <vt:lpstr>Disney’s “Lion King”, the 1st multimedia CD-ROM </vt:lpstr>
      <vt:lpstr>A Medical Software Example: Quality and Risk</vt:lpstr>
      <vt:lpstr>Ariane 5 Failure</vt:lpstr>
      <vt:lpstr>Ariane 5 Failure</vt:lpstr>
      <vt:lpstr>Several Other “high profile” Software Failures and Impact</vt:lpstr>
      <vt:lpstr>Computer Engineers and Scientists have a big responsivity to Design, Develop, and Release better quality Software </vt:lpstr>
      <vt:lpstr>Course Objectives/Outcomes class website: my.asu.edu</vt:lpstr>
      <vt:lpstr>Assessment and Grading</vt:lpstr>
      <vt:lpstr>ISTQB &amp; CSE 464 </vt:lpstr>
      <vt:lpstr>Homework: Reading Assignment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Janaka Balasooriya</cp:lastModifiedBy>
  <cp:revision>78</cp:revision>
  <cp:lastPrinted>2012-08-23T16:16:29Z</cp:lastPrinted>
  <dcterms:created xsi:type="dcterms:W3CDTF">2011-08-13T19:09:36Z</dcterms:created>
  <dcterms:modified xsi:type="dcterms:W3CDTF">2024-01-08T04:33:01Z</dcterms:modified>
</cp:coreProperties>
</file>