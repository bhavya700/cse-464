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56" r:id="rId3"/>
    <p:sldId id="280" r:id="rId4"/>
    <p:sldId id="306" r:id="rId5"/>
    <p:sldId id="307" r:id="rId6"/>
    <p:sldId id="319" r:id="rId7"/>
    <p:sldId id="309" r:id="rId8"/>
    <p:sldId id="311" r:id="rId9"/>
    <p:sldId id="312" r:id="rId10"/>
    <p:sldId id="316" r:id="rId11"/>
    <p:sldId id="314" r:id="rId12"/>
    <p:sldId id="320" r:id="rId13"/>
    <p:sldId id="321" r:id="rId14"/>
    <p:sldId id="322" r:id="rId15"/>
    <p:sldId id="323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4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4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88077F4-ADF9-4B65-BFCB-B1C4B62E1D3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3D5D97-B982-457E-B48B-C1E29A2E46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26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E5946FBA-1F95-4E69-871E-8F64F423118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71F2473E-3EA0-408C-9083-AD724D919D6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89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AB0EA1E5-7449-4F72-A5C7-F331575A74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1BD466-CD34-4961-A23C-052A0083F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1056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99A3A7-1403-4688-8D08-01C06B647A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391979E-AF2B-48B2-9569-82CBAEA2AA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26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6D632AE-9103-4E16-B352-20FF43C2E4A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129CBEF-13EF-46F1-9CF7-0C24B75897D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2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01DF69F0-3F80-4E9D-9095-D1CF23E4F4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6E1066-A17F-4EC8-B652-C802BF7C9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1FEDDB-CA0E-4775-8A35-C8B87C86B2DE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43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F1D99A0-A3BD-4718-A57C-B476F026F8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C91B4EE-15B9-4180-85D9-53381FC0ABC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64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68E80E-EF40-4840-96B6-0BAEB7497E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8108F6-B849-462C-8A20-26DC24BF5B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83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59F871-CA18-484D-BF50-1CF58D05D2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17F75A-F46C-47E3-A742-2D07C613FEC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622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D5201F-DE63-420F-89E3-977EB82C24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CA7DF6D-2F91-4447-ADD9-F121CFAAAB2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408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72E49D4-9DA5-4F9F-A3F6-F63BC597E8D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718EB0-6B3A-47A7-A652-94A9730B264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72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3CCB1D-83CD-48F8-86A8-968353B3C69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99A68F6-C381-4B03-9FED-19C0B6E0535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136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4C8686-33D3-4C8F-8D1E-05BA61D7D9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5CF457-CAD9-42EB-99E7-7E75E21CD3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14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ED9D50C-E478-4F7B-97F0-ABC644A59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0B8576C-248A-4D13-91C6-DF4B58E69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E0AA0D1F-5F92-4CFF-AB06-B41BC484B61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F0AB1700-A846-47D4-924B-7F7B7F451A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33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junit.sourceforge.net/javadoc/org/junit/Assert.html" TargetMode="Externa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/>
          </a:bodyPr>
          <a:lstStyle/>
          <a:p>
            <a:pPr algn="l"/>
            <a:r>
              <a:rPr lang="en-US" sz="4100" b="1"/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572" y="3842932"/>
            <a:ext cx="3446628" cy="216355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b="1" dirty="0"/>
              <a:t>Equivalent Partitions – Lecture 2</a:t>
            </a:r>
          </a:p>
          <a:p>
            <a:pPr algn="l">
              <a:lnSpc>
                <a:spcPct val="90000"/>
              </a:lnSpc>
            </a:pPr>
            <a:endParaRPr lang="en-US" sz="2700" dirty="0"/>
          </a:p>
          <a:p>
            <a:pPr algn="l">
              <a:lnSpc>
                <a:spcPct val="90000"/>
              </a:lnSpc>
            </a:pPr>
            <a:r>
              <a:rPr lang="en-US" sz="2700" b="1" dirty="0"/>
              <a:t>Janaka Balasooriya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AA6AB5B1-7B7E-4A69-91BD-2DE8DD78F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8627" y="2806221"/>
            <a:ext cx="2413000" cy="186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3200"/>
            <a:ext cx="9144000" cy="67887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EP : The Triangle Problem Example</a:t>
            </a:r>
          </a:p>
        </p:txBody>
      </p:sp>
    </p:spTree>
    <p:extLst>
      <p:ext uri="{BB962C8B-B14F-4D97-AF65-F5344CB8AC3E}">
        <p14:creationId xmlns:p14="http://schemas.microsoft.com/office/powerpoint/2010/main" val="362976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solidFill>
                  <a:srgbClr val="000099"/>
                </a:solidFill>
              </a:rPr>
              <a:t>Triangle Problem</a:t>
            </a:r>
          </a:p>
        </p:txBody>
      </p:sp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228600" y="1066800"/>
            <a:ext cx="87630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sz="2400" dirty="0">
              <a:latin typeface="Calibri" pitchFamily="34" charset="0"/>
            </a:endParaRPr>
          </a:p>
          <a:p>
            <a:pPr eaLnBrk="1" hangingPunct="1"/>
            <a:r>
              <a:rPr lang="en-US" sz="2400" dirty="0">
                <a:latin typeface="Calibri" pitchFamily="34" charset="0"/>
              </a:rPr>
              <a:t>Triangle program accepts three integers a, b, and c as inputs. These are taken to be sides of  a triangle. The output of the program is the type of triangle determined by the three sides: </a:t>
            </a:r>
            <a:r>
              <a:rPr lang="en-US" sz="2400" b="1" dirty="0">
                <a:solidFill>
                  <a:srgbClr val="000099"/>
                </a:solidFill>
                <a:latin typeface="Calibri" pitchFamily="34" charset="0"/>
              </a:rPr>
              <a:t>Equilateral, Isosceles, Scalene</a:t>
            </a:r>
            <a:r>
              <a:rPr lang="en-US" sz="2400" dirty="0">
                <a:latin typeface="Calibri" pitchFamily="34" charset="0"/>
              </a:rPr>
              <a:t>, or </a:t>
            </a:r>
            <a:r>
              <a:rPr lang="en-US" sz="2400" b="1" dirty="0">
                <a:solidFill>
                  <a:srgbClr val="000099"/>
                </a:solidFill>
                <a:latin typeface="Calibri" pitchFamily="34" charset="0"/>
              </a:rPr>
              <a:t>Not A Triangle</a:t>
            </a:r>
            <a:r>
              <a:rPr lang="en-US" sz="2400" dirty="0">
                <a:latin typeface="Calibri" pitchFamily="34" charset="0"/>
              </a:rPr>
              <a:t>. In addition  1 &lt;= a &lt;= 200, 1 &lt;= b &lt;= 200, and 1 &lt;= c &lt;= 200.</a:t>
            </a:r>
          </a:p>
          <a:p>
            <a:pPr eaLnBrk="1" hangingPunct="1"/>
            <a:r>
              <a:rPr lang="en-US" sz="2400" dirty="0">
                <a:latin typeface="Calibri" pitchFamily="34" charset="0"/>
              </a:rPr>
              <a:t>Also, to be a triangle sum of any two sides should be greater than the other side ( a &lt; b +c , c &lt; a + b, b &lt; a +c ).</a:t>
            </a:r>
          </a:p>
          <a:p>
            <a:pPr eaLnBrk="1" hangingPunct="1"/>
            <a:endParaRPr lang="en-US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35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190500" y="1143000"/>
            <a:ext cx="68961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 b="1" dirty="0"/>
              <a:t>Consider inputs: a , b, and c for equivalent partitions</a:t>
            </a:r>
          </a:p>
          <a:p>
            <a:pPr algn="ctr" eaLnBrk="1" hangingPunct="1"/>
            <a:endParaRPr lang="en-US" sz="2000" b="1" dirty="0"/>
          </a:p>
        </p:txBody>
      </p:sp>
      <p:sp>
        <p:nvSpPr>
          <p:cNvPr id="25603" name="Title 1"/>
          <p:cNvSpPr>
            <a:spLocks/>
          </p:cNvSpPr>
          <p:nvPr/>
        </p:nvSpPr>
        <p:spPr bwMode="auto">
          <a:xfrm>
            <a:off x="304800" y="1524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000099"/>
                </a:solidFill>
                <a:latin typeface="Calibri" pitchFamily="34" charset="0"/>
              </a:rPr>
              <a:t>Triangle Problem Equivalent Partitioning : Approach 1</a:t>
            </a:r>
          </a:p>
        </p:txBody>
      </p:sp>
    </p:spTree>
    <p:extLst>
      <p:ext uri="{BB962C8B-B14F-4D97-AF65-F5344CB8AC3E}">
        <p14:creationId xmlns:p14="http://schemas.microsoft.com/office/powerpoint/2010/main" val="42028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404553" y="1371600"/>
            <a:ext cx="87630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 dirty="0"/>
              <a:t>Consider outputs for equivalent partitions</a:t>
            </a:r>
          </a:p>
          <a:p>
            <a:pPr eaLnBrk="1" hangingPunct="1"/>
            <a:endParaRPr lang="en-US" sz="2000" b="1" dirty="0"/>
          </a:p>
        </p:txBody>
      </p:sp>
      <p:sp>
        <p:nvSpPr>
          <p:cNvPr id="25603" name="Title 1"/>
          <p:cNvSpPr>
            <a:spLocks/>
          </p:cNvSpPr>
          <p:nvPr/>
        </p:nvSpPr>
        <p:spPr bwMode="auto">
          <a:xfrm>
            <a:off x="176645" y="304800"/>
            <a:ext cx="8614064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200" b="1" dirty="0">
                <a:solidFill>
                  <a:srgbClr val="000099"/>
                </a:solidFill>
                <a:latin typeface="Calibri" pitchFamily="34" charset="0"/>
              </a:rPr>
              <a:t>Triangle Problem Equivalent Partitioning : Approach 2</a:t>
            </a:r>
          </a:p>
        </p:txBody>
      </p:sp>
    </p:spTree>
    <p:extLst>
      <p:ext uri="{BB962C8B-B14F-4D97-AF65-F5344CB8AC3E}">
        <p14:creationId xmlns:p14="http://schemas.microsoft.com/office/powerpoint/2010/main" val="2758827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266700" y="1143000"/>
            <a:ext cx="87630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Again, we can try to generate EPs based on output. In addition, we can try to classify them based on weak and strong using the classification stated in the book.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Four possible outcomes</a:t>
            </a:r>
          </a:p>
          <a:p>
            <a:pPr eaLnBrk="1" hangingPunct="1"/>
            <a:endParaRPr lang="en-US" b="1" dirty="0"/>
          </a:p>
          <a:p>
            <a:pPr eaLnBrk="1" hangingPunct="1"/>
            <a:r>
              <a:rPr lang="en-US" b="1" dirty="0"/>
              <a:t>Equilateral</a:t>
            </a:r>
          </a:p>
          <a:p>
            <a:pPr eaLnBrk="1" hangingPunct="1"/>
            <a:r>
              <a:rPr lang="en-US" b="1" dirty="0"/>
              <a:t>E1 = {&lt;a, b, c&gt; :  the triangle with sides a, b, and c where a=b=c}</a:t>
            </a:r>
          </a:p>
          <a:p>
            <a:pPr eaLnBrk="1" hangingPunct="1"/>
            <a:endParaRPr lang="en-US" b="1" dirty="0"/>
          </a:p>
          <a:p>
            <a:pPr eaLnBrk="1" hangingPunct="1"/>
            <a:r>
              <a:rPr lang="en-US" b="1" dirty="0"/>
              <a:t>Isosceles</a:t>
            </a:r>
          </a:p>
          <a:p>
            <a:pPr eaLnBrk="1" hangingPunct="1"/>
            <a:r>
              <a:rPr lang="en-US" b="1" dirty="0"/>
              <a:t>E2 = {&lt;a, b, c&gt; :  the triangle with sides a, b, and c where a=b, </a:t>
            </a:r>
            <a:r>
              <a:rPr lang="en-US" b="1" dirty="0" err="1"/>
              <a:t>a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c</a:t>
            </a:r>
            <a:r>
              <a:rPr lang="en-US" b="1" dirty="0"/>
              <a:t> | b=c, </a:t>
            </a:r>
            <a:r>
              <a:rPr lang="en-US" b="1" dirty="0" err="1"/>
              <a:t>b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a</a:t>
            </a:r>
            <a:r>
              <a:rPr lang="en-US" b="1" dirty="0"/>
              <a:t> | a=c , </a:t>
            </a:r>
            <a:r>
              <a:rPr lang="en-US" b="1" dirty="0" err="1"/>
              <a:t>a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b</a:t>
            </a:r>
            <a:r>
              <a:rPr lang="en-US" b="1" dirty="0"/>
              <a:t>}</a:t>
            </a:r>
          </a:p>
          <a:p>
            <a:pPr eaLnBrk="1" hangingPunct="1"/>
            <a:endParaRPr lang="en-US" b="1" dirty="0"/>
          </a:p>
          <a:p>
            <a:pPr eaLnBrk="1" hangingPunct="1"/>
            <a:r>
              <a:rPr lang="en-US" b="1" dirty="0"/>
              <a:t>Scalene</a:t>
            </a:r>
          </a:p>
          <a:p>
            <a:pPr eaLnBrk="1" hangingPunct="1"/>
            <a:r>
              <a:rPr lang="en-US" b="1" dirty="0"/>
              <a:t>E3 = {&lt;a, b, c&gt; :  the triangle with sides a, b, and c where </a:t>
            </a:r>
            <a:r>
              <a:rPr lang="en-US" b="1" dirty="0" err="1"/>
              <a:t>a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b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c</a:t>
            </a:r>
            <a:r>
              <a:rPr lang="en-US" b="1" dirty="0"/>
              <a:t> }</a:t>
            </a:r>
          </a:p>
          <a:p>
            <a:pPr eaLnBrk="1" hangingPunct="1"/>
            <a:endParaRPr lang="en-US" b="1" dirty="0"/>
          </a:p>
          <a:p>
            <a:pPr eaLnBrk="1" hangingPunct="1"/>
            <a:r>
              <a:rPr lang="en-US" b="1" dirty="0"/>
              <a:t>Not A Triangle</a:t>
            </a:r>
          </a:p>
          <a:p>
            <a:pPr eaLnBrk="1" hangingPunct="1"/>
            <a:r>
              <a:rPr lang="en-US" b="1" dirty="0"/>
              <a:t>E4 =</a:t>
            </a:r>
            <a:r>
              <a:rPr lang="en-US" dirty="0"/>
              <a:t>  </a:t>
            </a:r>
            <a:r>
              <a:rPr lang="en-US" b="1" dirty="0"/>
              <a:t>{&lt;a, b, c&gt; :  the triangle with sides a, b, and c where a + b &lt;= c | a + c &lt;= b | b + c &lt;= a }</a:t>
            </a:r>
          </a:p>
        </p:txBody>
      </p:sp>
      <p:sp>
        <p:nvSpPr>
          <p:cNvPr id="25603" name="Title 1"/>
          <p:cNvSpPr>
            <a:spLocks/>
          </p:cNvSpPr>
          <p:nvPr/>
        </p:nvSpPr>
        <p:spPr bwMode="auto">
          <a:xfrm>
            <a:off x="266700" y="1524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000099"/>
                </a:solidFill>
                <a:latin typeface="Calibri" pitchFamily="34" charset="0"/>
              </a:rPr>
              <a:t>Triangle Problem Equivalent Partitioning : Approach 2 … cont.</a:t>
            </a:r>
          </a:p>
        </p:txBody>
      </p:sp>
    </p:spTree>
    <p:extLst>
      <p:ext uri="{BB962C8B-B14F-4D97-AF65-F5344CB8AC3E}">
        <p14:creationId xmlns:p14="http://schemas.microsoft.com/office/powerpoint/2010/main" val="84549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38100" y="1210173"/>
            <a:ext cx="876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Weak Normal:</a:t>
            </a:r>
          </a:p>
        </p:txBody>
      </p:sp>
      <p:sp>
        <p:nvSpPr>
          <p:cNvPr id="25603" name="Title 1"/>
          <p:cNvSpPr>
            <a:spLocks/>
          </p:cNvSpPr>
          <p:nvPr/>
        </p:nvSpPr>
        <p:spPr bwMode="auto">
          <a:xfrm>
            <a:off x="304800" y="1524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000099"/>
                </a:solidFill>
                <a:latin typeface="Calibri" pitchFamily="34" charset="0"/>
              </a:rPr>
              <a:t>Triangle Problem Equivalent Partitioning : Approach 2 …cont.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" y="4876800"/>
            <a:ext cx="883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Strong Normal :</a:t>
            </a:r>
          </a:p>
          <a:p>
            <a:r>
              <a:rPr lang="en-US" dirty="0"/>
              <a:t>Since a, b, </a:t>
            </a:r>
            <a:r>
              <a:rPr lang="en-US"/>
              <a:t>c do </a:t>
            </a:r>
            <a:r>
              <a:rPr lang="en-US" dirty="0"/>
              <a:t>not have valid subintervals, Strong normal test cases are same as weak normal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0" y="1828800"/>
            <a:ext cx="8052170" cy="2218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607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76200" y="1143000"/>
            <a:ext cx="87630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Weak Robust: </a:t>
            </a:r>
            <a:r>
              <a:rPr lang="en-US" dirty="0"/>
              <a:t>considering invalid values for a, b, and c we get following </a:t>
            </a:r>
            <a:r>
              <a:rPr lang="en-US" b="1" dirty="0"/>
              <a:t>additional</a:t>
            </a:r>
            <a:r>
              <a:rPr lang="en-US" dirty="0"/>
              <a:t> test cases.</a:t>
            </a:r>
          </a:p>
        </p:txBody>
      </p:sp>
      <p:sp>
        <p:nvSpPr>
          <p:cNvPr id="25603" name="Title 1"/>
          <p:cNvSpPr>
            <a:spLocks/>
          </p:cNvSpPr>
          <p:nvPr/>
        </p:nvSpPr>
        <p:spPr bwMode="auto">
          <a:xfrm>
            <a:off x="304800" y="1524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000099"/>
                </a:solidFill>
                <a:latin typeface="Calibri" pitchFamily="34" charset="0"/>
              </a:rPr>
              <a:t>Triangle Problem Equivalent Partitioning : Approach 2 … </a:t>
            </a:r>
            <a:r>
              <a:rPr lang="en-US" sz="3600" b="1" dirty="0" err="1">
                <a:solidFill>
                  <a:srgbClr val="000099"/>
                </a:solidFill>
                <a:latin typeface="Calibri" pitchFamily="34" charset="0"/>
              </a:rPr>
              <a:t>cont</a:t>
            </a:r>
            <a:endParaRPr lang="en-US" sz="3600" b="1" dirty="0">
              <a:solidFill>
                <a:srgbClr val="000099"/>
              </a:solidFill>
              <a:latin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3964" y="478884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Strong Robust : </a:t>
            </a:r>
            <a:r>
              <a:rPr lang="en-US" dirty="0"/>
              <a:t>In addition to weak robust test cases, we can consider multiple fault assumption for invalid inputs for a, b, and c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2" y="1695743"/>
            <a:ext cx="7800975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2947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909" y="304800"/>
            <a:ext cx="8229600" cy="87168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  <a:latin typeface="Calibri" pitchFamily="34" charset="0"/>
              </a:rPr>
              <a:t>Triangle Problem Equivalent Partitioning : Approach 2 …</a:t>
            </a:r>
            <a:r>
              <a:rPr lang="en-US" b="1" dirty="0" err="1">
                <a:solidFill>
                  <a:srgbClr val="000099"/>
                </a:solidFill>
                <a:latin typeface="Calibri" pitchFamily="34" charset="0"/>
              </a:rPr>
              <a:t>cont</a:t>
            </a:r>
            <a:br>
              <a:rPr lang="en-US" b="1" dirty="0">
                <a:solidFill>
                  <a:srgbClr val="000099"/>
                </a:solidFill>
                <a:latin typeface="Calibri" pitchFamily="34" charset="0"/>
              </a:rPr>
            </a:b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84582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0109" y="14478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Strong Robust : </a:t>
            </a:r>
            <a:r>
              <a:rPr lang="en-US" dirty="0"/>
              <a:t>In addition to weak robust test cases, we can consider multiple fault assumption for invalid inputs for a, b, and c</a:t>
            </a:r>
          </a:p>
        </p:txBody>
      </p:sp>
    </p:spTree>
    <p:extLst>
      <p:ext uri="{BB962C8B-B14F-4D97-AF65-F5344CB8AC3E}">
        <p14:creationId xmlns:p14="http://schemas.microsoft.com/office/powerpoint/2010/main" val="2115002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19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Triangle Problem : Test case automation using Eclipse and </a:t>
            </a:r>
            <a:r>
              <a:rPr lang="en-US" dirty="0" err="1"/>
              <a:t>Junit</a:t>
            </a:r>
            <a:r>
              <a:rPr lang="en-US" dirty="0"/>
              <a:t> – Demo during the class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9200" y="4572000"/>
            <a:ext cx="739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http://junit.sourceforge.net/javadoc/org/junit/Assert.html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725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EP : </a:t>
            </a:r>
            <a:r>
              <a:rPr lang="en-US" dirty="0" err="1"/>
              <a:t>NextDay</a:t>
            </a:r>
            <a:r>
              <a:rPr lang="en-US" dirty="0"/>
              <a:t> Function</a:t>
            </a:r>
            <a:br>
              <a:rPr lang="en-US" dirty="0"/>
            </a:br>
            <a:r>
              <a:rPr lang="en-US" dirty="0"/>
              <a:t>In-class</a:t>
            </a:r>
          </a:p>
        </p:txBody>
      </p:sp>
    </p:spTree>
    <p:extLst>
      <p:ext uri="{BB962C8B-B14F-4D97-AF65-F5344CB8AC3E}">
        <p14:creationId xmlns:p14="http://schemas.microsoft.com/office/powerpoint/2010/main" val="2926502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25" y="152400"/>
            <a:ext cx="8991600" cy="678873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Equivalent Class Testing Does Not Cover…..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66800"/>
            <a:ext cx="8458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Many faults can happen around upper and lower limits of variable  data values. For example, </a:t>
            </a:r>
            <a:r>
              <a:rPr lang="en-US" sz="2800" dirty="0">
                <a:cs typeface="Arial" pitchFamily="34" charset="0"/>
              </a:rPr>
              <a:t>loop conditions (&lt; instead of ≤), counters</a:t>
            </a:r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Equivalent partitioning does not specifically address them.</a:t>
            </a:r>
          </a:p>
          <a:p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/>
              <a:t>So,  to  uncover  faults around  boundaries of equivalent classes =&gt; Boundary Values Analysis</a:t>
            </a:r>
          </a:p>
        </p:txBody>
      </p:sp>
    </p:spTree>
    <p:extLst>
      <p:ext uri="{BB962C8B-B14F-4D97-AF65-F5344CB8AC3E}">
        <p14:creationId xmlns:p14="http://schemas.microsoft.com/office/powerpoint/2010/main" val="418082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670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Boundary Value Analysis</a:t>
            </a:r>
            <a:br>
              <a:rPr lang="en-US" b="1" dirty="0">
                <a:solidFill>
                  <a:srgbClr val="000099"/>
                </a:solidFill>
              </a:rPr>
            </a:br>
            <a:r>
              <a:rPr lang="en-US" b="1" dirty="0">
                <a:solidFill>
                  <a:srgbClr val="000099"/>
                </a:solidFill>
              </a:rPr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964974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What is Boundary Value Analysis?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7581900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49382" y="3352800"/>
            <a:ext cx="89708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/>
              <a:t>Method</a:t>
            </a:r>
          </a:p>
          <a:p>
            <a:r>
              <a:rPr lang="en-US" sz="2000" dirty="0"/>
              <a:t>• Hold all variables at their nominal value.</a:t>
            </a:r>
          </a:p>
          <a:p>
            <a:r>
              <a:rPr lang="en-US" sz="2000" dirty="0"/>
              <a:t>• Let one variable assume its boundary values.</a:t>
            </a:r>
          </a:p>
          <a:p>
            <a:r>
              <a:rPr lang="en-US" sz="2000" dirty="0"/>
              <a:t>• Repeat this for each variable.</a:t>
            </a:r>
          </a:p>
          <a:p>
            <a:r>
              <a:rPr lang="en-US" sz="2000" dirty="0"/>
              <a:t>• This will (hopefully) reveal all faults that can be attributed to a single variable.</a:t>
            </a:r>
          </a:p>
          <a:p>
            <a:endParaRPr lang="en-US" sz="2000" dirty="0"/>
          </a:p>
          <a:p>
            <a:r>
              <a:rPr lang="en-US" sz="2000" dirty="0"/>
              <a:t>Boundary value analysis works well when the program to be tested is a function of several </a:t>
            </a:r>
            <a:r>
              <a:rPr lang="en-US" sz="2000" i="1" dirty="0"/>
              <a:t>independent</a:t>
            </a:r>
            <a:r>
              <a:rPr lang="en-US" sz="2000" dirty="0"/>
              <a:t> variables that represent bounded </a:t>
            </a:r>
            <a:r>
              <a:rPr lang="en-US" sz="2000" i="1" dirty="0"/>
              <a:t>physical</a:t>
            </a:r>
            <a:r>
              <a:rPr lang="en-US" sz="2000" dirty="0"/>
              <a:t> quantities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75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655</Words>
  <Application>Microsoft Office PowerPoint</Application>
  <PresentationFormat>On-screen Show (4:3)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Helvetica</vt:lpstr>
      <vt:lpstr>Office Theme</vt:lpstr>
      <vt:lpstr>1_L1_Introduction_CSE360</vt:lpstr>
      <vt:lpstr>CSE 464 : Software Quality Assurance and Testing</vt:lpstr>
      <vt:lpstr>EP : The Triangle Problem Example</vt:lpstr>
      <vt:lpstr>Triangle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Triangle Problem Equivalent Partitioning : Approach 2 …cont </vt:lpstr>
      <vt:lpstr>Triangle Problem : Test case automation using Eclipse and Junit – Demo during the class</vt:lpstr>
      <vt:lpstr>EP : NextDay Function In-class</vt:lpstr>
      <vt:lpstr>Equivalent Class Testing Does Not Cover…..</vt:lpstr>
      <vt:lpstr>Boundary Value Analysis Chapter 5</vt:lpstr>
      <vt:lpstr>What is Boundary Value Analysis?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116</cp:revision>
  <cp:lastPrinted>2014-09-08T18:51:59Z</cp:lastPrinted>
  <dcterms:created xsi:type="dcterms:W3CDTF">2011-08-13T19:09:36Z</dcterms:created>
  <dcterms:modified xsi:type="dcterms:W3CDTF">2022-01-31T06:00:46Z</dcterms:modified>
</cp:coreProperties>
</file>