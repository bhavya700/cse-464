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6" r:id="rId3"/>
    <p:sldId id="266" r:id="rId4"/>
    <p:sldId id="296" r:id="rId5"/>
    <p:sldId id="284" r:id="rId6"/>
    <p:sldId id="299" r:id="rId7"/>
    <p:sldId id="285" r:id="rId8"/>
    <p:sldId id="286" r:id="rId9"/>
    <p:sldId id="287" r:id="rId10"/>
    <p:sldId id="288" r:id="rId11"/>
    <p:sldId id="289" r:id="rId12"/>
    <p:sldId id="298" r:id="rId13"/>
    <p:sldId id="297" r:id="rId14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607416-A13A-44F7-BC4B-3AD7E986E8A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491278E-D3E5-443F-96B7-03E478E509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82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A8BFC69-3878-45B3-9314-B74B24D6E3C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3D2E11A5-CF8A-4F26-A7CC-9C6464CB59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19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E1D47A5C-3B8A-4341-BCAF-C0D241771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EF9335-E90A-4CAD-BAB0-4EA2ED021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9695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F695AA-4BDE-445D-A5AD-92B2FFF6975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199945-394C-43F7-ACAC-71B19C3EB5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48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F1FF88F-E984-4042-B8C2-BDAA29378F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7C4520B-2A18-42EA-ABCE-6990E82A309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14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E2A0BD94-3921-4B8D-8C09-D8B69247F9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BE5BE6-EF85-45EC-8CC4-473D86EC7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D789D0-BA2E-47E8-803D-0900D163B1DB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89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BC5C298-3C4E-4903-B7B3-87C003184EE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B146A08-9933-440A-BB6D-1A31983F46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64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1059B8-68BB-47EC-807A-D83DB1199B2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C72FF0-4B5E-45A7-87E5-B52FDC73D9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3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2594B7-CB8E-452E-80AA-B83A5F636B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582641-A99F-45D8-9CEF-F249C3DEA16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06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BDB9937-1BB7-4136-A345-66161F95E3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295B6B5-F7AE-4A35-BFB9-A2BD0C98BF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72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E7B085A-376A-42B7-8EBA-ECEFCC9123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288BFD5-2ED2-4667-892E-1249EF07ADB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080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E176540-5380-45EB-B219-4B9EAF1033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3CA3F7F-660E-4157-9182-D03A195909E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0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32D5C5-40F0-454E-845F-D95CC2C812D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91BD53-0ACE-4B1A-94C0-748509FA40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8D2AFD-7966-44BE-A62D-CAB3199DA7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BD1A8D1-9A12-42DB-B653-BCC483C7A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E45A603F-99AA-4E5D-8D5C-C9FA2F07497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F68E6F28-8A16-4C17-B926-0065617793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9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571" y="851517"/>
            <a:ext cx="3928849" cy="2991416"/>
          </a:xfrm>
        </p:spPr>
        <p:txBody>
          <a:bodyPr anchor="b">
            <a:normAutofit/>
          </a:bodyPr>
          <a:lstStyle/>
          <a:p>
            <a:pPr algn="l"/>
            <a:r>
              <a:rPr lang="en-US" sz="4100" b="1"/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572" y="3842932"/>
            <a:ext cx="3125336" cy="2163551"/>
          </a:xfrm>
        </p:spPr>
        <p:txBody>
          <a:bodyPr anchor="t">
            <a:normAutofit/>
          </a:bodyPr>
          <a:lstStyle/>
          <a:p>
            <a:pPr algn="l"/>
            <a:r>
              <a:rPr lang="en-US" b="1"/>
              <a:t>Perspective on Software Testing</a:t>
            </a:r>
            <a:endParaRPr lang="en-US"/>
          </a:p>
          <a:p>
            <a:pPr algn="l"/>
            <a:r>
              <a:rPr lang="en-US" b="1" err="1"/>
              <a:t>Janaka</a:t>
            </a:r>
            <a:r>
              <a:rPr lang="en-US" b="1"/>
              <a:t> </a:t>
            </a:r>
            <a:r>
              <a:rPr lang="en-US" b="1" err="1"/>
              <a:t>Balasooriya</a:t>
            </a:r>
            <a:endParaRPr lang="en-US" b="1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2777" y="851518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E6B1582-820A-4D44-B2BC-19D6F517A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627" y="2806221"/>
            <a:ext cx="2413000" cy="186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From the Last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804" y="1295400"/>
            <a:ext cx="8458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b="1" dirty="0">
                <a:solidFill>
                  <a:srgbClr val="000099"/>
                </a:solidFill>
              </a:rPr>
              <a:t>What is software quality?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000" dirty="0"/>
              <a:t>Different stakeholders have different view points about the quality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000" dirty="0"/>
              <a:t>Various software quality frameworks such as ISO 9126, CMM and McCall’s triangle of quality have being proposed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b="1" dirty="0">
                <a:solidFill>
                  <a:srgbClr val="000099"/>
                </a:solidFill>
              </a:rPr>
              <a:t>Quality Assurance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000" dirty="0"/>
              <a:t>In general, quality assurance can be enforced at three different levels (defect prevention, defect removal, and defect containment)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b="1" dirty="0">
                <a:solidFill>
                  <a:srgbClr val="000099"/>
                </a:solidFill>
              </a:rPr>
              <a:t>Software testing (What do we test?)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000" dirty="0"/>
              <a:t>Software testing is the widely practiced quality assurance activity. It comes under defect reduction.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Course syllabus and outcomes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Course assessment and grading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Reading Assignment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en-US" dirty="0"/>
              <a:t>Todays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143000"/>
            <a:ext cx="8534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What is software testing? : Insight from a Venn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Software Testing: Different Approaches</a:t>
            </a:r>
          </a:p>
        </p:txBody>
      </p:sp>
    </p:spTree>
    <p:extLst>
      <p:ext uri="{BB962C8B-B14F-4D97-AF65-F5344CB8AC3E}">
        <p14:creationId xmlns:p14="http://schemas.microsoft.com/office/powerpoint/2010/main" val="2292438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67096"/>
            <a:ext cx="8763000" cy="67887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What do we test? : Insights from a Venn diagram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709" y="2514600"/>
            <a:ext cx="6400800" cy="3497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121920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SRS document gives the specification (expected functionality) of the software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Actual program has the functionality implemented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35209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Observing Program Behavior Including Tested Behaviors 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00200"/>
            <a:ext cx="6674600" cy="495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3245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67887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66800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Functional Testing (Black Box)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6845827" cy="424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381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67887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Structural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66800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Structural Testing (White Box)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75" y="1600200"/>
            <a:ext cx="6895849" cy="429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272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67887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Functional vs. Structural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219200"/>
            <a:ext cx="8305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They are two fundamentally different approaches in designing test cases.</a:t>
            </a:r>
          </a:p>
          <a:p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Functional testing uses the specification </a:t>
            </a:r>
            <a:r>
              <a:rPr lang="en-US" sz="3200" dirty="0"/>
              <a:t>while </a:t>
            </a:r>
            <a:r>
              <a:rPr lang="en-US" sz="3200" b="1" dirty="0">
                <a:solidFill>
                  <a:srgbClr val="000099"/>
                </a:solidFill>
              </a:rPr>
              <a:t>structural approach uses the program </a:t>
            </a:r>
            <a:r>
              <a:rPr lang="en-US" sz="3200" dirty="0"/>
              <a:t>in designing test cases.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So, both approaches are needed in determining if we are building the right product and building product right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3200" dirty="0"/>
          </a:p>
          <a:p>
            <a:pPr marL="285750" indent="-285750" algn="just">
              <a:buFont typeface="Arial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85268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24200"/>
            <a:ext cx="8229600" cy="67887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Are Functional and Structural Testing Enough?</a:t>
            </a:r>
            <a:br>
              <a:rPr lang="en-US" sz="3600" b="1" dirty="0">
                <a:solidFill>
                  <a:srgbClr val="000099"/>
                </a:solidFill>
              </a:rPr>
            </a:br>
            <a:r>
              <a:rPr lang="en-US" sz="3600" b="1" dirty="0">
                <a:solidFill>
                  <a:srgbClr val="000099"/>
                </a:solidFill>
              </a:rPr>
              <a:t>Class Discussion</a:t>
            </a:r>
            <a:br>
              <a:rPr lang="en-US" sz="3600" b="1" dirty="0">
                <a:solidFill>
                  <a:srgbClr val="000099"/>
                </a:solidFill>
              </a:rPr>
            </a:br>
            <a:br>
              <a:rPr lang="en-US" sz="3600" b="1" dirty="0">
                <a:solidFill>
                  <a:srgbClr val="000099"/>
                </a:solidFill>
              </a:rPr>
            </a:br>
            <a:r>
              <a:rPr lang="en-US" sz="3600" b="1" dirty="0">
                <a:solidFill>
                  <a:srgbClr val="00009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164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Exploratory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895" y="1236903"/>
            <a:ext cx="868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is exploratory testing?</a:t>
            </a:r>
          </a:p>
          <a:p>
            <a:pPr lvl="1"/>
            <a:r>
              <a:rPr lang="en-US" dirty="0"/>
              <a:t> Is a </a:t>
            </a:r>
            <a:r>
              <a:rPr lang="en-US" dirty="0" err="1"/>
              <a:t>blackbox</a:t>
            </a:r>
            <a:r>
              <a:rPr lang="en-US" dirty="0"/>
              <a:t> testing approach where, a tester first study the software system to understand its purpose (intended usage, users, execution environments, social impact …</a:t>
            </a:r>
            <a:r>
              <a:rPr lang="en-US" dirty="0" err="1"/>
              <a:t>etc</a:t>
            </a:r>
            <a:r>
              <a:rPr lang="en-US" dirty="0"/>
              <a:t>) and test functionalities of the software by grouping them based in importance, similarity …etc.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31" y="3352800"/>
            <a:ext cx="8304928" cy="2300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7895" y="2870109"/>
            <a:ext cx="2575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Exploratory Testing Steps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05000" y="6096000"/>
            <a:ext cx="4553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http://www.satisfice.com/tools/procedure.pdf</a:t>
            </a:r>
          </a:p>
        </p:txBody>
      </p:sp>
    </p:spTree>
    <p:extLst>
      <p:ext uri="{BB962C8B-B14F-4D97-AF65-F5344CB8AC3E}">
        <p14:creationId xmlns:p14="http://schemas.microsoft.com/office/powerpoint/2010/main" val="813165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Observing Program Behavior Including Tested Behaviors 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00" y="1066800"/>
            <a:ext cx="6674600" cy="495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996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963" y="76200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Various Approaches to Software Testing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82353" y="1356836"/>
            <a:ext cx="8458200" cy="4906328"/>
            <a:chOff x="457200" y="1828800"/>
            <a:chExt cx="8458200" cy="4906328"/>
          </a:xfrm>
        </p:grpSpPr>
        <p:sp>
          <p:nvSpPr>
            <p:cNvPr id="3" name="Rectangle 2"/>
            <p:cNvSpPr/>
            <p:nvPr/>
          </p:nvSpPr>
          <p:spPr>
            <a:xfrm>
              <a:off x="3276600" y="1828800"/>
              <a:ext cx="23622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Software Testing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2895600"/>
              <a:ext cx="23622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Static Testing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5791200" y="2895600"/>
              <a:ext cx="19812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Dynamic Testing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3400" y="3733800"/>
              <a:ext cx="2362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Reviews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Inspections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Walkthroughs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267200" y="3810000"/>
              <a:ext cx="15240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Functional (black box)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91400" y="3810000"/>
              <a:ext cx="15240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Structural</a:t>
              </a:r>
            </a:p>
            <a:p>
              <a:pPr algn="ctr"/>
              <a:r>
                <a:rPr lang="en-US" dirty="0"/>
                <a:t>(white box)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8000" y="4800600"/>
              <a:ext cx="16002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Specification based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532268" y="4812884"/>
              <a:ext cx="1371600" cy="4449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Exploratory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48000" y="5257800"/>
              <a:ext cx="3855868" cy="1477328"/>
            </a:xfrm>
            <a:prstGeom prst="rect">
              <a:avLst/>
            </a:prstGeom>
            <a:noFill/>
            <a:ln w="12700"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Boundary value analysis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Equivalent classes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Decision table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Cause and effect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Model-based testing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91400" y="4572000"/>
              <a:ext cx="1524000" cy="1477328"/>
            </a:xfrm>
            <a:prstGeom prst="rect">
              <a:avLst/>
            </a:prstGeom>
            <a:noFill/>
            <a:ln w="12700"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Code coverage</a:t>
              </a:r>
            </a:p>
            <a:p>
              <a:endParaRPr lang="en-US" dirty="0"/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Data Path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Slicing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638300" y="2743200"/>
              <a:ext cx="50673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3" idx="2"/>
            </p:cNvCxnSpPr>
            <p:nvPr/>
          </p:nvCxnSpPr>
          <p:spPr>
            <a:xfrm>
              <a:off x="4457700" y="25146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4" idx="0"/>
            </p:cNvCxnSpPr>
            <p:nvPr/>
          </p:nvCxnSpPr>
          <p:spPr>
            <a:xfrm>
              <a:off x="1638300" y="2743200"/>
              <a:ext cx="0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6705600" y="2743200"/>
              <a:ext cx="0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975934" y="3657600"/>
              <a:ext cx="33298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4975934" y="3657600"/>
              <a:ext cx="0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8305800" y="3657600"/>
              <a:ext cx="0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657600" y="4572000"/>
              <a:ext cx="256046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657600" y="4572000"/>
              <a:ext cx="0" cy="24088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endCxn id="10" idx="0"/>
            </p:cNvCxnSpPr>
            <p:nvPr/>
          </p:nvCxnSpPr>
          <p:spPr>
            <a:xfrm>
              <a:off x="6218068" y="4572000"/>
              <a:ext cx="0" cy="24088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7" idx="2"/>
            </p:cNvCxnSpPr>
            <p:nvPr/>
          </p:nvCxnSpPr>
          <p:spPr>
            <a:xfrm>
              <a:off x="5029200" y="43434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7683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</TotalTime>
  <Words>365</Words>
  <Application>Microsoft Office PowerPoint</Application>
  <PresentationFormat>On-screen Show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Helvetica</vt:lpstr>
      <vt:lpstr>Office Theme</vt:lpstr>
      <vt:lpstr>1_L1_Introduction_CSE360</vt:lpstr>
      <vt:lpstr>CSE 464 : Software Quality Assurance and Testing</vt:lpstr>
      <vt:lpstr>From the Last Lecture</vt:lpstr>
      <vt:lpstr>Todays Agenda</vt:lpstr>
      <vt:lpstr>What do we test? : Insights from a Venn diagram</vt:lpstr>
      <vt:lpstr>Observing Program Behavior Including Tested Behaviors </vt:lpstr>
      <vt:lpstr>Functional Testing</vt:lpstr>
      <vt:lpstr>Structural Testing</vt:lpstr>
      <vt:lpstr>Functional vs. Structural Testing</vt:lpstr>
      <vt:lpstr>Are Functional and Structural Testing Enough? Class Discussion   </vt:lpstr>
      <vt:lpstr>Exploratory Testing</vt:lpstr>
      <vt:lpstr>Observing Program Behavior Including Tested Behaviors </vt:lpstr>
      <vt:lpstr>Various Approaches to Software Testing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90</cp:revision>
  <cp:lastPrinted>2011-08-23T15:27:31Z</cp:lastPrinted>
  <dcterms:created xsi:type="dcterms:W3CDTF">2011-08-13T19:09:36Z</dcterms:created>
  <dcterms:modified xsi:type="dcterms:W3CDTF">2022-01-18T22:01:04Z</dcterms:modified>
</cp:coreProperties>
</file>