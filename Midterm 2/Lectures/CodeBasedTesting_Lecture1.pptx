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6" r:id="rId3"/>
    <p:sldId id="291" r:id="rId4"/>
    <p:sldId id="302" r:id="rId5"/>
    <p:sldId id="290" r:id="rId6"/>
    <p:sldId id="292" r:id="rId7"/>
    <p:sldId id="294" r:id="rId8"/>
    <p:sldId id="295" r:id="rId9"/>
    <p:sldId id="296" r:id="rId10"/>
    <p:sldId id="297" r:id="rId11"/>
    <p:sldId id="298" r:id="rId12"/>
    <p:sldId id="300" r:id="rId13"/>
    <p:sldId id="299" r:id="rId14"/>
    <p:sldId id="293" r:id="rId15"/>
    <p:sldId id="301" r:id="rId16"/>
    <p:sldId id="303" r:id="rId17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BB6403-DB37-4621-8C63-6EF0B96FCF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21930C-97BB-450D-98F7-8FF70BE4AA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0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48CC984-7C44-4F5C-BD43-2425D30224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9EB726A-F11A-4B44-9605-FF0B55DB62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90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5369A36C-3B1D-4794-99B1-95413254FE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CBDFB8-928E-4600-A585-3421B0EC8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300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57BC99-DDB0-4767-B33E-DBB23D3ABD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E564B3-8F35-4458-9931-79574C4E66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5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103F72A-6B91-41F1-972B-7FC9247C903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D58C242-DD8E-4A26-8584-7493E3BFD9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66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A52927A6-1C33-4185-908A-F0B9E35071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65B11D-ECCC-49B7-BE3E-CA2F096FA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F9EEC-FE1A-4367-8D8F-794AFAF4547F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108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24FBC95-5FDE-4DD7-8678-B137E11768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EDE6989-4D41-4E56-92F5-00A8BF80F4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80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A4E2B4-4DCF-484E-9A41-19450B85FE7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FC0095-CAE3-4588-87C7-555B73F217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925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3B93A1-CBF1-42E5-81BD-5D343D71D1F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C3F434-7751-4637-8B34-9C94A84209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57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340F32-E41F-4AEE-BFAE-FD2C4801626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B061083-3B7C-4243-B769-D5F1F0B7EB8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40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410F01-712D-4F04-B864-A4CA7C71CC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4B0AB6-E121-4954-9D2E-9AF87C2EAA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35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8D4D7D0-3917-478D-955F-CFCCC51893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1C1B445-CA83-4B6D-B571-5C23B9D055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899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F4B7B6-4D05-4F8B-AC17-B14714FE93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80C5A1-4592-46DB-B6F0-B6086CF13C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2/16/2022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0B8189-0801-4B2D-988B-6B1A0863A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1983F8-0391-4FDF-9F43-EEAB9B3AB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2C633B90-1A7C-45AA-8FED-3724B1A60C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E7DF40FC-688E-4146-BBFC-28E5ABDAD1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6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Relationship Id="rId6" Type="http://schemas.openxmlformats.org/officeDocument/2006/relationships/hyperlink" Target="http://www.google.com/imgres?imgurl=http://images.inmagine.com/img/imagesource/ie358/ie358060.jpg&amp;imgrefurl=http://www.inmagine.com/ie358/ie358060-photo&amp;h=300&amp;w=400&amp;sz=45&amp;tbnid=MgqjgwLPhs4UiM:&amp;tbnh=91&amp;tbnw=121&amp;prev=/search?q=apple+cut+into+half&amp;tbm=isch&amp;tbo=u&amp;zoom=1&amp;q=apple+cut+into+half&amp;docid=C90UIoJf_tZidM&amp;hl=en&amp;sa=X&amp;ei=oQxyTtO5OKfbiAKsk9GKCQ&amp;ved=0CCgQ9QEwBA&amp;dur=51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b="1"/>
              <a:t>Structural (code-based) Based Testing  I</a:t>
            </a:r>
          </a:p>
          <a:p>
            <a:pPr algn="l">
              <a:lnSpc>
                <a:spcPct val="90000"/>
              </a:lnSpc>
            </a:pPr>
            <a:endParaRPr lang="en-US" sz="2700"/>
          </a:p>
          <a:p>
            <a:pPr algn="l">
              <a:lnSpc>
                <a:spcPct val="90000"/>
              </a:lnSpc>
            </a:pPr>
            <a:r>
              <a:rPr lang="en-US" sz="2700" b="1" err="1"/>
              <a:t>Janaka</a:t>
            </a:r>
            <a:r>
              <a:rPr lang="en-US" sz="2700" b="1"/>
              <a:t> </a:t>
            </a:r>
            <a:r>
              <a:rPr lang="en-US" sz="2700" b="1" err="1"/>
              <a:t>Balasooriya</a:t>
            </a:r>
            <a:endParaRPr lang="en-US" sz="2700" b="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33B870F-5E2C-49C2-BBB8-5B522A310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8627" y="2806221"/>
            <a:ext cx="2413000" cy="18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We Have Discussed So Far?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387" y="1222309"/>
            <a:ext cx="8610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All the testing techniques that we have discussed so far are based on either inputs, outputs,  or the behavior of the software.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It is quite likely, many defects are hidden in the software after applying some of above testing  techniques as needed.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Experimental results show that code based (structural testing)  can achieve the practical testable limit 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200400" y="2057400"/>
            <a:ext cx="2133600" cy="1981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Software Under </a:t>
            </a:r>
          </a:p>
          <a:p>
            <a:pPr algn="ctr"/>
            <a:r>
              <a:rPr lang="en-US" dirty="0"/>
              <a:t>Test</a:t>
            </a:r>
          </a:p>
        </p:txBody>
      </p:sp>
      <p:sp>
        <p:nvSpPr>
          <p:cNvPr id="6" name="Oval 5"/>
          <p:cNvSpPr/>
          <p:nvPr/>
        </p:nvSpPr>
        <p:spPr>
          <a:xfrm>
            <a:off x="962891" y="2611582"/>
            <a:ext cx="13716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7" name="Oval 6"/>
          <p:cNvSpPr/>
          <p:nvPr/>
        </p:nvSpPr>
        <p:spPr>
          <a:xfrm>
            <a:off x="6324600" y="3176557"/>
            <a:ext cx="1447800" cy="8620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Outputs</a:t>
            </a:r>
          </a:p>
        </p:txBody>
      </p:sp>
      <p:cxnSp>
        <p:nvCxnSpPr>
          <p:cNvPr id="9" name="Straight Arrow Connector 8"/>
          <p:cNvCxnSpPr>
            <a:stCxn id="6" idx="6"/>
          </p:cNvCxnSpPr>
          <p:nvPr/>
        </p:nvCxnSpPr>
        <p:spPr>
          <a:xfrm>
            <a:off x="2334491" y="2954482"/>
            <a:ext cx="83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</p:cNvCxnSpPr>
          <p:nvPr/>
        </p:nvCxnSpPr>
        <p:spPr>
          <a:xfrm flipH="1" flipV="1">
            <a:off x="5334000" y="3607578"/>
            <a:ext cx="990600" cy="1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227618" y="2085108"/>
            <a:ext cx="1524000" cy="734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Behavior</a:t>
            </a:r>
          </a:p>
        </p:txBody>
      </p:sp>
      <p:cxnSp>
        <p:nvCxnSpPr>
          <p:cNvPr id="14" name="Straight Arrow Connector 13"/>
          <p:cNvCxnSpPr>
            <a:stCxn id="12" idx="2"/>
          </p:cNvCxnSpPr>
          <p:nvPr/>
        </p:nvCxnSpPr>
        <p:spPr>
          <a:xfrm flipH="1" flipV="1">
            <a:off x="5334000" y="2452253"/>
            <a:ext cx="893618" cy="1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Color of Apples…</a:t>
            </a:r>
          </a:p>
        </p:txBody>
      </p:sp>
      <p:pic>
        <p:nvPicPr>
          <p:cNvPr id="4" name="Picture 3" descr="http://images.free-extras.com/pics/r/red_apple-560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03866"/>
            <a:ext cx="13144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Green Apple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83" y="1305123"/>
            <a:ext cx="1190625" cy="1511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://www.worldcommunitycookbook.org/season/guide/photos/apples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61027"/>
            <a:ext cx="110299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09600" y="28170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8083" y="281705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2197" y="278479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Yellow</a:t>
            </a:r>
          </a:p>
        </p:txBody>
      </p:sp>
      <p:pic>
        <p:nvPicPr>
          <p:cNvPr id="10" name="Picture 9" descr="http://www.oracvalues.com/images/items/peeled-apple.jp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810000"/>
            <a:ext cx="20955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09600" y="61722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pic>
        <p:nvPicPr>
          <p:cNvPr id="12" name="Picture 11" descr="http://t3.gstatic.com/images?q=tbn:ANd9GcRcw60RXW5JvV0ovWxTbVtdk861FREvWUu0dsXjvOhFxwSHX-KR">
            <a:hlinkClick r:id="rId6"/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467" y="3804082"/>
            <a:ext cx="24669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4038600" y="5987534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0" y="3505200"/>
            <a:ext cx="198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When an apple is peeled off its white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If we cut an apple into half we can see seeds</a:t>
            </a:r>
          </a:p>
        </p:txBody>
      </p:sp>
    </p:spTree>
    <p:extLst>
      <p:ext uri="{BB962C8B-B14F-4D97-AF65-F5344CB8AC3E}">
        <p14:creationId xmlns:p14="http://schemas.microsoft.com/office/powerpoint/2010/main" val="423270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/>
          </a:bodyPr>
          <a:lstStyle/>
          <a:p>
            <a:r>
              <a:rPr lang="en-US" sz="3600" b="1" dirty="0"/>
              <a:t>What is Code Based Testing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990600"/>
            <a:ext cx="8458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400" dirty="0"/>
              <a:t> Simply put, code based testing involves developing test cases and testing the software system based on the code.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/>
              <a:t>Thus, the tester has access to the code and knowledgeable about the programming language used to develop the software.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/>
              <a:t>Code based testing focus on </a:t>
            </a:r>
            <a:r>
              <a:rPr lang="en-US" sz="1400" b="1" dirty="0">
                <a:solidFill>
                  <a:srgbClr val="FF0000"/>
                </a:solidFill>
              </a:rPr>
              <a:t>covering</a:t>
            </a:r>
            <a:r>
              <a:rPr lang="en-US" sz="1400" dirty="0"/>
              <a:t> the code in various angles. We call is test coverage.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u="sng" dirty="0"/>
              <a:t>Code Based Testing Strategies:</a:t>
            </a:r>
          </a:p>
          <a:p>
            <a:endParaRPr lang="en-US" sz="1400" dirty="0"/>
          </a:p>
          <a:p>
            <a:pPr marL="342900" indent="-342900">
              <a:buAutoNum type="alphaLcParenR"/>
            </a:pPr>
            <a:r>
              <a:rPr lang="en-US" sz="1400" dirty="0"/>
              <a:t>Statement coverage</a:t>
            </a:r>
          </a:p>
          <a:p>
            <a:pPr marL="342900" indent="-342900">
              <a:buAutoNum type="alphaLcParenR"/>
            </a:pPr>
            <a:r>
              <a:rPr lang="en-US" sz="1400" dirty="0"/>
              <a:t>Basic path testing (Control flow coverage)</a:t>
            </a:r>
          </a:p>
          <a:p>
            <a:pPr marL="342900" indent="-342900">
              <a:buAutoNum type="alphaLcParenR"/>
            </a:pPr>
            <a:r>
              <a:rPr lang="en-US" sz="1400" dirty="0"/>
              <a:t>Decision-to-Decision testing</a:t>
            </a:r>
          </a:p>
          <a:p>
            <a:pPr marL="342900" indent="-342900">
              <a:buAutoNum type="alphaLcParenR"/>
            </a:pPr>
            <a:r>
              <a:rPr lang="en-US" sz="1400" dirty="0"/>
              <a:t>Dataflow coverage</a:t>
            </a:r>
          </a:p>
          <a:p>
            <a:pPr marL="342900" indent="-342900">
              <a:buAutoNum type="alphaLcParenR"/>
            </a:pPr>
            <a:r>
              <a:rPr lang="en-US" sz="1400" dirty="0"/>
              <a:t>Condition testing</a:t>
            </a:r>
          </a:p>
          <a:p>
            <a:pPr marL="342900" indent="-342900">
              <a:buAutoNum type="alphaLcParenR"/>
            </a:pPr>
            <a:r>
              <a:rPr lang="en-US" sz="1400" dirty="0"/>
              <a:t>Code based risk assessments (complexity of the code, object oriented matrices …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pPr marL="342900" indent="-342900">
              <a:buAutoNum type="alphaLcParenR"/>
            </a:pP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/>
              <a:t>Most of these testing  techniques see the program as a </a:t>
            </a:r>
            <a:r>
              <a:rPr lang="en-US" sz="1400" b="1" dirty="0">
                <a:solidFill>
                  <a:srgbClr val="FF0000"/>
                </a:solidFill>
              </a:rPr>
              <a:t>graph</a:t>
            </a:r>
            <a:r>
              <a:rPr lang="en-US" sz="1400" dirty="0"/>
              <a:t>.</a:t>
            </a:r>
          </a:p>
          <a:p>
            <a:pPr marL="342900" indent="-342900">
              <a:buAutoNum type="alphaLcParenR"/>
            </a:pP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9331" y="3068092"/>
            <a:ext cx="1981200" cy="1754326"/>
          </a:xfrm>
          <a:prstGeom prst="rect">
            <a:avLst/>
          </a:prstGeom>
          <a:noFill/>
          <a:ln w="28575"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X=0, Y=10;</a:t>
            </a:r>
          </a:p>
          <a:p>
            <a:r>
              <a:rPr lang="en-US" dirty="0"/>
              <a:t>if(X&gt;0)</a:t>
            </a:r>
          </a:p>
          <a:p>
            <a:r>
              <a:rPr lang="en-US" dirty="0"/>
              <a:t>X = X + Y;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X = X – Y;</a:t>
            </a:r>
          </a:p>
          <a:p>
            <a:r>
              <a:rPr lang="en-US" dirty="0" err="1"/>
              <a:t>cout</a:t>
            </a:r>
            <a:r>
              <a:rPr lang="en-US" dirty="0"/>
              <a:t>&lt;&lt;X;</a:t>
            </a:r>
          </a:p>
        </p:txBody>
      </p:sp>
    </p:spTree>
    <p:extLst>
      <p:ext uri="{BB962C8B-B14F-4D97-AF65-F5344CB8AC3E}">
        <p14:creationId xmlns:p14="http://schemas.microsoft.com/office/powerpoint/2010/main" val="426972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86"/>
            <a:ext cx="8229600" cy="5225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Program as a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227215" y="1094352"/>
            <a:ext cx="8763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Given a program written in an imperative programming language, its </a:t>
            </a:r>
            <a:r>
              <a:rPr lang="en-US" i="1" dirty="0"/>
              <a:t>program graph </a:t>
            </a:r>
            <a:r>
              <a:rPr lang="en-US" dirty="0"/>
              <a:t>is a directed graph in which…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</a:rPr>
              <a:t>nodes are either entire statements or fragments of a statement, and edges represent flow of control (there is an edge from node i to node j </a:t>
            </a:r>
            <a:r>
              <a:rPr lang="en-US" b="1" dirty="0" err="1">
                <a:solidFill>
                  <a:srgbClr val="000099"/>
                </a:solidFill>
              </a:rPr>
              <a:t>iff</a:t>
            </a:r>
            <a:r>
              <a:rPr lang="en-US" b="1" dirty="0">
                <a:solidFill>
                  <a:srgbClr val="000099"/>
                </a:solidFill>
              </a:rPr>
              <a:t> the statement (fragment) corresponding to node j can be executed immediately after the statement or statement fragment corresponding to node 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0" y="3450771"/>
            <a:ext cx="2514600" cy="1754326"/>
          </a:xfrm>
          <a:prstGeom prst="rect">
            <a:avLst/>
          </a:prstGeom>
          <a:noFill/>
          <a:ln w="28575"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X=0, Y=10;</a:t>
            </a:r>
          </a:p>
          <a:p>
            <a:r>
              <a:rPr lang="en-US" dirty="0"/>
              <a:t>if(X&gt;0)</a:t>
            </a:r>
          </a:p>
          <a:p>
            <a:r>
              <a:rPr lang="en-US" dirty="0"/>
              <a:t>X = X + Y;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X = X – Y;</a:t>
            </a:r>
          </a:p>
          <a:p>
            <a:r>
              <a:rPr lang="en-US" dirty="0" err="1"/>
              <a:t>cout</a:t>
            </a:r>
            <a:r>
              <a:rPr lang="en-US" dirty="0"/>
              <a:t>&lt;&lt;X;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Graph Theory – Introduction of Basic Terms</a:t>
            </a:r>
          </a:p>
        </p:txBody>
      </p:sp>
    </p:spTree>
    <p:extLst>
      <p:ext uri="{BB962C8B-B14F-4D97-AF65-F5344CB8AC3E}">
        <p14:creationId xmlns:p14="http://schemas.microsoft.com/office/powerpoint/2010/main" val="74123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7036"/>
            <a:ext cx="86868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3443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304800"/>
            <a:ext cx="8228671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181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"/>
            <a:ext cx="8610600" cy="580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578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654232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958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Reachability Matrix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12192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18. The reachability matrix of a directed graph D = (V, E) with m nodes is an m x m matrix R = (r(i, j)) , where r(i, j) is a 1 if and only if there is a true path from node i and node j, otherwise the element is 0. </a:t>
            </a:r>
          </a:p>
          <a:p>
            <a:endParaRPr lang="en-U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72" y="2492953"/>
            <a:ext cx="7707455" cy="2688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8614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9124" y="76200"/>
            <a:ext cx="693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Cyclomatic</a:t>
            </a:r>
            <a:r>
              <a:rPr lang="en-US" sz="3200" dirty="0"/>
              <a:t>  Number of a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1549" y="5813161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Cyclomatic</a:t>
            </a:r>
            <a:r>
              <a:rPr lang="en-US" dirty="0"/>
              <a:t> Number V(G) of a graph is equal to number of simple decision nodes + 1</a:t>
            </a:r>
          </a:p>
        </p:txBody>
      </p:sp>
      <p:sp>
        <p:nvSpPr>
          <p:cNvPr id="4" name="Oval 3"/>
          <p:cNvSpPr/>
          <p:nvPr/>
        </p:nvSpPr>
        <p:spPr>
          <a:xfrm>
            <a:off x="937334" y="1474147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227555" y="180438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96161" y="230430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23501" y="2632601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09920" y="485441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248275" y="356086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160083" y="4397216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4" idx="5"/>
          </p:cNvCxnSpPr>
          <p:nvPr/>
        </p:nvCxnSpPr>
        <p:spPr>
          <a:xfrm>
            <a:off x="1327579" y="1864392"/>
            <a:ext cx="905155" cy="669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5"/>
            <a:endCxn id="8" idx="1"/>
          </p:cNvCxnSpPr>
          <p:nvPr/>
        </p:nvCxnSpPr>
        <p:spPr>
          <a:xfrm>
            <a:off x="1327579" y="1864392"/>
            <a:ext cx="362877" cy="835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5"/>
          </p:cNvCxnSpPr>
          <p:nvPr/>
        </p:nvCxnSpPr>
        <p:spPr>
          <a:xfrm>
            <a:off x="2617800" y="2194631"/>
            <a:ext cx="318678" cy="219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635933" y="3951113"/>
            <a:ext cx="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895557" y="2925559"/>
            <a:ext cx="447401" cy="635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5"/>
          </p:cNvCxnSpPr>
          <p:nvPr/>
        </p:nvCxnSpPr>
        <p:spPr>
          <a:xfrm>
            <a:off x="2638520" y="3951113"/>
            <a:ext cx="595916" cy="524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0" y="1804386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V(G) is 3</a:t>
            </a:r>
          </a:p>
        </p:txBody>
      </p:sp>
    </p:spTree>
    <p:extLst>
      <p:ext uri="{BB962C8B-B14F-4D97-AF65-F5344CB8AC3E}">
        <p14:creationId xmlns:p14="http://schemas.microsoft.com/office/powerpoint/2010/main" val="783946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67800" cy="1143000"/>
          </a:xfrm>
        </p:spPr>
        <p:txBody>
          <a:bodyPr>
            <a:noAutofit/>
          </a:bodyPr>
          <a:lstStyle/>
          <a:p>
            <a:r>
              <a:rPr lang="en-US" sz="3200" b="1" dirty="0"/>
              <a:t>Program Graphs of Structured Programming Constructs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Develop graph structures for following fundamental constructs</a:t>
            </a:r>
          </a:p>
          <a:p>
            <a:r>
              <a:rPr lang="en-US" sz="2800" dirty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Sequence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Pre-test Loop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Post-test Loop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If-Then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If-Then-Else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Switch-Case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777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4800"/>
            <a:ext cx="8063762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0269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/>
          <a:lstStyle/>
          <a:p>
            <a:r>
              <a:rPr lang="en-US" dirty="0"/>
              <a:t>Control Flow Graphs - Activity</a:t>
            </a:r>
          </a:p>
        </p:txBody>
      </p:sp>
    </p:spTree>
    <p:extLst>
      <p:ext uri="{BB962C8B-B14F-4D97-AF65-F5344CB8AC3E}">
        <p14:creationId xmlns:p14="http://schemas.microsoft.com/office/powerpoint/2010/main" val="402591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515</Words>
  <Application>Microsoft Office PowerPoint</Application>
  <PresentationFormat>On-screen Show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</vt:lpstr>
      <vt:lpstr>Office Theme</vt:lpstr>
      <vt:lpstr>1_L1_Introduction_CSE360</vt:lpstr>
      <vt:lpstr>CSE 464 : Software Quality Assurance and Testing</vt:lpstr>
      <vt:lpstr>What We Have Discussed So Far?</vt:lpstr>
      <vt:lpstr>Color of Apples…</vt:lpstr>
      <vt:lpstr>What is Code Based Testing ?</vt:lpstr>
      <vt:lpstr>Program as a Graph</vt:lpstr>
      <vt:lpstr>Graph Theory – Introduction of Basic Terms</vt:lpstr>
      <vt:lpstr>PowerPoint Presentation</vt:lpstr>
      <vt:lpstr>PowerPoint Presentation</vt:lpstr>
      <vt:lpstr>PowerPoint Presentation</vt:lpstr>
      <vt:lpstr>PowerPoint Presentation</vt:lpstr>
      <vt:lpstr>Reachability Matrix </vt:lpstr>
      <vt:lpstr>PowerPoint Presentation</vt:lpstr>
      <vt:lpstr>Program Graphs of Structured Programming Constructs</vt:lpstr>
      <vt:lpstr>PowerPoint Presentation</vt:lpstr>
      <vt:lpstr>Control Flow Graphs - Activity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94</cp:revision>
  <cp:lastPrinted>2011-08-23T15:27:31Z</cp:lastPrinted>
  <dcterms:created xsi:type="dcterms:W3CDTF">2011-08-13T19:09:36Z</dcterms:created>
  <dcterms:modified xsi:type="dcterms:W3CDTF">2022-02-16T15:24:25Z</dcterms:modified>
</cp:coreProperties>
</file>