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415" r:id="rId3"/>
    <p:sldId id="444" r:id="rId4"/>
    <p:sldId id="443" r:id="rId5"/>
    <p:sldId id="429" r:id="rId6"/>
    <p:sldId id="445" r:id="rId7"/>
    <p:sldId id="430" r:id="rId8"/>
    <p:sldId id="258" r:id="rId9"/>
    <p:sldId id="261" r:id="rId10"/>
    <p:sldId id="431" r:id="rId11"/>
    <p:sldId id="432" r:id="rId12"/>
    <p:sldId id="433" r:id="rId1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70" d="100"/>
          <a:sy n="70" d="100"/>
        </p:scale>
        <p:origin x="117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4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4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pdepend.com/" TargetMode="External"/><Relationship Id="rId2" Type="http://schemas.openxmlformats.org/officeDocument/2006/relationships/hyperlink" Target="http://www.mmsindia.com/jstyle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CSE 464: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6600"/>
                </a:solidFill>
              </a:rPr>
              <a:t>Design </a:t>
            </a:r>
            <a:r>
              <a:rPr lang="en-US" b="1" dirty="0">
                <a:solidFill>
                  <a:srgbClr val="FF6600"/>
                </a:solidFill>
              </a:rPr>
              <a:t>Considerations of Object Oriented Applications for better Quality</a:t>
            </a:r>
            <a:endParaRPr lang="en-US" dirty="0"/>
          </a:p>
          <a:p>
            <a:r>
              <a:rPr lang="en-US" b="1" dirty="0" err="1">
                <a:solidFill>
                  <a:srgbClr val="000099"/>
                </a:solidFill>
              </a:rPr>
              <a:t>Janaka</a:t>
            </a:r>
            <a:r>
              <a:rPr lang="en-US" b="1" dirty="0">
                <a:solidFill>
                  <a:srgbClr val="000099"/>
                </a:solidFill>
              </a:rPr>
              <a:t> </a:t>
            </a:r>
            <a:r>
              <a:rPr lang="en-US" b="1" dirty="0" err="1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0596DBA-9901-4948-B582-9E04CA7CFBED}" type="slidenum">
              <a:rPr lang="en-US" b="0" smtClean="0">
                <a:latin typeface="Arial" charset="0"/>
              </a:rPr>
              <a:pPr/>
              <a:t>2</a:t>
            </a:fld>
            <a:endParaRPr lang="en-US" b="0">
              <a:latin typeface="Arial" charset="0"/>
            </a:endParaRPr>
          </a:p>
        </p:txBody>
      </p:sp>
      <p:sp>
        <p:nvSpPr>
          <p:cNvPr id="2519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9624" y="255390"/>
            <a:ext cx="5401928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/>
              <a:t>Fundamental Concepts</a:t>
            </a:r>
          </a:p>
        </p:txBody>
      </p:sp>
      <p:sp>
        <p:nvSpPr>
          <p:cNvPr id="25190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976313" y="1576983"/>
            <a:ext cx="8001000" cy="4029075"/>
          </a:xfrm>
        </p:spPr>
        <p:txBody>
          <a:bodyPr lIns="90487" tIns="44450" rIns="90487" bIns="44450">
            <a:normAutofit fontScale="85000" lnSpcReduction="20000"/>
          </a:bodyPr>
          <a:lstStyle/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. abstraction—data, interface, control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B050"/>
                </a:solidFill>
              </a:rPr>
              <a:t>Information hiding—controlled interfaces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B050"/>
                </a:solidFill>
              </a:rPr>
              <a:t>Inheritance and polymorphism</a:t>
            </a:r>
          </a:p>
          <a:p>
            <a:pPr marL="0" indent="0">
              <a:buNone/>
              <a:defRPr/>
            </a:pPr>
            <a:r>
              <a:rPr lang="en-US" b="1" dirty="0">
                <a:solidFill>
                  <a:srgbClr val="000099"/>
                </a:solidFill>
              </a:rPr>
              <a:t>2. modularity—compartmentalization of data and function</a:t>
            </a:r>
          </a:p>
          <a:p>
            <a:pPr lvl="1">
              <a:defRPr/>
            </a:pPr>
            <a:r>
              <a:rPr lang="en-US" b="1" dirty="0">
                <a:solidFill>
                  <a:srgbClr val="000099"/>
                </a:solidFill>
              </a:rPr>
              <a:t>Functional independence—single-minded function and low coupling</a:t>
            </a:r>
          </a:p>
          <a:p>
            <a:pPr lvl="1" eaLnBrk="1" hangingPunct="1">
              <a:defRPr/>
            </a:pPr>
            <a:endParaRPr lang="en-US" dirty="0">
              <a:solidFill>
                <a:schemeClr val="folHlink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dirty="0">
                <a:solidFill>
                  <a:schemeClr val="folHlink"/>
                </a:solidFill>
              </a:rPr>
              <a:t>3. architecture</a:t>
            </a:r>
            <a:r>
              <a:rPr lang="en-US" dirty="0"/>
              <a:t>—the overall structure of the software</a:t>
            </a:r>
          </a:p>
          <a:p>
            <a:pPr lvl="1" eaLnBrk="1" hangingPunct="1">
              <a:defRPr/>
            </a:pPr>
            <a:r>
              <a:rPr lang="en-US" dirty="0">
                <a:solidFill>
                  <a:schemeClr val="folHlink"/>
                </a:solidFill>
              </a:rPr>
              <a:t>patterns</a:t>
            </a:r>
            <a:r>
              <a:rPr lang="en-US" dirty="0"/>
              <a:t>—”conveys the essence” of a proven design solution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6926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Helvetica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0596DBA-9901-4948-B582-9E04CA7CFBED}" type="slidenum">
              <a:rPr lang="en-US" b="0" smtClean="0">
                <a:latin typeface="Arial" charset="0"/>
              </a:rPr>
              <a:pPr/>
              <a:t>3</a:t>
            </a:fld>
            <a:endParaRPr lang="en-US" b="0">
              <a:latin typeface="Arial" charset="0"/>
            </a:endParaRPr>
          </a:p>
        </p:txBody>
      </p:sp>
      <p:sp>
        <p:nvSpPr>
          <p:cNvPr id="2519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85082" y="2590800"/>
            <a:ext cx="5336974" cy="728405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>
              <a:defRPr/>
            </a:pPr>
            <a:r>
              <a:rPr lang="en-US" dirty="0"/>
              <a:t>Modularity – Lecture 2</a:t>
            </a:r>
          </a:p>
        </p:txBody>
      </p:sp>
    </p:spTree>
    <p:extLst>
      <p:ext uri="{BB962C8B-B14F-4D97-AF65-F5344CB8AC3E}">
        <p14:creationId xmlns:p14="http://schemas.microsoft.com/office/powerpoint/2010/main" val="322219774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3048000"/>
            <a:ext cx="8229600" cy="8661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effectLst/>
              </a:rPr>
              <a:t>Accessing the Quality of OO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b="1" dirty="0">
                <a:solidFill>
                  <a:srgbClr val="FF0000"/>
                </a:solidFill>
                <a:effectLst/>
              </a:rPr>
              <a:t>pplication Design</a:t>
            </a:r>
            <a:br>
              <a:rPr lang="en-US" b="1" dirty="0">
                <a:solidFill>
                  <a:srgbClr val="FF0000"/>
                </a:solidFill>
                <a:effectLst/>
              </a:rPr>
            </a:br>
            <a:r>
              <a:rPr lang="en-US" b="1" dirty="0">
                <a:solidFill>
                  <a:srgbClr val="FF0000"/>
                </a:solidFill>
                <a:effectLst/>
              </a:rPr>
              <a:t>C-K  Matrices</a:t>
            </a:r>
          </a:p>
        </p:txBody>
      </p:sp>
    </p:spTree>
    <p:extLst>
      <p:ext uri="{BB962C8B-B14F-4D97-AF65-F5344CB8AC3E}">
        <p14:creationId xmlns:p14="http://schemas.microsoft.com/office/powerpoint/2010/main" val="216417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0"/>
            <a:ext cx="8229600" cy="8661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>
                <a:effectLst/>
              </a:rPr>
              <a:t>Object Oriented Design Matrices</a:t>
            </a:r>
          </a:p>
        </p:txBody>
      </p:sp>
      <p:sp>
        <p:nvSpPr>
          <p:cNvPr id="399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51449" y="7620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sz="3100" dirty="0" err="1">
                <a:effectLst/>
              </a:rPr>
              <a:t>Chidamber</a:t>
            </a:r>
            <a:r>
              <a:rPr lang="en-US" sz="3100" dirty="0">
                <a:effectLst/>
              </a:rPr>
              <a:t> and </a:t>
            </a:r>
            <a:r>
              <a:rPr lang="en-US" sz="3100" dirty="0" err="1">
                <a:effectLst/>
              </a:rPr>
              <a:t>Kemerer</a:t>
            </a:r>
            <a:r>
              <a:rPr lang="en-US" sz="3100" dirty="0">
                <a:effectLst/>
              </a:rPr>
              <a:t> (1998) proposed six desirable attributes known as C-K matrices of a good OO design.</a:t>
            </a:r>
          </a:p>
          <a:p>
            <a:pPr>
              <a:buFont typeface="Wingdings" pitchFamily="2" charset="2"/>
              <a:buNone/>
              <a:defRPr/>
            </a:pPr>
            <a:endParaRPr lang="en-US" sz="2000" b="1" dirty="0">
              <a:solidFill>
                <a:srgbClr val="FF0000"/>
              </a:solidFill>
              <a:effectLst/>
            </a:endParaRPr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  <a:effectLst/>
              </a:rPr>
              <a:t>Weighted methods per class (WMC) :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/>
              <a:t>Number of methods weighted by their procedural complexity  (~complexity of class). Using unity weights gives simply number of methods in a class.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/>
              <a:t>Difficult to set exact limits for metric, but WMC should be kept as low as possible</a:t>
            </a:r>
          </a:p>
          <a:p>
            <a:pPr lvl="1">
              <a:buFont typeface="Wingdings" pitchFamily="2" charset="2"/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b="1" dirty="0">
                <a:solidFill>
                  <a:srgbClr val="FF0000"/>
                </a:solidFill>
                <a:effectLst/>
              </a:rPr>
              <a:t>Depth of inheritance (DIT)  :</a:t>
            </a:r>
          </a:p>
          <a:p>
            <a:pPr marL="457200" lvl="1" indent="0">
              <a:buNone/>
              <a:defRPr/>
            </a:pPr>
            <a:r>
              <a:rPr lang="en-US" dirty="0">
                <a:effectLst/>
              </a:rPr>
              <a:t> </a:t>
            </a:r>
            <a:r>
              <a:rPr lang="en-US" dirty="0"/>
              <a:t>As DIT grows, it is likely that classes on lower level inherits lots of methods and overrides some. Thus predicting behavior for an object of a class becomes difficult. Max value recommended is 5</a:t>
            </a:r>
          </a:p>
          <a:p>
            <a:pPr lvl="1">
              <a:buFont typeface="Wingdings" pitchFamily="2" charset="2"/>
              <a:buNone/>
              <a:defRPr/>
            </a:pPr>
            <a:endParaRPr lang="en-US" sz="1800" dirty="0">
              <a:effectLst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sz="1800" dirty="0">
                <a:effectLst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4863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17A2-59D6-AE9A-0775-FD12A42D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DDFEE42-734F-3842-9C44-BD9204771F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>
                <a:effectLst/>
              </a:rPr>
              <a:t>Object Oriented Design Metrices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1A99611-06E2-407F-601D-AC4639BFC97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457200" y="1373387"/>
            <a:ext cx="8229600" cy="449877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FF0000"/>
                </a:solidFill>
                <a:effectLst/>
              </a:rPr>
              <a:t>Number of children (NOC) 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>
              <a:effectLst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effectLst/>
              </a:rPr>
              <a:t> </a:t>
            </a:r>
            <a:r>
              <a:rPr lang="en-US" sz="2400" dirty="0"/>
              <a:t>High value of NOC might indicate misuse of </a:t>
            </a:r>
            <a:r>
              <a:rPr lang="en-US" sz="2400" dirty="0" err="1"/>
              <a:t>subclassing</a:t>
            </a:r>
            <a:r>
              <a:rPr lang="en-US" sz="2400" dirty="0"/>
              <a:t> (=implementation inheritance instead of is-a relationship)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/>
              <a:t>Class with very high NOC might be a candidate for refactoring to create more maintainable hierarchy. Max recommended is 10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>
              <a:effectLst/>
            </a:endParaRPr>
          </a:p>
          <a:p>
            <a:pPr>
              <a:lnSpc>
                <a:spcPct val="80000"/>
              </a:lnSpc>
              <a:defRPr/>
            </a:pPr>
            <a:endParaRPr lang="en-US" sz="2400" dirty="0"/>
          </a:p>
          <a:p>
            <a:pPr lvl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>
              <a:effectLst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effectLst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8075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>
                <a:effectLst/>
              </a:rPr>
              <a:t>Object Oriented Design Metrices</a:t>
            </a:r>
          </a:p>
        </p:txBody>
      </p:sp>
      <p:sp>
        <p:nvSpPr>
          <p:cNvPr id="399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1179612"/>
            <a:ext cx="8229600" cy="449877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FF0000"/>
                </a:solidFill>
                <a:effectLst/>
              </a:rPr>
              <a:t>Response for a class (RFC):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/>
              <a:t>Number of methods that can be invoked in response to a message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/>
              <a:t>Measure of potential communication between classes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/>
              <a:t>Indicates class complexity and potential testing effort.</a:t>
            </a:r>
          </a:p>
          <a:p>
            <a:pPr marL="0" indent="0">
              <a:buNone/>
            </a:pPr>
            <a:r>
              <a:rPr lang="en-US" sz="2400" dirty="0"/>
              <a:t>Formula:</a:t>
            </a:r>
          </a:p>
          <a:p>
            <a:pPr marL="0" indent="0">
              <a:buNone/>
            </a:pPr>
            <a:r>
              <a:rPr lang="en-US" sz="2400" dirty="0"/>
              <a:t>RFC = |RS|, where RS is the response set of methods</a:t>
            </a:r>
          </a:p>
          <a:p>
            <a:pPr marL="0" indent="0">
              <a:buNone/>
            </a:pPr>
            <a:r>
              <a:rPr lang="en-US" sz="2400" dirty="0"/>
              <a:t>RS includes:</a:t>
            </a:r>
          </a:p>
          <a:p>
            <a:pPr marL="0" indent="0">
              <a:buNone/>
            </a:pPr>
            <a:r>
              <a:rPr lang="en-US" sz="2400" dirty="0"/>
              <a:t>All methods in the class</a:t>
            </a:r>
          </a:p>
          <a:p>
            <a:pPr marL="0" indent="0">
              <a:buNone/>
            </a:pPr>
            <a:r>
              <a:rPr lang="en-US" sz="2400" dirty="0"/>
              <a:t>All methods called by those methods (including external)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/>
              <a:t>High RFC -&gt; there could be a better class subdivision (e.g. merge classes) – More than 50 is not acceptable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>
              <a:effectLst/>
            </a:endParaRPr>
          </a:p>
          <a:p>
            <a:pPr>
              <a:lnSpc>
                <a:spcPct val="80000"/>
              </a:lnSpc>
              <a:defRPr/>
            </a:pPr>
            <a:endParaRPr lang="en-US" sz="2400" dirty="0"/>
          </a:p>
          <a:p>
            <a:pPr lvl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dirty="0">
              <a:effectLst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400" dirty="0">
                <a:effectLst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8414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Code Example - Class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659" y="1143000"/>
            <a:ext cx="457882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latin typeface="Courier New"/>
              </a:rPr>
              <a:t>public class A {
    public void method1() {
        method2();
        B </a:t>
            </a:r>
            <a:r>
              <a:rPr sz="1400" dirty="0" err="1">
                <a:latin typeface="Courier New"/>
              </a:rPr>
              <a:t>b</a:t>
            </a:r>
            <a:r>
              <a:rPr sz="1400" dirty="0">
                <a:latin typeface="Courier New"/>
              </a:rPr>
              <a:t> = new B();
        b.methodB1();
    }
    public void method2() {
        </a:t>
            </a:r>
            <a:r>
              <a:rPr sz="1400" dirty="0" err="1">
                <a:latin typeface="Courier New"/>
              </a:rPr>
              <a:t>System.out.println</a:t>
            </a:r>
            <a:r>
              <a:rPr sz="1400" dirty="0">
                <a:latin typeface="Courier New"/>
              </a:rPr>
              <a:t>("In method2");
    }
    public void method3() {
        </a:t>
            </a:r>
            <a:r>
              <a:rPr sz="1400" dirty="0" err="1">
                <a:latin typeface="Courier New"/>
              </a:rPr>
              <a:t>System.out.println</a:t>
            </a:r>
            <a:r>
              <a:rPr sz="1400" dirty="0">
                <a:latin typeface="Courier New"/>
              </a:rPr>
              <a:t>("In method3");
    }
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1B4B7-58B7-1608-7317-8BAA77D1CEF0}"/>
              </a:ext>
            </a:extLst>
          </p:cNvPr>
          <p:cNvSpPr txBox="1"/>
          <p:nvPr/>
        </p:nvSpPr>
        <p:spPr>
          <a:xfrm>
            <a:off x="143300" y="4649549"/>
            <a:ext cx="51861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latin typeface="Courier New"/>
              </a:rPr>
              <a:t>public class B {
    public void methodB1() {
        </a:t>
            </a:r>
            <a:r>
              <a:rPr sz="1400" dirty="0" err="1">
                <a:latin typeface="Courier New"/>
              </a:rPr>
              <a:t>System.out.println</a:t>
            </a:r>
            <a:r>
              <a:rPr sz="1400" dirty="0">
                <a:latin typeface="Courier New"/>
              </a:rPr>
              <a:t>("In methodB1");
    }
    public void methodB2() {
        </a:t>
            </a:r>
            <a:r>
              <a:rPr sz="1400" dirty="0" err="1">
                <a:latin typeface="Courier New"/>
              </a:rPr>
              <a:t>System.out.println</a:t>
            </a:r>
            <a:r>
              <a:rPr sz="1400" dirty="0">
                <a:latin typeface="Courier New"/>
              </a:rPr>
              <a:t>("In methodB2");
    }
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90FA95-AE53-87CF-B52B-E5AA838A8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545" y="1327245"/>
            <a:ext cx="4319517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Step 1: Methods defined in A</a:t>
            </a:r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sz="1600" dirty="0"/>
              <a:t>• method1(), method2(), method3()</a:t>
            </a:r>
            <a:endParaRPr lang="en-US" sz="1600" dirty="0"/>
          </a:p>
          <a:p>
            <a:pPr marL="0" indent="0">
              <a:buNone/>
            </a:pPr>
            <a:r>
              <a:rPr sz="1600" dirty="0"/>
              <a:t>Step 2: Methods called by A</a:t>
            </a:r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sz="1600" dirty="0"/>
              <a:t>method2() (own)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sz="1600" dirty="0"/>
              <a:t>methodB1() (external from class B)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dirty="0"/>
              <a:t>Response Set (RS):</a:t>
            </a:r>
          </a:p>
          <a:p>
            <a:pPr marL="0" indent="0">
              <a:buNone/>
            </a:pPr>
            <a:r>
              <a:rPr lang="en-US" sz="1600" dirty="0"/>
              <a:t>          </a:t>
            </a:r>
            <a:r>
              <a:rPr sz="1600" dirty="0"/>
              <a:t>method1, method2, method3, methodB1</a:t>
            </a:r>
            <a:endParaRPr lang="en-US" sz="1600" dirty="0"/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RFC(A) =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RFC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Lower RFC → simpler class, easier to test</a:t>
            </a:r>
          </a:p>
          <a:p>
            <a:pPr marL="0" indent="0">
              <a:buNone/>
            </a:pPr>
            <a:r>
              <a:rPr dirty="0"/>
              <a:t>• Higher RFC → more complex behavior and coupling</a:t>
            </a:r>
          </a:p>
          <a:p>
            <a:pPr marL="0" indent="0">
              <a:buNone/>
            </a:pPr>
            <a:r>
              <a:rPr dirty="0"/>
              <a:t>• In this case, RFC(A) = 4 → simple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1"/>
            <a:ext cx="8229600" cy="8054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>
                <a:effectLst/>
              </a:rPr>
              <a:t>Object Oriented Design Matrices</a:t>
            </a:r>
          </a:p>
        </p:txBody>
      </p:sp>
      <p:sp>
        <p:nvSpPr>
          <p:cNvPr id="399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04800" y="11430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/>
              </a:rPr>
              <a:t>Coupling between object classes (CBO):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coupling = class x is coupled to class y </a:t>
            </a:r>
            <a:r>
              <a:rPr lang="en-US" sz="2000" dirty="0" err="1"/>
              <a:t>iff</a:t>
            </a:r>
            <a:r>
              <a:rPr lang="en-US" sz="2000" dirty="0"/>
              <a:t> x uses y’s methods or instance variables (includes inheritance related coupling)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High coupling between classes means modules depend on each other too much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High coupling makes maintenance more difficult since changes in a class might propagate to other parts of software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000" dirty="0">
              <a:effectLst/>
            </a:endParaRPr>
          </a:p>
          <a:p>
            <a:pPr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F0000"/>
                </a:solidFill>
                <a:effectLst/>
              </a:rPr>
              <a:t>Lack of cohesion in methods (LCOM) :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Cohesion measures ”togetherness” of a class: high cohesion means good class subdivision (encapsulation)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LCOM counts the sets of methods that are not related through the sharing of some of the class’s instance variables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   http://www.cppdepend.com/Metrics.aspx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3609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>
                <a:effectLst/>
              </a:rPr>
              <a:t>Object Oriented Design Metrices</a:t>
            </a:r>
          </a:p>
        </p:txBody>
      </p:sp>
      <p:sp>
        <p:nvSpPr>
          <p:cNvPr id="24579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pPr lvl="1">
              <a:buFont typeface="Wingdings" pitchFamily="2" charset="2"/>
              <a:buNone/>
            </a:pPr>
            <a:endParaRPr lang="en-US" sz="1800" dirty="0">
              <a:effectLst/>
            </a:endParaRPr>
          </a:p>
          <a:p>
            <a:pPr lvl="1">
              <a:buFont typeface="Wingdings" pitchFamily="2" charset="2"/>
              <a:buNone/>
            </a:pPr>
            <a:r>
              <a:rPr lang="en-US" sz="1800" b="1" u="sng" dirty="0">
                <a:effectLst/>
              </a:rPr>
              <a:t>Tools</a:t>
            </a:r>
          </a:p>
          <a:p>
            <a:pPr lvl="1">
              <a:buFont typeface="Wingdings" pitchFamily="2" charset="2"/>
              <a:buNone/>
            </a:pPr>
            <a:r>
              <a:rPr lang="en-US" sz="1800" dirty="0">
                <a:effectLst/>
                <a:hlinkClick r:id="rId2"/>
              </a:rPr>
              <a:t>http://www.mmsindia.com/jstyle.html</a:t>
            </a:r>
            <a:r>
              <a:rPr lang="en-US" sz="1800" dirty="0">
                <a:effectLst/>
              </a:rPr>
              <a:t>   - Java</a:t>
            </a:r>
          </a:p>
          <a:p>
            <a:pPr lvl="1">
              <a:buFont typeface="Wingdings" pitchFamily="2" charset="2"/>
              <a:buNone/>
            </a:pPr>
            <a:r>
              <a:rPr lang="en-US" sz="1800" dirty="0">
                <a:effectLst/>
                <a:hlinkClick r:id="rId3"/>
              </a:rPr>
              <a:t>http://www.cppdepend.com/</a:t>
            </a:r>
            <a:r>
              <a:rPr lang="en-US" sz="1800" dirty="0">
                <a:effectLst/>
              </a:rPr>
              <a:t>	           - C++	</a:t>
            </a:r>
          </a:p>
          <a:p>
            <a:pPr lvl="1">
              <a:buFont typeface="Wingdings" pitchFamily="2" charset="2"/>
              <a:buNone/>
            </a:pPr>
            <a:endParaRPr lang="en-US" sz="1800" dirty="0"/>
          </a:p>
          <a:p>
            <a:pPr lvl="1">
              <a:buFont typeface="Wingdings" pitchFamily="2" charset="2"/>
              <a:buNone/>
            </a:pPr>
            <a:endParaRPr lang="en-US" sz="1800" dirty="0">
              <a:effectLst/>
            </a:endParaRPr>
          </a:p>
          <a:p>
            <a:pPr lvl="1">
              <a:buFont typeface="Wingdings" pitchFamily="2" charset="2"/>
              <a:buNone/>
            </a:pPr>
            <a:endParaRPr lang="en-US" sz="1800" dirty="0"/>
          </a:p>
          <a:p>
            <a:pPr lvl="1">
              <a:buFont typeface="Wingdings" pitchFamily="2" charset="2"/>
              <a:buNone/>
            </a:pPr>
            <a:r>
              <a:rPr lang="en-US" sz="2400" dirty="0">
                <a:effectLst/>
              </a:rPr>
              <a:t>Next time: Testing Object Oriented Applications</a:t>
            </a:r>
          </a:p>
          <a:p>
            <a:pPr lvl="1"/>
            <a:r>
              <a:rPr lang="en-US" sz="2400" dirty="0"/>
              <a:t>Refactoring </a:t>
            </a:r>
            <a:r>
              <a:rPr lang="en-US" sz="2400"/>
              <a:t>OO applications</a:t>
            </a:r>
          </a:p>
          <a:p>
            <a:pPr lvl="1"/>
            <a:r>
              <a:rPr lang="en-US" sz="2400" dirty="0"/>
              <a:t>State Charts</a:t>
            </a:r>
          </a:p>
          <a:p>
            <a:pPr lvl="1"/>
            <a:r>
              <a:rPr lang="en-US" sz="2400" dirty="0">
                <a:effectLst/>
              </a:rPr>
              <a:t>Sequence diagram based test cases….</a:t>
            </a:r>
            <a:r>
              <a:rPr lang="en-US" sz="2400" dirty="0" err="1">
                <a:effectLst/>
              </a:rPr>
              <a:t>etc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40487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371600"/>
            <a:ext cx="8610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charset="0"/>
              </a:rPr>
              <a:t>[1] Martin Fowler. Refactoring: Improving the Design of Existing Code, Addison-Wesley,  1999. ISBN 0-201-48567-2</a:t>
            </a:r>
          </a:p>
          <a:p>
            <a:endParaRPr lang="en-US" sz="2800" dirty="0">
              <a:latin typeface="Arial" charset="0"/>
            </a:endParaRPr>
          </a:p>
          <a:p>
            <a:r>
              <a:rPr lang="en-US" sz="2800" dirty="0">
                <a:latin typeface="Times New Roman" charset="0"/>
              </a:rPr>
              <a:t>[2] Java Solutions, 2012 Pearson Education, </a:t>
            </a:r>
            <a:r>
              <a:rPr lang="en-US" sz="2800" dirty="0" err="1">
                <a:latin typeface="Times New Roman" charset="0"/>
              </a:rPr>
              <a:t>Inc</a:t>
            </a:r>
            <a:endParaRPr lang="en-US" sz="2800" dirty="0">
              <a:latin typeface="Times New Roman" charset="0"/>
            </a:endParaRPr>
          </a:p>
          <a:p>
            <a:endParaRPr lang="en-US" sz="2800" dirty="0">
              <a:latin typeface="Arial" charset="0"/>
            </a:endParaRPr>
          </a:p>
          <a:p>
            <a:endParaRPr lang="en-US" sz="2800" dirty="0">
              <a:latin typeface="Arial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956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2348</TotalTime>
  <Words>790</Words>
  <Application>Microsoft Office PowerPoint</Application>
  <PresentationFormat>On-screen Show (4:3)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Wingdings</vt:lpstr>
      <vt:lpstr>Office Theme</vt:lpstr>
      <vt:lpstr>CSE 464: Software Quality Assurance and Testing</vt:lpstr>
      <vt:lpstr>Fundamental Concepts</vt:lpstr>
      <vt:lpstr>Modularity – Lecture 2</vt:lpstr>
      <vt:lpstr>Accessing the Quality of OO Application Design C-K  Matrices</vt:lpstr>
      <vt:lpstr>Object Oriented Design Matrices</vt:lpstr>
      <vt:lpstr>Object Oriented Design Metrices</vt:lpstr>
      <vt:lpstr>Object Oriented Design Metrices</vt:lpstr>
      <vt:lpstr>Java Code Example - Class A</vt:lpstr>
      <vt:lpstr>Interpretation of RFC</vt:lpstr>
      <vt:lpstr>Object Oriented Design Matrices</vt:lpstr>
      <vt:lpstr>Object Oriented Design Metrices</vt:lpstr>
      <vt:lpstr>References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196</cp:revision>
  <cp:lastPrinted>2014-10-15T17:53:03Z</cp:lastPrinted>
  <dcterms:created xsi:type="dcterms:W3CDTF">2011-08-13T19:09:36Z</dcterms:created>
  <dcterms:modified xsi:type="dcterms:W3CDTF">2025-03-25T17:46:13Z</dcterms:modified>
</cp:coreProperties>
</file>