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407" r:id="rId3"/>
    <p:sldId id="415" r:id="rId4"/>
    <p:sldId id="416" r:id="rId5"/>
    <p:sldId id="417" r:id="rId6"/>
    <p:sldId id="418" r:id="rId7"/>
    <p:sldId id="420" r:id="rId8"/>
    <p:sldId id="440" r:id="rId9"/>
    <p:sldId id="434" r:id="rId10"/>
    <p:sldId id="435" r:id="rId11"/>
    <p:sldId id="436" r:id="rId12"/>
    <p:sldId id="437" r:id="rId13"/>
    <p:sldId id="438" r:id="rId14"/>
    <p:sldId id="439" r:id="rId15"/>
    <p:sldId id="433" r:id="rId1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>
      <p:cViewPr varScale="1">
        <p:scale>
          <a:sx n="86" d="100"/>
          <a:sy n="86" d="100"/>
        </p:scale>
        <p:origin x="231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649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4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649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4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3-02T15:49:47.726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8EB8ED3-233E-48DC-92D5-FA1AB372E354}" emma:medium="tactile" emma:mode="ink">
          <msink:context xmlns:msink="http://schemas.microsoft.com/ink/2010/main" type="inkDrawing" rotatedBoundingBox="9912,6321 9925,6332 9916,6343 9903,6333" semanticType="callout" shapeName="Other"/>
        </emma:interpretation>
      </emma:emma>
    </inkml:annotationXML>
    <inkml:trace contextRef="#ctx0" brushRef="#br0">13 11 26 0,'-13'-11'-13'16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3-02T15:59:43.834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F375402-B43A-413C-8833-23F426A3B018}" emma:medium="tactile" emma:mode="ink">
          <msink:context xmlns:msink="http://schemas.microsoft.com/ink/2010/main" type="inkDrawing" rotatedBoundingBox="22689,9436 22710,9442 22708,9448 22687,9442" semanticType="callout" shapeName="Other"/>
        </emma:interpretation>
      </emma:emma>
    </inkml:annotationXML>
    <inkml:trace contextRef="#ctx0" brushRef="#br0">19 8 204 0,'-14'0'77'0,"6"-4"-42"0,12 0-37 15,-4 4 17-15</inkml:trace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9788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0"/>
            <a:ext cx="560832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.emf"/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2" Type="http://schemas.openxmlformats.org/officeDocument/2006/relationships/image" Target="../media/image27.emf"/><Relationship Id="rId27" Type="http://schemas.openxmlformats.org/officeDocument/2006/relationships/customXml" Target="../ink/ink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571" y="851517"/>
            <a:ext cx="3928849" cy="2991416"/>
          </a:xfrm>
        </p:spPr>
        <p:txBody>
          <a:bodyPr anchor="b">
            <a:normAutofit/>
          </a:bodyPr>
          <a:lstStyle/>
          <a:p>
            <a:pPr algn="l"/>
            <a:r>
              <a:rPr lang="en-US" sz="4100" b="1"/>
              <a:t>CSE 464: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572" y="3842932"/>
            <a:ext cx="3125336" cy="216355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500" b="1"/>
              <a:t>Design Considerations of Object Oriented Applications for better Quality</a:t>
            </a:r>
            <a:endParaRPr lang="en-US" sz="2500"/>
          </a:p>
          <a:p>
            <a:pPr algn="l">
              <a:lnSpc>
                <a:spcPct val="90000"/>
              </a:lnSpc>
            </a:pPr>
            <a:r>
              <a:rPr lang="en-US" sz="2500" b="1" err="1"/>
              <a:t>Janaka</a:t>
            </a:r>
            <a:r>
              <a:rPr lang="en-US" sz="2500" b="1"/>
              <a:t> </a:t>
            </a:r>
            <a:r>
              <a:rPr lang="en-US" sz="2500" b="1" err="1"/>
              <a:t>Balasooriya</a:t>
            </a:r>
            <a:endParaRPr lang="en-US" sz="2500" b="1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2777" y="851518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C9B70EBF-9A5F-46ED-9C63-A8CDCE264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48627" y="2806221"/>
            <a:ext cx="2413000" cy="186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Design Considerations for OO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 far, we talked about removing bad coding by refactoring. In this lecture, we focus on improving the quality of the design. In particular, we will discuss </a:t>
            </a:r>
          </a:p>
          <a:p>
            <a:pPr lvl="1"/>
            <a:r>
              <a:rPr lang="en-US" dirty="0"/>
              <a:t>Proper </a:t>
            </a:r>
            <a:r>
              <a:rPr lang="en-US" b="1" dirty="0">
                <a:solidFill>
                  <a:srgbClr val="FF0000"/>
                </a:solidFill>
              </a:rPr>
              <a:t>abstraction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encapsulation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Inheritance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Polymorphism</a:t>
            </a:r>
          </a:p>
          <a:p>
            <a:pPr lvl="1"/>
            <a:r>
              <a:rPr lang="en-US" dirty="0"/>
              <a:t>Quality matrices for OO design</a:t>
            </a:r>
          </a:p>
          <a:p>
            <a:r>
              <a:rPr lang="en-US" dirty="0"/>
              <a:t>You can use these guidelines in designing, evaluating, and refactoring the design</a:t>
            </a:r>
          </a:p>
        </p:txBody>
      </p:sp>
    </p:spTree>
    <p:extLst>
      <p:ext uri="{BB962C8B-B14F-4D97-AF65-F5344CB8AC3E}">
        <p14:creationId xmlns:p14="http://schemas.microsoft.com/office/powerpoint/2010/main" val="1998229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Helvetica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F0596DBA-9901-4948-B582-9E04CA7CFBED}" type="slidenum">
              <a:rPr lang="en-US" b="0" smtClean="0">
                <a:latin typeface="Arial" charset="0"/>
              </a:rPr>
              <a:pPr/>
              <a:t>3</a:t>
            </a:fld>
            <a:endParaRPr lang="en-US" b="0">
              <a:latin typeface="Arial" charset="0"/>
            </a:endParaRPr>
          </a:p>
        </p:txBody>
      </p:sp>
      <p:sp>
        <p:nvSpPr>
          <p:cNvPr id="2519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99624" y="255390"/>
            <a:ext cx="5401928" cy="728405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/>
              <a:t>Fundamental Concepts</a:t>
            </a:r>
          </a:p>
        </p:txBody>
      </p:sp>
      <p:sp>
        <p:nvSpPr>
          <p:cNvPr id="25190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976313" y="1576983"/>
            <a:ext cx="8001000" cy="4029075"/>
          </a:xfrm>
        </p:spPr>
        <p:txBody>
          <a:bodyPr lIns="90487" tIns="44450" rIns="90487" bIns="44450">
            <a:normAutofit fontScale="85000" lnSpcReduction="20000"/>
          </a:bodyPr>
          <a:lstStyle/>
          <a:p>
            <a:pPr marL="0" indent="0" eaLnBrk="1" hangingPunct="1">
              <a:buNone/>
              <a:defRPr/>
            </a:pPr>
            <a:r>
              <a:rPr lang="en-US" dirty="0">
                <a:solidFill>
                  <a:schemeClr val="folHlink"/>
                </a:solidFill>
              </a:rPr>
              <a:t>1. abstraction</a:t>
            </a:r>
            <a:r>
              <a:rPr lang="en-US" dirty="0"/>
              <a:t>—data, interface, control</a:t>
            </a:r>
          </a:p>
          <a:p>
            <a:pPr lvl="1" eaLnBrk="1" hangingPunct="1">
              <a:defRPr/>
            </a:pPr>
            <a:r>
              <a:rPr lang="en-US" dirty="0">
                <a:solidFill>
                  <a:schemeClr val="folHlink"/>
                </a:solidFill>
              </a:rPr>
              <a:t>Information hiding</a:t>
            </a:r>
            <a:r>
              <a:rPr lang="en-US" dirty="0"/>
              <a:t>—controlled interfaces</a:t>
            </a:r>
          </a:p>
          <a:p>
            <a:pPr lvl="1" eaLnBrk="1" hangingPunct="1">
              <a:defRPr/>
            </a:pPr>
            <a:r>
              <a:rPr lang="en-US" dirty="0">
                <a:solidFill>
                  <a:schemeClr val="folHlink"/>
                </a:solidFill>
              </a:rPr>
              <a:t>Inheritance and polymorphism</a:t>
            </a:r>
          </a:p>
          <a:p>
            <a:pPr marL="0" indent="0">
              <a:buNone/>
              <a:defRPr/>
            </a:pPr>
            <a:r>
              <a:rPr lang="en-US" dirty="0">
                <a:solidFill>
                  <a:schemeClr val="folHlink"/>
                </a:solidFill>
              </a:rPr>
              <a:t>2. modularity</a:t>
            </a:r>
            <a:r>
              <a:rPr lang="en-US" dirty="0"/>
              <a:t>—compartmentalization of data and function</a:t>
            </a:r>
          </a:p>
          <a:p>
            <a:pPr lvl="1">
              <a:defRPr/>
            </a:pPr>
            <a:r>
              <a:rPr lang="en-US" dirty="0">
                <a:solidFill>
                  <a:schemeClr val="folHlink"/>
                </a:solidFill>
              </a:rPr>
              <a:t>Functional independence</a:t>
            </a:r>
            <a:r>
              <a:rPr lang="en-US" dirty="0"/>
              <a:t>—single-minded function and low coupling</a:t>
            </a:r>
          </a:p>
          <a:p>
            <a:pPr lvl="1" eaLnBrk="1" hangingPunct="1">
              <a:defRPr/>
            </a:pPr>
            <a:endParaRPr lang="en-US" dirty="0">
              <a:solidFill>
                <a:schemeClr val="folHlink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dirty="0">
                <a:solidFill>
                  <a:schemeClr val="folHlink"/>
                </a:solidFill>
              </a:rPr>
              <a:t>3. architecture</a:t>
            </a:r>
            <a:r>
              <a:rPr lang="en-US" dirty="0"/>
              <a:t>—the overall structure of the software</a:t>
            </a:r>
          </a:p>
          <a:p>
            <a:pPr lvl="1" eaLnBrk="1" hangingPunct="1">
              <a:defRPr/>
            </a:pPr>
            <a:r>
              <a:rPr lang="en-US" dirty="0">
                <a:solidFill>
                  <a:schemeClr val="folHlink"/>
                </a:solidFill>
              </a:rPr>
              <a:t>patterns</a:t>
            </a:r>
            <a:r>
              <a:rPr lang="en-US" dirty="0"/>
              <a:t>—”conveys the essence” of a proven design solution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6926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Helvetica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4C958550-6781-4452-9817-82602CDD0925}" type="slidenum">
              <a:rPr lang="en-US" b="0" smtClean="0">
                <a:latin typeface="Arial" charset="0"/>
              </a:rPr>
              <a:pPr/>
              <a:t>4</a:t>
            </a:fld>
            <a:endParaRPr lang="en-US" b="0">
              <a:latin typeface="Arial" charset="0"/>
            </a:endParaRPr>
          </a:p>
        </p:txBody>
      </p:sp>
      <p:sp>
        <p:nvSpPr>
          <p:cNvPr id="2529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591858" y="275035"/>
            <a:ext cx="3957110" cy="728405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/>
              <a:t>Data Abstraction</a:t>
            </a:r>
          </a:p>
        </p:txBody>
      </p:sp>
      <p:sp>
        <p:nvSpPr>
          <p:cNvPr id="252931" name="AutoShape 3"/>
          <p:cNvSpPr>
            <a:spLocks noChangeArrowheads="1"/>
          </p:cNvSpPr>
          <p:nvPr/>
        </p:nvSpPr>
        <p:spPr bwMode="auto">
          <a:xfrm>
            <a:off x="4445000" y="1325166"/>
            <a:ext cx="3263900" cy="3527227"/>
          </a:xfrm>
          <a:prstGeom prst="roundRect">
            <a:avLst>
              <a:gd name="adj" fmla="val 5843"/>
            </a:avLst>
          </a:prstGeom>
          <a:solidFill>
            <a:srgbClr val="DADADA"/>
          </a:solidFill>
          <a:ln w="254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221" name="Line 4"/>
          <p:cNvSpPr>
            <a:spLocks noChangeShapeType="1"/>
          </p:cNvSpPr>
          <p:nvPr/>
        </p:nvSpPr>
        <p:spPr bwMode="auto">
          <a:xfrm>
            <a:off x="4445000" y="1780580"/>
            <a:ext cx="325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2933" name="Rectangle 5"/>
          <p:cNvSpPr>
            <a:spLocks noChangeArrowheads="1"/>
          </p:cNvSpPr>
          <p:nvPr/>
        </p:nvSpPr>
        <p:spPr bwMode="auto">
          <a:xfrm>
            <a:off x="4691064" y="1248372"/>
            <a:ext cx="775852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2400" b="0">
                <a:solidFill>
                  <a:srgbClr val="AD278D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door</a:t>
            </a:r>
          </a:p>
        </p:txBody>
      </p:sp>
      <p:sp>
        <p:nvSpPr>
          <p:cNvPr id="9223" name="Line 6"/>
          <p:cNvSpPr>
            <a:spLocks noChangeShapeType="1"/>
          </p:cNvSpPr>
          <p:nvPr/>
        </p:nvSpPr>
        <p:spPr bwMode="auto">
          <a:xfrm flipH="1">
            <a:off x="3911600" y="3579019"/>
            <a:ext cx="825500" cy="1471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4" name="Rectangle 7"/>
          <p:cNvSpPr>
            <a:spLocks noChangeArrowheads="1"/>
          </p:cNvSpPr>
          <p:nvPr/>
        </p:nvSpPr>
        <p:spPr bwMode="auto">
          <a:xfrm>
            <a:off x="3763963" y="5034559"/>
            <a:ext cx="3234154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/>
              <a:t>implemented as a data structure</a:t>
            </a:r>
          </a:p>
        </p:txBody>
      </p:sp>
      <p:sp>
        <p:nvSpPr>
          <p:cNvPr id="252936" name="Rectangle 8"/>
          <p:cNvSpPr>
            <a:spLocks noChangeArrowheads="1"/>
          </p:cNvSpPr>
          <p:nvPr/>
        </p:nvSpPr>
        <p:spPr bwMode="auto">
          <a:xfrm>
            <a:off x="5043489" y="2010965"/>
            <a:ext cx="1467260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b="0">
                <a:solidFill>
                  <a:srgbClr val="AD278D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manufacturer</a:t>
            </a:r>
          </a:p>
          <a:p>
            <a:pPr>
              <a:defRPr/>
            </a:pPr>
            <a:endParaRPr lang="en-US" b="0">
              <a:solidFill>
                <a:srgbClr val="AD278D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2937" name="Rectangle 9"/>
          <p:cNvSpPr>
            <a:spLocks noChangeArrowheads="1"/>
          </p:cNvSpPr>
          <p:nvPr/>
        </p:nvSpPr>
        <p:spPr bwMode="auto">
          <a:xfrm>
            <a:off x="5043489" y="2253853"/>
            <a:ext cx="1577354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b="0">
                <a:solidFill>
                  <a:srgbClr val="AD278D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model number</a:t>
            </a:r>
          </a:p>
          <a:p>
            <a:pPr>
              <a:defRPr/>
            </a:pPr>
            <a:endParaRPr lang="en-US" b="0">
              <a:solidFill>
                <a:srgbClr val="AD278D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2938" name="Rectangle 10"/>
          <p:cNvSpPr>
            <a:spLocks noChangeArrowheads="1"/>
          </p:cNvSpPr>
          <p:nvPr/>
        </p:nvSpPr>
        <p:spPr bwMode="auto">
          <a:xfrm>
            <a:off x="5043489" y="2494956"/>
            <a:ext cx="601126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b="0">
                <a:solidFill>
                  <a:srgbClr val="AD278D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type</a:t>
            </a:r>
          </a:p>
          <a:p>
            <a:pPr>
              <a:defRPr/>
            </a:pPr>
            <a:endParaRPr lang="en-US" b="0">
              <a:solidFill>
                <a:srgbClr val="AD278D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2939" name="Rectangle 11"/>
          <p:cNvSpPr>
            <a:spLocks noChangeArrowheads="1"/>
          </p:cNvSpPr>
          <p:nvPr/>
        </p:nvSpPr>
        <p:spPr bwMode="auto">
          <a:xfrm>
            <a:off x="5043489" y="2736056"/>
            <a:ext cx="1611659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b="0">
                <a:solidFill>
                  <a:srgbClr val="AD278D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swing direction</a:t>
            </a:r>
          </a:p>
          <a:p>
            <a:pPr>
              <a:defRPr/>
            </a:pPr>
            <a:endParaRPr lang="en-US" b="0">
              <a:solidFill>
                <a:srgbClr val="AD278D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2940" name="Rectangle 12"/>
          <p:cNvSpPr>
            <a:spLocks noChangeArrowheads="1"/>
          </p:cNvSpPr>
          <p:nvPr/>
        </p:nvSpPr>
        <p:spPr bwMode="auto">
          <a:xfrm>
            <a:off x="5043489" y="2977159"/>
            <a:ext cx="809516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b="0">
                <a:solidFill>
                  <a:srgbClr val="AD278D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inserts</a:t>
            </a:r>
          </a:p>
          <a:p>
            <a:pPr>
              <a:defRPr/>
            </a:pPr>
            <a:endParaRPr lang="en-US" b="0">
              <a:solidFill>
                <a:srgbClr val="AD278D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2941" name="Rectangle 13"/>
          <p:cNvSpPr>
            <a:spLocks noChangeArrowheads="1"/>
          </p:cNvSpPr>
          <p:nvPr/>
        </p:nvSpPr>
        <p:spPr bwMode="auto">
          <a:xfrm>
            <a:off x="5043489" y="3218259"/>
            <a:ext cx="683969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b="0">
                <a:solidFill>
                  <a:srgbClr val="AD278D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lights</a:t>
            </a:r>
          </a:p>
          <a:p>
            <a:pPr>
              <a:defRPr/>
            </a:pPr>
            <a:endParaRPr lang="en-US" b="0">
              <a:solidFill>
                <a:srgbClr val="AD278D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2942" name="Rectangle 14"/>
          <p:cNvSpPr>
            <a:spLocks noChangeArrowheads="1"/>
          </p:cNvSpPr>
          <p:nvPr/>
        </p:nvSpPr>
        <p:spPr bwMode="auto">
          <a:xfrm>
            <a:off x="5043489" y="3459362"/>
            <a:ext cx="759822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b="0">
                <a:solidFill>
                  <a:srgbClr val="AD278D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type</a:t>
            </a:r>
          </a:p>
          <a:p>
            <a:pPr>
              <a:defRPr/>
            </a:pPr>
            <a:endParaRPr lang="en-US" b="0">
              <a:solidFill>
                <a:srgbClr val="AD278D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2943" name="Rectangle 15"/>
          <p:cNvSpPr>
            <a:spLocks noChangeArrowheads="1"/>
          </p:cNvSpPr>
          <p:nvPr/>
        </p:nvSpPr>
        <p:spPr bwMode="auto">
          <a:xfrm>
            <a:off x="5043489" y="3700462"/>
            <a:ext cx="1086835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b="0">
                <a:solidFill>
                  <a:srgbClr val="AD278D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number</a:t>
            </a:r>
          </a:p>
          <a:p>
            <a:pPr>
              <a:defRPr/>
            </a:pPr>
            <a:endParaRPr lang="en-US" b="0">
              <a:solidFill>
                <a:srgbClr val="AD278D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2944" name="Rectangle 16"/>
          <p:cNvSpPr>
            <a:spLocks noChangeArrowheads="1"/>
          </p:cNvSpPr>
          <p:nvPr/>
        </p:nvSpPr>
        <p:spPr bwMode="auto">
          <a:xfrm>
            <a:off x="5043489" y="3941565"/>
            <a:ext cx="819775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b="0">
                <a:solidFill>
                  <a:srgbClr val="AD278D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weight</a:t>
            </a:r>
          </a:p>
          <a:p>
            <a:pPr>
              <a:defRPr/>
            </a:pPr>
            <a:endParaRPr lang="en-US" b="0">
              <a:solidFill>
                <a:srgbClr val="AD278D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2945" name="Rectangle 17"/>
          <p:cNvSpPr>
            <a:spLocks noChangeArrowheads="1"/>
          </p:cNvSpPr>
          <p:nvPr/>
        </p:nvSpPr>
        <p:spPr bwMode="auto">
          <a:xfrm>
            <a:off x="5043488" y="4182666"/>
            <a:ext cx="2079094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b="0">
                <a:solidFill>
                  <a:srgbClr val="AD278D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opening mechanism</a:t>
            </a:r>
          </a:p>
        </p:txBody>
      </p:sp>
      <p:sp>
        <p:nvSpPr>
          <p:cNvPr id="9235" name="Rectangle 18"/>
          <p:cNvSpPr>
            <a:spLocks noChangeArrowheads="1"/>
          </p:cNvSpPr>
          <p:nvPr/>
        </p:nvSpPr>
        <p:spPr bwMode="auto">
          <a:xfrm>
            <a:off x="1511300" y="1489473"/>
            <a:ext cx="1727200" cy="3504009"/>
          </a:xfrm>
          <a:prstGeom prst="rect">
            <a:avLst/>
          </a:prstGeom>
          <a:solidFill>
            <a:srgbClr val="3E1403"/>
          </a:solidFill>
          <a:ln>
            <a:noFill/>
          </a:ln>
          <a:extLst>
            <a:ext uri="{91240B29-F687-4F45-9708-019B960494DF}">
              <a14:hiddenLine xmlns:a14="http://schemas.microsoft.com/office/drawing/2010/main" w="1270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6" name="Rectangle 19"/>
          <p:cNvSpPr>
            <a:spLocks noChangeArrowheads="1"/>
          </p:cNvSpPr>
          <p:nvPr/>
        </p:nvSpPr>
        <p:spPr bwMode="auto">
          <a:xfrm>
            <a:off x="1511300" y="1491259"/>
            <a:ext cx="1727200" cy="3502223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7" name="Rectangle 20"/>
          <p:cNvSpPr>
            <a:spLocks noChangeArrowheads="1"/>
          </p:cNvSpPr>
          <p:nvPr/>
        </p:nvSpPr>
        <p:spPr bwMode="auto">
          <a:xfrm>
            <a:off x="1625600" y="1603773"/>
            <a:ext cx="1498600" cy="3389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8" name="Rectangle 21"/>
          <p:cNvSpPr>
            <a:spLocks noChangeArrowheads="1"/>
          </p:cNvSpPr>
          <p:nvPr/>
        </p:nvSpPr>
        <p:spPr bwMode="auto">
          <a:xfrm>
            <a:off x="1625600" y="1605559"/>
            <a:ext cx="1498600" cy="3387923"/>
          </a:xfrm>
          <a:prstGeom prst="rect">
            <a:avLst/>
          </a:prstGeom>
          <a:solidFill>
            <a:schemeClr val="bg2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9" name="Freeform 22"/>
          <p:cNvSpPr>
            <a:spLocks/>
          </p:cNvSpPr>
          <p:nvPr/>
        </p:nvSpPr>
        <p:spPr bwMode="auto">
          <a:xfrm>
            <a:off x="1638300" y="1616274"/>
            <a:ext cx="1398588" cy="3570089"/>
          </a:xfrm>
          <a:custGeom>
            <a:avLst/>
            <a:gdLst>
              <a:gd name="T0" fmla="*/ 0 w 881"/>
              <a:gd name="T1" fmla="*/ 0 h 1999"/>
              <a:gd name="T2" fmla="*/ 0 w 881"/>
              <a:gd name="T3" fmla="*/ 0 h 1999"/>
              <a:gd name="T4" fmla="*/ 2147483647 w 881"/>
              <a:gd name="T5" fmla="*/ 2147483647 h 1999"/>
              <a:gd name="T6" fmla="*/ 2147483647 w 881"/>
              <a:gd name="T7" fmla="*/ 2147483647 h 1999"/>
              <a:gd name="T8" fmla="*/ 0 w 881"/>
              <a:gd name="T9" fmla="*/ 2147483647 h 1999"/>
              <a:gd name="T10" fmla="*/ 0 w 881"/>
              <a:gd name="T11" fmla="*/ 0 h 199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81"/>
              <a:gd name="T19" fmla="*/ 0 h 1999"/>
              <a:gd name="T20" fmla="*/ 881 w 881"/>
              <a:gd name="T21" fmla="*/ 1999 h 199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81" h="1999">
                <a:moveTo>
                  <a:pt x="0" y="0"/>
                </a:moveTo>
                <a:lnTo>
                  <a:pt x="0" y="0"/>
                </a:lnTo>
                <a:lnTo>
                  <a:pt x="880" y="92"/>
                </a:lnTo>
                <a:lnTo>
                  <a:pt x="880" y="1998"/>
                </a:lnTo>
                <a:lnTo>
                  <a:pt x="0" y="1906"/>
                </a:ln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0" name="Freeform 23"/>
          <p:cNvSpPr>
            <a:spLocks/>
          </p:cNvSpPr>
          <p:nvPr/>
        </p:nvSpPr>
        <p:spPr bwMode="auto">
          <a:xfrm>
            <a:off x="1625600" y="1603772"/>
            <a:ext cx="1398588" cy="3570090"/>
          </a:xfrm>
          <a:custGeom>
            <a:avLst/>
            <a:gdLst>
              <a:gd name="T0" fmla="*/ 0 w 881"/>
              <a:gd name="T1" fmla="*/ 0 h 1999"/>
              <a:gd name="T2" fmla="*/ 2147483647 w 881"/>
              <a:gd name="T3" fmla="*/ 2147483647 h 1999"/>
              <a:gd name="T4" fmla="*/ 2147483647 w 881"/>
              <a:gd name="T5" fmla="*/ 2147483647 h 1999"/>
              <a:gd name="T6" fmla="*/ 0 w 881"/>
              <a:gd name="T7" fmla="*/ 2147483647 h 1999"/>
              <a:gd name="T8" fmla="*/ 0 w 881"/>
              <a:gd name="T9" fmla="*/ 0 h 19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81"/>
              <a:gd name="T16" fmla="*/ 0 h 1999"/>
              <a:gd name="T17" fmla="*/ 881 w 881"/>
              <a:gd name="T18" fmla="*/ 1999 h 19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81" h="1999">
                <a:moveTo>
                  <a:pt x="0" y="0"/>
                </a:moveTo>
                <a:lnTo>
                  <a:pt x="880" y="92"/>
                </a:lnTo>
                <a:lnTo>
                  <a:pt x="880" y="1998"/>
                </a:lnTo>
                <a:lnTo>
                  <a:pt x="0" y="1906"/>
                </a:lnTo>
                <a:lnTo>
                  <a:pt x="0" y="0"/>
                </a:lnTo>
              </a:path>
            </a:pathLst>
          </a:custGeom>
          <a:solidFill>
            <a:srgbClr val="712000"/>
          </a:solidFill>
          <a:ln w="25400" cap="rnd" cmpd="sng">
            <a:solidFill>
              <a:srgbClr val="712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41" name="Oval 24"/>
          <p:cNvSpPr>
            <a:spLocks noChangeArrowheads="1"/>
          </p:cNvSpPr>
          <p:nvPr/>
        </p:nvSpPr>
        <p:spPr bwMode="auto">
          <a:xfrm>
            <a:off x="2743200" y="3318273"/>
            <a:ext cx="127000" cy="126802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2" name="Oval 25"/>
          <p:cNvSpPr>
            <a:spLocks noChangeArrowheads="1"/>
          </p:cNvSpPr>
          <p:nvPr/>
        </p:nvSpPr>
        <p:spPr bwMode="auto">
          <a:xfrm>
            <a:off x="2743200" y="3320059"/>
            <a:ext cx="127000" cy="123229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3" name="Rectangle 26"/>
          <p:cNvSpPr>
            <a:spLocks noChangeArrowheads="1"/>
          </p:cNvSpPr>
          <p:nvPr/>
        </p:nvSpPr>
        <p:spPr bwMode="auto">
          <a:xfrm>
            <a:off x="2794000" y="3432573"/>
            <a:ext cx="12700" cy="303609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4" name="Rectangle 27"/>
          <p:cNvSpPr>
            <a:spLocks noChangeArrowheads="1"/>
          </p:cNvSpPr>
          <p:nvPr/>
        </p:nvSpPr>
        <p:spPr bwMode="auto">
          <a:xfrm>
            <a:off x="2794000" y="3434359"/>
            <a:ext cx="12700" cy="30182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5" name="Line 28"/>
          <p:cNvSpPr>
            <a:spLocks noChangeShapeType="1"/>
          </p:cNvSpPr>
          <p:nvPr/>
        </p:nvSpPr>
        <p:spPr bwMode="auto">
          <a:xfrm>
            <a:off x="3378200" y="3203972"/>
            <a:ext cx="9017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97074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Helvetica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9B38341B-99FB-4A63-B3FB-FF7A9D8ACE6C}" type="slidenum">
              <a:rPr lang="en-US" b="0" smtClean="0">
                <a:latin typeface="Arial" charset="0"/>
              </a:rPr>
              <a:pPr/>
              <a:t>5</a:t>
            </a:fld>
            <a:endParaRPr lang="en-US" b="0">
              <a:latin typeface="Arial" charset="0"/>
            </a:endParaRPr>
          </a:p>
        </p:txBody>
      </p:sp>
      <p:sp>
        <p:nvSpPr>
          <p:cNvPr id="2539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88380" y="467916"/>
            <a:ext cx="5367240" cy="728405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/>
              <a:t>Procedural Abstraction</a:t>
            </a:r>
          </a:p>
        </p:txBody>
      </p:sp>
      <p:sp>
        <p:nvSpPr>
          <p:cNvPr id="10244" name="Line 3"/>
          <p:cNvSpPr>
            <a:spLocks noChangeShapeType="1"/>
          </p:cNvSpPr>
          <p:nvPr/>
        </p:nvSpPr>
        <p:spPr bwMode="auto">
          <a:xfrm flipV="1">
            <a:off x="3416300" y="3602237"/>
            <a:ext cx="952500" cy="89297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1562100" y="1646635"/>
            <a:ext cx="1727200" cy="3504009"/>
          </a:xfrm>
          <a:prstGeom prst="rect">
            <a:avLst/>
          </a:prstGeom>
          <a:solidFill>
            <a:srgbClr val="3E1403"/>
          </a:solidFill>
          <a:ln>
            <a:noFill/>
          </a:ln>
          <a:extLst>
            <a:ext uri="{91240B29-F687-4F45-9708-019B960494DF}">
              <a14:hiddenLine xmlns:a14="http://schemas.microsoft.com/office/drawing/2010/main" w="1270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6" name="Rectangle 5"/>
          <p:cNvSpPr>
            <a:spLocks noChangeArrowheads="1"/>
          </p:cNvSpPr>
          <p:nvPr/>
        </p:nvSpPr>
        <p:spPr bwMode="auto">
          <a:xfrm>
            <a:off x="1562100" y="1648421"/>
            <a:ext cx="1727200" cy="3502223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Rectangle 6"/>
          <p:cNvSpPr>
            <a:spLocks noChangeArrowheads="1"/>
          </p:cNvSpPr>
          <p:nvPr/>
        </p:nvSpPr>
        <p:spPr bwMode="auto">
          <a:xfrm>
            <a:off x="1676400" y="1760935"/>
            <a:ext cx="1498600" cy="3389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Rectangle 7"/>
          <p:cNvSpPr>
            <a:spLocks noChangeArrowheads="1"/>
          </p:cNvSpPr>
          <p:nvPr/>
        </p:nvSpPr>
        <p:spPr bwMode="auto">
          <a:xfrm>
            <a:off x="1676400" y="1762721"/>
            <a:ext cx="1498600" cy="3387923"/>
          </a:xfrm>
          <a:prstGeom prst="rect">
            <a:avLst/>
          </a:prstGeom>
          <a:solidFill>
            <a:schemeClr val="bg2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Freeform 8"/>
          <p:cNvSpPr>
            <a:spLocks/>
          </p:cNvSpPr>
          <p:nvPr/>
        </p:nvSpPr>
        <p:spPr bwMode="auto">
          <a:xfrm>
            <a:off x="1689100" y="1773436"/>
            <a:ext cx="1398588" cy="3570089"/>
          </a:xfrm>
          <a:custGeom>
            <a:avLst/>
            <a:gdLst>
              <a:gd name="T0" fmla="*/ 0 w 881"/>
              <a:gd name="T1" fmla="*/ 0 h 1999"/>
              <a:gd name="T2" fmla="*/ 0 w 881"/>
              <a:gd name="T3" fmla="*/ 0 h 1999"/>
              <a:gd name="T4" fmla="*/ 2147483647 w 881"/>
              <a:gd name="T5" fmla="*/ 2147483647 h 1999"/>
              <a:gd name="T6" fmla="*/ 2147483647 w 881"/>
              <a:gd name="T7" fmla="*/ 2147483647 h 1999"/>
              <a:gd name="T8" fmla="*/ 0 w 881"/>
              <a:gd name="T9" fmla="*/ 2147483647 h 1999"/>
              <a:gd name="T10" fmla="*/ 0 w 881"/>
              <a:gd name="T11" fmla="*/ 0 h 199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81"/>
              <a:gd name="T19" fmla="*/ 0 h 1999"/>
              <a:gd name="T20" fmla="*/ 881 w 881"/>
              <a:gd name="T21" fmla="*/ 1999 h 199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81" h="1999">
                <a:moveTo>
                  <a:pt x="0" y="0"/>
                </a:moveTo>
                <a:lnTo>
                  <a:pt x="0" y="0"/>
                </a:lnTo>
                <a:lnTo>
                  <a:pt x="880" y="92"/>
                </a:lnTo>
                <a:lnTo>
                  <a:pt x="880" y="1998"/>
                </a:lnTo>
                <a:lnTo>
                  <a:pt x="0" y="1906"/>
                </a:ln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0" name="Freeform 9"/>
          <p:cNvSpPr>
            <a:spLocks/>
          </p:cNvSpPr>
          <p:nvPr/>
        </p:nvSpPr>
        <p:spPr bwMode="auto">
          <a:xfrm>
            <a:off x="1676400" y="1760935"/>
            <a:ext cx="1398588" cy="3570090"/>
          </a:xfrm>
          <a:custGeom>
            <a:avLst/>
            <a:gdLst>
              <a:gd name="T0" fmla="*/ 0 w 881"/>
              <a:gd name="T1" fmla="*/ 0 h 1999"/>
              <a:gd name="T2" fmla="*/ 2147483647 w 881"/>
              <a:gd name="T3" fmla="*/ 2147483647 h 1999"/>
              <a:gd name="T4" fmla="*/ 2147483647 w 881"/>
              <a:gd name="T5" fmla="*/ 2147483647 h 1999"/>
              <a:gd name="T6" fmla="*/ 0 w 881"/>
              <a:gd name="T7" fmla="*/ 2147483647 h 1999"/>
              <a:gd name="T8" fmla="*/ 0 w 881"/>
              <a:gd name="T9" fmla="*/ 0 h 19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81"/>
              <a:gd name="T16" fmla="*/ 0 h 1999"/>
              <a:gd name="T17" fmla="*/ 881 w 881"/>
              <a:gd name="T18" fmla="*/ 1999 h 19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81" h="1999">
                <a:moveTo>
                  <a:pt x="0" y="0"/>
                </a:moveTo>
                <a:lnTo>
                  <a:pt x="880" y="92"/>
                </a:lnTo>
                <a:lnTo>
                  <a:pt x="880" y="1998"/>
                </a:lnTo>
                <a:lnTo>
                  <a:pt x="0" y="1906"/>
                </a:lnTo>
                <a:lnTo>
                  <a:pt x="0" y="0"/>
                </a:lnTo>
              </a:path>
            </a:pathLst>
          </a:custGeom>
          <a:solidFill>
            <a:srgbClr val="712000"/>
          </a:solidFill>
          <a:ln w="25400" cap="rnd" cmpd="sng">
            <a:solidFill>
              <a:srgbClr val="712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51" name="Oval 10"/>
          <p:cNvSpPr>
            <a:spLocks noChangeArrowheads="1"/>
          </p:cNvSpPr>
          <p:nvPr/>
        </p:nvSpPr>
        <p:spPr bwMode="auto">
          <a:xfrm>
            <a:off x="2794000" y="3475435"/>
            <a:ext cx="127000" cy="126802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2" name="Oval 11"/>
          <p:cNvSpPr>
            <a:spLocks noChangeArrowheads="1"/>
          </p:cNvSpPr>
          <p:nvPr/>
        </p:nvSpPr>
        <p:spPr bwMode="auto">
          <a:xfrm>
            <a:off x="2794000" y="3477222"/>
            <a:ext cx="127000" cy="123229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3" name="Rectangle 12"/>
          <p:cNvSpPr>
            <a:spLocks noChangeArrowheads="1"/>
          </p:cNvSpPr>
          <p:nvPr/>
        </p:nvSpPr>
        <p:spPr bwMode="auto">
          <a:xfrm>
            <a:off x="2844800" y="3589735"/>
            <a:ext cx="12700" cy="303609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Rectangle 13"/>
          <p:cNvSpPr>
            <a:spLocks noChangeArrowheads="1"/>
          </p:cNvSpPr>
          <p:nvPr/>
        </p:nvSpPr>
        <p:spPr bwMode="auto">
          <a:xfrm>
            <a:off x="2844800" y="3591521"/>
            <a:ext cx="12700" cy="30182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Oval 14"/>
          <p:cNvSpPr>
            <a:spLocks noChangeArrowheads="1"/>
          </p:cNvSpPr>
          <p:nvPr/>
        </p:nvSpPr>
        <p:spPr bwMode="auto">
          <a:xfrm>
            <a:off x="2108200" y="2359224"/>
            <a:ext cx="254000" cy="619720"/>
          </a:xfrm>
          <a:prstGeom prst="ellipse">
            <a:avLst/>
          </a:prstGeom>
          <a:solidFill>
            <a:srgbClr val="790015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Freeform 15"/>
          <p:cNvSpPr>
            <a:spLocks/>
          </p:cNvSpPr>
          <p:nvPr/>
        </p:nvSpPr>
        <p:spPr bwMode="auto">
          <a:xfrm>
            <a:off x="1981200" y="2903934"/>
            <a:ext cx="458788" cy="1271588"/>
          </a:xfrm>
          <a:custGeom>
            <a:avLst/>
            <a:gdLst>
              <a:gd name="T0" fmla="*/ 0 w 289"/>
              <a:gd name="T1" fmla="*/ 0 h 712"/>
              <a:gd name="T2" fmla="*/ 2147483647 w 289"/>
              <a:gd name="T3" fmla="*/ 2147483647 h 712"/>
              <a:gd name="T4" fmla="*/ 2147483647 w 289"/>
              <a:gd name="T5" fmla="*/ 2147483647 h 712"/>
              <a:gd name="T6" fmla="*/ 2147483647 w 289"/>
              <a:gd name="T7" fmla="*/ 2147483647 h 712"/>
              <a:gd name="T8" fmla="*/ 0 w 289"/>
              <a:gd name="T9" fmla="*/ 0 h 7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9"/>
              <a:gd name="T16" fmla="*/ 0 h 712"/>
              <a:gd name="T17" fmla="*/ 289 w 289"/>
              <a:gd name="T18" fmla="*/ 712 h 7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9" h="712">
                <a:moveTo>
                  <a:pt x="0" y="0"/>
                </a:moveTo>
                <a:lnTo>
                  <a:pt x="288" y="114"/>
                </a:lnTo>
                <a:lnTo>
                  <a:pt x="224" y="711"/>
                </a:lnTo>
                <a:lnTo>
                  <a:pt x="48" y="611"/>
                </a:lnTo>
                <a:lnTo>
                  <a:pt x="0" y="0"/>
                </a:lnTo>
              </a:path>
            </a:pathLst>
          </a:custGeom>
          <a:solidFill>
            <a:srgbClr val="790015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57" name="Line 16"/>
          <p:cNvSpPr>
            <a:spLocks noChangeShapeType="1"/>
          </p:cNvSpPr>
          <p:nvPr/>
        </p:nvSpPr>
        <p:spPr bwMode="auto">
          <a:xfrm>
            <a:off x="2438400" y="3134321"/>
            <a:ext cx="114300" cy="82153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Line 17"/>
          <p:cNvSpPr>
            <a:spLocks noChangeShapeType="1"/>
          </p:cNvSpPr>
          <p:nvPr/>
        </p:nvSpPr>
        <p:spPr bwMode="auto">
          <a:xfrm flipV="1">
            <a:off x="2578100" y="3805834"/>
            <a:ext cx="254000" cy="164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9" name="Line 18"/>
          <p:cNvSpPr>
            <a:spLocks noChangeShapeType="1"/>
          </p:cNvSpPr>
          <p:nvPr/>
        </p:nvSpPr>
        <p:spPr bwMode="auto">
          <a:xfrm flipH="1">
            <a:off x="1790700" y="2930724"/>
            <a:ext cx="177800" cy="542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0" name="Line 19"/>
          <p:cNvSpPr>
            <a:spLocks noChangeShapeType="1"/>
          </p:cNvSpPr>
          <p:nvPr/>
        </p:nvSpPr>
        <p:spPr bwMode="auto">
          <a:xfrm>
            <a:off x="1803400" y="3502224"/>
            <a:ext cx="228600" cy="30182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1" name="Line 20"/>
          <p:cNvSpPr>
            <a:spLocks noChangeShapeType="1"/>
          </p:cNvSpPr>
          <p:nvPr/>
        </p:nvSpPr>
        <p:spPr bwMode="auto">
          <a:xfrm>
            <a:off x="2336800" y="4188025"/>
            <a:ext cx="177800" cy="63222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2" name="Line 21"/>
          <p:cNvSpPr>
            <a:spLocks noChangeShapeType="1"/>
          </p:cNvSpPr>
          <p:nvPr/>
        </p:nvSpPr>
        <p:spPr bwMode="auto">
          <a:xfrm flipH="1">
            <a:off x="2298700" y="4848821"/>
            <a:ext cx="228600" cy="71973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3" name="Line 22"/>
          <p:cNvSpPr>
            <a:spLocks noChangeShapeType="1"/>
          </p:cNvSpPr>
          <p:nvPr/>
        </p:nvSpPr>
        <p:spPr bwMode="auto">
          <a:xfrm flipV="1">
            <a:off x="2298700" y="5532835"/>
            <a:ext cx="63500" cy="500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4" name="Line 23"/>
          <p:cNvSpPr>
            <a:spLocks noChangeShapeType="1"/>
          </p:cNvSpPr>
          <p:nvPr/>
        </p:nvSpPr>
        <p:spPr bwMode="auto">
          <a:xfrm>
            <a:off x="2057400" y="4009430"/>
            <a:ext cx="88900" cy="68401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5" name="Line 24"/>
          <p:cNvSpPr>
            <a:spLocks noChangeShapeType="1"/>
          </p:cNvSpPr>
          <p:nvPr/>
        </p:nvSpPr>
        <p:spPr bwMode="auto">
          <a:xfrm flipH="1">
            <a:off x="1739900" y="4722019"/>
            <a:ext cx="419100" cy="6304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6" name="Line 25"/>
          <p:cNvSpPr>
            <a:spLocks noChangeShapeType="1"/>
          </p:cNvSpPr>
          <p:nvPr/>
        </p:nvSpPr>
        <p:spPr bwMode="auto">
          <a:xfrm flipV="1">
            <a:off x="1752600" y="5341740"/>
            <a:ext cx="76200" cy="2500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7" name="AutoShape 26"/>
          <p:cNvSpPr>
            <a:spLocks noChangeArrowheads="1"/>
          </p:cNvSpPr>
          <p:nvPr/>
        </p:nvSpPr>
        <p:spPr bwMode="auto">
          <a:xfrm>
            <a:off x="4546600" y="1557338"/>
            <a:ext cx="2768600" cy="2768203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3979" name="AutoShape 27"/>
          <p:cNvSpPr>
            <a:spLocks noChangeArrowheads="1"/>
          </p:cNvSpPr>
          <p:nvPr/>
        </p:nvSpPr>
        <p:spPr bwMode="auto">
          <a:xfrm>
            <a:off x="4533900" y="1544837"/>
            <a:ext cx="2794000" cy="2793206"/>
          </a:xfrm>
          <a:prstGeom prst="roundRect">
            <a:avLst>
              <a:gd name="adj" fmla="val 7005"/>
            </a:avLst>
          </a:prstGeom>
          <a:solidFill>
            <a:schemeClr val="folHlink"/>
          </a:solidFill>
          <a:ln w="25400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69" name="Line 28"/>
          <p:cNvSpPr>
            <a:spLocks noChangeShapeType="1"/>
          </p:cNvSpPr>
          <p:nvPr/>
        </p:nvSpPr>
        <p:spPr bwMode="auto">
          <a:xfrm>
            <a:off x="4546600" y="2014538"/>
            <a:ext cx="2730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3981" name="Rectangle 29"/>
          <p:cNvSpPr>
            <a:spLocks noChangeArrowheads="1"/>
          </p:cNvSpPr>
          <p:nvPr/>
        </p:nvSpPr>
        <p:spPr bwMode="auto">
          <a:xfrm>
            <a:off x="4735514" y="1526978"/>
            <a:ext cx="822340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2400" b="0">
                <a:solidFill>
                  <a:srgbClr val="AD278D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open</a:t>
            </a:r>
          </a:p>
        </p:txBody>
      </p:sp>
      <p:sp>
        <p:nvSpPr>
          <p:cNvPr id="10271" name="Line 30"/>
          <p:cNvSpPr>
            <a:spLocks noChangeShapeType="1"/>
          </p:cNvSpPr>
          <p:nvPr/>
        </p:nvSpPr>
        <p:spPr bwMode="auto">
          <a:xfrm flipH="1">
            <a:off x="4470400" y="3934422"/>
            <a:ext cx="939800" cy="96083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2" name="Rectangle 31"/>
          <p:cNvSpPr>
            <a:spLocks noChangeArrowheads="1"/>
          </p:cNvSpPr>
          <p:nvPr/>
        </p:nvSpPr>
        <p:spPr bwMode="auto">
          <a:xfrm>
            <a:off x="3529014" y="4841678"/>
            <a:ext cx="4056174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/>
              <a:t>implemented with a "knowledge" of the  </a:t>
            </a:r>
          </a:p>
        </p:txBody>
      </p:sp>
      <p:sp>
        <p:nvSpPr>
          <p:cNvPr id="10273" name="Rectangle 32"/>
          <p:cNvSpPr>
            <a:spLocks noChangeArrowheads="1"/>
          </p:cNvSpPr>
          <p:nvPr/>
        </p:nvSpPr>
        <p:spPr bwMode="auto">
          <a:xfrm>
            <a:off x="3541713" y="5134572"/>
            <a:ext cx="346716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/>
              <a:t>object that is associated with enter</a:t>
            </a:r>
          </a:p>
        </p:txBody>
      </p:sp>
      <p:sp>
        <p:nvSpPr>
          <p:cNvPr id="253985" name="Rectangle 33"/>
          <p:cNvSpPr>
            <a:spLocks noChangeArrowheads="1"/>
          </p:cNvSpPr>
          <p:nvPr/>
        </p:nvSpPr>
        <p:spPr bwMode="auto">
          <a:xfrm>
            <a:off x="5040313" y="2441378"/>
            <a:ext cx="1655260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details of enter </a:t>
            </a:r>
          </a:p>
        </p:txBody>
      </p:sp>
      <p:sp>
        <p:nvSpPr>
          <p:cNvPr id="253986" name="Rectangle 34"/>
          <p:cNvSpPr>
            <a:spLocks noChangeArrowheads="1"/>
          </p:cNvSpPr>
          <p:nvPr/>
        </p:nvSpPr>
        <p:spPr bwMode="auto">
          <a:xfrm>
            <a:off x="5040314" y="2669978"/>
            <a:ext cx="1091644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algorithm</a:t>
            </a:r>
          </a:p>
        </p:txBody>
      </p:sp>
    </p:spTree>
    <p:extLst>
      <p:ext uri="{BB962C8B-B14F-4D97-AF65-F5344CB8AC3E}">
        <p14:creationId xmlns:p14="http://schemas.microsoft.com/office/powerpoint/2010/main" val="81877961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Helvetica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81BD5771-4FFC-4710-ADB7-EAF935A93A0F}" type="slidenum">
              <a:rPr lang="en-US" b="0" smtClean="0">
                <a:latin typeface="Arial" charset="0"/>
              </a:rPr>
              <a:pPr/>
              <a:t>6</a:t>
            </a:fld>
            <a:endParaRPr lang="en-US" b="0">
              <a:latin typeface="Arial" charset="0"/>
            </a:endParaRPr>
          </a:p>
        </p:txBody>
      </p:sp>
      <p:sp>
        <p:nvSpPr>
          <p:cNvPr id="7700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600200" y="617934"/>
            <a:ext cx="6364288" cy="301824"/>
          </a:xfrm>
        </p:spPr>
        <p:txBody>
          <a:bodyPr lIns="90487" tIns="44450" rIns="90487" bIns="4445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Information Hiding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3403600" y="2209205"/>
            <a:ext cx="2501900" cy="322718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0052" name="Rectangle 4"/>
          <p:cNvSpPr>
            <a:spLocks noChangeArrowheads="1"/>
          </p:cNvSpPr>
          <p:nvPr/>
        </p:nvSpPr>
        <p:spPr bwMode="auto">
          <a:xfrm>
            <a:off x="3403600" y="2210991"/>
            <a:ext cx="2501900" cy="3223618"/>
          </a:xfrm>
          <a:prstGeom prst="rect">
            <a:avLst/>
          </a:prstGeom>
          <a:solidFill>
            <a:schemeClr val="hlink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70053" name="Rectangle 5"/>
          <p:cNvSpPr>
            <a:spLocks noChangeArrowheads="1"/>
          </p:cNvSpPr>
          <p:nvPr/>
        </p:nvSpPr>
        <p:spPr bwMode="auto">
          <a:xfrm>
            <a:off x="3300414" y="1709143"/>
            <a:ext cx="1138131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module</a:t>
            </a:r>
          </a:p>
        </p:txBody>
      </p:sp>
      <p:sp>
        <p:nvSpPr>
          <p:cNvPr id="11271" name="Freeform 6" descr="10%"/>
          <p:cNvSpPr>
            <a:spLocks/>
          </p:cNvSpPr>
          <p:nvPr/>
        </p:nvSpPr>
        <p:spPr bwMode="auto">
          <a:xfrm>
            <a:off x="3759200" y="3391496"/>
            <a:ext cx="1843088" cy="1843088"/>
          </a:xfrm>
          <a:custGeom>
            <a:avLst/>
            <a:gdLst>
              <a:gd name="T0" fmla="*/ 2147483647 w 1161"/>
              <a:gd name="T1" fmla="*/ 2147483647 h 1032"/>
              <a:gd name="T2" fmla="*/ 2147483647 w 1161"/>
              <a:gd name="T3" fmla="*/ 2147483647 h 1032"/>
              <a:gd name="T4" fmla="*/ 2147483647 w 1161"/>
              <a:gd name="T5" fmla="*/ 2147483647 h 1032"/>
              <a:gd name="T6" fmla="*/ 2147483647 w 1161"/>
              <a:gd name="T7" fmla="*/ 2147483647 h 1032"/>
              <a:gd name="T8" fmla="*/ 2147483647 w 1161"/>
              <a:gd name="T9" fmla="*/ 2147483647 h 1032"/>
              <a:gd name="T10" fmla="*/ 2147483647 w 1161"/>
              <a:gd name="T11" fmla="*/ 2147483647 h 1032"/>
              <a:gd name="T12" fmla="*/ 2147483647 w 1161"/>
              <a:gd name="T13" fmla="*/ 2147483647 h 1032"/>
              <a:gd name="T14" fmla="*/ 2147483647 w 1161"/>
              <a:gd name="T15" fmla="*/ 2147483647 h 1032"/>
              <a:gd name="T16" fmla="*/ 2147483647 w 1161"/>
              <a:gd name="T17" fmla="*/ 2147483647 h 1032"/>
              <a:gd name="T18" fmla="*/ 2147483647 w 1161"/>
              <a:gd name="T19" fmla="*/ 2147483647 h 1032"/>
              <a:gd name="T20" fmla="*/ 2147483647 w 1161"/>
              <a:gd name="T21" fmla="*/ 2147483647 h 1032"/>
              <a:gd name="T22" fmla="*/ 2147483647 w 1161"/>
              <a:gd name="T23" fmla="*/ 2147483647 h 1032"/>
              <a:gd name="T24" fmla="*/ 2147483647 w 1161"/>
              <a:gd name="T25" fmla="*/ 2147483647 h 1032"/>
              <a:gd name="T26" fmla="*/ 2147483647 w 1161"/>
              <a:gd name="T27" fmla="*/ 2147483647 h 1032"/>
              <a:gd name="T28" fmla="*/ 2147483647 w 1161"/>
              <a:gd name="T29" fmla="*/ 2147483647 h 1032"/>
              <a:gd name="T30" fmla="*/ 2147483647 w 1161"/>
              <a:gd name="T31" fmla="*/ 2147483647 h 1032"/>
              <a:gd name="T32" fmla="*/ 2147483647 w 1161"/>
              <a:gd name="T33" fmla="*/ 2147483647 h 1032"/>
              <a:gd name="T34" fmla="*/ 2147483647 w 1161"/>
              <a:gd name="T35" fmla="*/ 2147483647 h 1032"/>
              <a:gd name="T36" fmla="*/ 2147483647 w 1161"/>
              <a:gd name="T37" fmla="*/ 2147483647 h 1032"/>
              <a:gd name="T38" fmla="*/ 2147483647 w 1161"/>
              <a:gd name="T39" fmla="*/ 2147483647 h 1032"/>
              <a:gd name="T40" fmla="*/ 2147483647 w 1161"/>
              <a:gd name="T41" fmla="*/ 2147483647 h 1032"/>
              <a:gd name="T42" fmla="*/ 2147483647 w 1161"/>
              <a:gd name="T43" fmla="*/ 2147483647 h 1032"/>
              <a:gd name="T44" fmla="*/ 2147483647 w 1161"/>
              <a:gd name="T45" fmla="*/ 2147483647 h 1032"/>
              <a:gd name="T46" fmla="*/ 2147483647 w 1161"/>
              <a:gd name="T47" fmla="*/ 2147483647 h 1032"/>
              <a:gd name="T48" fmla="*/ 2147483647 w 1161"/>
              <a:gd name="T49" fmla="*/ 2147483647 h 1032"/>
              <a:gd name="T50" fmla="*/ 2147483647 w 1161"/>
              <a:gd name="T51" fmla="*/ 2147483647 h 1032"/>
              <a:gd name="T52" fmla="*/ 2147483647 w 1161"/>
              <a:gd name="T53" fmla="*/ 2147483647 h 1032"/>
              <a:gd name="T54" fmla="*/ 2147483647 w 1161"/>
              <a:gd name="T55" fmla="*/ 2147483647 h 1032"/>
              <a:gd name="T56" fmla="*/ 2147483647 w 1161"/>
              <a:gd name="T57" fmla="*/ 2147483647 h 1032"/>
              <a:gd name="T58" fmla="*/ 2147483647 w 1161"/>
              <a:gd name="T59" fmla="*/ 2147483647 h 1032"/>
              <a:gd name="T60" fmla="*/ 2147483647 w 1161"/>
              <a:gd name="T61" fmla="*/ 2147483647 h 1032"/>
              <a:gd name="T62" fmla="*/ 2147483647 w 1161"/>
              <a:gd name="T63" fmla="*/ 2147483647 h 1032"/>
              <a:gd name="T64" fmla="*/ 2147483647 w 1161"/>
              <a:gd name="T65" fmla="*/ 2147483647 h 1032"/>
              <a:gd name="T66" fmla="*/ 2147483647 w 1161"/>
              <a:gd name="T67" fmla="*/ 2147483647 h 1032"/>
              <a:gd name="T68" fmla="*/ 2147483647 w 1161"/>
              <a:gd name="T69" fmla="*/ 2147483647 h 1032"/>
              <a:gd name="T70" fmla="*/ 2147483647 w 1161"/>
              <a:gd name="T71" fmla="*/ 2147483647 h 1032"/>
              <a:gd name="T72" fmla="*/ 2147483647 w 1161"/>
              <a:gd name="T73" fmla="*/ 2147483647 h 1032"/>
              <a:gd name="T74" fmla="*/ 2147483647 w 1161"/>
              <a:gd name="T75" fmla="*/ 2147483647 h 1032"/>
              <a:gd name="T76" fmla="*/ 2147483647 w 1161"/>
              <a:gd name="T77" fmla="*/ 2147483647 h 1032"/>
              <a:gd name="T78" fmla="*/ 2147483647 w 1161"/>
              <a:gd name="T79" fmla="*/ 2147483647 h 1032"/>
              <a:gd name="T80" fmla="*/ 2147483647 w 1161"/>
              <a:gd name="T81" fmla="*/ 2147483647 h 1032"/>
              <a:gd name="T82" fmla="*/ 2147483647 w 1161"/>
              <a:gd name="T83" fmla="*/ 2147483647 h 1032"/>
              <a:gd name="T84" fmla="*/ 2147483647 w 1161"/>
              <a:gd name="T85" fmla="*/ 2147483647 h 1032"/>
              <a:gd name="T86" fmla="*/ 2147483647 w 1161"/>
              <a:gd name="T87" fmla="*/ 2147483647 h 1032"/>
              <a:gd name="T88" fmla="*/ 2147483647 w 1161"/>
              <a:gd name="T89" fmla="*/ 0 h 1032"/>
              <a:gd name="T90" fmla="*/ 2147483647 w 1161"/>
              <a:gd name="T91" fmla="*/ 0 h 1032"/>
              <a:gd name="T92" fmla="*/ 2147483647 w 1161"/>
              <a:gd name="T93" fmla="*/ 2147483647 h 1032"/>
              <a:gd name="T94" fmla="*/ 2147483647 w 1161"/>
              <a:gd name="T95" fmla="*/ 2147483647 h 1032"/>
              <a:gd name="T96" fmla="*/ 2147483647 w 1161"/>
              <a:gd name="T97" fmla="*/ 2147483647 h 10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1161"/>
              <a:gd name="T148" fmla="*/ 0 h 1032"/>
              <a:gd name="T149" fmla="*/ 1161 w 1161"/>
              <a:gd name="T150" fmla="*/ 1032 h 10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1161" h="1032">
                <a:moveTo>
                  <a:pt x="421" y="92"/>
                </a:moveTo>
                <a:lnTo>
                  <a:pt x="397" y="85"/>
                </a:lnTo>
                <a:lnTo>
                  <a:pt x="350" y="64"/>
                </a:lnTo>
                <a:lnTo>
                  <a:pt x="318" y="56"/>
                </a:lnTo>
                <a:lnTo>
                  <a:pt x="278" y="42"/>
                </a:lnTo>
                <a:lnTo>
                  <a:pt x="254" y="42"/>
                </a:lnTo>
                <a:lnTo>
                  <a:pt x="222" y="35"/>
                </a:lnTo>
                <a:lnTo>
                  <a:pt x="199" y="42"/>
                </a:lnTo>
                <a:lnTo>
                  <a:pt x="191" y="42"/>
                </a:lnTo>
                <a:lnTo>
                  <a:pt x="183" y="49"/>
                </a:lnTo>
                <a:lnTo>
                  <a:pt x="175" y="56"/>
                </a:lnTo>
                <a:lnTo>
                  <a:pt x="167" y="71"/>
                </a:lnTo>
                <a:lnTo>
                  <a:pt x="159" y="78"/>
                </a:lnTo>
                <a:lnTo>
                  <a:pt x="151" y="92"/>
                </a:lnTo>
                <a:lnTo>
                  <a:pt x="151" y="106"/>
                </a:lnTo>
                <a:lnTo>
                  <a:pt x="151" y="120"/>
                </a:lnTo>
                <a:lnTo>
                  <a:pt x="159" y="141"/>
                </a:lnTo>
                <a:lnTo>
                  <a:pt x="159" y="155"/>
                </a:lnTo>
                <a:lnTo>
                  <a:pt x="159" y="177"/>
                </a:lnTo>
                <a:lnTo>
                  <a:pt x="151" y="191"/>
                </a:lnTo>
                <a:lnTo>
                  <a:pt x="143" y="212"/>
                </a:lnTo>
                <a:lnTo>
                  <a:pt x="127" y="226"/>
                </a:lnTo>
                <a:lnTo>
                  <a:pt x="103" y="254"/>
                </a:lnTo>
                <a:lnTo>
                  <a:pt x="87" y="275"/>
                </a:lnTo>
                <a:lnTo>
                  <a:pt x="72" y="290"/>
                </a:lnTo>
                <a:lnTo>
                  <a:pt x="64" y="297"/>
                </a:lnTo>
                <a:lnTo>
                  <a:pt x="40" y="332"/>
                </a:lnTo>
                <a:lnTo>
                  <a:pt x="24" y="353"/>
                </a:lnTo>
                <a:lnTo>
                  <a:pt x="16" y="367"/>
                </a:lnTo>
                <a:lnTo>
                  <a:pt x="8" y="388"/>
                </a:lnTo>
                <a:lnTo>
                  <a:pt x="0" y="417"/>
                </a:lnTo>
                <a:lnTo>
                  <a:pt x="8" y="431"/>
                </a:lnTo>
                <a:lnTo>
                  <a:pt x="8" y="445"/>
                </a:lnTo>
                <a:lnTo>
                  <a:pt x="16" y="452"/>
                </a:lnTo>
                <a:lnTo>
                  <a:pt x="24" y="466"/>
                </a:lnTo>
                <a:lnTo>
                  <a:pt x="32" y="494"/>
                </a:lnTo>
                <a:lnTo>
                  <a:pt x="32" y="537"/>
                </a:lnTo>
                <a:lnTo>
                  <a:pt x="32" y="586"/>
                </a:lnTo>
                <a:lnTo>
                  <a:pt x="24" y="614"/>
                </a:lnTo>
                <a:lnTo>
                  <a:pt x="24" y="628"/>
                </a:lnTo>
                <a:lnTo>
                  <a:pt x="16" y="657"/>
                </a:lnTo>
                <a:lnTo>
                  <a:pt x="16" y="685"/>
                </a:lnTo>
                <a:lnTo>
                  <a:pt x="24" y="713"/>
                </a:lnTo>
                <a:lnTo>
                  <a:pt x="32" y="741"/>
                </a:lnTo>
                <a:lnTo>
                  <a:pt x="48" y="770"/>
                </a:lnTo>
                <a:lnTo>
                  <a:pt x="64" y="798"/>
                </a:lnTo>
                <a:lnTo>
                  <a:pt x="87" y="826"/>
                </a:lnTo>
                <a:lnTo>
                  <a:pt x="103" y="840"/>
                </a:lnTo>
                <a:lnTo>
                  <a:pt x="119" y="854"/>
                </a:lnTo>
                <a:lnTo>
                  <a:pt x="143" y="876"/>
                </a:lnTo>
                <a:lnTo>
                  <a:pt x="175" y="897"/>
                </a:lnTo>
                <a:lnTo>
                  <a:pt x="215" y="911"/>
                </a:lnTo>
                <a:lnTo>
                  <a:pt x="246" y="918"/>
                </a:lnTo>
                <a:lnTo>
                  <a:pt x="278" y="918"/>
                </a:lnTo>
                <a:lnTo>
                  <a:pt x="318" y="918"/>
                </a:lnTo>
                <a:lnTo>
                  <a:pt x="358" y="911"/>
                </a:lnTo>
                <a:lnTo>
                  <a:pt x="381" y="904"/>
                </a:lnTo>
                <a:lnTo>
                  <a:pt x="405" y="897"/>
                </a:lnTo>
                <a:lnTo>
                  <a:pt x="453" y="890"/>
                </a:lnTo>
                <a:lnTo>
                  <a:pt x="485" y="890"/>
                </a:lnTo>
                <a:lnTo>
                  <a:pt x="532" y="890"/>
                </a:lnTo>
                <a:lnTo>
                  <a:pt x="580" y="897"/>
                </a:lnTo>
                <a:lnTo>
                  <a:pt x="636" y="911"/>
                </a:lnTo>
                <a:lnTo>
                  <a:pt x="675" y="925"/>
                </a:lnTo>
                <a:lnTo>
                  <a:pt x="723" y="946"/>
                </a:lnTo>
                <a:lnTo>
                  <a:pt x="755" y="960"/>
                </a:lnTo>
                <a:lnTo>
                  <a:pt x="787" y="975"/>
                </a:lnTo>
                <a:lnTo>
                  <a:pt x="826" y="996"/>
                </a:lnTo>
                <a:lnTo>
                  <a:pt x="866" y="1010"/>
                </a:lnTo>
                <a:lnTo>
                  <a:pt x="906" y="1024"/>
                </a:lnTo>
                <a:lnTo>
                  <a:pt x="930" y="1031"/>
                </a:lnTo>
                <a:lnTo>
                  <a:pt x="953" y="1031"/>
                </a:lnTo>
                <a:lnTo>
                  <a:pt x="961" y="1031"/>
                </a:lnTo>
                <a:lnTo>
                  <a:pt x="969" y="1024"/>
                </a:lnTo>
                <a:lnTo>
                  <a:pt x="977" y="1017"/>
                </a:lnTo>
                <a:lnTo>
                  <a:pt x="985" y="1003"/>
                </a:lnTo>
                <a:lnTo>
                  <a:pt x="985" y="975"/>
                </a:lnTo>
                <a:lnTo>
                  <a:pt x="977" y="946"/>
                </a:lnTo>
                <a:lnTo>
                  <a:pt x="969" y="925"/>
                </a:lnTo>
                <a:lnTo>
                  <a:pt x="961" y="911"/>
                </a:lnTo>
                <a:lnTo>
                  <a:pt x="953" y="904"/>
                </a:lnTo>
                <a:lnTo>
                  <a:pt x="953" y="890"/>
                </a:lnTo>
                <a:lnTo>
                  <a:pt x="953" y="869"/>
                </a:lnTo>
                <a:lnTo>
                  <a:pt x="961" y="847"/>
                </a:lnTo>
                <a:lnTo>
                  <a:pt x="969" y="826"/>
                </a:lnTo>
                <a:lnTo>
                  <a:pt x="985" y="805"/>
                </a:lnTo>
                <a:lnTo>
                  <a:pt x="1009" y="777"/>
                </a:lnTo>
                <a:lnTo>
                  <a:pt x="1041" y="741"/>
                </a:lnTo>
                <a:lnTo>
                  <a:pt x="1057" y="727"/>
                </a:lnTo>
                <a:lnTo>
                  <a:pt x="1073" y="713"/>
                </a:lnTo>
                <a:lnTo>
                  <a:pt x="1104" y="678"/>
                </a:lnTo>
                <a:lnTo>
                  <a:pt x="1120" y="657"/>
                </a:lnTo>
                <a:lnTo>
                  <a:pt x="1144" y="621"/>
                </a:lnTo>
                <a:lnTo>
                  <a:pt x="1152" y="593"/>
                </a:lnTo>
                <a:lnTo>
                  <a:pt x="1160" y="572"/>
                </a:lnTo>
                <a:lnTo>
                  <a:pt x="1160" y="558"/>
                </a:lnTo>
                <a:lnTo>
                  <a:pt x="1152" y="537"/>
                </a:lnTo>
                <a:lnTo>
                  <a:pt x="1144" y="523"/>
                </a:lnTo>
                <a:lnTo>
                  <a:pt x="1136" y="508"/>
                </a:lnTo>
                <a:lnTo>
                  <a:pt x="1104" y="466"/>
                </a:lnTo>
                <a:lnTo>
                  <a:pt x="1073" y="445"/>
                </a:lnTo>
                <a:lnTo>
                  <a:pt x="1025" y="424"/>
                </a:lnTo>
                <a:lnTo>
                  <a:pt x="1001" y="417"/>
                </a:lnTo>
                <a:lnTo>
                  <a:pt x="993" y="417"/>
                </a:lnTo>
                <a:lnTo>
                  <a:pt x="969" y="403"/>
                </a:lnTo>
                <a:lnTo>
                  <a:pt x="961" y="388"/>
                </a:lnTo>
                <a:lnTo>
                  <a:pt x="961" y="374"/>
                </a:lnTo>
                <a:lnTo>
                  <a:pt x="961" y="346"/>
                </a:lnTo>
                <a:lnTo>
                  <a:pt x="969" y="325"/>
                </a:lnTo>
                <a:lnTo>
                  <a:pt x="985" y="290"/>
                </a:lnTo>
                <a:lnTo>
                  <a:pt x="1009" y="254"/>
                </a:lnTo>
                <a:lnTo>
                  <a:pt x="1025" y="233"/>
                </a:lnTo>
                <a:lnTo>
                  <a:pt x="1041" y="212"/>
                </a:lnTo>
                <a:lnTo>
                  <a:pt x="1057" y="184"/>
                </a:lnTo>
                <a:lnTo>
                  <a:pt x="1073" y="155"/>
                </a:lnTo>
                <a:lnTo>
                  <a:pt x="1081" y="127"/>
                </a:lnTo>
                <a:lnTo>
                  <a:pt x="1081" y="113"/>
                </a:lnTo>
                <a:lnTo>
                  <a:pt x="1073" y="99"/>
                </a:lnTo>
                <a:lnTo>
                  <a:pt x="1049" y="85"/>
                </a:lnTo>
                <a:lnTo>
                  <a:pt x="1033" y="85"/>
                </a:lnTo>
                <a:lnTo>
                  <a:pt x="1017" y="85"/>
                </a:lnTo>
                <a:lnTo>
                  <a:pt x="1001" y="85"/>
                </a:lnTo>
                <a:lnTo>
                  <a:pt x="969" y="85"/>
                </a:lnTo>
                <a:lnTo>
                  <a:pt x="945" y="85"/>
                </a:lnTo>
                <a:lnTo>
                  <a:pt x="922" y="78"/>
                </a:lnTo>
                <a:lnTo>
                  <a:pt x="898" y="71"/>
                </a:lnTo>
                <a:lnTo>
                  <a:pt x="866" y="56"/>
                </a:lnTo>
                <a:lnTo>
                  <a:pt x="842" y="42"/>
                </a:lnTo>
                <a:lnTo>
                  <a:pt x="826" y="28"/>
                </a:lnTo>
                <a:lnTo>
                  <a:pt x="818" y="21"/>
                </a:lnTo>
                <a:lnTo>
                  <a:pt x="810" y="14"/>
                </a:lnTo>
                <a:lnTo>
                  <a:pt x="802" y="7"/>
                </a:lnTo>
                <a:lnTo>
                  <a:pt x="795" y="7"/>
                </a:lnTo>
                <a:lnTo>
                  <a:pt x="771" y="0"/>
                </a:lnTo>
                <a:lnTo>
                  <a:pt x="763" y="0"/>
                </a:lnTo>
                <a:lnTo>
                  <a:pt x="739" y="0"/>
                </a:lnTo>
                <a:lnTo>
                  <a:pt x="715" y="0"/>
                </a:lnTo>
                <a:lnTo>
                  <a:pt x="699" y="0"/>
                </a:lnTo>
                <a:lnTo>
                  <a:pt x="659" y="7"/>
                </a:lnTo>
                <a:lnTo>
                  <a:pt x="636" y="14"/>
                </a:lnTo>
                <a:lnTo>
                  <a:pt x="604" y="21"/>
                </a:lnTo>
                <a:lnTo>
                  <a:pt x="580" y="28"/>
                </a:lnTo>
                <a:lnTo>
                  <a:pt x="540" y="42"/>
                </a:lnTo>
                <a:lnTo>
                  <a:pt x="508" y="49"/>
                </a:lnTo>
                <a:lnTo>
                  <a:pt x="469" y="64"/>
                </a:lnTo>
                <a:lnTo>
                  <a:pt x="421" y="85"/>
                </a:lnTo>
                <a:lnTo>
                  <a:pt x="405" y="92"/>
                </a:lnTo>
                <a:lnTo>
                  <a:pt x="421" y="92"/>
                </a:lnTo>
              </a:path>
            </a:pathLst>
          </a:custGeom>
          <a:pattFill prst="pct10">
            <a:fgClr>
              <a:srgbClr val="000000"/>
            </a:fgClr>
            <a:bgClr>
              <a:srgbClr val="FFFF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0055" name="Freeform 7"/>
          <p:cNvSpPr>
            <a:spLocks/>
          </p:cNvSpPr>
          <p:nvPr/>
        </p:nvSpPr>
        <p:spPr bwMode="auto">
          <a:xfrm>
            <a:off x="3759200" y="3391496"/>
            <a:ext cx="1855788" cy="1855589"/>
          </a:xfrm>
          <a:custGeom>
            <a:avLst/>
            <a:gdLst/>
            <a:ahLst/>
            <a:cxnLst>
              <a:cxn ang="0">
                <a:pos x="352" y="64"/>
              </a:cxn>
              <a:cxn ang="0">
                <a:pos x="256" y="43"/>
              </a:cxn>
              <a:cxn ang="0">
                <a:pos x="192" y="43"/>
              </a:cxn>
              <a:cxn ang="0">
                <a:pos x="168" y="71"/>
              </a:cxn>
              <a:cxn ang="0">
                <a:pos x="152" y="107"/>
              </a:cxn>
              <a:cxn ang="0">
                <a:pos x="160" y="156"/>
              </a:cxn>
              <a:cxn ang="0">
                <a:pos x="144" y="213"/>
              </a:cxn>
              <a:cxn ang="0">
                <a:pos x="88" y="277"/>
              </a:cxn>
              <a:cxn ang="0">
                <a:pos x="40" y="334"/>
              </a:cxn>
              <a:cxn ang="0">
                <a:pos x="8" y="391"/>
              </a:cxn>
              <a:cxn ang="0">
                <a:pos x="8" y="448"/>
              </a:cxn>
              <a:cxn ang="0">
                <a:pos x="32" y="498"/>
              </a:cxn>
              <a:cxn ang="0">
                <a:pos x="24" y="619"/>
              </a:cxn>
              <a:cxn ang="0">
                <a:pos x="16" y="690"/>
              </a:cxn>
              <a:cxn ang="0">
                <a:pos x="48" y="775"/>
              </a:cxn>
              <a:cxn ang="0">
                <a:pos x="104" y="846"/>
              </a:cxn>
              <a:cxn ang="0">
                <a:pos x="176" y="903"/>
              </a:cxn>
              <a:cxn ang="0">
                <a:pos x="280" y="924"/>
              </a:cxn>
              <a:cxn ang="0">
                <a:pos x="384" y="910"/>
              </a:cxn>
              <a:cxn ang="0">
                <a:pos x="488" y="896"/>
              </a:cxn>
              <a:cxn ang="0">
                <a:pos x="640" y="917"/>
              </a:cxn>
              <a:cxn ang="0">
                <a:pos x="760" y="967"/>
              </a:cxn>
              <a:cxn ang="0">
                <a:pos x="872" y="1017"/>
              </a:cxn>
              <a:cxn ang="0">
                <a:pos x="960" y="1038"/>
              </a:cxn>
              <a:cxn ang="0">
                <a:pos x="984" y="1024"/>
              </a:cxn>
              <a:cxn ang="0">
                <a:pos x="984" y="953"/>
              </a:cxn>
              <a:cxn ang="0">
                <a:pos x="960" y="910"/>
              </a:cxn>
              <a:cxn ang="0">
                <a:pos x="968" y="853"/>
              </a:cxn>
              <a:cxn ang="0">
                <a:pos x="1016" y="782"/>
              </a:cxn>
              <a:cxn ang="0">
                <a:pos x="1080" y="718"/>
              </a:cxn>
              <a:cxn ang="0">
                <a:pos x="1152" y="626"/>
              </a:cxn>
              <a:cxn ang="0">
                <a:pos x="1168" y="562"/>
              </a:cxn>
              <a:cxn ang="0">
                <a:pos x="1144" y="512"/>
              </a:cxn>
              <a:cxn ang="0">
                <a:pos x="1032" y="427"/>
              </a:cxn>
              <a:cxn ang="0">
                <a:pos x="976" y="405"/>
              </a:cxn>
              <a:cxn ang="0">
                <a:pos x="968" y="348"/>
              </a:cxn>
              <a:cxn ang="0">
                <a:pos x="1016" y="256"/>
              </a:cxn>
              <a:cxn ang="0">
                <a:pos x="1064" y="185"/>
              </a:cxn>
              <a:cxn ang="0">
                <a:pos x="1088" y="114"/>
              </a:cxn>
              <a:cxn ang="0">
                <a:pos x="1040" y="85"/>
              </a:cxn>
              <a:cxn ang="0">
                <a:pos x="976" y="85"/>
              </a:cxn>
              <a:cxn ang="0">
                <a:pos x="904" y="71"/>
              </a:cxn>
              <a:cxn ang="0">
                <a:pos x="832" y="28"/>
              </a:cxn>
              <a:cxn ang="0">
                <a:pos x="808" y="7"/>
              </a:cxn>
              <a:cxn ang="0">
                <a:pos x="768" y="0"/>
              </a:cxn>
              <a:cxn ang="0">
                <a:pos x="704" y="0"/>
              </a:cxn>
              <a:cxn ang="0">
                <a:pos x="608" y="21"/>
              </a:cxn>
              <a:cxn ang="0">
                <a:pos x="512" y="50"/>
              </a:cxn>
              <a:cxn ang="0">
                <a:pos x="408" y="92"/>
              </a:cxn>
            </a:cxnLst>
            <a:rect l="0" t="0" r="r" b="b"/>
            <a:pathLst>
              <a:path w="1169" h="1039">
                <a:moveTo>
                  <a:pt x="424" y="92"/>
                </a:moveTo>
                <a:lnTo>
                  <a:pt x="400" y="85"/>
                </a:lnTo>
                <a:lnTo>
                  <a:pt x="352" y="64"/>
                </a:lnTo>
                <a:lnTo>
                  <a:pt x="320" y="57"/>
                </a:lnTo>
                <a:lnTo>
                  <a:pt x="280" y="43"/>
                </a:lnTo>
                <a:lnTo>
                  <a:pt x="256" y="43"/>
                </a:lnTo>
                <a:lnTo>
                  <a:pt x="224" y="36"/>
                </a:lnTo>
                <a:lnTo>
                  <a:pt x="200" y="43"/>
                </a:lnTo>
                <a:lnTo>
                  <a:pt x="192" y="43"/>
                </a:lnTo>
                <a:lnTo>
                  <a:pt x="184" y="50"/>
                </a:lnTo>
                <a:lnTo>
                  <a:pt x="176" y="57"/>
                </a:lnTo>
                <a:lnTo>
                  <a:pt x="168" y="71"/>
                </a:lnTo>
                <a:lnTo>
                  <a:pt x="160" y="78"/>
                </a:lnTo>
                <a:lnTo>
                  <a:pt x="152" y="92"/>
                </a:lnTo>
                <a:lnTo>
                  <a:pt x="152" y="107"/>
                </a:lnTo>
                <a:lnTo>
                  <a:pt x="152" y="121"/>
                </a:lnTo>
                <a:lnTo>
                  <a:pt x="160" y="142"/>
                </a:lnTo>
                <a:lnTo>
                  <a:pt x="160" y="156"/>
                </a:lnTo>
                <a:lnTo>
                  <a:pt x="160" y="178"/>
                </a:lnTo>
                <a:lnTo>
                  <a:pt x="152" y="192"/>
                </a:lnTo>
                <a:lnTo>
                  <a:pt x="144" y="213"/>
                </a:lnTo>
                <a:lnTo>
                  <a:pt x="128" y="228"/>
                </a:lnTo>
                <a:lnTo>
                  <a:pt x="104" y="256"/>
                </a:lnTo>
                <a:lnTo>
                  <a:pt x="88" y="277"/>
                </a:lnTo>
                <a:lnTo>
                  <a:pt x="72" y="291"/>
                </a:lnTo>
                <a:lnTo>
                  <a:pt x="64" y="299"/>
                </a:lnTo>
                <a:lnTo>
                  <a:pt x="40" y="334"/>
                </a:lnTo>
                <a:lnTo>
                  <a:pt x="24" y="355"/>
                </a:lnTo>
                <a:lnTo>
                  <a:pt x="16" y="370"/>
                </a:lnTo>
                <a:lnTo>
                  <a:pt x="8" y="391"/>
                </a:lnTo>
                <a:lnTo>
                  <a:pt x="0" y="419"/>
                </a:lnTo>
                <a:lnTo>
                  <a:pt x="8" y="434"/>
                </a:lnTo>
                <a:lnTo>
                  <a:pt x="8" y="448"/>
                </a:lnTo>
                <a:lnTo>
                  <a:pt x="16" y="455"/>
                </a:lnTo>
                <a:lnTo>
                  <a:pt x="24" y="469"/>
                </a:lnTo>
                <a:lnTo>
                  <a:pt x="32" y="498"/>
                </a:lnTo>
                <a:lnTo>
                  <a:pt x="32" y="540"/>
                </a:lnTo>
                <a:lnTo>
                  <a:pt x="32" y="590"/>
                </a:lnTo>
                <a:lnTo>
                  <a:pt x="24" y="619"/>
                </a:lnTo>
                <a:lnTo>
                  <a:pt x="24" y="633"/>
                </a:lnTo>
                <a:lnTo>
                  <a:pt x="16" y="661"/>
                </a:lnTo>
                <a:lnTo>
                  <a:pt x="16" y="690"/>
                </a:lnTo>
                <a:lnTo>
                  <a:pt x="24" y="718"/>
                </a:lnTo>
                <a:lnTo>
                  <a:pt x="32" y="747"/>
                </a:lnTo>
                <a:lnTo>
                  <a:pt x="48" y="775"/>
                </a:lnTo>
                <a:lnTo>
                  <a:pt x="64" y="803"/>
                </a:lnTo>
                <a:lnTo>
                  <a:pt x="88" y="832"/>
                </a:lnTo>
                <a:lnTo>
                  <a:pt x="104" y="846"/>
                </a:lnTo>
                <a:lnTo>
                  <a:pt x="120" y="860"/>
                </a:lnTo>
                <a:lnTo>
                  <a:pt x="144" y="882"/>
                </a:lnTo>
                <a:lnTo>
                  <a:pt x="176" y="903"/>
                </a:lnTo>
                <a:lnTo>
                  <a:pt x="216" y="917"/>
                </a:lnTo>
                <a:lnTo>
                  <a:pt x="248" y="924"/>
                </a:lnTo>
                <a:lnTo>
                  <a:pt x="280" y="924"/>
                </a:lnTo>
                <a:lnTo>
                  <a:pt x="320" y="924"/>
                </a:lnTo>
                <a:lnTo>
                  <a:pt x="360" y="917"/>
                </a:lnTo>
                <a:lnTo>
                  <a:pt x="384" y="910"/>
                </a:lnTo>
                <a:lnTo>
                  <a:pt x="408" y="903"/>
                </a:lnTo>
                <a:lnTo>
                  <a:pt x="456" y="896"/>
                </a:lnTo>
                <a:lnTo>
                  <a:pt x="488" y="896"/>
                </a:lnTo>
                <a:lnTo>
                  <a:pt x="536" y="896"/>
                </a:lnTo>
                <a:lnTo>
                  <a:pt x="584" y="903"/>
                </a:lnTo>
                <a:lnTo>
                  <a:pt x="640" y="917"/>
                </a:lnTo>
                <a:lnTo>
                  <a:pt x="680" y="931"/>
                </a:lnTo>
                <a:lnTo>
                  <a:pt x="728" y="953"/>
                </a:lnTo>
                <a:lnTo>
                  <a:pt x="760" y="967"/>
                </a:lnTo>
                <a:lnTo>
                  <a:pt x="792" y="981"/>
                </a:lnTo>
                <a:lnTo>
                  <a:pt x="832" y="1002"/>
                </a:lnTo>
                <a:lnTo>
                  <a:pt x="872" y="1017"/>
                </a:lnTo>
                <a:lnTo>
                  <a:pt x="912" y="1031"/>
                </a:lnTo>
                <a:lnTo>
                  <a:pt x="936" y="1038"/>
                </a:lnTo>
                <a:lnTo>
                  <a:pt x="960" y="1038"/>
                </a:lnTo>
                <a:lnTo>
                  <a:pt x="968" y="1038"/>
                </a:lnTo>
                <a:lnTo>
                  <a:pt x="976" y="1031"/>
                </a:lnTo>
                <a:lnTo>
                  <a:pt x="984" y="1024"/>
                </a:lnTo>
                <a:lnTo>
                  <a:pt x="992" y="1010"/>
                </a:lnTo>
                <a:lnTo>
                  <a:pt x="992" y="981"/>
                </a:lnTo>
                <a:lnTo>
                  <a:pt x="984" y="953"/>
                </a:lnTo>
                <a:lnTo>
                  <a:pt x="976" y="931"/>
                </a:lnTo>
                <a:lnTo>
                  <a:pt x="968" y="917"/>
                </a:lnTo>
                <a:lnTo>
                  <a:pt x="960" y="910"/>
                </a:lnTo>
                <a:lnTo>
                  <a:pt x="960" y="896"/>
                </a:lnTo>
                <a:lnTo>
                  <a:pt x="960" y="874"/>
                </a:lnTo>
                <a:lnTo>
                  <a:pt x="968" y="853"/>
                </a:lnTo>
                <a:lnTo>
                  <a:pt x="976" y="832"/>
                </a:lnTo>
                <a:lnTo>
                  <a:pt x="992" y="810"/>
                </a:lnTo>
                <a:lnTo>
                  <a:pt x="1016" y="782"/>
                </a:lnTo>
                <a:lnTo>
                  <a:pt x="1048" y="747"/>
                </a:lnTo>
                <a:lnTo>
                  <a:pt x="1064" y="732"/>
                </a:lnTo>
                <a:lnTo>
                  <a:pt x="1080" y="718"/>
                </a:lnTo>
                <a:lnTo>
                  <a:pt x="1112" y="683"/>
                </a:lnTo>
                <a:lnTo>
                  <a:pt x="1128" y="661"/>
                </a:lnTo>
                <a:lnTo>
                  <a:pt x="1152" y="626"/>
                </a:lnTo>
                <a:lnTo>
                  <a:pt x="1160" y="597"/>
                </a:lnTo>
                <a:lnTo>
                  <a:pt x="1168" y="576"/>
                </a:lnTo>
                <a:lnTo>
                  <a:pt x="1168" y="562"/>
                </a:lnTo>
                <a:lnTo>
                  <a:pt x="1160" y="540"/>
                </a:lnTo>
                <a:lnTo>
                  <a:pt x="1152" y="526"/>
                </a:lnTo>
                <a:lnTo>
                  <a:pt x="1144" y="512"/>
                </a:lnTo>
                <a:lnTo>
                  <a:pt x="1112" y="469"/>
                </a:lnTo>
                <a:lnTo>
                  <a:pt x="1080" y="448"/>
                </a:lnTo>
                <a:lnTo>
                  <a:pt x="1032" y="427"/>
                </a:lnTo>
                <a:lnTo>
                  <a:pt x="1008" y="419"/>
                </a:lnTo>
                <a:lnTo>
                  <a:pt x="1000" y="419"/>
                </a:lnTo>
                <a:lnTo>
                  <a:pt x="976" y="405"/>
                </a:lnTo>
                <a:lnTo>
                  <a:pt x="968" y="391"/>
                </a:lnTo>
                <a:lnTo>
                  <a:pt x="968" y="377"/>
                </a:lnTo>
                <a:lnTo>
                  <a:pt x="968" y="348"/>
                </a:lnTo>
                <a:lnTo>
                  <a:pt x="976" y="327"/>
                </a:lnTo>
                <a:lnTo>
                  <a:pt x="992" y="291"/>
                </a:lnTo>
                <a:lnTo>
                  <a:pt x="1016" y="256"/>
                </a:lnTo>
                <a:lnTo>
                  <a:pt x="1032" y="235"/>
                </a:lnTo>
                <a:lnTo>
                  <a:pt x="1048" y="213"/>
                </a:lnTo>
                <a:lnTo>
                  <a:pt x="1064" y="185"/>
                </a:lnTo>
                <a:lnTo>
                  <a:pt x="1080" y="156"/>
                </a:lnTo>
                <a:lnTo>
                  <a:pt x="1088" y="128"/>
                </a:lnTo>
                <a:lnTo>
                  <a:pt x="1088" y="114"/>
                </a:lnTo>
                <a:lnTo>
                  <a:pt x="1080" y="100"/>
                </a:lnTo>
                <a:lnTo>
                  <a:pt x="1056" y="85"/>
                </a:lnTo>
                <a:lnTo>
                  <a:pt x="1040" y="85"/>
                </a:lnTo>
                <a:lnTo>
                  <a:pt x="1024" y="85"/>
                </a:lnTo>
                <a:lnTo>
                  <a:pt x="1008" y="85"/>
                </a:lnTo>
                <a:lnTo>
                  <a:pt x="976" y="85"/>
                </a:lnTo>
                <a:lnTo>
                  <a:pt x="952" y="85"/>
                </a:lnTo>
                <a:lnTo>
                  <a:pt x="928" y="78"/>
                </a:lnTo>
                <a:lnTo>
                  <a:pt x="904" y="71"/>
                </a:lnTo>
                <a:lnTo>
                  <a:pt x="872" y="57"/>
                </a:lnTo>
                <a:lnTo>
                  <a:pt x="848" y="43"/>
                </a:lnTo>
                <a:lnTo>
                  <a:pt x="832" y="28"/>
                </a:lnTo>
                <a:lnTo>
                  <a:pt x="824" y="21"/>
                </a:lnTo>
                <a:lnTo>
                  <a:pt x="816" y="14"/>
                </a:lnTo>
                <a:lnTo>
                  <a:pt x="808" y="7"/>
                </a:lnTo>
                <a:lnTo>
                  <a:pt x="800" y="7"/>
                </a:lnTo>
                <a:lnTo>
                  <a:pt x="776" y="0"/>
                </a:lnTo>
                <a:lnTo>
                  <a:pt x="768" y="0"/>
                </a:lnTo>
                <a:lnTo>
                  <a:pt x="744" y="0"/>
                </a:lnTo>
                <a:lnTo>
                  <a:pt x="720" y="0"/>
                </a:lnTo>
                <a:lnTo>
                  <a:pt x="704" y="0"/>
                </a:lnTo>
                <a:lnTo>
                  <a:pt x="664" y="7"/>
                </a:lnTo>
                <a:lnTo>
                  <a:pt x="640" y="14"/>
                </a:lnTo>
                <a:lnTo>
                  <a:pt x="608" y="21"/>
                </a:lnTo>
                <a:lnTo>
                  <a:pt x="584" y="28"/>
                </a:lnTo>
                <a:lnTo>
                  <a:pt x="544" y="43"/>
                </a:lnTo>
                <a:lnTo>
                  <a:pt x="512" y="50"/>
                </a:lnTo>
                <a:lnTo>
                  <a:pt x="472" y="64"/>
                </a:lnTo>
                <a:lnTo>
                  <a:pt x="424" y="85"/>
                </a:lnTo>
                <a:lnTo>
                  <a:pt x="408" y="92"/>
                </a:lnTo>
              </a:path>
            </a:pathLst>
          </a:custGeom>
          <a:solidFill>
            <a:schemeClr val="accent2"/>
          </a:solidFill>
          <a:ln w="25400" cap="rnd" cmpd="sng">
            <a:noFill/>
            <a:prstDash val="solid"/>
            <a:round/>
            <a:headEnd type="none" w="med" len="med"/>
            <a:tailEnd type="triangl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3" name="Rectangle 8" descr="25%"/>
          <p:cNvSpPr>
            <a:spLocks noChangeArrowheads="1"/>
          </p:cNvSpPr>
          <p:nvPr/>
        </p:nvSpPr>
        <p:spPr bwMode="auto">
          <a:xfrm>
            <a:off x="3403600" y="2209205"/>
            <a:ext cx="2501900" cy="648295"/>
          </a:xfrm>
          <a:prstGeom prst="rect">
            <a:avLst/>
          </a:prstGeom>
          <a:pattFill prst="pct25">
            <a:fgClr>
              <a:srgbClr val="000000"/>
            </a:fgClr>
            <a:bgClr>
              <a:srgbClr val="FFFF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" name="Rectangle 9"/>
          <p:cNvSpPr>
            <a:spLocks noChangeArrowheads="1"/>
          </p:cNvSpPr>
          <p:nvPr/>
        </p:nvSpPr>
        <p:spPr bwMode="auto">
          <a:xfrm>
            <a:off x="3403600" y="2210991"/>
            <a:ext cx="2501900" cy="64472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70058" name="Rectangle 10"/>
          <p:cNvSpPr>
            <a:spLocks noChangeArrowheads="1"/>
          </p:cNvSpPr>
          <p:nvPr/>
        </p:nvSpPr>
        <p:spPr bwMode="auto">
          <a:xfrm>
            <a:off x="3490914" y="2168129"/>
            <a:ext cx="1138388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controlled</a:t>
            </a:r>
          </a:p>
          <a:p>
            <a:pPr>
              <a:lnSpc>
                <a:spcPct val="100000"/>
              </a:lnSpc>
              <a:defRPr/>
            </a:pPr>
            <a:endParaRPr lang="en-US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70059" name="Rectangle 11"/>
          <p:cNvSpPr>
            <a:spLocks noChangeArrowheads="1"/>
          </p:cNvSpPr>
          <p:nvPr/>
        </p:nvSpPr>
        <p:spPr bwMode="auto">
          <a:xfrm>
            <a:off x="3516314" y="2409231"/>
            <a:ext cx="1015213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interface</a:t>
            </a:r>
          </a:p>
        </p:txBody>
      </p:sp>
      <p:sp>
        <p:nvSpPr>
          <p:cNvPr id="770060" name="Rectangle 12"/>
          <p:cNvSpPr>
            <a:spLocks noChangeArrowheads="1"/>
          </p:cNvSpPr>
          <p:nvPr/>
        </p:nvSpPr>
        <p:spPr bwMode="auto">
          <a:xfrm>
            <a:off x="3859213" y="3970140"/>
            <a:ext cx="939936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"secret"</a:t>
            </a:r>
          </a:p>
        </p:txBody>
      </p:sp>
      <p:sp>
        <p:nvSpPr>
          <p:cNvPr id="770061" name="Rectangle 13"/>
          <p:cNvSpPr>
            <a:spLocks noChangeArrowheads="1"/>
          </p:cNvSpPr>
          <p:nvPr/>
        </p:nvSpPr>
        <p:spPr bwMode="auto">
          <a:xfrm>
            <a:off x="4762500" y="1855590"/>
            <a:ext cx="3441700" cy="2003822"/>
          </a:xfrm>
          <a:prstGeom prst="rect">
            <a:avLst/>
          </a:prstGeom>
          <a:solidFill>
            <a:srgbClr val="790015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70062" name="Rectangle 14"/>
          <p:cNvSpPr>
            <a:spLocks noChangeArrowheads="1"/>
          </p:cNvSpPr>
          <p:nvPr/>
        </p:nvSpPr>
        <p:spPr bwMode="auto">
          <a:xfrm>
            <a:off x="4837113" y="1912740"/>
            <a:ext cx="1312859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•  algorithm</a:t>
            </a:r>
          </a:p>
          <a:p>
            <a:pPr>
              <a:lnSpc>
                <a:spcPct val="100000"/>
              </a:lnSpc>
              <a:defRPr/>
            </a:pPr>
            <a:endParaRPr lang="en-US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70063" name="Rectangle 15"/>
          <p:cNvSpPr>
            <a:spLocks noChangeArrowheads="1"/>
          </p:cNvSpPr>
          <p:nvPr/>
        </p:nvSpPr>
        <p:spPr bwMode="auto">
          <a:xfrm>
            <a:off x="4837114" y="2141340"/>
            <a:ext cx="182806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endParaRPr lang="en-US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100000"/>
              </a:lnSpc>
              <a:defRPr/>
            </a:pPr>
            <a:endParaRPr lang="en-US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70064" name="Rectangle 16"/>
          <p:cNvSpPr>
            <a:spLocks noChangeArrowheads="1"/>
          </p:cNvSpPr>
          <p:nvPr/>
        </p:nvSpPr>
        <p:spPr bwMode="auto">
          <a:xfrm>
            <a:off x="4837113" y="2369940"/>
            <a:ext cx="1727138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•  data structure</a:t>
            </a:r>
          </a:p>
          <a:p>
            <a:pPr>
              <a:lnSpc>
                <a:spcPct val="100000"/>
              </a:lnSpc>
              <a:defRPr/>
            </a:pPr>
            <a:endParaRPr lang="en-US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70065" name="Rectangle 17"/>
          <p:cNvSpPr>
            <a:spLocks noChangeArrowheads="1"/>
          </p:cNvSpPr>
          <p:nvPr/>
        </p:nvSpPr>
        <p:spPr bwMode="auto">
          <a:xfrm>
            <a:off x="4837114" y="2598540"/>
            <a:ext cx="182806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endParaRPr lang="en-US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100000"/>
              </a:lnSpc>
              <a:defRPr/>
            </a:pPr>
            <a:endParaRPr lang="en-US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70066" name="Rectangle 18"/>
          <p:cNvSpPr>
            <a:spLocks noChangeArrowheads="1"/>
          </p:cNvSpPr>
          <p:nvPr/>
        </p:nvSpPr>
        <p:spPr bwMode="auto">
          <a:xfrm>
            <a:off x="4837114" y="2827140"/>
            <a:ext cx="2971197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•  details of external interface</a:t>
            </a:r>
          </a:p>
          <a:p>
            <a:pPr>
              <a:lnSpc>
                <a:spcPct val="100000"/>
              </a:lnSpc>
              <a:defRPr/>
            </a:pPr>
            <a:endParaRPr lang="en-US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70067" name="Rectangle 19"/>
          <p:cNvSpPr>
            <a:spLocks noChangeArrowheads="1"/>
          </p:cNvSpPr>
          <p:nvPr/>
        </p:nvSpPr>
        <p:spPr bwMode="auto">
          <a:xfrm>
            <a:off x="4837114" y="3055740"/>
            <a:ext cx="182806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endParaRPr lang="en-US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100000"/>
              </a:lnSpc>
              <a:defRPr/>
            </a:pPr>
            <a:endParaRPr lang="en-US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70068" name="Rectangle 20"/>
          <p:cNvSpPr>
            <a:spLocks noChangeArrowheads="1"/>
          </p:cNvSpPr>
          <p:nvPr/>
        </p:nvSpPr>
        <p:spPr bwMode="auto">
          <a:xfrm>
            <a:off x="4837114" y="3284340"/>
            <a:ext cx="2793200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•  resource allocation policy</a:t>
            </a:r>
          </a:p>
        </p:txBody>
      </p:sp>
      <p:sp>
        <p:nvSpPr>
          <p:cNvPr id="11286" name="Rectangle 21"/>
          <p:cNvSpPr>
            <a:spLocks noChangeArrowheads="1"/>
          </p:cNvSpPr>
          <p:nvPr/>
        </p:nvSpPr>
        <p:spPr bwMode="auto">
          <a:xfrm>
            <a:off x="1524000" y="1727003"/>
            <a:ext cx="838200" cy="787598"/>
          </a:xfrm>
          <a:prstGeom prst="rect">
            <a:avLst/>
          </a:prstGeom>
          <a:solidFill>
            <a:srgbClr val="3C0023"/>
          </a:solidFill>
          <a:ln>
            <a:noFill/>
          </a:ln>
          <a:extLst>
            <a:ext uri="{91240B29-F687-4F45-9708-019B960494DF}">
              <a14:hiddenLine xmlns:a14="http://schemas.microsoft.com/office/drawing/2010/main" w="1270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7" name="Rectangle 22"/>
          <p:cNvSpPr>
            <a:spLocks noChangeArrowheads="1"/>
          </p:cNvSpPr>
          <p:nvPr/>
        </p:nvSpPr>
        <p:spPr bwMode="auto">
          <a:xfrm>
            <a:off x="1524000" y="1728788"/>
            <a:ext cx="838200" cy="784027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8" name="Rectangle 23"/>
          <p:cNvSpPr>
            <a:spLocks noChangeArrowheads="1"/>
          </p:cNvSpPr>
          <p:nvPr/>
        </p:nvSpPr>
        <p:spPr bwMode="auto">
          <a:xfrm>
            <a:off x="1803400" y="2019896"/>
            <a:ext cx="850900" cy="787598"/>
          </a:xfrm>
          <a:prstGeom prst="rect">
            <a:avLst/>
          </a:prstGeom>
          <a:solidFill>
            <a:srgbClr val="6E0043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9" name="Rectangle 24"/>
          <p:cNvSpPr>
            <a:spLocks noChangeArrowheads="1"/>
          </p:cNvSpPr>
          <p:nvPr/>
        </p:nvSpPr>
        <p:spPr bwMode="auto">
          <a:xfrm>
            <a:off x="1803400" y="2021682"/>
            <a:ext cx="850900" cy="784027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0" name="Rectangle 25"/>
          <p:cNvSpPr>
            <a:spLocks noChangeArrowheads="1"/>
          </p:cNvSpPr>
          <p:nvPr/>
        </p:nvSpPr>
        <p:spPr bwMode="auto">
          <a:xfrm>
            <a:off x="1384300" y="2412803"/>
            <a:ext cx="838200" cy="787598"/>
          </a:xfrm>
          <a:prstGeom prst="rect">
            <a:avLst/>
          </a:prstGeom>
          <a:solidFill>
            <a:srgbClr val="B5006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1" name="Rectangle 26"/>
          <p:cNvSpPr>
            <a:spLocks noChangeArrowheads="1"/>
          </p:cNvSpPr>
          <p:nvPr/>
        </p:nvSpPr>
        <p:spPr bwMode="auto">
          <a:xfrm>
            <a:off x="1384300" y="2414588"/>
            <a:ext cx="838200" cy="784027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2" name="Rectangle 27"/>
          <p:cNvSpPr>
            <a:spLocks noChangeArrowheads="1"/>
          </p:cNvSpPr>
          <p:nvPr/>
        </p:nvSpPr>
        <p:spPr bwMode="auto">
          <a:xfrm>
            <a:off x="1955800" y="2984303"/>
            <a:ext cx="838200" cy="787598"/>
          </a:xfrm>
          <a:prstGeom prst="rect">
            <a:avLst/>
          </a:prstGeom>
          <a:solidFill>
            <a:srgbClr val="D9319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3" name="Rectangle 28"/>
          <p:cNvSpPr>
            <a:spLocks noChangeArrowheads="1"/>
          </p:cNvSpPr>
          <p:nvPr/>
        </p:nvSpPr>
        <p:spPr bwMode="auto">
          <a:xfrm>
            <a:off x="1955800" y="2986088"/>
            <a:ext cx="838200" cy="784027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0077" name="Rectangle 29"/>
          <p:cNvSpPr>
            <a:spLocks noChangeArrowheads="1"/>
          </p:cNvSpPr>
          <p:nvPr/>
        </p:nvSpPr>
        <p:spPr bwMode="auto">
          <a:xfrm>
            <a:off x="1636714" y="3766543"/>
            <a:ext cx="989372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clients</a:t>
            </a:r>
          </a:p>
        </p:txBody>
      </p:sp>
      <p:sp>
        <p:nvSpPr>
          <p:cNvPr id="770078" name="Rectangle 30"/>
          <p:cNvSpPr>
            <a:spLocks noChangeArrowheads="1"/>
          </p:cNvSpPr>
          <p:nvPr/>
        </p:nvSpPr>
        <p:spPr bwMode="auto">
          <a:xfrm>
            <a:off x="1751013" y="5507831"/>
            <a:ext cx="2515111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i="1">
                <a:effectLst>
                  <a:outerShdw blurRad="38100" dist="38100" dir="2700000" algn="tl">
                    <a:srgbClr val="000000"/>
                  </a:outerShdw>
                </a:effectLst>
              </a:rPr>
              <a:t>a specific design decision</a:t>
            </a:r>
          </a:p>
        </p:txBody>
      </p:sp>
      <p:sp>
        <p:nvSpPr>
          <p:cNvPr id="11296" name="Line 31"/>
          <p:cNvSpPr>
            <a:spLocks noChangeShapeType="1"/>
          </p:cNvSpPr>
          <p:nvPr/>
        </p:nvSpPr>
        <p:spPr bwMode="auto">
          <a:xfrm flipH="1">
            <a:off x="3771900" y="4446984"/>
            <a:ext cx="787400" cy="1114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7" name="Line 32"/>
          <p:cNvSpPr>
            <a:spLocks noChangeShapeType="1"/>
          </p:cNvSpPr>
          <p:nvPr/>
        </p:nvSpPr>
        <p:spPr bwMode="auto">
          <a:xfrm>
            <a:off x="2819400" y="2403872"/>
            <a:ext cx="711200" cy="44649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8" name="Line 33"/>
          <p:cNvSpPr>
            <a:spLocks noChangeShapeType="1"/>
          </p:cNvSpPr>
          <p:nvPr/>
        </p:nvSpPr>
        <p:spPr bwMode="auto">
          <a:xfrm>
            <a:off x="2451100" y="1959175"/>
            <a:ext cx="990600" cy="310753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9" name="Line 34"/>
          <p:cNvSpPr>
            <a:spLocks noChangeShapeType="1"/>
          </p:cNvSpPr>
          <p:nvPr/>
        </p:nvSpPr>
        <p:spPr bwMode="auto">
          <a:xfrm flipV="1">
            <a:off x="2336800" y="2628900"/>
            <a:ext cx="1117600" cy="1143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00" name="Line 35"/>
          <p:cNvSpPr>
            <a:spLocks noChangeShapeType="1"/>
          </p:cNvSpPr>
          <p:nvPr/>
        </p:nvSpPr>
        <p:spPr bwMode="auto">
          <a:xfrm flipV="1">
            <a:off x="2882900" y="2755702"/>
            <a:ext cx="5588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1698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Helvetica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4EAD3D85-8E6A-4618-B9B2-1F48D33293C6}" type="slidenum">
              <a:rPr lang="en-US" b="0" smtClean="0">
                <a:latin typeface="Arial" charset="0"/>
              </a:rPr>
              <a:pPr/>
              <a:t>7</a:t>
            </a:fld>
            <a:endParaRPr lang="en-US" b="0">
              <a:latin typeface="Arial" charset="0"/>
            </a:endParaRPr>
          </a:p>
        </p:txBody>
      </p:sp>
      <p:sp>
        <p:nvSpPr>
          <p:cNvPr id="7720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47800" y="27709"/>
            <a:ext cx="6477000" cy="810491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dirty="0"/>
              <a:t>Why Information Hiding?</a:t>
            </a:r>
          </a:p>
        </p:txBody>
      </p:sp>
      <p:sp>
        <p:nvSpPr>
          <p:cNvPr id="77209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09600" y="1143000"/>
            <a:ext cx="7493000" cy="4457700"/>
          </a:xfrm>
        </p:spPr>
        <p:txBody>
          <a:bodyPr lIns="90487" tIns="44450" rIns="90487" bIns="44450"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dirty="0"/>
              <a:t>reduces the likelihood of “side effects”</a:t>
            </a:r>
          </a:p>
          <a:p>
            <a:pPr eaLnBrk="1" hangingPunct="1">
              <a:defRPr/>
            </a:pPr>
            <a:r>
              <a:rPr lang="en-US" dirty="0"/>
              <a:t>limits the global impact of local design decisions</a:t>
            </a:r>
          </a:p>
          <a:p>
            <a:pPr eaLnBrk="1" hangingPunct="1">
              <a:defRPr/>
            </a:pPr>
            <a:r>
              <a:rPr lang="en-US" dirty="0"/>
              <a:t>emphasizes communication through controlled interfaces</a:t>
            </a:r>
          </a:p>
          <a:p>
            <a:pPr eaLnBrk="1" hangingPunct="1">
              <a:defRPr/>
            </a:pPr>
            <a:r>
              <a:rPr lang="en-US" dirty="0"/>
              <a:t>discourages the use of global data</a:t>
            </a:r>
          </a:p>
          <a:p>
            <a:pPr eaLnBrk="1" hangingPunct="1">
              <a:defRPr/>
            </a:pPr>
            <a:r>
              <a:rPr lang="en-US" dirty="0"/>
              <a:t>leads to encapsulation—an attribute of high quality design</a:t>
            </a:r>
          </a:p>
          <a:p>
            <a:pPr eaLnBrk="1" hangingPunct="1">
              <a:defRPr/>
            </a:pPr>
            <a:r>
              <a:rPr lang="en-US" dirty="0"/>
              <a:t>results in higher quality software</a:t>
            </a:r>
          </a:p>
        </p:txBody>
      </p:sp>
    </p:spTree>
    <p:extLst>
      <p:ext uri="{BB962C8B-B14F-4D97-AF65-F5344CB8AC3E}">
        <p14:creationId xmlns:p14="http://schemas.microsoft.com/office/powerpoint/2010/main" val="319882195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9718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OO Application Example : Inheritance and Polymorphism</a:t>
            </a:r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charset="0"/>
              </a:rPr>
              <a:t>Copyright © 2012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744128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OO Application Example : Inheritance and Polymorphism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7630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sz="2800" dirty="0"/>
              <a:t>The term </a:t>
            </a:r>
            <a:r>
              <a:rPr lang="en-US" sz="2800" i="1" dirty="0"/>
              <a:t>polymorphism</a:t>
            </a:r>
            <a:r>
              <a:rPr lang="en-US" sz="2800" dirty="0"/>
              <a:t> literally means "having many forms"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sz="2800" dirty="0"/>
              <a:t>A </a:t>
            </a:r>
            <a:r>
              <a:rPr lang="en-US" sz="2800" i="1" dirty="0"/>
              <a:t>polymorphic reference</a:t>
            </a:r>
            <a:r>
              <a:rPr lang="en-US" sz="2800" dirty="0"/>
              <a:t> is a variable that can refer to different types of objects at different points in time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sz="2800" dirty="0"/>
              <a:t>The method called through a polymorphic reference can change from one invocation to the next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sz="2800" dirty="0"/>
              <a:t>All object references in Java are potentially polymorphic</a:t>
            </a:r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charset="0"/>
              </a:rPr>
              <a:t>Copyright © 2012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406545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Polymorphism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763000" cy="533400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dirty="0"/>
              <a:t>Suppose we create the following reference variable:</a:t>
            </a:r>
          </a:p>
          <a:p>
            <a:pPr>
              <a:lnSpc>
                <a:spcPct val="90000"/>
              </a:lnSpc>
              <a:spcBef>
                <a:spcPct val="70000"/>
              </a:spcBef>
              <a:buFont typeface="Times" charset="0"/>
              <a:buNone/>
            </a:pPr>
            <a:r>
              <a:rPr lang="en-US" dirty="0">
                <a:latin typeface="Courier New" charset="0"/>
              </a:rPr>
              <a:t>			Vehicle car;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dirty="0"/>
              <a:t>This reference can point to a </a:t>
            </a:r>
            <a:r>
              <a:rPr lang="en-US" dirty="0">
                <a:latin typeface="Courier New" charset="0"/>
              </a:rPr>
              <a:t>Vehicle </a:t>
            </a:r>
            <a:r>
              <a:rPr lang="en-US" dirty="0"/>
              <a:t>object, or to any object of any compatible type such as </a:t>
            </a:r>
            <a:r>
              <a:rPr lang="en-US" b="1" dirty="0"/>
              <a:t>Car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dirty="0"/>
              <a:t>This compatibility can be established using inheritance or using interfaces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dirty="0"/>
              <a:t>Careful use of polymorphic references can lead to elegant, robust software designs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32772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200" dirty="0">
                <a:latin typeface="Times New Roman" charset="0"/>
              </a:rPr>
              <a:t>Copyright © 2012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059826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715"/>
            <a:ext cx="8229600" cy="436485"/>
          </a:xfrm>
        </p:spPr>
        <p:txBody>
          <a:bodyPr>
            <a:normAutofit fontScale="90000"/>
          </a:bodyPr>
          <a:lstStyle/>
          <a:p>
            <a:r>
              <a:rPr lang="en-US" dirty="0"/>
              <a:t>Polymorphism via Inheritance</a:t>
            </a:r>
          </a:p>
        </p:txBody>
      </p:sp>
      <p:sp>
        <p:nvSpPr>
          <p:cNvPr id="40965" name="Footer Placeholder 20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charset="0"/>
              </a:rPr>
              <a:t>Copyright © 2012 Pearson Education, Inc.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10" y="533400"/>
            <a:ext cx="7961790" cy="560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27" name="Ink 1026"/>
              <p14:cNvContentPartPr/>
              <p14:nvPr/>
            </p14:nvContentPartPr>
            <p14:xfrm>
              <a:off x="3565113" y="2280065"/>
              <a:ext cx="5040" cy="4320"/>
            </p14:xfrm>
          </p:contentPart>
        </mc:Choice>
        <mc:Fallback xmlns="">
          <p:pic>
            <p:nvPicPr>
              <p:cNvPr id="1027" name="Ink 1026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558633" y="2273585"/>
                <a:ext cx="1836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0964" name="Ink 40963"/>
              <p14:cNvContentPartPr/>
              <p14:nvPr/>
            </p14:nvContentPartPr>
            <p14:xfrm>
              <a:off x="8168793" y="3397505"/>
              <a:ext cx="7200" cy="3240"/>
            </p14:xfrm>
          </p:contentPart>
        </mc:Choice>
        <mc:Fallback xmlns="">
          <p:pic>
            <p:nvPicPr>
              <p:cNvPr id="40964" name="Ink 40963"/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151513" y="3379865"/>
                <a:ext cx="37800" cy="3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9708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charset="0"/>
              </a:rPr>
              <a:t>Copyright © 2012 Pearson Education, Inc.</a:t>
            </a:r>
          </a:p>
        </p:txBody>
      </p:sp>
      <p:sp>
        <p:nvSpPr>
          <p:cNvPr id="44035" name="TextBox 5"/>
          <p:cNvSpPr txBox="1">
            <a:spLocks noChangeArrowheads="1"/>
          </p:cNvSpPr>
          <p:nvPr/>
        </p:nvSpPr>
        <p:spPr bwMode="auto">
          <a:xfrm>
            <a:off x="390019" y="0"/>
            <a:ext cx="7910513" cy="39395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2880" tIns="137160" rIns="182880" bIns="13716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400" b="1" dirty="0">
                <a:solidFill>
                  <a:srgbClr val="008000"/>
                </a:solidFill>
                <a:latin typeface="Courier New" charset="0"/>
                <a:cs typeface="Courier New" charset="0"/>
              </a:rPr>
              <a:t>//********************************************************************</a:t>
            </a:r>
          </a:p>
          <a:p>
            <a:pPr eaLnBrk="1" hangingPunct="1"/>
            <a:r>
              <a:rPr lang="en-US" sz="1400" b="1" dirty="0">
                <a:solidFill>
                  <a:srgbClr val="008000"/>
                </a:solidFill>
                <a:latin typeface="Courier New" charset="0"/>
                <a:cs typeface="Courier New" charset="0"/>
              </a:rPr>
              <a:t>//  Firm.java       Author: Lewis/Loftus</a:t>
            </a:r>
          </a:p>
          <a:p>
            <a:pPr eaLnBrk="1" hangingPunct="1"/>
            <a:r>
              <a:rPr lang="en-US" sz="1400" b="1" dirty="0">
                <a:solidFill>
                  <a:srgbClr val="008000"/>
                </a:solidFill>
                <a:latin typeface="Courier New" charset="0"/>
                <a:cs typeface="Courier New" charset="0"/>
              </a:rPr>
              <a:t>//</a:t>
            </a:r>
          </a:p>
          <a:p>
            <a:pPr eaLnBrk="1" hangingPunct="1"/>
            <a:r>
              <a:rPr lang="en-US" sz="1400" b="1" dirty="0">
                <a:solidFill>
                  <a:srgbClr val="008000"/>
                </a:solidFill>
                <a:latin typeface="Courier New" charset="0"/>
                <a:cs typeface="Courier New" charset="0"/>
              </a:rPr>
              <a:t>//  Demonstrates polymorphism via inheritance.</a:t>
            </a:r>
          </a:p>
          <a:p>
            <a:pPr eaLnBrk="1" hangingPunct="1"/>
            <a:r>
              <a:rPr lang="en-US" sz="1400" b="1" dirty="0">
                <a:solidFill>
                  <a:srgbClr val="008000"/>
                </a:solidFill>
                <a:latin typeface="Courier New" charset="0"/>
                <a:cs typeface="Courier New" charset="0"/>
              </a:rPr>
              <a:t>//********************************************************************</a:t>
            </a:r>
          </a:p>
          <a:p>
            <a:pPr eaLnBrk="1" hangingPunct="1"/>
            <a:endParaRPr lang="en-US" sz="1400" b="1" dirty="0">
              <a:solidFill>
                <a:srgbClr val="000000"/>
              </a:solidFill>
              <a:latin typeface="Courier New" charset="0"/>
              <a:cs typeface="Courier New" charset="0"/>
            </a:endParaRPr>
          </a:p>
          <a:p>
            <a:pPr eaLnBrk="1" hangingPunct="1"/>
            <a:r>
              <a:rPr lang="en-US" sz="1400" b="1" dirty="0">
                <a:solidFill>
                  <a:srgbClr val="3366FF"/>
                </a:solidFill>
                <a:latin typeface="Courier New" charset="0"/>
                <a:cs typeface="Courier New" charset="0"/>
              </a:rPr>
              <a:t>public class </a:t>
            </a:r>
            <a:r>
              <a:rPr lang="en-US" sz="1400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Firm</a:t>
            </a:r>
          </a:p>
          <a:p>
            <a:pPr eaLnBrk="1" hangingPunct="1"/>
            <a:r>
              <a:rPr lang="en-US" sz="1400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{</a:t>
            </a:r>
          </a:p>
          <a:p>
            <a:pPr eaLnBrk="1" hangingPunct="1"/>
            <a:r>
              <a:rPr lang="en-US" sz="1400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   </a:t>
            </a:r>
            <a:r>
              <a:rPr lang="en-US" sz="1400" b="1" dirty="0">
                <a:solidFill>
                  <a:srgbClr val="008000"/>
                </a:solidFill>
                <a:latin typeface="Courier New" charset="0"/>
                <a:cs typeface="Courier New" charset="0"/>
              </a:rPr>
              <a:t>//-----------------------------------------------------------------</a:t>
            </a:r>
          </a:p>
          <a:p>
            <a:pPr eaLnBrk="1" hangingPunct="1"/>
            <a:r>
              <a:rPr lang="en-US" sz="1400" b="1" dirty="0">
                <a:solidFill>
                  <a:srgbClr val="008000"/>
                </a:solidFill>
                <a:latin typeface="Courier New" charset="0"/>
                <a:cs typeface="Courier New" charset="0"/>
              </a:rPr>
              <a:t>   //  Creates a staff of employees for a firm and pays them.</a:t>
            </a:r>
          </a:p>
          <a:p>
            <a:pPr eaLnBrk="1" hangingPunct="1"/>
            <a:r>
              <a:rPr lang="en-US" sz="1400" b="1" dirty="0">
                <a:solidFill>
                  <a:srgbClr val="008000"/>
                </a:solidFill>
                <a:latin typeface="Courier New" charset="0"/>
                <a:cs typeface="Courier New" charset="0"/>
              </a:rPr>
              <a:t>   //-----------------------------------------------------------------</a:t>
            </a:r>
          </a:p>
          <a:p>
            <a:pPr eaLnBrk="1" hangingPunct="1"/>
            <a:r>
              <a:rPr lang="en-US" sz="1400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   </a:t>
            </a:r>
            <a:r>
              <a:rPr lang="en-US" sz="1400" b="1" dirty="0">
                <a:solidFill>
                  <a:srgbClr val="3366FF"/>
                </a:solidFill>
                <a:latin typeface="Courier New" charset="0"/>
                <a:cs typeface="Courier New" charset="0"/>
              </a:rPr>
              <a:t>public static void </a:t>
            </a:r>
            <a:r>
              <a:rPr lang="en-US" sz="1400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main (String[] </a:t>
            </a:r>
            <a:r>
              <a:rPr lang="en-US" sz="1400" b="1" dirty="0" err="1">
                <a:solidFill>
                  <a:srgbClr val="000000"/>
                </a:solidFill>
                <a:latin typeface="Courier New" charset="0"/>
                <a:cs typeface="Courier New" charset="0"/>
              </a:rPr>
              <a:t>args</a:t>
            </a:r>
            <a:r>
              <a:rPr lang="en-US" sz="1400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)</a:t>
            </a:r>
          </a:p>
          <a:p>
            <a:pPr eaLnBrk="1" hangingPunct="1"/>
            <a:r>
              <a:rPr lang="en-US" sz="1400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   {</a:t>
            </a:r>
          </a:p>
          <a:p>
            <a:pPr eaLnBrk="1" hangingPunct="1"/>
            <a:r>
              <a:rPr lang="en-US" sz="1400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      Staff personnel = </a:t>
            </a:r>
            <a:r>
              <a:rPr lang="en-US" sz="1400" b="1" dirty="0">
                <a:solidFill>
                  <a:srgbClr val="3366FF"/>
                </a:solidFill>
                <a:latin typeface="Courier New" charset="0"/>
                <a:cs typeface="Courier New" charset="0"/>
              </a:rPr>
              <a:t>new </a:t>
            </a:r>
            <a:r>
              <a:rPr lang="en-US" sz="1400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Staff();</a:t>
            </a:r>
          </a:p>
          <a:p>
            <a:pPr eaLnBrk="1" hangingPunct="1"/>
            <a:endParaRPr lang="en-US" sz="1400" b="1" dirty="0">
              <a:solidFill>
                <a:srgbClr val="000000"/>
              </a:solidFill>
              <a:latin typeface="Courier New" charset="0"/>
              <a:cs typeface="Courier New" charset="0"/>
            </a:endParaRPr>
          </a:p>
          <a:p>
            <a:pPr eaLnBrk="1" hangingPunct="1"/>
            <a:r>
              <a:rPr lang="en-US" sz="1400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      </a:t>
            </a:r>
            <a:r>
              <a:rPr lang="en-US" sz="1400" b="1" dirty="0" err="1">
                <a:solidFill>
                  <a:srgbClr val="000000"/>
                </a:solidFill>
                <a:latin typeface="Courier New" charset="0"/>
                <a:cs typeface="Courier New" charset="0"/>
              </a:rPr>
              <a:t>personnel.payday</a:t>
            </a:r>
            <a:r>
              <a:rPr lang="en-US" sz="1400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();  }</a:t>
            </a:r>
          </a:p>
          <a:p>
            <a:pPr eaLnBrk="1" hangingPunct="1"/>
            <a:r>
              <a:rPr lang="en-US" sz="1400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4191000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payday() method calls the pay() method of all the staff members stored in the </a:t>
            </a:r>
            <a:r>
              <a:rPr lang="en-US" dirty="0" err="1"/>
              <a:t>StaffMembes</a:t>
            </a:r>
            <a:r>
              <a:rPr lang="en-US" dirty="0"/>
              <a:t> array of the Staff object instance personnel.</a:t>
            </a:r>
          </a:p>
          <a:p>
            <a:endParaRPr lang="en-US" dirty="0"/>
          </a:p>
          <a:p>
            <a:r>
              <a:rPr lang="en-US" dirty="0"/>
              <a:t>pay() method to call is determined at runtime based on the object instance reference</a:t>
            </a:r>
          </a:p>
        </p:txBody>
      </p:sp>
    </p:spTree>
    <p:extLst>
      <p:ext uri="{BB962C8B-B14F-4D97-AF65-F5344CB8AC3E}">
        <p14:creationId xmlns:p14="http://schemas.microsoft.com/office/powerpoint/2010/main" val="237379712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from Firm Program</a:t>
            </a:r>
          </a:p>
        </p:txBody>
      </p:sp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304800" y="1600693"/>
            <a:ext cx="4128374" cy="452431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82880" tIns="137160" rIns="182880" bIns="13716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Aft>
                <a:spcPts val="1200"/>
              </a:spcAft>
            </a:pPr>
            <a:r>
              <a:rPr lang="en-US" sz="1400" b="1" u="sng" dirty="0">
                <a:cs typeface="Courier New" charset="0"/>
              </a:rPr>
              <a:t>Output</a:t>
            </a:r>
            <a:endParaRPr lang="en-US" sz="1400" b="1" dirty="0">
              <a:latin typeface="Courier New" charset="0"/>
              <a:cs typeface="Courier New" charset="0"/>
            </a:endParaRP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Name: Sam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Address: 123 Main Line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Phone: 555-0469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Social Security Number: 123-45-6789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Paid: 2923.07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-----------------------------------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Name: Carla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Address: 456 Off Line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Phone: 555-0101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Social Security Number: 987-65-4321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Paid: 1246.15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-----------------------------------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Name: Woody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Address: 789 Off Rocker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Phone: 555-0000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Social Security Number: 010-20-3040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Paid: 1169.23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-----------------------------------</a:t>
            </a:r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4876800" y="1662545"/>
            <a:ext cx="4140200" cy="446246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82880" tIns="137160" rIns="182880" bIns="13716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Aft>
                <a:spcPts val="1200"/>
              </a:spcAft>
            </a:pPr>
            <a:r>
              <a:rPr lang="en-US" sz="1400" b="1" u="sng" dirty="0">
                <a:cs typeface="Courier New" charset="0"/>
              </a:rPr>
              <a:t>Output</a:t>
            </a:r>
            <a:r>
              <a:rPr lang="en-US" sz="1400" b="1" dirty="0">
                <a:cs typeface="Courier New" charset="0"/>
              </a:rPr>
              <a:t>   (continued)</a:t>
            </a:r>
            <a:endParaRPr lang="en-US" sz="1400" b="1" dirty="0">
              <a:latin typeface="Courier New" charset="0"/>
              <a:cs typeface="Courier New" charset="0"/>
            </a:endParaRP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Name: Diane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Address: 678 Fifth Ave.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Phone: 555-0690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Social Security Number: 958-47-3625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Current hours: 40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Paid: 422.0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-----------------------------------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Name: Norm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Address: 987 Suds Blvd.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Phone: 555-8374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Thanks!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-----------------------------------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Name: Cliff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Address: 321 Duds Lane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Phone: 555-7282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Thanks!</a:t>
            </a:r>
          </a:p>
          <a:p>
            <a:pPr eaLnBrk="1" hangingPunct="1"/>
            <a:r>
              <a:rPr lang="en-US" sz="1400" b="1" dirty="0">
                <a:latin typeface="Courier New" charset="0"/>
                <a:cs typeface="Courier New" charset="0"/>
              </a:rPr>
              <a:t>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97238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via Inheritance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763000" cy="4876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80000"/>
              </a:spcBef>
            </a:pPr>
            <a:r>
              <a:rPr lang="en-US"/>
              <a:t>Let's look at an example that pays a set of diverse employees using a polymorphic method</a:t>
            </a:r>
          </a:p>
          <a:p>
            <a:pPr>
              <a:lnSpc>
                <a:spcPct val="90000"/>
              </a:lnSpc>
              <a:spcBef>
                <a:spcPct val="80000"/>
              </a:spcBef>
            </a:pPr>
            <a:r>
              <a:rPr lang="en-US"/>
              <a:t>See</a:t>
            </a:r>
            <a:r>
              <a:rPr lang="en-US">
                <a:latin typeface="Courier New" charset="0"/>
                <a:cs typeface="Courier New" charset="0"/>
              </a:rPr>
              <a:t> </a:t>
            </a:r>
            <a:r>
              <a:rPr lang="en-US">
                <a:latin typeface="Courier New" charset="0"/>
              </a:rPr>
              <a:t>Firm.java</a:t>
            </a:r>
            <a:r>
              <a:rPr lang="en-US"/>
              <a:t> </a:t>
            </a:r>
          </a:p>
          <a:p>
            <a:pPr>
              <a:lnSpc>
                <a:spcPct val="90000"/>
              </a:lnSpc>
            </a:pPr>
            <a:r>
              <a:rPr lang="en-US"/>
              <a:t>See</a:t>
            </a:r>
            <a:r>
              <a:rPr lang="en-US">
                <a:latin typeface="Courier New" charset="0"/>
                <a:cs typeface="Courier New" charset="0"/>
              </a:rPr>
              <a:t> </a:t>
            </a:r>
            <a:r>
              <a:rPr lang="en-US">
                <a:latin typeface="Courier New" charset="0"/>
              </a:rPr>
              <a:t>Staff.java</a:t>
            </a:r>
            <a:r>
              <a:rPr lang="en-US"/>
              <a:t> </a:t>
            </a:r>
          </a:p>
          <a:p>
            <a:pPr>
              <a:lnSpc>
                <a:spcPct val="90000"/>
              </a:lnSpc>
            </a:pPr>
            <a:r>
              <a:rPr lang="en-US"/>
              <a:t>See</a:t>
            </a:r>
            <a:r>
              <a:rPr lang="en-US">
                <a:latin typeface="Courier New" charset="0"/>
                <a:cs typeface="Courier New" charset="0"/>
              </a:rPr>
              <a:t> </a:t>
            </a:r>
            <a:r>
              <a:rPr lang="en-US">
                <a:latin typeface="Courier New" charset="0"/>
              </a:rPr>
              <a:t>StaffMember.java</a:t>
            </a:r>
            <a:r>
              <a:rPr lang="en-US"/>
              <a:t> </a:t>
            </a:r>
          </a:p>
          <a:p>
            <a:pPr>
              <a:lnSpc>
                <a:spcPct val="90000"/>
              </a:lnSpc>
            </a:pPr>
            <a:r>
              <a:rPr lang="en-US"/>
              <a:t>See</a:t>
            </a:r>
            <a:r>
              <a:rPr lang="en-US">
                <a:latin typeface="Courier New" charset="0"/>
                <a:cs typeface="Courier New" charset="0"/>
              </a:rPr>
              <a:t> </a:t>
            </a:r>
            <a:r>
              <a:rPr lang="en-US">
                <a:latin typeface="Courier New" charset="0"/>
              </a:rPr>
              <a:t>Volunteer.java</a:t>
            </a:r>
            <a:r>
              <a:rPr lang="en-US"/>
              <a:t> </a:t>
            </a:r>
          </a:p>
          <a:p>
            <a:pPr>
              <a:lnSpc>
                <a:spcPct val="90000"/>
              </a:lnSpc>
            </a:pPr>
            <a:r>
              <a:rPr lang="en-US"/>
              <a:t>See</a:t>
            </a:r>
            <a:r>
              <a:rPr lang="en-US">
                <a:latin typeface="Courier New" charset="0"/>
                <a:cs typeface="Courier New" charset="0"/>
              </a:rPr>
              <a:t> </a:t>
            </a:r>
            <a:r>
              <a:rPr lang="en-US">
                <a:latin typeface="Courier New" charset="0"/>
              </a:rPr>
              <a:t>Employee.java</a:t>
            </a:r>
            <a:r>
              <a:rPr lang="en-US"/>
              <a:t> </a:t>
            </a:r>
          </a:p>
          <a:p>
            <a:pPr>
              <a:lnSpc>
                <a:spcPct val="90000"/>
              </a:lnSpc>
            </a:pPr>
            <a:r>
              <a:rPr lang="en-US"/>
              <a:t>See</a:t>
            </a:r>
            <a:r>
              <a:rPr lang="en-US">
                <a:latin typeface="Courier New" charset="0"/>
                <a:cs typeface="Courier New" charset="0"/>
              </a:rPr>
              <a:t> </a:t>
            </a:r>
            <a:r>
              <a:rPr lang="en-US">
                <a:latin typeface="Courier New" charset="0"/>
              </a:rPr>
              <a:t>Executive.java</a:t>
            </a:r>
            <a:r>
              <a:rPr lang="en-US"/>
              <a:t> </a:t>
            </a:r>
          </a:p>
          <a:p>
            <a:pPr>
              <a:lnSpc>
                <a:spcPct val="90000"/>
              </a:lnSpc>
            </a:pPr>
            <a:r>
              <a:rPr lang="en-US"/>
              <a:t>See</a:t>
            </a:r>
            <a:r>
              <a:rPr lang="en-US">
                <a:latin typeface="Courier New" charset="0"/>
                <a:cs typeface="Courier New" charset="0"/>
              </a:rPr>
              <a:t> </a:t>
            </a:r>
            <a:r>
              <a:rPr lang="en-US">
                <a:latin typeface="Courier New" charset="0"/>
              </a:rPr>
              <a:t>Hourly.java</a:t>
            </a:r>
            <a:r>
              <a:rPr lang="en-US"/>
              <a:t> 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  <p:sp>
        <p:nvSpPr>
          <p:cNvPr id="41988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200" dirty="0">
                <a:latin typeface="Times New Roman" charset="0"/>
              </a:rPr>
              <a:t>Copyright © 2012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819265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1371600"/>
            <a:ext cx="86106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rial" charset="0"/>
              </a:rPr>
              <a:t>[1] Martin Fowler. Refactoring: Improving the Design of Existing Code, Addison-Wesley,  1999. ISBN 0-201-48567-2</a:t>
            </a:r>
          </a:p>
          <a:p>
            <a:endParaRPr lang="en-US" sz="2800" dirty="0">
              <a:latin typeface="Arial" charset="0"/>
            </a:endParaRPr>
          </a:p>
          <a:p>
            <a:r>
              <a:rPr lang="en-US" sz="2800" dirty="0">
                <a:latin typeface="Times New Roman" charset="0"/>
              </a:rPr>
              <a:t>[2] Java Solutions, 2012 Pearson Education, </a:t>
            </a:r>
            <a:r>
              <a:rPr lang="en-US" sz="2800" dirty="0" err="1">
                <a:latin typeface="Times New Roman" charset="0"/>
              </a:rPr>
              <a:t>Inc</a:t>
            </a:r>
            <a:endParaRPr lang="en-US" sz="2800" dirty="0">
              <a:latin typeface="Times New Roman" charset="0"/>
            </a:endParaRPr>
          </a:p>
          <a:p>
            <a:endParaRPr lang="en-US" sz="2800" dirty="0">
              <a:latin typeface="Arial" charset="0"/>
            </a:endParaRPr>
          </a:p>
          <a:p>
            <a:endParaRPr lang="en-US" sz="2800" dirty="0">
              <a:latin typeface="Arial" charset="0"/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69561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2395</TotalTime>
  <Words>745</Words>
  <Application>Microsoft Office PowerPoint</Application>
  <PresentationFormat>On-screen Show (4:3)</PresentationFormat>
  <Paragraphs>151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Courier New</vt:lpstr>
      <vt:lpstr>Times</vt:lpstr>
      <vt:lpstr>Times New Roman</vt:lpstr>
      <vt:lpstr>Wingdings</vt:lpstr>
      <vt:lpstr>Office Theme</vt:lpstr>
      <vt:lpstr>CSE 464: Software Quality Assurance and Testing</vt:lpstr>
      <vt:lpstr>Design Considerations for OO applications</vt:lpstr>
      <vt:lpstr>Fundamental Concepts</vt:lpstr>
      <vt:lpstr>Data Abstraction</vt:lpstr>
      <vt:lpstr>Procedural Abstraction</vt:lpstr>
      <vt:lpstr>Information Hiding</vt:lpstr>
      <vt:lpstr>Why Information Hiding?</vt:lpstr>
      <vt:lpstr>OO Application Example : Inheritance and Polymorphism</vt:lpstr>
      <vt:lpstr>OO Application Example : Inheritance and Polymorphism</vt:lpstr>
      <vt:lpstr>Polymorphism</vt:lpstr>
      <vt:lpstr>Polymorphism via Inheritance</vt:lpstr>
      <vt:lpstr>PowerPoint Presentation</vt:lpstr>
      <vt:lpstr>Output from Firm Program</vt:lpstr>
      <vt:lpstr>Polymorphism via Inheritance</vt:lpstr>
      <vt:lpstr>References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195</cp:revision>
  <cp:lastPrinted>2014-10-15T17:53:03Z</cp:lastPrinted>
  <dcterms:created xsi:type="dcterms:W3CDTF">2011-08-13T19:09:36Z</dcterms:created>
  <dcterms:modified xsi:type="dcterms:W3CDTF">2022-03-10T03:13:27Z</dcterms:modified>
</cp:coreProperties>
</file>