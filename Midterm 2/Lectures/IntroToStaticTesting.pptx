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86" r:id="rId4"/>
    <p:sldId id="260" r:id="rId5"/>
    <p:sldId id="261" r:id="rId6"/>
    <p:sldId id="279" r:id="rId7"/>
    <p:sldId id="283" r:id="rId8"/>
    <p:sldId id="263" r:id="rId9"/>
    <p:sldId id="280" r:id="rId10"/>
    <p:sldId id="264" r:id="rId11"/>
    <p:sldId id="265" r:id="rId12"/>
    <p:sldId id="266" r:id="rId13"/>
    <p:sldId id="267" r:id="rId14"/>
    <p:sldId id="268" r:id="rId15"/>
    <p:sldId id="269" r:id="rId16"/>
    <p:sldId id="270" r:id="rId17"/>
    <p:sldId id="271" r:id="rId18"/>
    <p:sldId id="272" r:id="rId19"/>
    <p:sldId id="278" r:id="rId20"/>
    <p:sldId id="284" r:id="rId21"/>
    <p:sldId id="281" r:id="rId22"/>
    <p:sldId id="285"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6" d="100"/>
          <a:sy n="86" d="100"/>
        </p:scale>
        <p:origin x="930" y="45"/>
      </p:cViewPr>
      <p:guideLst>
        <p:guide orient="horz" pos="2160"/>
        <p:guide pos="2880"/>
      </p:guideLst>
    </p:cSldViewPr>
  </p:slideViewPr>
  <p:notesTextViewPr>
    <p:cViewPr>
      <p:scale>
        <a:sx n="1" d="1"/>
        <a:sy n="1" d="1"/>
      </p:scale>
      <p:origin x="0" y="0"/>
    </p:cViewPr>
  </p:notesTextViewPr>
  <p:sorterViewPr>
    <p:cViewPr>
      <p:scale>
        <a:sx n="100" d="100"/>
        <a:sy n="100" d="100"/>
      </p:scale>
      <p:origin x="0" y="183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88F824-DEA3-4B38-A07B-9AF2E705CC66}" type="datetimeFigureOut">
              <a:rPr lang="en-US" smtClean="0"/>
              <a:t>3/9/2022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1D2B7B-CF51-422A-A0F9-DB907B10C881}" type="slidenum">
              <a:rPr lang="en-US" smtClean="0"/>
              <a:t>‹#›</a:t>
            </a:fld>
            <a:endParaRPr lang="en-US"/>
          </a:p>
        </p:txBody>
      </p:sp>
    </p:spTree>
    <p:extLst>
      <p:ext uri="{BB962C8B-B14F-4D97-AF65-F5344CB8AC3E}">
        <p14:creationId xmlns:p14="http://schemas.microsoft.com/office/powerpoint/2010/main" val="238048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1D2B7B-CF51-422A-A0F9-DB907B10C881}" type="slidenum">
              <a:rPr lang="en-US" smtClean="0"/>
              <a:t>22</a:t>
            </a:fld>
            <a:endParaRPr lang="en-US"/>
          </a:p>
        </p:txBody>
      </p:sp>
    </p:spTree>
    <p:extLst>
      <p:ext uri="{BB962C8B-B14F-4D97-AF65-F5344CB8AC3E}">
        <p14:creationId xmlns:p14="http://schemas.microsoft.com/office/powerpoint/2010/main" val="20921913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343A762-52D0-467A-852C-58B65370EBBC}" type="datetimeFigureOut">
              <a:rPr lang="en-US" smtClean="0"/>
              <a:t>3/9/2022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3B013-418E-41A5-8C2C-558F20FA5794}" type="slidenum">
              <a:rPr lang="en-US" smtClean="0"/>
              <a:t>‹#›</a:t>
            </a:fld>
            <a:endParaRPr lang="en-US"/>
          </a:p>
        </p:txBody>
      </p:sp>
    </p:spTree>
    <p:extLst>
      <p:ext uri="{BB962C8B-B14F-4D97-AF65-F5344CB8AC3E}">
        <p14:creationId xmlns:p14="http://schemas.microsoft.com/office/powerpoint/2010/main" val="3687048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43A762-52D0-467A-852C-58B65370EBBC}" type="datetimeFigureOut">
              <a:rPr lang="en-US" smtClean="0"/>
              <a:t>3/9/2022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3B013-418E-41A5-8C2C-558F20FA5794}" type="slidenum">
              <a:rPr lang="en-US" smtClean="0"/>
              <a:t>‹#›</a:t>
            </a:fld>
            <a:endParaRPr lang="en-US"/>
          </a:p>
        </p:txBody>
      </p:sp>
    </p:spTree>
    <p:extLst>
      <p:ext uri="{BB962C8B-B14F-4D97-AF65-F5344CB8AC3E}">
        <p14:creationId xmlns:p14="http://schemas.microsoft.com/office/powerpoint/2010/main" val="3400558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43A762-52D0-467A-852C-58B65370EBBC}" type="datetimeFigureOut">
              <a:rPr lang="en-US" smtClean="0"/>
              <a:t>3/9/2022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3B013-418E-41A5-8C2C-558F20FA5794}" type="slidenum">
              <a:rPr lang="en-US" smtClean="0"/>
              <a:t>‹#›</a:t>
            </a:fld>
            <a:endParaRPr lang="en-US"/>
          </a:p>
        </p:txBody>
      </p:sp>
    </p:spTree>
    <p:extLst>
      <p:ext uri="{BB962C8B-B14F-4D97-AF65-F5344CB8AC3E}">
        <p14:creationId xmlns:p14="http://schemas.microsoft.com/office/powerpoint/2010/main" val="858105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343A762-52D0-467A-852C-58B65370EBBC}" type="datetimeFigureOut">
              <a:rPr lang="en-US" smtClean="0"/>
              <a:t>3/9/2022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33B013-418E-41A5-8C2C-558F20FA5794}" type="slidenum">
              <a:rPr lang="en-US" smtClean="0"/>
              <a:t>‹#›</a:t>
            </a:fld>
            <a:endParaRPr lang="en-US"/>
          </a:p>
        </p:txBody>
      </p:sp>
    </p:spTree>
    <p:extLst>
      <p:ext uri="{BB962C8B-B14F-4D97-AF65-F5344CB8AC3E}">
        <p14:creationId xmlns:p14="http://schemas.microsoft.com/office/powerpoint/2010/main" val="602942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343A762-52D0-467A-852C-58B65370EBBC}" type="datetimeFigureOut">
              <a:rPr lang="en-US" smtClean="0"/>
              <a:t>3/9/2022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C33B013-418E-41A5-8C2C-558F20FA5794}" type="slidenum">
              <a:rPr lang="en-US" smtClean="0"/>
              <a:t>‹#›</a:t>
            </a:fld>
            <a:endParaRPr lang="en-US"/>
          </a:p>
        </p:txBody>
      </p:sp>
    </p:spTree>
    <p:extLst>
      <p:ext uri="{BB962C8B-B14F-4D97-AF65-F5344CB8AC3E}">
        <p14:creationId xmlns:p14="http://schemas.microsoft.com/office/powerpoint/2010/main" val="2035822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343A762-52D0-467A-852C-58B65370EBBC}" type="datetimeFigureOut">
              <a:rPr lang="en-US" smtClean="0"/>
              <a:t>3/9/2022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C33B013-418E-41A5-8C2C-558F20FA5794}" type="slidenum">
              <a:rPr lang="en-US" smtClean="0"/>
              <a:t>‹#›</a:t>
            </a:fld>
            <a:endParaRPr lang="en-US"/>
          </a:p>
        </p:txBody>
      </p:sp>
    </p:spTree>
    <p:extLst>
      <p:ext uri="{BB962C8B-B14F-4D97-AF65-F5344CB8AC3E}">
        <p14:creationId xmlns:p14="http://schemas.microsoft.com/office/powerpoint/2010/main" val="2371252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43A762-52D0-467A-852C-58B65370EBBC}" type="datetimeFigureOut">
              <a:rPr lang="en-US" smtClean="0"/>
              <a:t>3/9/2022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C33B013-418E-41A5-8C2C-558F20FA5794}" type="slidenum">
              <a:rPr lang="en-US" smtClean="0"/>
              <a:t>‹#›</a:t>
            </a:fld>
            <a:endParaRPr lang="en-US"/>
          </a:p>
        </p:txBody>
      </p:sp>
    </p:spTree>
    <p:extLst>
      <p:ext uri="{BB962C8B-B14F-4D97-AF65-F5344CB8AC3E}">
        <p14:creationId xmlns:p14="http://schemas.microsoft.com/office/powerpoint/2010/main" val="1651866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43A762-52D0-467A-852C-58B65370EBBC}" type="datetimeFigureOut">
              <a:rPr lang="en-US" smtClean="0"/>
              <a:t>3/9/2022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33B013-418E-41A5-8C2C-558F20FA5794}" type="slidenum">
              <a:rPr lang="en-US" smtClean="0"/>
              <a:t>‹#›</a:t>
            </a:fld>
            <a:endParaRPr lang="en-US"/>
          </a:p>
        </p:txBody>
      </p:sp>
    </p:spTree>
    <p:extLst>
      <p:ext uri="{BB962C8B-B14F-4D97-AF65-F5344CB8AC3E}">
        <p14:creationId xmlns:p14="http://schemas.microsoft.com/office/powerpoint/2010/main" val="636944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43A762-52D0-467A-852C-58B65370EBBC}" type="datetimeFigureOut">
              <a:rPr lang="en-US" smtClean="0"/>
              <a:t>3/9/2022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33B013-418E-41A5-8C2C-558F20FA5794}" type="slidenum">
              <a:rPr lang="en-US" smtClean="0"/>
              <a:t>‹#›</a:t>
            </a:fld>
            <a:endParaRPr lang="en-US"/>
          </a:p>
        </p:txBody>
      </p:sp>
    </p:spTree>
    <p:extLst>
      <p:ext uri="{BB962C8B-B14F-4D97-AF65-F5344CB8AC3E}">
        <p14:creationId xmlns:p14="http://schemas.microsoft.com/office/powerpoint/2010/main" val="3651885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43A762-52D0-467A-852C-58B65370EBBC}" type="datetimeFigureOut">
              <a:rPr lang="en-US" smtClean="0"/>
              <a:t>3/9/2022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3B013-418E-41A5-8C2C-558F20FA5794}" type="slidenum">
              <a:rPr lang="en-US" smtClean="0"/>
              <a:t>‹#›</a:t>
            </a:fld>
            <a:endParaRPr lang="en-US"/>
          </a:p>
        </p:txBody>
      </p:sp>
    </p:spTree>
    <p:extLst>
      <p:ext uri="{BB962C8B-B14F-4D97-AF65-F5344CB8AC3E}">
        <p14:creationId xmlns:p14="http://schemas.microsoft.com/office/powerpoint/2010/main" val="3342681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43A762-52D0-467A-852C-58B65370EBBC}" type="datetimeFigureOut">
              <a:rPr lang="en-US" smtClean="0"/>
              <a:t>3/9/2022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33B013-418E-41A5-8C2C-558F20FA5794}" type="slidenum">
              <a:rPr lang="en-US" smtClean="0"/>
              <a:t>‹#›</a:t>
            </a:fld>
            <a:endParaRPr lang="en-US"/>
          </a:p>
        </p:txBody>
      </p:sp>
    </p:spTree>
    <p:extLst>
      <p:ext uri="{BB962C8B-B14F-4D97-AF65-F5344CB8AC3E}">
        <p14:creationId xmlns:p14="http://schemas.microsoft.com/office/powerpoint/2010/main" val="4077529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43A762-52D0-467A-852C-58B65370EBBC}" type="datetimeFigureOut">
              <a:rPr lang="en-US" smtClean="0"/>
              <a:t>3/9/2022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33B013-418E-41A5-8C2C-558F20FA5794}" type="slidenum">
              <a:rPr lang="en-US" smtClean="0"/>
              <a:t>‹#›</a:t>
            </a:fld>
            <a:endParaRPr lang="en-US"/>
          </a:p>
        </p:txBody>
      </p:sp>
    </p:spTree>
    <p:extLst>
      <p:ext uri="{BB962C8B-B14F-4D97-AF65-F5344CB8AC3E}">
        <p14:creationId xmlns:p14="http://schemas.microsoft.com/office/powerpoint/2010/main" val="39573292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sonarqube.org/" TargetMode="External"/><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hyperlink" Target="http://findbugs.sourceforge.net/bugDescription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20571" y="851517"/>
            <a:ext cx="3928849" cy="2991416"/>
          </a:xfrm>
        </p:spPr>
        <p:txBody>
          <a:bodyPr anchor="b">
            <a:normAutofit/>
          </a:bodyPr>
          <a:lstStyle/>
          <a:p>
            <a:pPr algn="l"/>
            <a:r>
              <a:rPr lang="en-US" sz="4100"/>
              <a:t>CSE 464 Software Quality Assurance and Testing</a:t>
            </a:r>
          </a:p>
        </p:txBody>
      </p:sp>
      <p:sp>
        <p:nvSpPr>
          <p:cNvPr id="3" name="Subtitle 2"/>
          <p:cNvSpPr>
            <a:spLocks noGrp="1"/>
          </p:cNvSpPr>
          <p:nvPr>
            <p:ph type="subTitle" idx="1"/>
          </p:nvPr>
        </p:nvSpPr>
        <p:spPr>
          <a:xfrm>
            <a:off x="820572" y="3842932"/>
            <a:ext cx="3125336" cy="2163551"/>
          </a:xfrm>
        </p:spPr>
        <p:txBody>
          <a:bodyPr anchor="t">
            <a:normAutofit/>
          </a:bodyPr>
          <a:lstStyle/>
          <a:p>
            <a:pPr algn="l"/>
            <a:r>
              <a:rPr lang="en-US"/>
              <a:t>Static </a:t>
            </a:r>
            <a:r>
              <a:rPr lang="en-US" dirty="0"/>
              <a:t>Testing : Reviews and Inspections</a:t>
            </a:r>
            <a:endParaRPr lang="en-US"/>
          </a:p>
        </p:txBody>
      </p:sp>
      <p:sp>
        <p:nvSpPr>
          <p:cNvPr id="12" name="Freeform: Shape 11">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32777" y="851518"/>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Logo&#10;&#10;Description automatically generated">
            <a:extLst>
              <a:ext uri="{FF2B5EF4-FFF2-40B4-BE49-F238E27FC236}">
                <a16:creationId xmlns:a16="http://schemas.microsoft.com/office/drawing/2014/main" id="{A13481B5-CD1C-4D2E-BAD5-5A8F4A6CFFD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648627" y="2806221"/>
            <a:ext cx="2413000" cy="186350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3266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762000"/>
          </a:xfrm>
        </p:spPr>
        <p:txBody>
          <a:bodyPr>
            <a:normAutofit/>
          </a:bodyPr>
          <a:lstStyle/>
          <a:p>
            <a:r>
              <a:rPr lang="en-US" dirty="0"/>
              <a:t>Quick Recap </a:t>
            </a:r>
          </a:p>
        </p:txBody>
      </p:sp>
      <p:sp>
        <p:nvSpPr>
          <p:cNvPr id="3" name="Content Placeholder 2"/>
          <p:cNvSpPr>
            <a:spLocks noGrp="1"/>
          </p:cNvSpPr>
          <p:nvPr>
            <p:ph idx="1"/>
          </p:nvPr>
        </p:nvSpPr>
        <p:spPr>
          <a:xfrm>
            <a:off x="457200" y="914400"/>
            <a:ext cx="8229600" cy="6172200"/>
          </a:xfrm>
        </p:spPr>
        <p:txBody>
          <a:bodyPr>
            <a:normAutofit fontScale="92500" lnSpcReduction="10000"/>
          </a:bodyPr>
          <a:lstStyle/>
          <a:p>
            <a:r>
              <a:rPr lang="en-US" dirty="0"/>
              <a:t>Software quality and quality assurance activities</a:t>
            </a:r>
          </a:p>
          <a:p>
            <a:r>
              <a:rPr lang="en-US" dirty="0"/>
              <a:t>So far, we focused on dynamic testing where code / software is available and test cases are designed and executed against the code.</a:t>
            </a:r>
          </a:p>
          <a:p>
            <a:endParaRPr lang="en-US" dirty="0"/>
          </a:p>
          <a:p>
            <a:pPr marL="0" indent="0">
              <a:buNone/>
            </a:pPr>
            <a:endParaRPr lang="en-US" dirty="0"/>
          </a:p>
          <a:p>
            <a:pPr marL="0" indent="0">
              <a:buNone/>
            </a:pPr>
            <a:endParaRPr lang="en-US" dirty="0"/>
          </a:p>
          <a:p>
            <a:endParaRPr lang="en-US" dirty="0"/>
          </a:p>
          <a:p>
            <a:r>
              <a:rPr lang="en-US" dirty="0"/>
              <a:t>Relative strengths and weaknesses of software testing approaches.</a:t>
            </a:r>
          </a:p>
          <a:p>
            <a:r>
              <a:rPr lang="en-US" dirty="0"/>
              <a:t>Now its time for us to think about few other aspects of software quality assurance.</a:t>
            </a:r>
          </a:p>
          <a:p>
            <a:endParaRPr 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743200"/>
            <a:ext cx="2704525"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2667000"/>
            <a:ext cx="2813384"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18005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7" name="Rectangle 7"/>
          <p:cNvSpPr>
            <a:spLocks noGrp="1" noChangeArrowheads="1"/>
          </p:cNvSpPr>
          <p:nvPr>
            <p:ph type="title"/>
          </p:nvPr>
        </p:nvSpPr>
        <p:spPr bwMode="auto">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en-US" sz="3200"/>
              <a:t>The Test Method Pendulum</a:t>
            </a:r>
          </a:p>
        </p:txBody>
      </p:sp>
      <p:graphicFrame>
        <p:nvGraphicFramePr>
          <p:cNvPr id="66568" name="Object 8"/>
          <p:cNvGraphicFramePr>
            <a:graphicFrameLocks noGrp="1" noChangeAspect="1"/>
          </p:cNvGraphicFramePr>
          <p:nvPr>
            <p:ph idx="1"/>
          </p:nvPr>
        </p:nvGraphicFramePr>
        <p:xfrm>
          <a:off x="609600" y="1370013"/>
          <a:ext cx="7239000" cy="4554537"/>
        </p:xfrm>
        <a:graphic>
          <a:graphicData uri="http://schemas.openxmlformats.org/presentationml/2006/ole">
            <mc:AlternateContent xmlns:mc="http://schemas.openxmlformats.org/markup-compatibility/2006">
              <mc:Choice xmlns:v="urn:schemas-microsoft-com:vml" Requires="v">
                <p:oleObj spid="_x0000_s1035" name="Visio" r:id="rId3" imgW="4732189" imgH="2977560" progId="Visio.Drawing.11">
                  <p:embed/>
                </p:oleObj>
              </mc:Choice>
              <mc:Fallback>
                <p:oleObj name="Visio" r:id="rId3" imgW="4732189" imgH="2977560"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370013"/>
                        <a:ext cx="7239000" cy="455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Rectangle 1"/>
          <p:cNvSpPr/>
          <p:nvPr/>
        </p:nvSpPr>
        <p:spPr>
          <a:xfrm>
            <a:off x="457200" y="1143000"/>
            <a:ext cx="2667000" cy="3048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ight Arrow 2"/>
          <p:cNvSpPr/>
          <p:nvPr/>
        </p:nvSpPr>
        <p:spPr>
          <a:xfrm>
            <a:off x="2628357" y="3429000"/>
            <a:ext cx="978408"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4520852" y="1113772"/>
            <a:ext cx="3505200" cy="3048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7848600" y="3683696"/>
            <a:ext cx="978408"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3979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Static Testing</a:t>
            </a:r>
          </a:p>
        </p:txBody>
      </p:sp>
      <p:sp>
        <p:nvSpPr>
          <p:cNvPr id="3" name="Content Placeholder 2"/>
          <p:cNvSpPr>
            <a:spLocks noGrp="1"/>
          </p:cNvSpPr>
          <p:nvPr>
            <p:ph idx="1"/>
          </p:nvPr>
        </p:nvSpPr>
        <p:spPr>
          <a:xfrm>
            <a:off x="457200" y="1143000"/>
            <a:ext cx="8229600" cy="4525963"/>
          </a:xfrm>
        </p:spPr>
        <p:txBody>
          <a:bodyPr>
            <a:normAutofit/>
          </a:bodyPr>
          <a:lstStyle/>
          <a:p>
            <a:r>
              <a:rPr lang="en-US" dirty="0"/>
              <a:t>Another important aspect of software quality assurance is to inspect and review various artifacts of a software project without executing the code</a:t>
            </a:r>
          </a:p>
          <a:p>
            <a:pPr marL="0" indent="0">
              <a:buNone/>
            </a:pPr>
            <a:endParaRPr lang="en-US" dirty="0"/>
          </a:p>
          <a:p>
            <a:r>
              <a:rPr lang="en-US" dirty="0"/>
              <a:t>Static testing is NOT a replacement for dynamic testing</a:t>
            </a:r>
          </a:p>
        </p:txBody>
      </p:sp>
    </p:spTree>
    <p:extLst>
      <p:ext uri="{BB962C8B-B14F-4D97-AF65-F5344CB8AC3E}">
        <p14:creationId xmlns:p14="http://schemas.microsoft.com/office/powerpoint/2010/main" val="2625219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23218" cy="678873"/>
          </a:xfrm>
        </p:spPr>
        <p:txBody>
          <a:bodyPr>
            <a:normAutofit fontScale="90000"/>
          </a:bodyPr>
          <a:lstStyle/>
          <a:p>
            <a:r>
              <a:rPr lang="en-US" sz="3600" b="1" dirty="0">
                <a:solidFill>
                  <a:srgbClr val="000099"/>
                </a:solidFill>
              </a:rPr>
              <a:t>Quick Recap: Quality Assurance Activities in the Waterfall Model</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990600"/>
            <a:ext cx="8639017" cy="586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4398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715962"/>
          </a:xfrm>
        </p:spPr>
        <p:txBody>
          <a:bodyPr>
            <a:normAutofit fontScale="90000"/>
          </a:bodyPr>
          <a:lstStyle/>
          <a:p>
            <a:r>
              <a:rPr lang="en-US" dirty="0"/>
              <a:t>What is Review?</a:t>
            </a:r>
          </a:p>
        </p:txBody>
      </p:sp>
      <p:sp>
        <p:nvSpPr>
          <p:cNvPr id="3" name="TextBox 2"/>
          <p:cNvSpPr txBox="1"/>
          <p:nvPr/>
        </p:nvSpPr>
        <p:spPr>
          <a:xfrm>
            <a:off x="353291" y="914400"/>
            <a:ext cx="8382000" cy="5262979"/>
          </a:xfrm>
          <a:prstGeom prst="rect">
            <a:avLst/>
          </a:prstGeom>
          <a:noFill/>
        </p:spPr>
        <p:txBody>
          <a:bodyPr wrap="square" rtlCol="0">
            <a:spAutoFit/>
          </a:bodyPr>
          <a:lstStyle/>
          <a:p>
            <a:r>
              <a:rPr lang="en-US" sz="2800" dirty="0"/>
              <a:t>IEEE standard for software review identify four different types of reviews</a:t>
            </a:r>
          </a:p>
          <a:p>
            <a:endParaRPr lang="en-US" sz="2800" dirty="0"/>
          </a:p>
          <a:p>
            <a:r>
              <a:rPr lang="en-US" sz="2800" dirty="0"/>
              <a:t>a) Management reviews</a:t>
            </a:r>
          </a:p>
          <a:p>
            <a:r>
              <a:rPr lang="en-US" sz="2800" dirty="0"/>
              <a:t>b) Technical reviews</a:t>
            </a:r>
          </a:p>
          <a:p>
            <a:r>
              <a:rPr lang="en-US" sz="2800" dirty="0"/>
              <a:t>c) Inspections</a:t>
            </a:r>
          </a:p>
          <a:p>
            <a:r>
              <a:rPr lang="en-US" sz="2800" dirty="0"/>
              <a:t>d) Walk-throughs</a:t>
            </a:r>
          </a:p>
          <a:p>
            <a:r>
              <a:rPr lang="en-US" sz="2800" dirty="0"/>
              <a:t>e) Audits</a:t>
            </a:r>
          </a:p>
          <a:p>
            <a:endParaRPr lang="en-US" sz="2800" dirty="0"/>
          </a:p>
          <a:p>
            <a:r>
              <a:rPr lang="en-US" sz="2800" b="1" u="sng" dirty="0"/>
              <a:t>What do we review? : </a:t>
            </a:r>
            <a:r>
              <a:rPr lang="en-US" sz="2800" dirty="0"/>
              <a:t>Requirements, Specification, Design, Code, User guides, Test cases, …</a:t>
            </a:r>
            <a:r>
              <a:rPr lang="en-US" sz="2800" dirty="0" err="1"/>
              <a:t>etc</a:t>
            </a:r>
            <a:endParaRPr lang="en-US" sz="2800" dirty="0"/>
          </a:p>
          <a:p>
            <a:endParaRPr lang="en-US" sz="2800" dirty="0"/>
          </a:p>
        </p:txBody>
      </p:sp>
    </p:spTree>
    <p:extLst>
      <p:ext uri="{BB962C8B-B14F-4D97-AF65-F5344CB8AC3E}">
        <p14:creationId xmlns:p14="http://schemas.microsoft.com/office/powerpoint/2010/main" val="4177054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Few definitions</a:t>
            </a:r>
          </a:p>
        </p:txBody>
      </p:sp>
      <p:sp>
        <p:nvSpPr>
          <p:cNvPr id="3" name="Content Placeholder 2"/>
          <p:cNvSpPr>
            <a:spLocks noGrp="1"/>
          </p:cNvSpPr>
          <p:nvPr>
            <p:ph idx="1"/>
          </p:nvPr>
        </p:nvSpPr>
        <p:spPr>
          <a:xfrm>
            <a:off x="381000" y="1066800"/>
            <a:ext cx="8229600" cy="4525963"/>
          </a:xfrm>
        </p:spPr>
        <p:txBody>
          <a:bodyPr>
            <a:noAutofit/>
          </a:bodyPr>
          <a:lstStyle/>
          <a:p>
            <a:pPr marL="0" indent="0">
              <a:buNone/>
            </a:pPr>
            <a:r>
              <a:rPr lang="en-US" sz="2400" b="1" u="sng" dirty="0">
                <a:solidFill>
                  <a:srgbClr val="FF0000"/>
                </a:solidFill>
              </a:rPr>
              <a:t>management review: </a:t>
            </a:r>
            <a:r>
              <a:rPr lang="en-US" sz="2400" dirty="0"/>
              <a:t>A systematic evaluation of a software acquisition, supply, development, operation, or maintenance process performed by or on behalf of management that monitors progress, determines the status of plans and schedules, confirms requirements and their system allocation, or evaluates the effectiveness of management approaches used to achieve fitness for purpose.</a:t>
            </a:r>
          </a:p>
          <a:p>
            <a:pPr marL="0" indent="0">
              <a:buNone/>
            </a:pPr>
            <a:endParaRPr lang="en-US" sz="2400" u="sng" dirty="0">
              <a:solidFill>
                <a:srgbClr val="FF0000"/>
              </a:solidFill>
            </a:endParaRPr>
          </a:p>
          <a:p>
            <a:pPr marL="0" indent="0">
              <a:buNone/>
            </a:pPr>
            <a:r>
              <a:rPr lang="en-US" sz="2400" u="sng" dirty="0">
                <a:solidFill>
                  <a:srgbClr val="FF0000"/>
                </a:solidFill>
              </a:rPr>
              <a:t>Technical Review : </a:t>
            </a:r>
          </a:p>
          <a:p>
            <a:pPr marL="0" indent="0">
              <a:buNone/>
            </a:pPr>
            <a:r>
              <a:rPr lang="en-US" sz="2400" dirty="0"/>
              <a:t>Evaluate the product to determine its suitability for its intended use. Identify discrepancies from specification and standards.</a:t>
            </a:r>
          </a:p>
          <a:p>
            <a:pPr marL="0" indent="0">
              <a:buNone/>
            </a:pPr>
            <a:endParaRPr lang="en-US" sz="2400" dirty="0"/>
          </a:p>
          <a:p>
            <a:pPr marL="0" indent="0">
              <a:buNone/>
            </a:pPr>
            <a:endParaRPr lang="en-US" sz="2400" dirty="0"/>
          </a:p>
          <a:p>
            <a:pPr marL="0" indent="0">
              <a:buNone/>
            </a:pPr>
            <a:endParaRPr lang="en-US" sz="2400" dirty="0"/>
          </a:p>
        </p:txBody>
      </p:sp>
    </p:spTree>
    <p:extLst>
      <p:ext uri="{BB962C8B-B14F-4D97-AF65-F5344CB8AC3E}">
        <p14:creationId xmlns:p14="http://schemas.microsoft.com/office/powerpoint/2010/main" val="457833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dirty="0"/>
              <a:t>Few definitions</a:t>
            </a:r>
          </a:p>
        </p:txBody>
      </p:sp>
      <p:sp>
        <p:nvSpPr>
          <p:cNvPr id="3" name="Content Placeholder 2"/>
          <p:cNvSpPr>
            <a:spLocks noGrp="1"/>
          </p:cNvSpPr>
          <p:nvPr>
            <p:ph idx="1"/>
          </p:nvPr>
        </p:nvSpPr>
        <p:spPr>
          <a:xfrm>
            <a:off x="457200" y="1371600"/>
            <a:ext cx="8229600" cy="4525963"/>
          </a:xfrm>
        </p:spPr>
        <p:txBody>
          <a:bodyPr>
            <a:normAutofit fontScale="77500" lnSpcReduction="20000"/>
          </a:bodyPr>
          <a:lstStyle/>
          <a:p>
            <a:pPr marL="0" indent="0">
              <a:buNone/>
            </a:pPr>
            <a:r>
              <a:rPr lang="en-US" u="sng" dirty="0">
                <a:solidFill>
                  <a:srgbClr val="FF0000"/>
                </a:solidFill>
              </a:rPr>
              <a:t>Inspection : </a:t>
            </a:r>
          </a:p>
          <a:p>
            <a:pPr marL="0" indent="0" algn="just">
              <a:buNone/>
            </a:pPr>
            <a:r>
              <a:rPr lang="en-US" dirty="0"/>
              <a:t>A formal evaluation technique in which software requirements, design, or code are examined in detail by person or group other than the author to detect faults, violations of development standards, and other problems [IEEE94]. Here, documents or code is provided to reviewers beforehand. </a:t>
            </a:r>
          </a:p>
          <a:p>
            <a:pPr marL="0" indent="0">
              <a:buNone/>
            </a:pPr>
            <a:endParaRPr lang="en-US" dirty="0"/>
          </a:p>
          <a:p>
            <a:pPr marL="0" indent="0">
              <a:buNone/>
            </a:pPr>
            <a:r>
              <a:rPr lang="en-US" u="sng" dirty="0">
                <a:solidFill>
                  <a:srgbClr val="FF0000"/>
                </a:solidFill>
              </a:rPr>
              <a:t>Walkthrough: </a:t>
            </a:r>
          </a:p>
          <a:p>
            <a:pPr marL="0" indent="0" algn="just">
              <a:buNone/>
            </a:pPr>
            <a:r>
              <a:rPr lang="en-US" dirty="0"/>
              <a:t>Another formal process in which the author of the code formally presents the requirements, design, or code to a small group reviewers. Reviewers listen and ask questions.</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145735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Few definitions</a:t>
            </a:r>
          </a:p>
        </p:txBody>
      </p:sp>
      <p:sp>
        <p:nvSpPr>
          <p:cNvPr id="3" name="Content Placeholder 2"/>
          <p:cNvSpPr>
            <a:spLocks noGrp="1"/>
          </p:cNvSpPr>
          <p:nvPr>
            <p:ph idx="1"/>
          </p:nvPr>
        </p:nvSpPr>
        <p:spPr/>
        <p:txBody>
          <a:bodyPr>
            <a:normAutofit/>
          </a:bodyPr>
          <a:lstStyle/>
          <a:p>
            <a:pPr marL="0" indent="0" algn="just">
              <a:buNone/>
            </a:pPr>
            <a:r>
              <a:rPr lang="en-US" b="1" u="sng" dirty="0">
                <a:solidFill>
                  <a:srgbClr val="FF0000"/>
                </a:solidFill>
              </a:rPr>
              <a:t>audit: </a:t>
            </a:r>
            <a:r>
              <a:rPr lang="en-US" dirty="0"/>
              <a:t>An independent examination of a software product, software process, or set of software processes to assess compliance with specifications, standards, contractual agreements, or other criteria.</a:t>
            </a:r>
          </a:p>
          <a:p>
            <a:pPr marL="0" indent="0">
              <a:buNone/>
            </a:pPr>
            <a:endParaRPr lang="en-US" dirty="0"/>
          </a:p>
        </p:txBody>
      </p:sp>
    </p:spTree>
    <p:extLst>
      <p:ext uri="{BB962C8B-B14F-4D97-AF65-F5344CB8AC3E}">
        <p14:creationId xmlns:p14="http://schemas.microsoft.com/office/powerpoint/2010/main" val="3833939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49D405B6-A2D8-4D92-83B8-30E3B96DE8AD}" type="slidenum">
              <a:rPr lang="en-US"/>
              <a:pPr/>
              <a:t>10</a:t>
            </a:fld>
            <a:endParaRPr lang="en-US"/>
          </a:p>
        </p:txBody>
      </p:sp>
      <p:sp>
        <p:nvSpPr>
          <p:cNvPr id="192514" name="Rectangle 2"/>
          <p:cNvSpPr>
            <a:spLocks noGrp="1" noChangeArrowheads="1"/>
          </p:cNvSpPr>
          <p:nvPr>
            <p:ph type="title"/>
          </p:nvPr>
        </p:nvSpPr>
        <p:spPr>
          <a:xfrm>
            <a:off x="457200" y="152400"/>
            <a:ext cx="8229600" cy="838200"/>
          </a:xfrm>
        </p:spPr>
        <p:txBody>
          <a:bodyPr/>
          <a:lstStyle/>
          <a:p>
            <a:r>
              <a:rPr lang="en-US" dirty="0"/>
              <a:t>Informal (Technical) Reviews</a:t>
            </a:r>
          </a:p>
        </p:txBody>
      </p:sp>
      <p:sp>
        <p:nvSpPr>
          <p:cNvPr id="192515" name="Rectangle 3"/>
          <p:cNvSpPr>
            <a:spLocks noGrp="1" noChangeArrowheads="1"/>
          </p:cNvSpPr>
          <p:nvPr>
            <p:ph type="body" idx="1"/>
          </p:nvPr>
        </p:nvSpPr>
        <p:spPr>
          <a:xfrm>
            <a:off x="457200" y="1143000"/>
            <a:ext cx="8229600" cy="4525963"/>
          </a:xfrm>
        </p:spPr>
        <p:txBody>
          <a:bodyPr>
            <a:normAutofit fontScale="92500" lnSpcReduction="10000"/>
          </a:bodyPr>
          <a:lstStyle/>
          <a:p>
            <a:r>
              <a:rPr lang="en-US" dirty="0">
                <a:latin typeface="Times" pitchFamily="-128" charset="0"/>
              </a:rPr>
              <a:t>Informal reviews include:</a:t>
            </a:r>
          </a:p>
          <a:p>
            <a:pPr lvl="1"/>
            <a:r>
              <a:rPr lang="en-US" dirty="0">
                <a:latin typeface="Times" pitchFamily="-128" charset="0"/>
              </a:rPr>
              <a:t>a simple desk check of a software engineering work product with a colleague</a:t>
            </a:r>
          </a:p>
          <a:p>
            <a:pPr lvl="1"/>
            <a:r>
              <a:rPr lang="en-US" dirty="0">
                <a:latin typeface="Times" pitchFamily="-128" charset="0"/>
              </a:rPr>
              <a:t>a casual meeting (involving more than 2 people) for the purpose of reviewing a work product, or </a:t>
            </a:r>
          </a:p>
          <a:p>
            <a:pPr lvl="1"/>
            <a:r>
              <a:rPr lang="en-US" dirty="0">
                <a:latin typeface="Times" pitchFamily="-128" charset="0"/>
              </a:rPr>
              <a:t>the review-oriented aspects of pair programming</a:t>
            </a:r>
          </a:p>
          <a:p>
            <a:r>
              <a:rPr lang="en-US" i="1" dirty="0">
                <a:solidFill>
                  <a:schemeClr val="folHlink"/>
                </a:solidFill>
                <a:latin typeface="Times" pitchFamily="-128" charset="0"/>
              </a:rPr>
              <a:t>pair programming</a:t>
            </a:r>
            <a:r>
              <a:rPr lang="en-US" dirty="0">
                <a:latin typeface="Times" pitchFamily="-128" charset="0"/>
              </a:rPr>
              <a:t> encourages continuous review as a work product (design or code) is created. </a:t>
            </a:r>
          </a:p>
          <a:p>
            <a:pPr lvl="1"/>
            <a:r>
              <a:rPr lang="en-US" dirty="0">
                <a:latin typeface="Times" pitchFamily="-128" charset="0"/>
              </a:rPr>
              <a:t>The benefit is immediate discovery of errors and better work product quality as a consequence.</a:t>
            </a:r>
          </a:p>
        </p:txBody>
      </p:sp>
    </p:spTree>
    <p:extLst>
      <p:ext uri="{BB962C8B-B14F-4D97-AF65-F5344CB8AC3E}">
        <p14:creationId xmlns:p14="http://schemas.microsoft.com/office/powerpoint/2010/main" val="4063274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B8E8BA03-97BA-4921-8058-6CB98D290771}" type="slidenum">
              <a:rPr lang="en-US"/>
              <a:pPr/>
              <a:t>11</a:t>
            </a:fld>
            <a:endParaRPr lang="en-US"/>
          </a:p>
        </p:txBody>
      </p:sp>
      <p:sp>
        <p:nvSpPr>
          <p:cNvPr id="191490" name="Rectangle 2"/>
          <p:cNvSpPr>
            <a:spLocks noGrp="1" noChangeArrowheads="1"/>
          </p:cNvSpPr>
          <p:nvPr>
            <p:ph type="title"/>
          </p:nvPr>
        </p:nvSpPr>
        <p:spPr/>
        <p:txBody>
          <a:bodyPr/>
          <a:lstStyle/>
          <a:p>
            <a:r>
              <a:rPr lang="en-US" dirty="0"/>
              <a:t>Review: Reference Model</a:t>
            </a:r>
          </a:p>
        </p:txBody>
      </p:sp>
      <p:pic>
        <p:nvPicPr>
          <p:cNvPr id="191492" name="Picture 4" descr="Figure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1371600"/>
            <a:ext cx="4419600" cy="43729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1860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DBFEC6B4-FD1B-49CB-82E1-832B4EC16E21}" type="slidenum">
              <a:rPr lang="en-US"/>
              <a:pPr/>
              <a:t>12</a:t>
            </a:fld>
            <a:endParaRPr lang="en-US"/>
          </a:p>
        </p:txBody>
      </p:sp>
      <p:sp>
        <p:nvSpPr>
          <p:cNvPr id="193538" name="Rectangle 2"/>
          <p:cNvSpPr>
            <a:spLocks noGrp="1" noChangeArrowheads="1"/>
          </p:cNvSpPr>
          <p:nvPr>
            <p:ph type="title"/>
          </p:nvPr>
        </p:nvSpPr>
        <p:spPr/>
        <p:txBody>
          <a:bodyPr/>
          <a:lstStyle/>
          <a:p>
            <a:r>
              <a:rPr lang="en-US" dirty="0"/>
              <a:t>Formal Technical Reviews (FTR)</a:t>
            </a:r>
          </a:p>
        </p:txBody>
      </p:sp>
      <p:sp>
        <p:nvSpPr>
          <p:cNvPr id="193539" name="Rectangle 3"/>
          <p:cNvSpPr>
            <a:spLocks noGrp="1" noChangeArrowheads="1"/>
          </p:cNvSpPr>
          <p:nvPr>
            <p:ph type="body" idx="1"/>
          </p:nvPr>
        </p:nvSpPr>
        <p:spPr/>
        <p:txBody>
          <a:bodyPr>
            <a:normAutofit fontScale="85000" lnSpcReduction="10000"/>
          </a:bodyPr>
          <a:lstStyle/>
          <a:p>
            <a:r>
              <a:rPr lang="en-US" dirty="0">
                <a:latin typeface="Times" pitchFamily="-128" charset="0"/>
              </a:rPr>
              <a:t>The objectives of an FTR are: </a:t>
            </a:r>
          </a:p>
          <a:p>
            <a:pPr lvl="1"/>
            <a:r>
              <a:rPr lang="en-US" dirty="0">
                <a:latin typeface="Times" pitchFamily="-128" charset="0"/>
              </a:rPr>
              <a:t>to uncover errors in function, logic, or implementation for any representation of the software</a:t>
            </a:r>
          </a:p>
          <a:p>
            <a:pPr lvl="1"/>
            <a:r>
              <a:rPr lang="en-US" dirty="0">
                <a:latin typeface="Times" pitchFamily="-128" charset="0"/>
              </a:rPr>
              <a:t>to verify that the software under review meets its requirements</a:t>
            </a:r>
          </a:p>
          <a:p>
            <a:pPr lvl="1"/>
            <a:r>
              <a:rPr lang="en-US" dirty="0">
                <a:latin typeface="Times" pitchFamily="-128" charset="0"/>
              </a:rPr>
              <a:t>to ensure that the software has been represented according to predefined standards</a:t>
            </a:r>
          </a:p>
          <a:p>
            <a:pPr lvl="1"/>
            <a:r>
              <a:rPr lang="en-US" dirty="0">
                <a:latin typeface="Times" pitchFamily="-128" charset="0"/>
              </a:rPr>
              <a:t>to achieve software that is developed in a uniform manner</a:t>
            </a:r>
          </a:p>
          <a:p>
            <a:pPr lvl="1"/>
            <a:r>
              <a:rPr lang="en-US" dirty="0">
                <a:latin typeface="Times" pitchFamily="-128" charset="0"/>
              </a:rPr>
              <a:t>to make projects more manageable</a:t>
            </a:r>
          </a:p>
          <a:p>
            <a:r>
              <a:rPr lang="en-US" dirty="0">
                <a:latin typeface="Times" pitchFamily="-128" charset="0"/>
              </a:rPr>
              <a:t>The FTR is actually a class of reviews that includes </a:t>
            </a:r>
            <a:r>
              <a:rPr lang="en-US" i="1" dirty="0">
                <a:solidFill>
                  <a:schemeClr val="folHlink"/>
                </a:solidFill>
                <a:latin typeface="Times" pitchFamily="-128" charset="0"/>
              </a:rPr>
              <a:t>walkthroughs</a:t>
            </a:r>
            <a:r>
              <a:rPr lang="en-US" dirty="0">
                <a:latin typeface="Times" pitchFamily="-128" charset="0"/>
              </a:rPr>
              <a:t> and </a:t>
            </a:r>
            <a:r>
              <a:rPr lang="en-US" i="1" dirty="0">
                <a:solidFill>
                  <a:schemeClr val="folHlink"/>
                </a:solidFill>
                <a:latin typeface="Times" pitchFamily="-128" charset="0"/>
              </a:rPr>
              <a:t>inspections</a:t>
            </a:r>
            <a:r>
              <a:rPr lang="en-US" i="1" dirty="0">
                <a:latin typeface="Times" pitchFamily="-128" charset="0"/>
              </a:rPr>
              <a:t>.</a:t>
            </a:r>
          </a:p>
        </p:txBody>
      </p:sp>
    </p:spTree>
    <p:extLst>
      <p:ext uri="{BB962C8B-B14F-4D97-AF65-F5344CB8AC3E}">
        <p14:creationId xmlns:p14="http://schemas.microsoft.com/office/powerpoint/2010/main" val="2759431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4827EA3D-4098-423D-B579-7B39B316A168}" type="slidenum">
              <a:rPr lang="en-US"/>
              <a:pPr/>
              <a:t>13</a:t>
            </a:fld>
            <a:endParaRPr lang="en-US"/>
          </a:p>
        </p:txBody>
      </p:sp>
      <p:sp>
        <p:nvSpPr>
          <p:cNvPr id="194562" name="Rectangle 2"/>
          <p:cNvSpPr>
            <a:spLocks noGrp="1" noChangeArrowheads="1"/>
          </p:cNvSpPr>
          <p:nvPr>
            <p:ph type="title"/>
          </p:nvPr>
        </p:nvSpPr>
        <p:spPr/>
        <p:txBody>
          <a:bodyPr/>
          <a:lstStyle/>
          <a:p>
            <a:r>
              <a:rPr lang="en-US"/>
              <a:t>The Review Meeting</a:t>
            </a:r>
          </a:p>
        </p:txBody>
      </p:sp>
      <p:sp>
        <p:nvSpPr>
          <p:cNvPr id="194563" name="Rectangle 3"/>
          <p:cNvSpPr>
            <a:spLocks noGrp="1" noChangeArrowheads="1"/>
          </p:cNvSpPr>
          <p:nvPr>
            <p:ph type="body" idx="1"/>
          </p:nvPr>
        </p:nvSpPr>
        <p:spPr>
          <a:xfrm>
            <a:off x="457200" y="1371600"/>
            <a:ext cx="8229600" cy="4525963"/>
          </a:xfrm>
        </p:spPr>
        <p:txBody>
          <a:bodyPr>
            <a:normAutofit fontScale="92500" lnSpcReduction="10000"/>
          </a:bodyPr>
          <a:lstStyle/>
          <a:p>
            <a:pPr>
              <a:spcBef>
                <a:spcPts val="300"/>
              </a:spcBef>
            </a:pPr>
            <a:r>
              <a:rPr lang="en-US" dirty="0">
                <a:latin typeface="Times" pitchFamily="-128" charset="0"/>
              </a:rPr>
              <a:t>Between three and five people (typically) should be involved in the review.</a:t>
            </a:r>
          </a:p>
          <a:p>
            <a:pPr>
              <a:spcBef>
                <a:spcPts val="300"/>
              </a:spcBef>
            </a:pPr>
            <a:r>
              <a:rPr lang="en-US" dirty="0">
                <a:latin typeface="Times" pitchFamily="-128" charset="0"/>
              </a:rPr>
              <a:t>Advance preparation should occur but should require no more than two hours of work for each person.</a:t>
            </a:r>
          </a:p>
          <a:p>
            <a:pPr>
              <a:spcBef>
                <a:spcPts val="300"/>
              </a:spcBef>
            </a:pPr>
            <a:r>
              <a:rPr lang="en-US" dirty="0">
                <a:latin typeface="Times" pitchFamily="-128" charset="0"/>
              </a:rPr>
              <a:t>The duration of the review meeting should be less than two hours.</a:t>
            </a:r>
          </a:p>
          <a:p>
            <a:pPr>
              <a:spcBef>
                <a:spcPts val="300"/>
              </a:spcBef>
            </a:pPr>
            <a:r>
              <a:rPr lang="en-US" dirty="0">
                <a:latin typeface="Times" pitchFamily="-128" charset="0"/>
              </a:rPr>
              <a:t>Focus is on a work product (e.g., a portion of a requirements model, a detailed component design, source code for a component)</a:t>
            </a:r>
            <a:endParaRPr lang="en-US" dirty="0">
              <a:latin typeface="Palatino" pitchFamily="-128" charset="0"/>
            </a:endParaRPr>
          </a:p>
        </p:txBody>
      </p:sp>
    </p:spTree>
    <p:extLst>
      <p:ext uri="{BB962C8B-B14F-4D97-AF65-F5344CB8AC3E}">
        <p14:creationId xmlns:p14="http://schemas.microsoft.com/office/powerpoint/2010/main" val="3767109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Slide Number Placeholder 4"/>
          <p:cNvSpPr>
            <a:spLocks noGrp="1"/>
          </p:cNvSpPr>
          <p:nvPr>
            <p:ph type="sldNum" sz="quarter" idx="11"/>
          </p:nvPr>
        </p:nvSpPr>
        <p:spPr>
          <a:xfrm>
            <a:off x="2089150" y="5637862"/>
            <a:ext cx="2895600" cy="365125"/>
          </a:xfrm>
        </p:spPr>
        <p:txBody>
          <a:bodyPr/>
          <a:lstStyle/>
          <a:p>
            <a:fld id="{871C6D52-171F-450A-85F3-DCEB217AA3B4}" type="slidenum">
              <a:rPr lang="en-US"/>
              <a:pPr/>
              <a:t>14</a:t>
            </a:fld>
            <a:endParaRPr lang="en-US"/>
          </a:p>
        </p:txBody>
      </p:sp>
      <p:sp>
        <p:nvSpPr>
          <p:cNvPr id="202754" name="Rectangle 2"/>
          <p:cNvSpPr>
            <a:spLocks noGrp="1" noChangeArrowheads="1"/>
          </p:cNvSpPr>
          <p:nvPr>
            <p:ph type="title"/>
          </p:nvPr>
        </p:nvSpPr>
        <p:spPr>
          <a:xfrm>
            <a:off x="1377156" y="381000"/>
            <a:ext cx="5838825" cy="633412"/>
          </a:xfrm>
          <a:noFill/>
          <a:ln/>
          <a:extLst>
            <a:ext uri="{91240B29-F687-4F45-9708-019B960494DF}">
              <a14:hiddenLine xmlns:a14="http://schemas.microsoft.com/office/drawing/2010/main" w="12700">
                <a:solidFill>
                  <a:schemeClr val="tx1"/>
                </a:solidFill>
                <a:miter lim="800000"/>
                <a:headEnd/>
                <a:tailEnd/>
              </a14:hiddenLine>
            </a:ext>
          </a:extLst>
        </p:spPr>
        <p:txBody>
          <a:bodyPr lIns="90487" tIns="44450" rIns="90487" bIns="44450" anchor="ctr">
            <a:normAutofit fontScale="90000"/>
          </a:bodyPr>
          <a:lstStyle/>
          <a:p>
            <a:r>
              <a:rPr lang="en-US" dirty="0"/>
              <a:t>A Typical Review Meeting</a:t>
            </a:r>
          </a:p>
        </p:txBody>
      </p:sp>
      <p:sp>
        <p:nvSpPr>
          <p:cNvPr id="202755" name="Freeform 3"/>
          <p:cNvSpPr>
            <a:spLocks/>
          </p:cNvSpPr>
          <p:nvPr/>
        </p:nvSpPr>
        <p:spPr bwMode="auto">
          <a:xfrm>
            <a:off x="4741863" y="2735912"/>
            <a:ext cx="277812" cy="544513"/>
          </a:xfrm>
          <a:custGeom>
            <a:avLst/>
            <a:gdLst>
              <a:gd name="T0" fmla="*/ 0 w 175"/>
              <a:gd name="T1" fmla="*/ 247 h 305"/>
              <a:gd name="T2" fmla="*/ 0 w 175"/>
              <a:gd name="T3" fmla="*/ 0 h 305"/>
              <a:gd name="T4" fmla="*/ 174 w 175"/>
              <a:gd name="T5" fmla="*/ 71 h 305"/>
              <a:gd name="T6" fmla="*/ 119 w 175"/>
              <a:gd name="T7" fmla="*/ 304 h 305"/>
              <a:gd name="T8" fmla="*/ 0 w 175"/>
              <a:gd name="T9" fmla="*/ 247 h 305"/>
            </a:gdLst>
            <a:ahLst/>
            <a:cxnLst>
              <a:cxn ang="0">
                <a:pos x="T0" y="T1"/>
              </a:cxn>
              <a:cxn ang="0">
                <a:pos x="T2" y="T3"/>
              </a:cxn>
              <a:cxn ang="0">
                <a:pos x="T4" y="T5"/>
              </a:cxn>
              <a:cxn ang="0">
                <a:pos x="T6" y="T7"/>
              </a:cxn>
              <a:cxn ang="0">
                <a:pos x="T8" y="T9"/>
              </a:cxn>
            </a:cxnLst>
            <a:rect l="0" t="0" r="r" b="b"/>
            <a:pathLst>
              <a:path w="175" h="305">
                <a:moveTo>
                  <a:pt x="0" y="247"/>
                </a:moveTo>
                <a:lnTo>
                  <a:pt x="0" y="0"/>
                </a:lnTo>
                <a:lnTo>
                  <a:pt x="174" y="71"/>
                </a:lnTo>
                <a:lnTo>
                  <a:pt x="119" y="304"/>
                </a:lnTo>
                <a:lnTo>
                  <a:pt x="0" y="247"/>
                </a:lnTo>
              </a:path>
            </a:pathLst>
          </a:custGeom>
          <a:solidFill>
            <a:schemeClr val="folHlink"/>
          </a:solidFill>
          <a:ln w="254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56" name="Freeform 4"/>
          <p:cNvSpPr>
            <a:spLocks/>
          </p:cNvSpPr>
          <p:nvPr/>
        </p:nvSpPr>
        <p:spPr bwMode="auto">
          <a:xfrm>
            <a:off x="2373313" y="2774012"/>
            <a:ext cx="4346575" cy="1328738"/>
          </a:xfrm>
          <a:custGeom>
            <a:avLst/>
            <a:gdLst>
              <a:gd name="T0" fmla="*/ 0 w 2738"/>
              <a:gd name="T1" fmla="*/ 0 h 744"/>
              <a:gd name="T2" fmla="*/ 912 w 2738"/>
              <a:gd name="T3" fmla="*/ 0 h 744"/>
              <a:gd name="T4" fmla="*/ 2737 w 2738"/>
              <a:gd name="T5" fmla="*/ 743 h 744"/>
              <a:gd name="T6" fmla="*/ 1039 w 2738"/>
              <a:gd name="T7" fmla="*/ 743 h 744"/>
              <a:gd name="T8" fmla="*/ 0 w 2738"/>
              <a:gd name="T9" fmla="*/ 0 h 744"/>
            </a:gdLst>
            <a:ahLst/>
            <a:cxnLst>
              <a:cxn ang="0">
                <a:pos x="T0" y="T1"/>
              </a:cxn>
              <a:cxn ang="0">
                <a:pos x="T2" y="T3"/>
              </a:cxn>
              <a:cxn ang="0">
                <a:pos x="T4" y="T5"/>
              </a:cxn>
              <a:cxn ang="0">
                <a:pos x="T6" y="T7"/>
              </a:cxn>
              <a:cxn ang="0">
                <a:pos x="T8" y="T9"/>
              </a:cxn>
            </a:cxnLst>
            <a:rect l="0" t="0" r="r" b="b"/>
            <a:pathLst>
              <a:path w="2738" h="744">
                <a:moveTo>
                  <a:pt x="0" y="0"/>
                </a:moveTo>
                <a:lnTo>
                  <a:pt x="912" y="0"/>
                </a:lnTo>
                <a:lnTo>
                  <a:pt x="2737" y="743"/>
                </a:lnTo>
                <a:lnTo>
                  <a:pt x="1039" y="743"/>
                </a:lnTo>
                <a:lnTo>
                  <a:pt x="0" y="0"/>
                </a:lnTo>
              </a:path>
            </a:pathLst>
          </a:custGeom>
          <a:solidFill>
            <a:srgbClr val="919191"/>
          </a:solidFill>
          <a:ln>
            <a:noFill/>
          </a:ln>
          <a:effectLst/>
          <a:extLst>
            <a:ext uri="{91240B29-F687-4F45-9708-019B960494DF}">
              <a14:hiddenLine xmlns:a14="http://schemas.microsoft.com/office/drawing/2010/main" w="25400" cap="rnd">
                <a:solidFill>
                  <a:schemeClr val="tx1"/>
                </a:solidFill>
                <a:round/>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57" name="Rectangle 5"/>
          <p:cNvSpPr>
            <a:spLocks noChangeArrowheads="1"/>
          </p:cNvSpPr>
          <p:nvPr/>
        </p:nvSpPr>
        <p:spPr bwMode="auto">
          <a:xfrm>
            <a:off x="4030663" y="4094812"/>
            <a:ext cx="2681287" cy="190500"/>
          </a:xfrm>
          <a:prstGeom prst="rect">
            <a:avLst/>
          </a:prstGeom>
          <a:solidFill>
            <a:srgbClr val="712000"/>
          </a:solidFill>
          <a:ln w="12700">
            <a:solidFill>
              <a:srgbClr val="000000"/>
            </a:solidFill>
            <a:miter lim="800000"/>
            <a:headEnd/>
            <a:tailEn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a:p>
        </p:txBody>
      </p:sp>
      <p:sp>
        <p:nvSpPr>
          <p:cNvPr id="202758" name="Freeform 6"/>
          <p:cNvSpPr>
            <a:spLocks/>
          </p:cNvSpPr>
          <p:nvPr/>
        </p:nvSpPr>
        <p:spPr bwMode="auto">
          <a:xfrm>
            <a:off x="2373313" y="2774012"/>
            <a:ext cx="1639887" cy="1506538"/>
          </a:xfrm>
          <a:custGeom>
            <a:avLst/>
            <a:gdLst>
              <a:gd name="T0" fmla="*/ 1032 w 1033"/>
              <a:gd name="T1" fmla="*/ 731 h 844"/>
              <a:gd name="T2" fmla="*/ 0 w 1033"/>
              <a:gd name="T3" fmla="*/ 0 h 844"/>
              <a:gd name="T4" fmla="*/ 0 w 1033"/>
              <a:gd name="T5" fmla="*/ 63 h 844"/>
              <a:gd name="T6" fmla="*/ 1032 w 1033"/>
              <a:gd name="T7" fmla="*/ 843 h 844"/>
              <a:gd name="T8" fmla="*/ 1032 w 1033"/>
              <a:gd name="T9" fmla="*/ 731 h 844"/>
            </a:gdLst>
            <a:ahLst/>
            <a:cxnLst>
              <a:cxn ang="0">
                <a:pos x="T0" y="T1"/>
              </a:cxn>
              <a:cxn ang="0">
                <a:pos x="T2" y="T3"/>
              </a:cxn>
              <a:cxn ang="0">
                <a:pos x="T4" y="T5"/>
              </a:cxn>
              <a:cxn ang="0">
                <a:pos x="T6" y="T7"/>
              </a:cxn>
              <a:cxn ang="0">
                <a:pos x="T8" y="T9"/>
              </a:cxn>
            </a:cxnLst>
            <a:rect l="0" t="0" r="r" b="b"/>
            <a:pathLst>
              <a:path w="1033" h="844">
                <a:moveTo>
                  <a:pt x="1032" y="731"/>
                </a:moveTo>
                <a:lnTo>
                  <a:pt x="0" y="0"/>
                </a:lnTo>
                <a:lnTo>
                  <a:pt x="0" y="63"/>
                </a:lnTo>
                <a:lnTo>
                  <a:pt x="1032" y="843"/>
                </a:lnTo>
                <a:lnTo>
                  <a:pt x="1032" y="731"/>
                </a:lnTo>
              </a:path>
            </a:pathLst>
          </a:custGeom>
          <a:solidFill>
            <a:srgbClr val="712000"/>
          </a:solidFill>
          <a:ln>
            <a:noFill/>
          </a:ln>
          <a:effectLst/>
          <a:extLst>
            <a:ext uri="{91240B29-F687-4F45-9708-019B960494DF}">
              <a14:hiddenLine xmlns:a14="http://schemas.microsoft.com/office/drawing/2010/main" w="12700" cap="rnd">
                <a:solidFill>
                  <a:schemeClr val="tx1"/>
                </a:solidFill>
                <a:round/>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59" name="Freeform 7"/>
          <p:cNvSpPr>
            <a:spLocks/>
          </p:cNvSpPr>
          <p:nvPr/>
        </p:nvSpPr>
        <p:spPr bwMode="auto">
          <a:xfrm>
            <a:off x="2373313" y="2774012"/>
            <a:ext cx="1652587" cy="1519238"/>
          </a:xfrm>
          <a:custGeom>
            <a:avLst/>
            <a:gdLst>
              <a:gd name="T0" fmla="*/ 1040 w 1041"/>
              <a:gd name="T1" fmla="*/ 737 h 851"/>
              <a:gd name="T2" fmla="*/ 0 w 1041"/>
              <a:gd name="T3" fmla="*/ 0 h 851"/>
              <a:gd name="T4" fmla="*/ 0 w 1041"/>
              <a:gd name="T5" fmla="*/ 64 h 851"/>
              <a:gd name="T6" fmla="*/ 1040 w 1041"/>
              <a:gd name="T7" fmla="*/ 850 h 851"/>
              <a:gd name="T8" fmla="*/ 1040 w 1041"/>
              <a:gd name="T9" fmla="*/ 737 h 851"/>
              <a:gd name="T10" fmla="*/ 0 w 1041"/>
              <a:gd name="T11" fmla="*/ 0 h 851"/>
              <a:gd name="T12" fmla="*/ 0 w 1041"/>
              <a:gd name="T13" fmla="*/ 64 h 851"/>
              <a:gd name="T14" fmla="*/ 1040 w 1041"/>
              <a:gd name="T15" fmla="*/ 850 h 851"/>
              <a:gd name="T16" fmla="*/ 1040 w 1041"/>
              <a:gd name="T17" fmla="*/ 737 h 8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1" h="851">
                <a:moveTo>
                  <a:pt x="1040" y="737"/>
                </a:moveTo>
                <a:lnTo>
                  <a:pt x="0" y="0"/>
                </a:lnTo>
                <a:lnTo>
                  <a:pt x="0" y="64"/>
                </a:lnTo>
                <a:lnTo>
                  <a:pt x="1040" y="850"/>
                </a:lnTo>
                <a:lnTo>
                  <a:pt x="1040" y="737"/>
                </a:lnTo>
                <a:lnTo>
                  <a:pt x="0" y="0"/>
                </a:lnTo>
                <a:lnTo>
                  <a:pt x="0" y="64"/>
                </a:lnTo>
                <a:lnTo>
                  <a:pt x="1040" y="850"/>
                </a:lnTo>
                <a:lnTo>
                  <a:pt x="1040" y="737"/>
                </a:lnTo>
              </a:path>
            </a:pathLst>
          </a:custGeom>
          <a:solidFill>
            <a:srgbClr val="712000"/>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60" name="Freeform 8"/>
          <p:cNvSpPr>
            <a:spLocks/>
          </p:cNvSpPr>
          <p:nvPr/>
        </p:nvSpPr>
        <p:spPr bwMode="auto">
          <a:xfrm>
            <a:off x="3094038" y="4077350"/>
            <a:ext cx="455612" cy="546100"/>
          </a:xfrm>
          <a:custGeom>
            <a:avLst/>
            <a:gdLst>
              <a:gd name="T0" fmla="*/ 0 w 287"/>
              <a:gd name="T1" fmla="*/ 50 h 306"/>
              <a:gd name="T2" fmla="*/ 215 w 287"/>
              <a:gd name="T3" fmla="*/ 0 h 306"/>
              <a:gd name="T4" fmla="*/ 175 w 287"/>
              <a:gd name="T5" fmla="*/ 305 h 306"/>
              <a:gd name="T6" fmla="*/ 286 w 287"/>
              <a:gd name="T7" fmla="*/ 270 h 306"/>
            </a:gdLst>
            <a:ahLst/>
            <a:cxnLst>
              <a:cxn ang="0">
                <a:pos x="T0" y="T1"/>
              </a:cxn>
              <a:cxn ang="0">
                <a:pos x="T2" y="T3"/>
              </a:cxn>
              <a:cxn ang="0">
                <a:pos x="T4" y="T5"/>
              </a:cxn>
              <a:cxn ang="0">
                <a:pos x="T6" y="T7"/>
              </a:cxn>
            </a:cxnLst>
            <a:rect l="0" t="0" r="r" b="b"/>
            <a:pathLst>
              <a:path w="287" h="306">
                <a:moveTo>
                  <a:pt x="0" y="50"/>
                </a:moveTo>
                <a:lnTo>
                  <a:pt x="215" y="0"/>
                </a:lnTo>
                <a:lnTo>
                  <a:pt x="175" y="305"/>
                </a:lnTo>
                <a:lnTo>
                  <a:pt x="286" y="27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61" name="Freeform 9"/>
          <p:cNvSpPr>
            <a:spLocks/>
          </p:cNvSpPr>
          <p:nvPr/>
        </p:nvSpPr>
        <p:spPr bwMode="auto">
          <a:xfrm>
            <a:off x="3257550" y="4217050"/>
            <a:ext cx="455613" cy="544512"/>
          </a:xfrm>
          <a:custGeom>
            <a:avLst/>
            <a:gdLst>
              <a:gd name="T0" fmla="*/ 0 w 287"/>
              <a:gd name="T1" fmla="*/ 49 h 305"/>
              <a:gd name="T2" fmla="*/ 215 w 287"/>
              <a:gd name="T3" fmla="*/ 0 h 305"/>
              <a:gd name="T4" fmla="*/ 183 w 287"/>
              <a:gd name="T5" fmla="*/ 304 h 305"/>
              <a:gd name="T6" fmla="*/ 286 w 287"/>
              <a:gd name="T7" fmla="*/ 269 h 305"/>
            </a:gdLst>
            <a:ahLst/>
            <a:cxnLst>
              <a:cxn ang="0">
                <a:pos x="T0" y="T1"/>
              </a:cxn>
              <a:cxn ang="0">
                <a:pos x="T2" y="T3"/>
              </a:cxn>
              <a:cxn ang="0">
                <a:pos x="T4" y="T5"/>
              </a:cxn>
              <a:cxn ang="0">
                <a:pos x="T6" y="T7"/>
              </a:cxn>
            </a:cxnLst>
            <a:rect l="0" t="0" r="r" b="b"/>
            <a:pathLst>
              <a:path w="287" h="305">
                <a:moveTo>
                  <a:pt x="0" y="49"/>
                </a:moveTo>
                <a:lnTo>
                  <a:pt x="215" y="0"/>
                </a:lnTo>
                <a:lnTo>
                  <a:pt x="183" y="304"/>
                </a:lnTo>
                <a:lnTo>
                  <a:pt x="286" y="269"/>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62" name="Freeform 10"/>
          <p:cNvSpPr>
            <a:spLocks/>
          </p:cNvSpPr>
          <p:nvPr/>
        </p:nvSpPr>
        <p:spPr bwMode="auto">
          <a:xfrm>
            <a:off x="2968625" y="3204225"/>
            <a:ext cx="417513" cy="1139825"/>
          </a:xfrm>
          <a:custGeom>
            <a:avLst/>
            <a:gdLst>
              <a:gd name="T0" fmla="*/ 71 w 263"/>
              <a:gd name="T1" fmla="*/ 524 h 638"/>
              <a:gd name="T2" fmla="*/ 0 w 263"/>
              <a:gd name="T3" fmla="*/ 0 h 638"/>
              <a:gd name="T4" fmla="*/ 262 w 263"/>
              <a:gd name="T5" fmla="*/ 127 h 638"/>
              <a:gd name="T6" fmla="*/ 214 w 263"/>
              <a:gd name="T7" fmla="*/ 637 h 638"/>
              <a:gd name="T8" fmla="*/ 71 w 263"/>
              <a:gd name="T9" fmla="*/ 524 h 638"/>
            </a:gdLst>
            <a:ahLst/>
            <a:cxnLst>
              <a:cxn ang="0">
                <a:pos x="T0" y="T1"/>
              </a:cxn>
              <a:cxn ang="0">
                <a:pos x="T2" y="T3"/>
              </a:cxn>
              <a:cxn ang="0">
                <a:pos x="T4" y="T5"/>
              </a:cxn>
              <a:cxn ang="0">
                <a:pos x="T6" y="T7"/>
              </a:cxn>
              <a:cxn ang="0">
                <a:pos x="T8" y="T9"/>
              </a:cxn>
            </a:cxnLst>
            <a:rect l="0" t="0" r="r" b="b"/>
            <a:pathLst>
              <a:path w="263" h="638">
                <a:moveTo>
                  <a:pt x="71" y="524"/>
                </a:moveTo>
                <a:lnTo>
                  <a:pt x="0" y="0"/>
                </a:lnTo>
                <a:lnTo>
                  <a:pt x="262" y="127"/>
                </a:lnTo>
                <a:lnTo>
                  <a:pt x="214" y="637"/>
                </a:lnTo>
                <a:lnTo>
                  <a:pt x="71" y="524"/>
                </a:lnTo>
              </a:path>
            </a:pathLst>
          </a:custGeom>
          <a:solidFill>
            <a:schemeClr val="folHlink"/>
          </a:solidFill>
          <a:ln w="254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63" name="Oval 11"/>
          <p:cNvSpPr>
            <a:spLocks noChangeArrowheads="1"/>
          </p:cNvSpPr>
          <p:nvPr/>
        </p:nvSpPr>
        <p:spPr bwMode="auto">
          <a:xfrm>
            <a:off x="3119438" y="2813700"/>
            <a:ext cx="163512" cy="503237"/>
          </a:xfrm>
          <a:prstGeom prst="ellipse">
            <a:avLst/>
          </a:prstGeom>
          <a:solidFill>
            <a:schemeClr val="folHlink"/>
          </a:solidFill>
          <a:ln w="25400">
            <a:solidFill>
              <a:schemeClr val="tx1"/>
            </a:solidFill>
            <a:round/>
            <a:headEnd/>
            <a:tailEn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a:p>
        </p:txBody>
      </p:sp>
      <p:sp>
        <p:nvSpPr>
          <p:cNvPr id="202764" name="Freeform 12"/>
          <p:cNvSpPr>
            <a:spLocks/>
          </p:cNvSpPr>
          <p:nvPr/>
        </p:nvSpPr>
        <p:spPr bwMode="auto">
          <a:xfrm>
            <a:off x="3371850" y="3443937"/>
            <a:ext cx="568325" cy="496888"/>
          </a:xfrm>
          <a:custGeom>
            <a:avLst/>
            <a:gdLst>
              <a:gd name="T0" fmla="*/ 0 w 358"/>
              <a:gd name="T1" fmla="*/ 0 h 278"/>
              <a:gd name="T2" fmla="*/ 95 w 358"/>
              <a:gd name="T3" fmla="*/ 227 h 278"/>
              <a:gd name="T4" fmla="*/ 357 w 358"/>
              <a:gd name="T5" fmla="*/ 277 h 278"/>
            </a:gdLst>
            <a:ahLst/>
            <a:cxnLst>
              <a:cxn ang="0">
                <a:pos x="T0" y="T1"/>
              </a:cxn>
              <a:cxn ang="0">
                <a:pos x="T2" y="T3"/>
              </a:cxn>
              <a:cxn ang="0">
                <a:pos x="T4" y="T5"/>
              </a:cxn>
            </a:cxnLst>
            <a:rect l="0" t="0" r="r" b="b"/>
            <a:pathLst>
              <a:path w="358" h="278">
                <a:moveTo>
                  <a:pt x="0" y="0"/>
                </a:moveTo>
                <a:lnTo>
                  <a:pt x="95" y="227"/>
                </a:lnTo>
                <a:lnTo>
                  <a:pt x="357" y="277"/>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65" name="Freeform 13"/>
          <p:cNvSpPr>
            <a:spLocks/>
          </p:cNvSpPr>
          <p:nvPr/>
        </p:nvSpPr>
        <p:spPr bwMode="auto">
          <a:xfrm>
            <a:off x="5715000" y="4405962"/>
            <a:ext cx="454025" cy="531813"/>
          </a:xfrm>
          <a:custGeom>
            <a:avLst/>
            <a:gdLst>
              <a:gd name="T0" fmla="*/ 285 w 286"/>
              <a:gd name="T1" fmla="*/ 42 h 298"/>
              <a:gd name="T2" fmla="*/ 71 w 286"/>
              <a:gd name="T3" fmla="*/ 0 h 298"/>
              <a:gd name="T4" fmla="*/ 111 w 286"/>
              <a:gd name="T5" fmla="*/ 297 h 298"/>
              <a:gd name="T6" fmla="*/ 0 w 286"/>
              <a:gd name="T7" fmla="*/ 269 h 298"/>
            </a:gdLst>
            <a:ahLst/>
            <a:cxnLst>
              <a:cxn ang="0">
                <a:pos x="T0" y="T1"/>
              </a:cxn>
              <a:cxn ang="0">
                <a:pos x="T2" y="T3"/>
              </a:cxn>
              <a:cxn ang="0">
                <a:pos x="T4" y="T5"/>
              </a:cxn>
              <a:cxn ang="0">
                <a:pos x="T6" y="T7"/>
              </a:cxn>
            </a:cxnLst>
            <a:rect l="0" t="0" r="r" b="b"/>
            <a:pathLst>
              <a:path w="286" h="298">
                <a:moveTo>
                  <a:pt x="285" y="42"/>
                </a:moveTo>
                <a:lnTo>
                  <a:pt x="71" y="0"/>
                </a:lnTo>
                <a:lnTo>
                  <a:pt x="111" y="297"/>
                </a:lnTo>
                <a:lnTo>
                  <a:pt x="0" y="269"/>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66" name="Freeform 14"/>
          <p:cNvSpPr>
            <a:spLocks/>
          </p:cNvSpPr>
          <p:nvPr/>
        </p:nvSpPr>
        <p:spPr bwMode="auto">
          <a:xfrm>
            <a:off x="5702300" y="4393262"/>
            <a:ext cx="454025" cy="533400"/>
          </a:xfrm>
          <a:custGeom>
            <a:avLst/>
            <a:gdLst>
              <a:gd name="T0" fmla="*/ 285 w 286"/>
              <a:gd name="T1" fmla="*/ 42 h 298"/>
              <a:gd name="T2" fmla="*/ 71 w 286"/>
              <a:gd name="T3" fmla="*/ 0 h 298"/>
              <a:gd name="T4" fmla="*/ 111 w 286"/>
              <a:gd name="T5" fmla="*/ 297 h 298"/>
              <a:gd name="T6" fmla="*/ 0 w 286"/>
              <a:gd name="T7" fmla="*/ 269 h 298"/>
            </a:gdLst>
            <a:ahLst/>
            <a:cxnLst>
              <a:cxn ang="0">
                <a:pos x="T0" y="T1"/>
              </a:cxn>
              <a:cxn ang="0">
                <a:pos x="T2" y="T3"/>
              </a:cxn>
              <a:cxn ang="0">
                <a:pos x="T4" y="T5"/>
              </a:cxn>
              <a:cxn ang="0">
                <a:pos x="T6" y="T7"/>
              </a:cxn>
            </a:cxnLst>
            <a:rect l="0" t="0" r="r" b="b"/>
            <a:pathLst>
              <a:path w="286" h="298">
                <a:moveTo>
                  <a:pt x="285" y="42"/>
                </a:moveTo>
                <a:lnTo>
                  <a:pt x="71" y="0"/>
                </a:lnTo>
                <a:lnTo>
                  <a:pt x="111" y="297"/>
                </a:lnTo>
                <a:lnTo>
                  <a:pt x="0" y="269"/>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67" name="Freeform 15"/>
          <p:cNvSpPr>
            <a:spLocks/>
          </p:cNvSpPr>
          <p:nvPr/>
        </p:nvSpPr>
        <p:spPr bwMode="auto">
          <a:xfrm>
            <a:off x="5551488" y="4544075"/>
            <a:ext cx="454025" cy="546100"/>
          </a:xfrm>
          <a:custGeom>
            <a:avLst/>
            <a:gdLst>
              <a:gd name="T0" fmla="*/ 285 w 286"/>
              <a:gd name="T1" fmla="*/ 50 h 306"/>
              <a:gd name="T2" fmla="*/ 71 w 286"/>
              <a:gd name="T3" fmla="*/ 0 h 306"/>
              <a:gd name="T4" fmla="*/ 103 w 286"/>
              <a:gd name="T5" fmla="*/ 305 h 306"/>
              <a:gd name="T6" fmla="*/ 0 w 286"/>
              <a:gd name="T7" fmla="*/ 270 h 306"/>
            </a:gdLst>
            <a:ahLst/>
            <a:cxnLst>
              <a:cxn ang="0">
                <a:pos x="T0" y="T1"/>
              </a:cxn>
              <a:cxn ang="0">
                <a:pos x="T2" y="T3"/>
              </a:cxn>
              <a:cxn ang="0">
                <a:pos x="T4" y="T5"/>
              </a:cxn>
              <a:cxn ang="0">
                <a:pos x="T6" y="T7"/>
              </a:cxn>
            </a:cxnLst>
            <a:rect l="0" t="0" r="r" b="b"/>
            <a:pathLst>
              <a:path w="286" h="306">
                <a:moveTo>
                  <a:pt x="285" y="50"/>
                </a:moveTo>
                <a:lnTo>
                  <a:pt x="71" y="0"/>
                </a:lnTo>
                <a:lnTo>
                  <a:pt x="103" y="305"/>
                </a:lnTo>
                <a:lnTo>
                  <a:pt x="0" y="27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68" name="Freeform 16"/>
          <p:cNvSpPr>
            <a:spLocks/>
          </p:cNvSpPr>
          <p:nvPr/>
        </p:nvSpPr>
        <p:spPr bwMode="auto">
          <a:xfrm>
            <a:off x="5538788" y="4531375"/>
            <a:ext cx="454025" cy="546100"/>
          </a:xfrm>
          <a:custGeom>
            <a:avLst/>
            <a:gdLst>
              <a:gd name="T0" fmla="*/ 285 w 286"/>
              <a:gd name="T1" fmla="*/ 50 h 306"/>
              <a:gd name="T2" fmla="*/ 71 w 286"/>
              <a:gd name="T3" fmla="*/ 0 h 306"/>
              <a:gd name="T4" fmla="*/ 103 w 286"/>
              <a:gd name="T5" fmla="*/ 305 h 306"/>
              <a:gd name="T6" fmla="*/ 0 w 286"/>
              <a:gd name="T7" fmla="*/ 270 h 306"/>
            </a:gdLst>
            <a:ahLst/>
            <a:cxnLst>
              <a:cxn ang="0">
                <a:pos x="T0" y="T1"/>
              </a:cxn>
              <a:cxn ang="0">
                <a:pos x="T2" y="T3"/>
              </a:cxn>
              <a:cxn ang="0">
                <a:pos x="T4" y="T5"/>
              </a:cxn>
              <a:cxn ang="0">
                <a:pos x="T6" y="T7"/>
              </a:cxn>
            </a:cxnLst>
            <a:rect l="0" t="0" r="r" b="b"/>
            <a:pathLst>
              <a:path w="286" h="306">
                <a:moveTo>
                  <a:pt x="285" y="50"/>
                </a:moveTo>
                <a:lnTo>
                  <a:pt x="71" y="0"/>
                </a:lnTo>
                <a:lnTo>
                  <a:pt x="103" y="305"/>
                </a:lnTo>
                <a:lnTo>
                  <a:pt x="0" y="27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69" name="Freeform 17"/>
          <p:cNvSpPr>
            <a:spLocks/>
          </p:cNvSpPr>
          <p:nvPr/>
        </p:nvSpPr>
        <p:spPr bwMode="auto">
          <a:xfrm>
            <a:off x="5891213" y="3520137"/>
            <a:ext cx="415925" cy="1139825"/>
          </a:xfrm>
          <a:custGeom>
            <a:avLst/>
            <a:gdLst>
              <a:gd name="T0" fmla="*/ 190 w 262"/>
              <a:gd name="T1" fmla="*/ 524 h 638"/>
              <a:gd name="T2" fmla="*/ 261 w 262"/>
              <a:gd name="T3" fmla="*/ 0 h 638"/>
              <a:gd name="T4" fmla="*/ 0 w 262"/>
              <a:gd name="T5" fmla="*/ 127 h 638"/>
              <a:gd name="T6" fmla="*/ 47 w 262"/>
              <a:gd name="T7" fmla="*/ 637 h 638"/>
              <a:gd name="T8" fmla="*/ 190 w 262"/>
              <a:gd name="T9" fmla="*/ 524 h 638"/>
            </a:gdLst>
            <a:ahLst/>
            <a:cxnLst>
              <a:cxn ang="0">
                <a:pos x="T0" y="T1"/>
              </a:cxn>
              <a:cxn ang="0">
                <a:pos x="T2" y="T3"/>
              </a:cxn>
              <a:cxn ang="0">
                <a:pos x="T4" y="T5"/>
              </a:cxn>
              <a:cxn ang="0">
                <a:pos x="T6" y="T7"/>
              </a:cxn>
              <a:cxn ang="0">
                <a:pos x="T8" y="T9"/>
              </a:cxn>
            </a:cxnLst>
            <a:rect l="0" t="0" r="r" b="b"/>
            <a:pathLst>
              <a:path w="262" h="638">
                <a:moveTo>
                  <a:pt x="190" y="524"/>
                </a:moveTo>
                <a:lnTo>
                  <a:pt x="261" y="0"/>
                </a:lnTo>
                <a:lnTo>
                  <a:pt x="0" y="127"/>
                </a:lnTo>
                <a:lnTo>
                  <a:pt x="47" y="637"/>
                </a:lnTo>
                <a:lnTo>
                  <a:pt x="190" y="524"/>
                </a:lnTo>
              </a:path>
            </a:pathLst>
          </a:custGeom>
          <a:solidFill>
            <a:schemeClr val="folHlink"/>
          </a:solidFill>
          <a:ln w="254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70" name="Freeform 18"/>
          <p:cNvSpPr>
            <a:spLocks/>
          </p:cNvSpPr>
          <p:nvPr/>
        </p:nvSpPr>
        <p:spPr bwMode="auto">
          <a:xfrm>
            <a:off x="5878513" y="3507437"/>
            <a:ext cx="417512" cy="1139825"/>
          </a:xfrm>
          <a:custGeom>
            <a:avLst/>
            <a:gdLst>
              <a:gd name="T0" fmla="*/ 191 w 263"/>
              <a:gd name="T1" fmla="*/ 524 h 638"/>
              <a:gd name="T2" fmla="*/ 262 w 263"/>
              <a:gd name="T3" fmla="*/ 0 h 638"/>
              <a:gd name="T4" fmla="*/ 0 w 263"/>
              <a:gd name="T5" fmla="*/ 127 h 638"/>
              <a:gd name="T6" fmla="*/ 48 w 263"/>
              <a:gd name="T7" fmla="*/ 637 h 638"/>
              <a:gd name="T8" fmla="*/ 191 w 263"/>
              <a:gd name="T9" fmla="*/ 524 h 638"/>
            </a:gdLst>
            <a:ahLst/>
            <a:cxnLst>
              <a:cxn ang="0">
                <a:pos x="T0" y="T1"/>
              </a:cxn>
              <a:cxn ang="0">
                <a:pos x="T2" y="T3"/>
              </a:cxn>
              <a:cxn ang="0">
                <a:pos x="T4" y="T5"/>
              </a:cxn>
              <a:cxn ang="0">
                <a:pos x="T6" y="T7"/>
              </a:cxn>
              <a:cxn ang="0">
                <a:pos x="T8" y="T9"/>
              </a:cxn>
            </a:cxnLst>
            <a:rect l="0" t="0" r="r" b="b"/>
            <a:pathLst>
              <a:path w="263" h="638">
                <a:moveTo>
                  <a:pt x="191" y="524"/>
                </a:moveTo>
                <a:lnTo>
                  <a:pt x="262" y="0"/>
                </a:lnTo>
                <a:lnTo>
                  <a:pt x="0" y="127"/>
                </a:lnTo>
                <a:lnTo>
                  <a:pt x="48" y="637"/>
                </a:lnTo>
                <a:lnTo>
                  <a:pt x="191" y="524"/>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71" name="Oval 19"/>
          <p:cNvSpPr>
            <a:spLocks noChangeArrowheads="1"/>
          </p:cNvSpPr>
          <p:nvPr/>
        </p:nvSpPr>
        <p:spPr bwMode="auto">
          <a:xfrm>
            <a:off x="5953125" y="3078812"/>
            <a:ext cx="163513" cy="504825"/>
          </a:xfrm>
          <a:prstGeom prst="ellipse">
            <a:avLst/>
          </a:prstGeom>
          <a:solidFill>
            <a:schemeClr val="folHlink"/>
          </a:solidFill>
          <a:ln w="25400">
            <a:solidFill>
              <a:schemeClr val="tx1"/>
            </a:solidFill>
            <a:round/>
            <a:headEnd/>
            <a:tailEn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a:p>
        </p:txBody>
      </p:sp>
      <p:sp>
        <p:nvSpPr>
          <p:cNvPr id="202772" name="Oval 20"/>
          <p:cNvSpPr>
            <a:spLocks noChangeArrowheads="1"/>
          </p:cNvSpPr>
          <p:nvPr/>
        </p:nvSpPr>
        <p:spPr bwMode="auto">
          <a:xfrm>
            <a:off x="5940425" y="3066112"/>
            <a:ext cx="188913" cy="528638"/>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a:p>
        </p:txBody>
      </p:sp>
      <p:sp>
        <p:nvSpPr>
          <p:cNvPr id="202773" name="Freeform 21"/>
          <p:cNvSpPr>
            <a:spLocks/>
          </p:cNvSpPr>
          <p:nvPr/>
        </p:nvSpPr>
        <p:spPr bwMode="auto">
          <a:xfrm>
            <a:off x="5324475" y="3772550"/>
            <a:ext cx="568325" cy="484187"/>
          </a:xfrm>
          <a:custGeom>
            <a:avLst/>
            <a:gdLst>
              <a:gd name="T0" fmla="*/ 357 w 358"/>
              <a:gd name="T1" fmla="*/ 0 h 271"/>
              <a:gd name="T2" fmla="*/ 262 w 358"/>
              <a:gd name="T3" fmla="*/ 227 h 271"/>
              <a:gd name="T4" fmla="*/ 0 w 358"/>
              <a:gd name="T5" fmla="*/ 270 h 271"/>
            </a:gdLst>
            <a:ahLst/>
            <a:cxnLst>
              <a:cxn ang="0">
                <a:pos x="T0" y="T1"/>
              </a:cxn>
              <a:cxn ang="0">
                <a:pos x="T2" y="T3"/>
              </a:cxn>
              <a:cxn ang="0">
                <a:pos x="T4" y="T5"/>
              </a:cxn>
            </a:cxnLst>
            <a:rect l="0" t="0" r="r" b="b"/>
            <a:pathLst>
              <a:path w="358" h="271">
                <a:moveTo>
                  <a:pt x="357" y="0"/>
                </a:moveTo>
                <a:lnTo>
                  <a:pt x="262" y="227"/>
                </a:lnTo>
                <a:lnTo>
                  <a:pt x="0" y="27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74" name="Freeform 22"/>
          <p:cNvSpPr>
            <a:spLocks/>
          </p:cNvSpPr>
          <p:nvPr/>
        </p:nvSpPr>
        <p:spPr bwMode="auto">
          <a:xfrm>
            <a:off x="5311775" y="3759850"/>
            <a:ext cx="568325" cy="482600"/>
          </a:xfrm>
          <a:custGeom>
            <a:avLst/>
            <a:gdLst>
              <a:gd name="T0" fmla="*/ 357 w 358"/>
              <a:gd name="T1" fmla="*/ 0 h 270"/>
              <a:gd name="T2" fmla="*/ 262 w 358"/>
              <a:gd name="T3" fmla="*/ 227 h 270"/>
              <a:gd name="T4" fmla="*/ 0 w 358"/>
              <a:gd name="T5" fmla="*/ 269 h 270"/>
            </a:gdLst>
            <a:ahLst/>
            <a:cxnLst>
              <a:cxn ang="0">
                <a:pos x="T0" y="T1"/>
              </a:cxn>
              <a:cxn ang="0">
                <a:pos x="T2" y="T3"/>
              </a:cxn>
              <a:cxn ang="0">
                <a:pos x="T4" y="T5"/>
              </a:cxn>
            </a:cxnLst>
            <a:rect l="0" t="0" r="r" b="b"/>
            <a:pathLst>
              <a:path w="358" h="270">
                <a:moveTo>
                  <a:pt x="357" y="0"/>
                </a:moveTo>
                <a:lnTo>
                  <a:pt x="262" y="227"/>
                </a:lnTo>
                <a:lnTo>
                  <a:pt x="0" y="269"/>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75" name="Freeform 23"/>
          <p:cNvSpPr>
            <a:spLocks/>
          </p:cNvSpPr>
          <p:nvPr/>
        </p:nvSpPr>
        <p:spPr bwMode="auto">
          <a:xfrm>
            <a:off x="3054350" y="2343800"/>
            <a:ext cx="252413" cy="519112"/>
          </a:xfrm>
          <a:custGeom>
            <a:avLst/>
            <a:gdLst>
              <a:gd name="T0" fmla="*/ 16 w 159"/>
              <a:gd name="T1" fmla="*/ 0 h 291"/>
              <a:gd name="T2" fmla="*/ 0 w 159"/>
              <a:gd name="T3" fmla="*/ 127 h 291"/>
              <a:gd name="T4" fmla="*/ 158 w 159"/>
              <a:gd name="T5" fmla="*/ 290 h 291"/>
            </a:gdLst>
            <a:ahLst/>
            <a:cxnLst>
              <a:cxn ang="0">
                <a:pos x="T0" y="T1"/>
              </a:cxn>
              <a:cxn ang="0">
                <a:pos x="T2" y="T3"/>
              </a:cxn>
              <a:cxn ang="0">
                <a:pos x="T4" y="T5"/>
              </a:cxn>
            </a:cxnLst>
            <a:rect l="0" t="0" r="r" b="b"/>
            <a:pathLst>
              <a:path w="159" h="291">
                <a:moveTo>
                  <a:pt x="16" y="0"/>
                </a:moveTo>
                <a:lnTo>
                  <a:pt x="0" y="127"/>
                </a:lnTo>
                <a:lnTo>
                  <a:pt x="158" y="29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76" name="Freeform 24"/>
          <p:cNvSpPr>
            <a:spLocks/>
          </p:cNvSpPr>
          <p:nvPr/>
        </p:nvSpPr>
        <p:spPr bwMode="auto">
          <a:xfrm>
            <a:off x="3041650" y="2331100"/>
            <a:ext cx="254000" cy="519112"/>
          </a:xfrm>
          <a:custGeom>
            <a:avLst/>
            <a:gdLst>
              <a:gd name="T0" fmla="*/ 16 w 160"/>
              <a:gd name="T1" fmla="*/ 0 h 291"/>
              <a:gd name="T2" fmla="*/ 0 w 160"/>
              <a:gd name="T3" fmla="*/ 127 h 291"/>
              <a:gd name="T4" fmla="*/ 159 w 160"/>
              <a:gd name="T5" fmla="*/ 290 h 291"/>
            </a:gdLst>
            <a:ahLst/>
            <a:cxnLst>
              <a:cxn ang="0">
                <a:pos x="T0" y="T1"/>
              </a:cxn>
              <a:cxn ang="0">
                <a:pos x="T2" y="T3"/>
              </a:cxn>
              <a:cxn ang="0">
                <a:pos x="T4" y="T5"/>
              </a:cxn>
            </a:cxnLst>
            <a:rect l="0" t="0" r="r" b="b"/>
            <a:pathLst>
              <a:path w="160" h="291">
                <a:moveTo>
                  <a:pt x="16" y="0"/>
                </a:moveTo>
                <a:lnTo>
                  <a:pt x="0" y="127"/>
                </a:lnTo>
                <a:lnTo>
                  <a:pt x="159" y="29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77" name="Freeform 25"/>
          <p:cNvSpPr>
            <a:spLocks/>
          </p:cNvSpPr>
          <p:nvPr/>
        </p:nvSpPr>
        <p:spPr bwMode="auto">
          <a:xfrm>
            <a:off x="3457575" y="2318400"/>
            <a:ext cx="50800" cy="481012"/>
          </a:xfrm>
          <a:custGeom>
            <a:avLst/>
            <a:gdLst>
              <a:gd name="T0" fmla="*/ 0 w 32"/>
              <a:gd name="T1" fmla="*/ 0 h 269"/>
              <a:gd name="T2" fmla="*/ 31 w 32"/>
              <a:gd name="T3" fmla="*/ 162 h 269"/>
              <a:gd name="T4" fmla="*/ 31 w 32"/>
              <a:gd name="T5" fmla="*/ 268 h 269"/>
            </a:gdLst>
            <a:ahLst/>
            <a:cxnLst>
              <a:cxn ang="0">
                <a:pos x="T0" y="T1"/>
              </a:cxn>
              <a:cxn ang="0">
                <a:pos x="T2" y="T3"/>
              </a:cxn>
              <a:cxn ang="0">
                <a:pos x="T4" y="T5"/>
              </a:cxn>
            </a:cxnLst>
            <a:rect l="0" t="0" r="r" b="b"/>
            <a:pathLst>
              <a:path w="32" h="269">
                <a:moveTo>
                  <a:pt x="0" y="0"/>
                </a:moveTo>
                <a:lnTo>
                  <a:pt x="31" y="162"/>
                </a:lnTo>
                <a:lnTo>
                  <a:pt x="31" y="26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78" name="Freeform 26"/>
          <p:cNvSpPr>
            <a:spLocks/>
          </p:cNvSpPr>
          <p:nvPr/>
        </p:nvSpPr>
        <p:spPr bwMode="auto">
          <a:xfrm>
            <a:off x="3444875" y="2305700"/>
            <a:ext cx="50800" cy="482600"/>
          </a:xfrm>
          <a:custGeom>
            <a:avLst/>
            <a:gdLst>
              <a:gd name="T0" fmla="*/ 0 w 32"/>
              <a:gd name="T1" fmla="*/ 0 h 270"/>
              <a:gd name="T2" fmla="*/ 31 w 32"/>
              <a:gd name="T3" fmla="*/ 163 h 270"/>
              <a:gd name="T4" fmla="*/ 31 w 32"/>
              <a:gd name="T5" fmla="*/ 269 h 270"/>
            </a:gdLst>
            <a:ahLst/>
            <a:cxnLst>
              <a:cxn ang="0">
                <a:pos x="T0" y="T1"/>
              </a:cxn>
              <a:cxn ang="0">
                <a:pos x="T2" y="T3"/>
              </a:cxn>
              <a:cxn ang="0">
                <a:pos x="T4" y="T5"/>
              </a:cxn>
            </a:cxnLst>
            <a:rect l="0" t="0" r="r" b="b"/>
            <a:pathLst>
              <a:path w="32" h="270">
                <a:moveTo>
                  <a:pt x="0" y="0"/>
                </a:moveTo>
                <a:lnTo>
                  <a:pt x="31" y="163"/>
                </a:lnTo>
                <a:lnTo>
                  <a:pt x="31" y="269"/>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79" name="Oval 27"/>
          <p:cNvSpPr>
            <a:spLocks noChangeArrowheads="1"/>
          </p:cNvSpPr>
          <p:nvPr/>
        </p:nvSpPr>
        <p:spPr bwMode="auto">
          <a:xfrm>
            <a:off x="3179763" y="1940575"/>
            <a:ext cx="163512" cy="325437"/>
          </a:xfrm>
          <a:prstGeom prst="ellipse">
            <a:avLst/>
          </a:prstGeom>
          <a:solidFill>
            <a:srgbClr val="FFFFFF"/>
          </a:solidFill>
          <a:ln w="25400">
            <a:solidFill>
              <a:schemeClr val="tx1"/>
            </a:solidFill>
            <a:round/>
            <a:headEnd/>
            <a:tailEn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a:p>
        </p:txBody>
      </p:sp>
      <p:sp>
        <p:nvSpPr>
          <p:cNvPr id="202780" name="Oval 28"/>
          <p:cNvSpPr>
            <a:spLocks noChangeArrowheads="1"/>
          </p:cNvSpPr>
          <p:nvPr/>
        </p:nvSpPr>
        <p:spPr bwMode="auto">
          <a:xfrm>
            <a:off x="3167063" y="1927875"/>
            <a:ext cx="188912" cy="350837"/>
          </a:xfrm>
          <a:prstGeom prst="ellipse">
            <a:avLst/>
          </a:prstGeom>
          <a:solidFill>
            <a:schemeClr val="folHlink"/>
          </a:solidFill>
          <a:ln w="25400">
            <a:solidFill>
              <a:schemeClr val="tx1"/>
            </a:solidFill>
            <a:round/>
            <a:headEnd/>
            <a:tailEn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a:p>
        </p:txBody>
      </p:sp>
      <p:sp>
        <p:nvSpPr>
          <p:cNvPr id="202781" name="Oval 29"/>
          <p:cNvSpPr>
            <a:spLocks noChangeArrowheads="1"/>
          </p:cNvSpPr>
          <p:nvPr/>
        </p:nvSpPr>
        <p:spPr bwMode="auto">
          <a:xfrm>
            <a:off x="4829175" y="2332687"/>
            <a:ext cx="101600" cy="450850"/>
          </a:xfrm>
          <a:prstGeom prst="ellipse">
            <a:avLst/>
          </a:prstGeom>
          <a:solidFill>
            <a:srgbClr val="FFFFFF"/>
          </a:solidFill>
          <a:ln w="25400">
            <a:solidFill>
              <a:schemeClr val="tx1"/>
            </a:solidFill>
            <a:round/>
            <a:headEnd/>
            <a:tailEn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a:p>
        </p:txBody>
      </p:sp>
      <p:sp>
        <p:nvSpPr>
          <p:cNvPr id="202782" name="Oval 30"/>
          <p:cNvSpPr>
            <a:spLocks noChangeArrowheads="1"/>
          </p:cNvSpPr>
          <p:nvPr/>
        </p:nvSpPr>
        <p:spPr bwMode="auto">
          <a:xfrm>
            <a:off x="4816475" y="2319987"/>
            <a:ext cx="127000" cy="477838"/>
          </a:xfrm>
          <a:prstGeom prst="ellipse">
            <a:avLst/>
          </a:prstGeom>
          <a:solidFill>
            <a:schemeClr val="folHlink"/>
          </a:solidFill>
          <a:ln w="25400">
            <a:solidFill>
              <a:schemeClr val="tx1"/>
            </a:solidFill>
            <a:round/>
            <a:headEnd/>
            <a:tailEn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a:p>
        </p:txBody>
      </p:sp>
      <p:sp>
        <p:nvSpPr>
          <p:cNvPr id="202783" name="Freeform 31"/>
          <p:cNvSpPr>
            <a:spLocks/>
          </p:cNvSpPr>
          <p:nvPr/>
        </p:nvSpPr>
        <p:spPr bwMode="auto">
          <a:xfrm>
            <a:off x="4729163" y="2861325"/>
            <a:ext cx="315912" cy="546100"/>
          </a:xfrm>
          <a:custGeom>
            <a:avLst/>
            <a:gdLst>
              <a:gd name="T0" fmla="*/ 198 w 199"/>
              <a:gd name="T1" fmla="*/ 0 h 306"/>
              <a:gd name="T2" fmla="*/ 143 w 199"/>
              <a:gd name="T3" fmla="*/ 156 h 306"/>
              <a:gd name="T4" fmla="*/ 0 w 199"/>
              <a:gd name="T5" fmla="*/ 305 h 306"/>
            </a:gdLst>
            <a:ahLst/>
            <a:cxnLst>
              <a:cxn ang="0">
                <a:pos x="T0" y="T1"/>
              </a:cxn>
              <a:cxn ang="0">
                <a:pos x="T2" y="T3"/>
              </a:cxn>
              <a:cxn ang="0">
                <a:pos x="T4" y="T5"/>
              </a:cxn>
            </a:cxnLst>
            <a:rect l="0" t="0" r="r" b="b"/>
            <a:pathLst>
              <a:path w="199" h="306">
                <a:moveTo>
                  <a:pt x="198" y="0"/>
                </a:moveTo>
                <a:lnTo>
                  <a:pt x="143" y="156"/>
                </a:lnTo>
                <a:lnTo>
                  <a:pt x="0" y="305"/>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84" name="Freeform 32"/>
          <p:cNvSpPr>
            <a:spLocks/>
          </p:cNvSpPr>
          <p:nvPr/>
        </p:nvSpPr>
        <p:spPr bwMode="auto">
          <a:xfrm>
            <a:off x="4716463" y="2848625"/>
            <a:ext cx="315912" cy="546100"/>
          </a:xfrm>
          <a:custGeom>
            <a:avLst/>
            <a:gdLst>
              <a:gd name="T0" fmla="*/ 198 w 199"/>
              <a:gd name="T1" fmla="*/ 0 h 306"/>
              <a:gd name="T2" fmla="*/ 143 w 199"/>
              <a:gd name="T3" fmla="*/ 156 h 306"/>
              <a:gd name="T4" fmla="*/ 0 w 199"/>
              <a:gd name="T5" fmla="*/ 305 h 306"/>
            </a:gdLst>
            <a:ahLst/>
            <a:cxnLst>
              <a:cxn ang="0">
                <a:pos x="T0" y="T1"/>
              </a:cxn>
              <a:cxn ang="0">
                <a:pos x="T2" y="T3"/>
              </a:cxn>
              <a:cxn ang="0">
                <a:pos x="T4" y="T5"/>
              </a:cxn>
            </a:cxnLst>
            <a:rect l="0" t="0" r="r" b="b"/>
            <a:pathLst>
              <a:path w="199" h="306">
                <a:moveTo>
                  <a:pt x="198" y="0"/>
                </a:moveTo>
                <a:lnTo>
                  <a:pt x="143" y="156"/>
                </a:lnTo>
                <a:lnTo>
                  <a:pt x="0" y="305"/>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85" name="Freeform 33"/>
          <p:cNvSpPr>
            <a:spLocks/>
          </p:cNvSpPr>
          <p:nvPr/>
        </p:nvSpPr>
        <p:spPr bwMode="auto">
          <a:xfrm>
            <a:off x="4640263" y="2748612"/>
            <a:ext cx="115887" cy="569913"/>
          </a:xfrm>
          <a:custGeom>
            <a:avLst/>
            <a:gdLst>
              <a:gd name="T0" fmla="*/ 72 w 73"/>
              <a:gd name="T1" fmla="*/ 0 h 319"/>
              <a:gd name="T2" fmla="*/ 16 w 73"/>
              <a:gd name="T3" fmla="*/ 141 h 319"/>
              <a:gd name="T4" fmla="*/ 0 w 73"/>
              <a:gd name="T5" fmla="*/ 318 h 319"/>
            </a:gdLst>
            <a:ahLst/>
            <a:cxnLst>
              <a:cxn ang="0">
                <a:pos x="T0" y="T1"/>
              </a:cxn>
              <a:cxn ang="0">
                <a:pos x="T2" y="T3"/>
              </a:cxn>
              <a:cxn ang="0">
                <a:pos x="T4" y="T5"/>
              </a:cxn>
            </a:cxnLst>
            <a:rect l="0" t="0" r="r" b="b"/>
            <a:pathLst>
              <a:path w="73" h="319">
                <a:moveTo>
                  <a:pt x="72" y="0"/>
                </a:moveTo>
                <a:lnTo>
                  <a:pt x="16" y="141"/>
                </a:lnTo>
                <a:lnTo>
                  <a:pt x="0" y="31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86" name="Freeform 34"/>
          <p:cNvSpPr>
            <a:spLocks/>
          </p:cNvSpPr>
          <p:nvPr/>
        </p:nvSpPr>
        <p:spPr bwMode="auto">
          <a:xfrm>
            <a:off x="4627563" y="2735912"/>
            <a:ext cx="115887" cy="569913"/>
          </a:xfrm>
          <a:custGeom>
            <a:avLst/>
            <a:gdLst>
              <a:gd name="T0" fmla="*/ 72 w 73"/>
              <a:gd name="T1" fmla="*/ 0 h 319"/>
              <a:gd name="T2" fmla="*/ 16 w 73"/>
              <a:gd name="T3" fmla="*/ 141 h 319"/>
              <a:gd name="T4" fmla="*/ 0 w 73"/>
              <a:gd name="T5" fmla="*/ 318 h 319"/>
            </a:gdLst>
            <a:ahLst/>
            <a:cxnLst>
              <a:cxn ang="0">
                <a:pos x="T0" y="T1"/>
              </a:cxn>
              <a:cxn ang="0">
                <a:pos x="T2" y="T3"/>
              </a:cxn>
              <a:cxn ang="0">
                <a:pos x="T4" y="T5"/>
              </a:cxn>
            </a:cxnLst>
            <a:rect l="0" t="0" r="r" b="b"/>
            <a:pathLst>
              <a:path w="73" h="319">
                <a:moveTo>
                  <a:pt x="72" y="0"/>
                </a:moveTo>
                <a:lnTo>
                  <a:pt x="16" y="141"/>
                </a:lnTo>
                <a:lnTo>
                  <a:pt x="0" y="31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87" name="Rectangle 35"/>
          <p:cNvSpPr>
            <a:spLocks noChangeArrowheads="1"/>
          </p:cNvSpPr>
          <p:nvPr/>
        </p:nvSpPr>
        <p:spPr bwMode="auto">
          <a:xfrm>
            <a:off x="2095500" y="1337325"/>
            <a:ext cx="1130300" cy="6985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90487" tIns="44450" rIns="90487" bIns="44450">
            <a:spAutoFit/>
          </a:bodyPr>
          <a:lstStyle/>
          <a:p>
            <a:r>
              <a:rPr lang="en-US" sz="2000" b="1">
                <a:solidFill>
                  <a:schemeClr val="folHlink"/>
                </a:solidFill>
                <a:effectLst>
                  <a:outerShdw blurRad="38100" dist="38100" dir="2700000" algn="tl">
                    <a:srgbClr val="000000"/>
                  </a:outerShdw>
                </a:effectLst>
                <a:latin typeface="Helvetica" pitchFamily="-128" charset="0"/>
              </a:rPr>
              <a:t>review</a:t>
            </a:r>
          </a:p>
          <a:p>
            <a:endParaRPr lang="en-US" sz="2000" b="1">
              <a:solidFill>
                <a:schemeClr val="folHlink"/>
              </a:solidFill>
              <a:effectLst>
                <a:outerShdw blurRad="38100" dist="38100" dir="2700000" algn="tl">
                  <a:srgbClr val="000000"/>
                </a:outerShdw>
              </a:effectLst>
              <a:latin typeface="Helvetica" pitchFamily="-128" charset="0"/>
            </a:endParaRPr>
          </a:p>
        </p:txBody>
      </p:sp>
      <p:sp>
        <p:nvSpPr>
          <p:cNvPr id="202788" name="Rectangle 36"/>
          <p:cNvSpPr>
            <a:spLocks noChangeArrowheads="1"/>
          </p:cNvSpPr>
          <p:nvPr/>
        </p:nvSpPr>
        <p:spPr bwMode="auto">
          <a:xfrm>
            <a:off x="2133600" y="1604025"/>
            <a:ext cx="928688" cy="3937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487" tIns="44450" rIns="90487" bIns="44450">
            <a:spAutoFit/>
          </a:bodyPr>
          <a:lstStyle/>
          <a:p>
            <a:r>
              <a:rPr lang="en-US" sz="2000" b="1">
                <a:solidFill>
                  <a:schemeClr val="folHlink"/>
                </a:solidFill>
                <a:effectLst>
                  <a:outerShdw blurRad="38100" dist="38100" dir="2700000" algn="tl">
                    <a:srgbClr val="000000"/>
                  </a:outerShdw>
                </a:effectLst>
                <a:latin typeface="Helvetica" pitchFamily="-128" charset="0"/>
              </a:rPr>
              <a:t>leader</a:t>
            </a:r>
            <a:endParaRPr lang="en-US" b="1">
              <a:solidFill>
                <a:schemeClr val="folHlink"/>
              </a:solidFill>
              <a:effectLst>
                <a:outerShdw blurRad="38100" dist="38100" dir="2700000" algn="tl">
                  <a:srgbClr val="000000"/>
                </a:outerShdw>
              </a:effectLst>
              <a:latin typeface="Helvetica" pitchFamily="-128" charset="0"/>
            </a:endParaRPr>
          </a:p>
        </p:txBody>
      </p:sp>
      <p:sp>
        <p:nvSpPr>
          <p:cNvPr id="202789" name="Rectangle 37"/>
          <p:cNvSpPr>
            <a:spLocks noChangeArrowheads="1"/>
          </p:cNvSpPr>
          <p:nvPr/>
        </p:nvSpPr>
        <p:spPr bwMode="auto">
          <a:xfrm>
            <a:off x="5054600" y="2326337"/>
            <a:ext cx="1281113" cy="3937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487" tIns="44450" rIns="90487" bIns="44450">
            <a:spAutoFit/>
          </a:bodyPr>
          <a:lstStyle/>
          <a:p>
            <a:r>
              <a:rPr lang="en-US" sz="2000" b="1" dirty="0">
                <a:solidFill>
                  <a:schemeClr val="folHlink"/>
                </a:solidFill>
                <a:effectLst>
                  <a:outerShdw blurRad="38100" dist="38100" dir="2700000" algn="tl">
                    <a:srgbClr val="000000"/>
                  </a:outerShdw>
                </a:effectLst>
                <a:latin typeface="Helvetica" pitchFamily="-128" charset="0"/>
              </a:rPr>
              <a:t>producer</a:t>
            </a:r>
          </a:p>
        </p:txBody>
      </p:sp>
      <p:sp>
        <p:nvSpPr>
          <p:cNvPr id="202790" name="Rectangle 38"/>
          <p:cNvSpPr>
            <a:spLocks noChangeArrowheads="1"/>
          </p:cNvSpPr>
          <p:nvPr/>
        </p:nvSpPr>
        <p:spPr bwMode="auto">
          <a:xfrm>
            <a:off x="2711450" y="4685362"/>
            <a:ext cx="1211263" cy="3937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487" tIns="44450" rIns="90487" bIns="44450">
            <a:spAutoFit/>
          </a:bodyPr>
          <a:lstStyle/>
          <a:p>
            <a:r>
              <a:rPr lang="en-US" sz="2000" b="1">
                <a:solidFill>
                  <a:schemeClr val="folHlink"/>
                </a:solidFill>
                <a:effectLst>
                  <a:outerShdw blurRad="38100" dist="38100" dir="2700000" algn="tl">
                    <a:srgbClr val="000000"/>
                  </a:outerShdw>
                </a:effectLst>
                <a:latin typeface="Helvetica" pitchFamily="-128" charset="0"/>
              </a:rPr>
              <a:t>recorder</a:t>
            </a:r>
          </a:p>
        </p:txBody>
      </p:sp>
      <p:sp>
        <p:nvSpPr>
          <p:cNvPr id="202791" name="Rectangle 39"/>
          <p:cNvSpPr>
            <a:spLocks noChangeArrowheads="1"/>
          </p:cNvSpPr>
          <p:nvPr/>
        </p:nvSpPr>
        <p:spPr bwMode="auto">
          <a:xfrm>
            <a:off x="5935663" y="4598050"/>
            <a:ext cx="1211262" cy="39370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487" tIns="44450" rIns="90487" bIns="44450">
            <a:spAutoFit/>
          </a:bodyPr>
          <a:lstStyle/>
          <a:p>
            <a:r>
              <a:rPr lang="en-US" sz="2000" b="1">
                <a:solidFill>
                  <a:schemeClr val="folHlink"/>
                </a:solidFill>
                <a:effectLst>
                  <a:outerShdw blurRad="38100" dist="38100" dir="2700000" algn="tl">
                    <a:srgbClr val="000000"/>
                  </a:outerShdw>
                </a:effectLst>
                <a:latin typeface="Helvetica" pitchFamily="-128" charset="0"/>
              </a:rPr>
              <a:t>reviewer</a:t>
            </a:r>
          </a:p>
        </p:txBody>
      </p:sp>
      <p:sp>
        <p:nvSpPr>
          <p:cNvPr id="202792" name="Freeform 40"/>
          <p:cNvSpPr>
            <a:spLocks/>
          </p:cNvSpPr>
          <p:nvPr/>
        </p:nvSpPr>
        <p:spPr bwMode="auto">
          <a:xfrm>
            <a:off x="3432175" y="3316937"/>
            <a:ext cx="454025" cy="230188"/>
          </a:xfrm>
          <a:custGeom>
            <a:avLst/>
            <a:gdLst>
              <a:gd name="T0" fmla="*/ 71 w 286"/>
              <a:gd name="T1" fmla="*/ 128 h 129"/>
              <a:gd name="T2" fmla="*/ 285 w 286"/>
              <a:gd name="T3" fmla="*/ 114 h 129"/>
              <a:gd name="T4" fmla="*/ 158 w 286"/>
              <a:gd name="T5" fmla="*/ 0 h 129"/>
              <a:gd name="T6" fmla="*/ 0 w 286"/>
              <a:gd name="T7" fmla="*/ 50 h 129"/>
              <a:gd name="T8" fmla="*/ 71 w 286"/>
              <a:gd name="T9" fmla="*/ 128 h 129"/>
              <a:gd name="T10" fmla="*/ 285 w 286"/>
              <a:gd name="T11" fmla="*/ 114 h 129"/>
              <a:gd name="T12" fmla="*/ 158 w 286"/>
              <a:gd name="T13" fmla="*/ 0 h 129"/>
              <a:gd name="T14" fmla="*/ 0 w 286"/>
              <a:gd name="T15" fmla="*/ 50 h 129"/>
              <a:gd name="T16" fmla="*/ 71 w 286"/>
              <a:gd name="T17" fmla="*/ 128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6" h="129">
                <a:moveTo>
                  <a:pt x="71" y="128"/>
                </a:moveTo>
                <a:lnTo>
                  <a:pt x="285" y="114"/>
                </a:lnTo>
                <a:lnTo>
                  <a:pt x="158" y="0"/>
                </a:lnTo>
                <a:lnTo>
                  <a:pt x="0" y="50"/>
                </a:lnTo>
                <a:lnTo>
                  <a:pt x="71" y="128"/>
                </a:lnTo>
                <a:lnTo>
                  <a:pt x="285" y="114"/>
                </a:lnTo>
                <a:lnTo>
                  <a:pt x="158" y="0"/>
                </a:lnTo>
                <a:lnTo>
                  <a:pt x="0" y="50"/>
                </a:lnTo>
                <a:lnTo>
                  <a:pt x="71" y="128"/>
                </a:lnTo>
              </a:path>
            </a:pathLst>
          </a:custGeom>
          <a:solidFill>
            <a:schemeClr val="tx1"/>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93" name="Freeform 41"/>
          <p:cNvSpPr>
            <a:spLocks/>
          </p:cNvSpPr>
          <p:nvPr/>
        </p:nvSpPr>
        <p:spPr bwMode="auto">
          <a:xfrm>
            <a:off x="4678363" y="3658250"/>
            <a:ext cx="455612" cy="230187"/>
          </a:xfrm>
          <a:custGeom>
            <a:avLst/>
            <a:gdLst>
              <a:gd name="T0" fmla="*/ 215 w 287"/>
              <a:gd name="T1" fmla="*/ 0 h 129"/>
              <a:gd name="T2" fmla="*/ 0 w 287"/>
              <a:gd name="T3" fmla="*/ 14 h 129"/>
              <a:gd name="T4" fmla="*/ 119 w 287"/>
              <a:gd name="T5" fmla="*/ 128 h 129"/>
              <a:gd name="T6" fmla="*/ 286 w 287"/>
              <a:gd name="T7" fmla="*/ 78 h 129"/>
              <a:gd name="T8" fmla="*/ 215 w 287"/>
              <a:gd name="T9" fmla="*/ 0 h 129"/>
              <a:gd name="T10" fmla="*/ 0 w 287"/>
              <a:gd name="T11" fmla="*/ 14 h 129"/>
              <a:gd name="T12" fmla="*/ 119 w 287"/>
              <a:gd name="T13" fmla="*/ 128 h 129"/>
              <a:gd name="T14" fmla="*/ 286 w 287"/>
              <a:gd name="T15" fmla="*/ 78 h 129"/>
              <a:gd name="T16" fmla="*/ 215 w 287"/>
              <a:gd name="T17" fmla="*/ 0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7" h="129">
                <a:moveTo>
                  <a:pt x="215" y="0"/>
                </a:moveTo>
                <a:lnTo>
                  <a:pt x="0" y="14"/>
                </a:lnTo>
                <a:lnTo>
                  <a:pt x="119" y="128"/>
                </a:lnTo>
                <a:lnTo>
                  <a:pt x="286" y="78"/>
                </a:lnTo>
                <a:lnTo>
                  <a:pt x="215" y="0"/>
                </a:lnTo>
                <a:lnTo>
                  <a:pt x="0" y="14"/>
                </a:lnTo>
                <a:lnTo>
                  <a:pt x="119" y="128"/>
                </a:lnTo>
                <a:lnTo>
                  <a:pt x="286" y="78"/>
                </a:lnTo>
                <a:lnTo>
                  <a:pt x="215" y="0"/>
                </a:lnTo>
              </a:path>
            </a:pathLst>
          </a:custGeom>
          <a:solidFill>
            <a:schemeClr val="tx1"/>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94" name="Freeform 42"/>
          <p:cNvSpPr>
            <a:spLocks/>
          </p:cNvSpPr>
          <p:nvPr/>
        </p:nvSpPr>
        <p:spPr bwMode="auto">
          <a:xfrm>
            <a:off x="4225925" y="3266137"/>
            <a:ext cx="454025" cy="231775"/>
          </a:xfrm>
          <a:custGeom>
            <a:avLst/>
            <a:gdLst>
              <a:gd name="T0" fmla="*/ 214 w 286"/>
              <a:gd name="T1" fmla="*/ 0 h 129"/>
              <a:gd name="T2" fmla="*/ 0 w 286"/>
              <a:gd name="T3" fmla="*/ 14 h 129"/>
              <a:gd name="T4" fmla="*/ 119 w 286"/>
              <a:gd name="T5" fmla="*/ 128 h 129"/>
              <a:gd name="T6" fmla="*/ 285 w 286"/>
              <a:gd name="T7" fmla="*/ 78 h 129"/>
              <a:gd name="T8" fmla="*/ 214 w 286"/>
              <a:gd name="T9" fmla="*/ 0 h 129"/>
              <a:gd name="T10" fmla="*/ 0 w 286"/>
              <a:gd name="T11" fmla="*/ 14 h 129"/>
              <a:gd name="T12" fmla="*/ 119 w 286"/>
              <a:gd name="T13" fmla="*/ 128 h 129"/>
              <a:gd name="T14" fmla="*/ 285 w 286"/>
              <a:gd name="T15" fmla="*/ 78 h 129"/>
              <a:gd name="T16" fmla="*/ 214 w 286"/>
              <a:gd name="T17" fmla="*/ 0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6" h="129">
                <a:moveTo>
                  <a:pt x="214" y="0"/>
                </a:moveTo>
                <a:lnTo>
                  <a:pt x="0" y="14"/>
                </a:lnTo>
                <a:lnTo>
                  <a:pt x="119" y="128"/>
                </a:lnTo>
                <a:lnTo>
                  <a:pt x="285" y="78"/>
                </a:lnTo>
                <a:lnTo>
                  <a:pt x="214" y="0"/>
                </a:lnTo>
                <a:lnTo>
                  <a:pt x="0" y="14"/>
                </a:lnTo>
                <a:lnTo>
                  <a:pt x="119" y="128"/>
                </a:lnTo>
                <a:lnTo>
                  <a:pt x="285" y="78"/>
                </a:lnTo>
                <a:lnTo>
                  <a:pt x="214" y="0"/>
                </a:lnTo>
              </a:path>
            </a:pathLst>
          </a:custGeom>
          <a:solidFill>
            <a:schemeClr val="tx1"/>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95" name="Freeform 43"/>
          <p:cNvSpPr>
            <a:spLocks/>
          </p:cNvSpPr>
          <p:nvPr/>
        </p:nvSpPr>
        <p:spPr bwMode="auto">
          <a:xfrm>
            <a:off x="3230563" y="2835925"/>
            <a:ext cx="454025" cy="230187"/>
          </a:xfrm>
          <a:custGeom>
            <a:avLst/>
            <a:gdLst>
              <a:gd name="T0" fmla="*/ 71 w 286"/>
              <a:gd name="T1" fmla="*/ 128 h 129"/>
              <a:gd name="T2" fmla="*/ 285 w 286"/>
              <a:gd name="T3" fmla="*/ 114 h 129"/>
              <a:gd name="T4" fmla="*/ 158 w 286"/>
              <a:gd name="T5" fmla="*/ 0 h 129"/>
              <a:gd name="T6" fmla="*/ 0 w 286"/>
              <a:gd name="T7" fmla="*/ 50 h 129"/>
              <a:gd name="T8" fmla="*/ 71 w 286"/>
              <a:gd name="T9" fmla="*/ 128 h 129"/>
              <a:gd name="T10" fmla="*/ 285 w 286"/>
              <a:gd name="T11" fmla="*/ 114 h 129"/>
              <a:gd name="T12" fmla="*/ 158 w 286"/>
              <a:gd name="T13" fmla="*/ 0 h 129"/>
              <a:gd name="T14" fmla="*/ 0 w 286"/>
              <a:gd name="T15" fmla="*/ 50 h 129"/>
              <a:gd name="T16" fmla="*/ 71 w 286"/>
              <a:gd name="T17" fmla="*/ 128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6" h="129">
                <a:moveTo>
                  <a:pt x="71" y="128"/>
                </a:moveTo>
                <a:lnTo>
                  <a:pt x="285" y="114"/>
                </a:lnTo>
                <a:lnTo>
                  <a:pt x="158" y="0"/>
                </a:lnTo>
                <a:lnTo>
                  <a:pt x="0" y="50"/>
                </a:lnTo>
                <a:lnTo>
                  <a:pt x="71" y="128"/>
                </a:lnTo>
                <a:lnTo>
                  <a:pt x="285" y="114"/>
                </a:lnTo>
                <a:lnTo>
                  <a:pt x="158" y="0"/>
                </a:lnTo>
                <a:lnTo>
                  <a:pt x="0" y="50"/>
                </a:lnTo>
                <a:lnTo>
                  <a:pt x="71" y="128"/>
                </a:lnTo>
              </a:path>
            </a:pathLst>
          </a:custGeom>
          <a:solidFill>
            <a:schemeClr val="tx1"/>
          </a:soli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96" name="Freeform 44"/>
          <p:cNvSpPr>
            <a:spLocks/>
          </p:cNvSpPr>
          <p:nvPr/>
        </p:nvSpPr>
        <p:spPr bwMode="auto">
          <a:xfrm>
            <a:off x="3067050" y="2293000"/>
            <a:ext cx="354013" cy="469900"/>
          </a:xfrm>
          <a:custGeom>
            <a:avLst/>
            <a:gdLst>
              <a:gd name="T0" fmla="*/ 0 w 223"/>
              <a:gd name="T1" fmla="*/ 0 h 263"/>
              <a:gd name="T2" fmla="*/ 222 w 223"/>
              <a:gd name="T3" fmla="*/ 0 h 263"/>
              <a:gd name="T4" fmla="*/ 182 w 223"/>
              <a:gd name="T5" fmla="*/ 255 h 263"/>
              <a:gd name="T6" fmla="*/ 63 w 223"/>
              <a:gd name="T7" fmla="*/ 262 h 263"/>
              <a:gd name="T8" fmla="*/ 0 w 223"/>
              <a:gd name="T9" fmla="*/ 0 h 263"/>
            </a:gdLst>
            <a:ahLst/>
            <a:cxnLst>
              <a:cxn ang="0">
                <a:pos x="T0" y="T1"/>
              </a:cxn>
              <a:cxn ang="0">
                <a:pos x="T2" y="T3"/>
              </a:cxn>
              <a:cxn ang="0">
                <a:pos x="T4" y="T5"/>
              </a:cxn>
              <a:cxn ang="0">
                <a:pos x="T6" y="T7"/>
              </a:cxn>
              <a:cxn ang="0">
                <a:pos x="T8" y="T9"/>
              </a:cxn>
            </a:cxnLst>
            <a:rect l="0" t="0" r="r" b="b"/>
            <a:pathLst>
              <a:path w="223" h="263">
                <a:moveTo>
                  <a:pt x="0" y="0"/>
                </a:moveTo>
                <a:lnTo>
                  <a:pt x="222" y="0"/>
                </a:lnTo>
                <a:lnTo>
                  <a:pt x="182" y="255"/>
                </a:lnTo>
                <a:lnTo>
                  <a:pt x="63" y="262"/>
                </a:lnTo>
                <a:lnTo>
                  <a:pt x="0" y="0"/>
                </a:lnTo>
              </a:path>
            </a:pathLst>
          </a:custGeom>
          <a:solidFill>
            <a:schemeClr val="folHlink"/>
          </a:solidFill>
          <a:ln w="254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97" name="Freeform 45"/>
          <p:cNvSpPr>
            <a:spLocks/>
          </p:cNvSpPr>
          <p:nvPr/>
        </p:nvSpPr>
        <p:spPr bwMode="auto">
          <a:xfrm>
            <a:off x="4094163" y="2456512"/>
            <a:ext cx="277812" cy="544513"/>
          </a:xfrm>
          <a:custGeom>
            <a:avLst/>
            <a:gdLst>
              <a:gd name="T0" fmla="*/ 0 w 175"/>
              <a:gd name="T1" fmla="*/ 247 h 305"/>
              <a:gd name="T2" fmla="*/ 0 w 175"/>
              <a:gd name="T3" fmla="*/ 0 h 305"/>
              <a:gd name="T4" fmla="*/ 174 w 175"/>
              <a:gd name="T5" fmla="*/ 71 h 305"/>
              <a:gd name="T6" fmla="*/ 119 w 175"/>
              <a:gd name="T7" fmla="*/ 304 h 305"/>
              <a:gd name="T8" fmla="*/ 0 w 175"/>
              <a:gd name="T9" fmla="*/ 247 h 305"/>
            </a:gdLst>
            <a:ahLst/>
            <a:cxnLst>
              <a:cxn ang="0">
                <a:pos x="T0" y="T1"/>
              </a:cxn>
              <a:cxn ang="0">
                <a:pos x="T2" y="T3"/>
              </a:cxn>
              <a:cxn ang="0">
                <a:pos x="T4" y="T5"/>
              </a:cxn>
              <a:cxn ang="0">
                <a:pos x="T6" y="T7"/>
              </a:cxn>
              <a:cxn ang="0">
                <a:pos x="T8" y="T9"/>
              </a:cxn>
            </a:cxnLst>
            <a:rect l="0" t="0" r="r" b="b"/>
            <a:pathLst>
              <a:path w="175" h="305">
                <a:moveTo>
                  <a:pt x="0" y="247"/>
                </a:moveTo>
                <a:lnTo>
                  <a:pt x="0" y="0"/>
                </a:lnTo>
                <a:lnTo>
                  <a:pt x="174" y="71"/>
                </a:lnTo>
                <a:lnTo>
                  <a:pt x="119" y="304"/>
                </a:lnTo>
                <a:lnTo>
                  <a:pt x="0" y="247"/>
                </a:lnTo>
              </a:path>
            </a:pathLst>
          </a:custGeom>
          <a:solidFill>
            <a:schemeClr val="hlink"/>
          </a:solidFill>
          <a:ln w="254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798" name="Oval 46"/>
          <p:cNvSpPr>
            <a:spLocks noChangeArrowheads="1"/>
          </p:cNvSpPr>
          <p:nvPr/>
        </p:nvSpPr>
        <p:spPr bwMode="auto">
          <a:xfrm>
            <a:off x="4181475" y="2054875"/>
            <a:ext cx="101600" cy="449262"/>
          </a:xfrm>
          <a:prstGeom prst="ellipse">
            <a:avLst/>
          </a:prstGeom>
          <a:solidFill>
            <a:srgbClr val="FFFFFF"/>
          </a:solidFill>
          <a:ln w="25400">
            <a:solidFill>
              <a:schemeClr val="tx1"/>
            </a:solidFill>
            <a:round/>
            <a:headEnd/>
            <a:tailEn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a:p>
        </p:txBody>
      </p:sp>
      <p:sp>
        <p:nvSpPr>
          <p:cNvPr id="202799" name="Oval 47"/>
          <p:cNvSpPr>
            <a:spLocks noChangeArrowheads="1"/>
          </p:cNvSpPr>
          <p:nvPr/>
        </p:nvSpPr>
        <p:spPr bwMode="auto">
          <a:xfrm>
            <a:off x="4168775" y="2040587"/>
            <a:ext cx="127000" cy="476250"/>
          </a:xfrm>
          <a:prstGeom prst="ellipse">
            <a:avLst/>
          </a:prstGeom>
          <a:solidFill>
            <a:schemeClr val="hlink"/>
          </a:solidFill>
          <a:ln w="25400">
            <a:solidFill>
              <a:schemeClr val="tx1"/>
            </a:solidFill>
            <a:round/>
            <a:headEnd/>
            <a:tailEn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a:p>
        </p:txBody>
      </p:sp>
      <p:sp>
        <p:nvSpPr>
          <p:cNvPr id="202800" name="Freeform 48"/>
          <p:cNvSpPr>
            <a:spLocks/>
          </p:cNvSpPr>
          <p:nvPr/>
        </p:nvSpPr>
        <p:spPr bwMode="auto">
          <a:xfrm>
            <a:off x="4081463" y="2583512"/>
            <a:ext cx="315912" cy="544513"/>
          </a:xfrm>
          <a:custGeom>
            <a:avLst/>
            <a:gdLst>
              <a:gd name="T0" fmla="*/ 198 w 199"/>
              <a:gd name="T1" fmla="*/ 0 h 305"/>
              <a:gd name="T2" fmla="*/ 143 w 199"/>
              <a:gd name="T3" fmla="*/ 156 h 305"/>
              <a:gd name="T4" fmla="*/ 0 w 199"/>
              <a:gd name="T5" fmla="*/ 304 h 305"/>
            </a:gdLst>
            <a:ahLst/>
            <a:cxnLst>
              <a:cxn ang="0">
                <a:pos x="T0" y="T1"/>
              </a:cxn>
              <a:cxn ang="0">
                <a:pos x="T2" y="T3"/>
              </a:cxn>
              <a:cxn ang="0">
                <a:pos x="T4" y="T5"/>
              </a:cxn>
            </a:cxnLst>
            <a:rect l="0" t="0" r="r" b="b"/>
            <a:pathLst>
              <a:path w="199" h="305">
                <a:moveTo>
                  <a:pt x="198" y="0"/>
                </a:moveTo>
                <a:lnTo>
                  <a:pt x="143" y="156"/>
                </a:lnTo>
                <a:lnTo>
                  <a:pt x="0" y="304"/>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801" name="Freeform 49"/>
          <p:cNvSpPr>
            <a:spLocks/>
          </p:cNvSpPr>
          <p:nvPr/>
        </p:nvSpPr>
        <p:spPr bwMode="auto">
          <a:xfrm>
            <a:off x="4068763" y="2569225"/>
            <a:ext cx="315912" cy="546100"/>
          </a:xfrm>
          <a:custGeom>
            <a:avLst/>
            <a:gdLst>
              <a:gd name="T0" fmla="*/ 198 w 199"/>
              <a:gd name="T1" fmla="*/ 0 h 306"/>
              <a:gd name="T2" fmla="*/ 143 w 199"/>
              <a:gd name="T3" fmla="*/ 156 h 306"/>
              <a:gd name="T4" fmla="*/ 0 w 199"/>
              <a:gd name="T5" fmla="*/ 305 h 306"/>
            </a:gdLst>
            <a:ahLst/>
            <a:cxnLst>
              <a:cxn ang="0">
                <a:pos x="T0" y="T1"/>
              </a:cxn>
              <a:cxn ang="0">
                <a:pos x="T2" y="T3"/>
              </a:cxn>
              <a:cxn ang="0">
                <a:pos x="T4" y="T5"/>
              </a:cxn>
            </a:cxnLst>
            <a:rect l="0" t="0" r="r" b="b"/>
            <a:pathLst>
              <a:path w="199" h="306">
                <a:moveTo>
                  <a:pt x="198" y="0"/>
                </a:moveTo>
                <a:lnTo>
                  <a:pt x="143" y="156"/>
                </a:lnTo>
                <a:lnTo>
                  <a:pt x="0" y="305"/>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802" name="Freeform 50"/>
          <p:cNvSpPr>
            <a:spLocks/>
          </p:cNvSpPr>
          <p:nvPr/>
        </p:nvSpPr>
        <p:spPr bwMode="auto">
          <a:xfrm>
            <a:off x="3992563" y="2469212"/>
            <a:ext cx="115887" cy="571500"/>
          </a:xfrm>
          <a:custGeom>
            <a:avLst/>
            <a:gdLst>
              <a:gd name="T0" fmla="*/ 72 w 73"/>
              <a:gd name="T1" fmla="*/ 0 h 320"/>
              <a:gd name="T2" fmla="*/ 16 w 73"/>
              <a:gd name="T3" fmla="*/ 142 h 320"/>
              <a:gd name="T4" fmla="*/ 0 w 73"/>
              <a:gd name="T5" fmla="*/ 319 h 320"/>
            </a:gdLst>
            <a:ahLst/>
            <a:cxnLst>
              <a:cxn ang="0">
                <a:pos x="T0" y="T1"/>
              </a:cxn>
              <a:cxn ang="0">
                <a:pos x="T2" y="T3"/>
              </a:cxn>
              <a:cxn ang="0">
                <a:pos x="T4" y="T5"/>
              </a:cxn>
            </a:cxnLst>
            <a:rect l="0" t="0" r="r" b="b"/>
            <a:pathLst>
              <a:path w="73" h="320">
                <a:moveTo>
                  <a:pt x="72" y="0"/>
                </a:moveTo>
                <a:lnTo>
                  <a:pt x="16" y="142"/>
                </a:lnTo>
                <a:lnTo>
                  <a:pt x="0" y="319"/>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803" name="Freeform 51"/>
          <p:cNvSpPr>
            <a:spLocks/>
          </p:cNvSpPr>
          <p:nvPr/>
        </p:nvSpPr>
        <p:spPr bwMode="auto">
          <a:xfrm>
            <a:off x="3979863" y="2456512"/>
            <a:ext cx="115887" cy="571500"/>
          </a:xfrm>
          <a:custGeom>
            <a:avLst/>
            <a:gdLst>
              <a:gd name="T0" fmla="*/ 72 w 73"/>
              <a:gd name="T1" fmla="*/ 0 h 320"/>
              <a:gd name="T2" fmla="*/ 16 w 73"/>
              <a:gd name="T3" fmla="*/ 142 h 320"/>
              <a:gd name="T4" fmla="*/ 0 w 73"/>
              <a:gd name="T5" fmla="*/ 319 h 320"/>
            </a:gdLst>
            <a:ahLst/>
            <a:cxnLst>
              <a:cxn ang="0">
                <a:pos x="T0" y="T1"/>
              </a:cxn>
              <a:cxn ang="0">
                <a:pos x="T2" y="T3"/>
              </a:cxn>
              <a:cxn ang="0">
                <a:pos x="T4" y="T5"/>
              </a:cxn>
            </a:cxnLst>
            <a:rect l="0" t="0" r="r" b="b"/>
            <a:pathLst>
              <a:path w="73" h="320">
                <a:moveTo>
                  <a:pt x="72" y="0"/>
                </a:moveTo>
                <a:lnTo>
                  <a:pt x="16" y="142"/>
                </a:lnTo>
                <a:lnTo>
                  <a:pt x="0" y="319"/>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grpSp>
        <p:nvGrpSpPr>
          <p:cNvPr id="202804" name="Group 52"/>
          <p:cNvGrpSpPr>
            <a:grpSpLocks/>
          </p:cNvGrpSpPr>
          <p:nvPr/>
        </p:nvGrpSpPr>
        <p:grpSpPr bwMode="auto">
          <a:xfrm>
            <a:off x="2181225" y="2191400"/>
            <a:ext cx="781050" cy="1643062"/>
            <a:chOff x="1577" y="1305"/>
            <a:chExt cx="492" cy="920"/>
          </a:xfrm>
        </p:grpSpPr>
        <p:sp>
          <p:nvSpPr>
            <p:cNvPr id="202805" name="Freeform 53"/>
            <p:cNvSpPr>
              <a:spLocks/>
            </p:cNvSpPr>
            <p:nvPr/>
          </p:nvSpPr>
          <p:spPr bwMode="auto">
            <a:xfrm>
              <a:off x="1651" y="1913"/>
              <a:ext cx="225" cy="249"/>
            </a:xfrm>
            <a:custGeom>
              <a:avLst/>
              <a:gdLst>
                <a:gd name="T0" fmla="*/ 0 w 225"/>
                <a:gd name="T1" fmla="*/ 40 h 249"/>
                <a:gd name="T2" fmla="*/ 168 w 225"/>
                <a:gd name="T3" fmla="*/ 0 h 249"/>
                <a:gd name="T4" fmla="*/ 137 w 225"/>
                <a:gd name="T5" fmla="*/ 248 h 249"/>
                <a:gd name="T6" fmla="*/ 224 w 225"/>
                <a:gd name="T7" fmla="*/ 219 h 249"/>
              </a:gdLst>
              <a:ahLst/>
              <a:cxnLst>
                <a:cxn ang="0">
                  <a:pos x="T0" y="T1"/>
                </a:cxn>
                <a:cxn ang="0">
                  <a:pos x="T2" y="T3"/>
                </a:cxn>
                <a:cxn ang="0">
                  <a:pos x="T4" y="T5"/>
                </a:cxn>
                <a:cxn ang="0">
                  <a:pos x="T6" y="T7"/>
                </a:cxn>
              </a:cxnLst>
              <a:rect l="0" t="0" r="r" b="b"/>
              <a:pathLst>
                <a:path w="225" h="249">
                  <a:moveTo>
                    <a:pt x="0" y="40"/>
                  </a:moveTo>
                  <a:lnTo>
                    <a:pt x="168" y="0"/>
                  </a:lnTo>
                  <a:lnTo>
                    <a:pt x="137" y="248"/>
                  </a:lnTo>
                  <a:lnTo>
                    <a:pt x="224" y="219"/>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806" name="Freeform 54"/>
            <p:cNvSpPr>
              <a:spLocks/>
            </p:cNvSpPr>
            <p:nvPr/>
          </p:nvSpPr>
          <p:spPr bwMode="auto">
            <a:xfrm>
              <a:off x="1645" y="1908"/>
              <a:ext cx="225" cy="249"/>
            </a:xfrm>
            <a:custGeom>
              <a:avLst/>
              <a:gdLst>
                <a:gd name="T0" fmla="*/ 0 w 225"/>
                <a:gd name="T1" fmla="*/ 40 h 249"/>
                <a:gd name="T2" fmla="*/ 168 w 225"/>
                <a:gd name="T3" fmla="*/ 0 h 249"/>
                <a:gd name="T4" fmla="*/ 137 w 225"/>
                <a:gd name="T5" fmla="*/ 248 h 249"/>
                <a:gd name="T6" fmla="*/ 224 w 225"/>
                <a:gd name="T7" fmla="*/ 219 h 249"/>
              </a:gdLst>
              <a:ahLst/>
              <a:cxnLst>
                <a:cxn ang="0">
                  <a:pos x="T0" y="T1"/>
                </a:cxn>
                <a:cxn ang="0">
                  <a:pos x="T2" y="T3"/>
                </a:cxn>
                <a:cxn ang="0">
                  <a:pos x="T4" y="T5"/>
                </a:cxn>
                <a:cxn ang="0">
                  <a:pos x="T6" y="T7"/>
                </a:cxn>
              </a:cxnLst>
              <a:rect l="0" t="0" r="r" b="b"/>
              <a:pathLst>
                <a:path w="225" h="249">
                  <a:moveTo>
                    <a:pt x="0" y="40"/>
                  </a:moveTo>
                  <a:lnTo>
                    <a:pt x="168" y="0"/>
                  </a:lnTo>
                  <a:lnTo>
                    <a:pt x="137" y="248"/>
                  </a:lnTo>
                  <a:lnTo>
                    <a:pt x="224" y="219"/>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807" name="Freeform 55"/>
            <p:cNvSpPr>
              <a:spLocks/>
            </p:cNvSpPr>
            <p:nvPr/>
          </p:nvSpPr>
          <p:spPr bwMode="auto">
            <a:xfrm>
              <a:off x="1732" y="1977"/>
              <a:ext cx="225" cy="248"/>
            </a:xfrm>
            <a:custGeom>
              <a:avLst/>
              <a:gdLst>
                <a:gd name="T0" fmla="*/ 0 w 225"/>
                <a:gd name="T1" fmla="*/ 40 h 248"/>
                <a:gd name="T2" fmla="*/ 168 w 225"/>
                <a:gd name="T3" fmla="*/ 0 h 248"/>
                <a:gd name="T4" fmla="*/ 143 w 225"/>
                <a:gd name="T5" fmla="*/ 247 h 248"/>
                <a:gd name="T6" fmla="*/ 224 w 225"/>
                <a:gd name="T7" fmla="*/ 218 h 248"/>
              </a:gdLst>
              <a:ahLst/>
              <a:cxnLst>
                <a:cxn ang="0">
                  <a:pos x="T0" y="T1"/>
                </a:cxn>
                <a:cxn ang="0">
                  <a:pos x="T2" y="T3"/>
                </a:cxn>
                <a:cxn ang="0">
                  <a:pos x="T4" y="T5"/>
                </a:cxn>
                <a:cxn ang="0">
                  <a:pos x="T6" y="T7"/>
                </a:cxn>
              </a:cxnLst>
              <a:rect l="0" t="0" r="r" b="b"/>
              <a:pathLst>
                <a:path w="225" h="248">
                  <a:moveTo>
                    <a:pt x="0" y="40"/>
                  </a:moveTo>
                  <a:lnTo>
                    <a:pt x="168" y="0"/>
                  </a:lnTo>
                  <a:lnTo>
                    <a:pt x="143" y="247"/>
                  </a:lnTo>
                  <a:lnTo>
                    <a:pt x="224" y="21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808" name="Freeform 56"/>
            <p:cNvSpPr>
              <a:spLocks/>
            </p:cNvSpPr>
            <p:nvPr/>
          </p:nvSpPr>
          <p:spPr bwMode="auto">
            <a:xfrm>
              <a:off x="1726" y="1971"/>
              <a:ext cx="225" cy="248"/>
            </a:xfrm>
            <a:custGeom>
              <a:avLst/>
              <a:gdLst>
                <a:gd name="T0" fmla="*/ 0 w 225"/>
                <a:gd name="T1" fmla="*/ 40 h 248"/>
                <a:gd name="T2" fmla="*/ 168 w 225"/>
                <a:gd name="T3" fmla="*/ 0 h 248"/>
                <a:gd name="T4" fmla="*/ 143 w 225"/>
                <a:gd name="T5" fmla="*/ 247 h 248"/>
                <a:gd name="T6" fmla="*/ 224 w 225"/>
                <a:gd name="T7" fmla="*/ 218 h 248"/>
              </a:gdLst>
              <a:ahLst/>
              <a:cxnLst>
                <a:cxn ang="0">
                  <a:pos x="T0" y="T1"/>
                </a:cxn>
                <a:cxn ang="0">
                  <a:pos x="T2" y="T3"/>
                </a:cxn>
                <a:cxn ang="0">
                  <a:pos x="T4" y="T5"/>
                </a:cxn>
                <a:cxn ang="0">
                  <a:pos x="T6" y="T7"/>
                </a:cxn>
              </a:cxnLst>
              <a:rect l="0" t="0" r="r" b="b"/>
              <a:pathLst>
                <a:path w="225" h="248">
                  <a:moveTo>
                    <a:pt x="0" y="40"/>
                  </a:moveTo>
                  <a:lnTo>
                    <a:pt x="168" y="0"/>
                  </a:lnTo>
                  <a:lnTo>
                    <a:pt x="143" y="247"/>
                  </a:lnTo>
                  <a:lnTo>
                    <a:pt x="224" y="218"/>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809" name="Freeform 57"/>
            <p:cNvSpPr>
              <a:spLocks/>
            </p:cNvSpPr>
            <p:nvPr/>
          </p:nvSpPr>
          <p:spPr bwMode="auto">
            <a:xfrm>
              <a:off x="1583" y="1510"/>
              <a:ext cx="206" cy="519"/>
            </a:xfrm>
            <a:custGeom>
              <a:avLst/>
              <a:gdLst>
                <a:gd name="T0" fmla="*/ 56 w 206"/>
                <a:gd name="T1" fmla="*/ 426 h 519"/>
                <a:gd name="T2" fmla="*/ 0 w 206"/>
                <a:gd name="T3" fmla="*/ 0 h 519"/>
                <a:gd name="T4" fmla="*/ 205 w 206"/>
                <a:gd name="T5" fmla="*/ 104 h 519"/>
                <a:gd name="T6" fmla="*/ 168 w 206"/>
                <a:gd name="T7" fmla="*/ 518 h 519"/>
                <a:gd name="T8" fmla="*/ 56 w 206"/>
                <a:gd name="T9" fmla="*/ 426 h 519"/>
              </a:gdLst>
              <a:ahLst/>
              <a:cxnLst>
                <a:cxn ang="0">
                  <a:pos x="T0" y="T1"/>
                </a:cxn>
                <a:cxn ang="0">
                  <a:pos x="T2" y="T3"/>
                </a:cxn>
                <a:cxn ang="0">
                  <a:pos x="T4" y="T5"/>
                </a:cxn>
                <a:cxn ang="0">
                  <a:pos x="T6" y="T7"/>
                </a:cxn>
                <a:cxn ang="0">
                  <a:pos x="T8" y="T9"/>
                </a:cxn>
              </a:cxnLst>
              <a:rect l="0" t="0" r="r" b="b"/>
              <a:pathLst>
                <a:path w="206" h="519">
                  <a:moveTo>
                    <a:pt x="56" y="426"/>
                  </a:moveTo>
                  <a:lnTo>
                    <a:pt x="0" y="0"/>
                  </a:lnTo>
                  <a:lnTo>
                    <a:pt x="205" y="104"/>
                  </a:lnTo>
                  <a:lnTo>
                    <a:pt x="168" y="518"/>
                  </a:lnTo>
                  <a:lnTo>
                    <a:pt x="56" y="426"/>
                  </a:lnTo>
                </a:path>
              </a:pathLst>
            </a:custGeom>
            <a:solidFill>
              <a:srgbClr val="B50069"/>
            </a:solidFill>
            <a:ln w="254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810" name="Freeform 58"/>
            <p:cNvSpPr>
              <a:spLocks/>
            </p:cNvSpPr>
            <p:nvPr/>
          </p:nvSpPr>
          <p:spPr bwMode="auto">
            <a:xfrm>
              <a:off x="1577" y="1504"/>
              <a:ext cx="206" cy="519"/>
            </a:xfrm>
            <a:custGeom>
              <a:avLst/>
              <a:gdLst>
                <a:gd name="T0" fmla="*/ 56 w 206"/>
                <a:gd name="T1" fmla="*/ 426 h 519"/>
                <a:gd name="T2" fmla="*/ 0 w 206"/>
                <a:gd name="T3" fmla="*/ 0 h 519"/>
                <a:gd name="T4" fmla="*/ 205 w 206"/>
                <a:gd name="T5" fmla="*/ 104 h 519"/>
                <a:gd name="T6" fmla="*/ 168 w 206"/>
                <a:gd name="T7" fmla="*/ 518 h 519"/>
                <a:gd name="T8" fmla="*/ 56 w 206"/>
                <a:gd name="T9" fmla="*/ 426 h 519"/>
              </a:gdLst>
              <a:ahLst/>
              <a:cxnLst>
                <a:cxn ang="0">
                  <a:pos x="T0" y="T1"/>
                </a:cxn>
                <a:cxn ang="0">
                  <a:pos x="T2" y="T3"/>
                </a:cxn>
                <a:cxn ang="0">
                  <a:pos x="T4" y="T5"/>
                </a:cxn>
                <a:cxn ang="0">
                  <a:pos x="T6" y="T7"/>
                </a:cxn>
                <a:cxn ang="0">
                  <a:pos x="T8" y="T9"/>
                </a:cxn>
              </a:cxnLst>
              <a:rect l="0" t="0" r="r" b="b"/>
              <a:pathLst>
                <a:path w="206" h="519">
                  <a:moveTo>
                    <a:pt x="56" y="426"/>
                  </a:moveTo>
                  <a:lnTo>
                    <a:pt x="0" y="0"/>
                  </a:lnTo>
                  <a:lnTo>
                    <a:pt x="205" y="104"/>
                  </a:lnTo>
                  <a:lnTo>
                    <a:pt x="168" y="518"/>
                  </a:lnTo>
                  <a:lnTo>
                    <a:pt x="56" y="426"/>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811" name="Oval 59"/>
            <p:cNvSpPr>
              <a:spLocks noChangeArrowheads="1"/>
            </p:cNvSpPr>
            <p:nvPr/>
          </p:nvSpPr>
          <p:spPr bwMode="auto">
            <a:xfrm>
              <a:off x="1647" y="1311"/>
              <a:ext cx="77" cy="226"/>
            </a:xfrm>
            <a:prstGeom prst="ellipse">
              <a:avLst/>
            </a:prstGeom>
            <a:solidFill>
              <a:srgbClr val="B50069"/>
            </a:solidFill>
            <a:ln w="25400">
              <a:solidFill>
                <a:schemeClr val="tx1"/>
              </a:solidFill>
              <a:round/>
              <a:headEnd/>
              <a:tailEn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a:p>
          </p:txBody>
        </p:sp>
        <p:sp>
          <p:nvSpPr>
            <p:cNvPr id="202812" name="Oval 60"/>
            <p:cNvSpPr>
              <a:spLocks noChangeArrowheads="1"/>
            </p:cNvSpPr>
            <p:nvPr/>
          </p:nvSpPr>
          <p:spPr bwMode="auto">
            <a:xfrm>
              <a:off x="1641" y="1305"/>
              <a:ext cx="89" cy="237"/>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a:p>
          </p:txBody>
        </p:sp>
        <p:sp>
          <p:nvSpPr>
            <p:cNvPr id="202813" name="Freeform 61"/>
            <p:cNvSpPr>
              <a:spLocks/>
            </p:cNvSpPr>
            <p:nvPr/>
          </p:nvSpPr>
          <p:spPr bwMode="auto">
            <a:xfrm>
              <a:off x="1788" y="1625"/>
              <a:ext cx="281" cy="226"/>
            </a:xfrm>
            <a:custGeom>
              <a:avLst/>
              <a:gdLst>
                <a:gd name="T0" fmla="*/ 0 w 281"/>
                <a:gd name="T1" fmla="*/ 0 h 226"/>
                <a:gd name="T2" fmla="*/ 75 w 281"/>
                <a:gd name="T3" fmla="*/ 185 h 226"/>
                <a:gd name="T4" fmla="*/ 280 w 281"/>
                <a:gd name="T5" fmla="*/ 225 h 226"/>
              </a:gdLst>
              <a:ahLst/>
              <a:cxnLst>
                <a:cxn ang="0">
                  <a:pos x="T0" y="T1"/>
                </a:cxn>
                <a:cxn ang="0">
                  <a:pos x="T2" y="T3"/>
                </a:cxn>
                <a:cxn ang="0">
                  <a:pos x="T4" y="T5"/>
                </a:cxn>
              </a:cxnLst>
              <a:rect l="0" t="0" r="r" b="b"/>
              <a:pathLst>
                <a:path w="281" h="226">
                  <a:moveTo>
                    <a:pt x="0" y="0"/>
                  </a:moveTo>
                  <a:lnTo>
                    <a:pt x="75" y="185"/>
                  </a:lnTo>
                  <a:lnTo>
                    <a:pt x="280" y="225"/>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814" name="Freeform 62"/>
            <p:cNvSpPr>
              <a:spLocks/>
            </p:cNvSpPr>
            <p:nvPr/>
          </p:nvSpPr>
          <p:spPr bwMode="auto">
            <a:xfrm>
              <a:off x="1782" y="1620"/>
              <a:ext cx="281" cy="225"/>
            </a:xfrm>
            <a:custGeom>
              <a:avLst/>
              <a:gdLst>
                <a:gd name="T0" fmla="*/ 0 w 281"/>
                <a:gd name="T1" fmla="*/ 0 h 225"/>
                <a:gd name="T2" fmla="*/ 75 w 281"/>
                <a:gd name="T3" fmla="*/ 184 h 225"/>
                <a:gd name="T4" fmla="*/ 280 w 281"/>
                <a:gd name="T5" fmla="*/ 224 h 225"/>
              </a:gdLst>
              <a:ahLst/>
              <a:cxnLst>
                <a:cxn ang="0">
                  <a:pos x="T0" y="T1"/>
                </a:cxn>
                <a:cxn ang="0">
                  <a:pos x="T2" y="T3"/>
                </a:cxn>
                <a:cxn ang="0">
                  <a:pos x="T4" y="T5"/>
                </a:cxn>
              </a:cxnLst>
              <a:rect l="0" t="0" r="r" b="b"/>
              <a:pathLst>
                <a:path w="281" h="225">
                  <a:moveTo>
                    <a:pt x="0" y="0"/>
                  </a:moveTo>
                  <a:lnTo>
                    <a:pt x="75" y="184"/>
                  </a:lnTo>
                  <a:lnTo>
                    <a:pt x="280" y="224"/>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grpSp>
      <p:sp>
        <p:nvSpPr>
          <p:cNvPr id="202815" name="Rectangle 63"/>
          <p:cNvSpPr>
            <a:spLocks noChangeArrowheads="1"/>
          </p:cNvSpPr>
          <p:nvPr/>
        </p:nvSpPr>
        <p:spPr bwMode="auto">
          <a:xfrm>
            <a:off x="3613150" y="1643712"/>
            <a:ext cx="2746375" cy="363538"/>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487" tIns="44450" rIns="90487" bIns="44450">
            <a:spAutoFit/>
          </a:bodyPr>
          <a:lstStyle/>
          <a:p>
            <a:r>
              <a:rPr lang="en-US" sz="1800" b="1" i="1">
                <a:effectLst>
                  <a:outerShdw blurRad="38100" dist="38100" dir="2700000" algn="tl">
                    <a:srgbClr val="FFFFFF"/>
                  </a:outerShdw>
                </a:effectLst>
                <a:latin typeface="Helvetica" pitchFamily="-128" charset="0"/>
              </a:rPr>
              <a:t>standards bearer (SQA)</a:t>
            </a:r>
          </a:p>
        </p:txBody>
      </p:sp>
      <p:sp>
        <p:nvSpPr>
          <p:cNvPr id="202816" name="Rectangle 64"/>
          <p:cNvSpPr>
            <a:spLocks noChangeArrowheads="1"/>
          </p:cNvSpPr>
          <p:nvPr/>
        </p:nvSpPr>
        <p:spPr bwMode="auto">
          <a:xfrm>
            <a:off x="1212850" y="3859862"/>
            <a:ext cx="1641475" cy="501650"/>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487" tIns="44450" rIns="90487" bIns="44450">
            <a:spAutoFit/>
          </a:bodyPr>
          <a:lstStyle/>
          <a:p>
            <a:pPr algn="ctr">
              <a:lnSpc>
                <a:spcPct val="75000"/>
              </a:lnSpc>
            </a:pPr>
            <a:r>
              <a:rPr lang="en-US" sz="1800" b="1" i="1">
                <a:effectLst>
                  <a:outerShdw blurRad="38100" dist="38100" dir="2700000" algn="tl">
                    <a:srgbClr val="FFFFFF"/>
                  </a:outerShdw>
                </a:effectLst>
                <a:latin typeface="Helvetica" pitchFamily="-128" charset="0"/>
              </a:rPr>
              <a:t>maintenance </a:t>
            </a:r>
          </a:p>
          <a:p>
            <a:pPr algn="ctr">
              <a:lnSpc>
                <a:spcPct val="75000"/>
              </a:lnSpc>
            </a:pPr>
            <a:r>
              <a:rPr lang="en-US" sz="1800" b="1" i="1">
                <a:effectLst>
                  <a:outerShdw blurRad="38100" dist="38100" dir="2700000" algn="tl">
                    <a:srgbClr val="FFFFFF"/>
                  </a:outerShdw>
                </a:effectLst>
                <a:latin typeface="Helvetica" pitchFamily="-128" charset="0"/>
              </a:rPr>
              <a:t>oracle</a:t>
            </a:r>
          </a:p>
        </p:txBody>
      </p:sp>
      <p:grpSp>
        <p:nvGrpSpPr>
          <p:cNvPr id="202817" name="Group 65"/>
          <p:cNvGrpSpPr>
            <a:grpSpLocks/>
          </p:cNvGrpSpPr>
          <p:nvPr/>
        </p:nvGrpSpPr>
        <p:grpSpPr bwMode="auto">
          <a:xfrm>
            <a:off x="4156075" y="3066112"/>
            <a:ext cx="995363" cy="2024063"/>
            <a:chOff x="2821" y="1795"/>
            <a:chExt cx="627" cy="1133"/>
          </a:xfrm>
        </p:grpSpPr>
        <p:sp>
          <p:nvSpPr>
            <p:cNvPr id="202818" name="Freeform 66"/>
            <p:cNvSpPr>
              <a:spLocks/>
            </p:cNvSpPr>
            <p:nvPr/>
          </p:nvSpPr>
          <p:spPr bwMode="auto">
            <a:xfrm>
              <a:off x="2908" y="2545"/>
              <a:ext cx="286" cy="298"/>
            </a:xfrm>
            <a:custGeom>
              <a:avLst/>
              <a:gdLst>
                <a:gd name="T0" fmla="*/ 0 w 286"/>
                <a:gd name="T1" fmla="*/ 42 h 298"/>
                <a:gd name="T2" fmla="*/ 214 w 286"/>
                <a:gd name="T3" fmla="*/ 0 h 298"/>
                <a:gd name="T4" fmla="*/ 174 w 286"/>
                <a:gd name="T5" fmla="*/ 297 h 298"/>
                <a:gd name="T6" fmla="*/ 285 w 286"/>
                <a:gd name="T7" fmla="*/ 269 h 298"/>
              </a:gdLst>
              <a:ahLst/>
              <a:cxnLst>
                <a:cxn ang="0">
                  <a:pos x="T0" y="T1"/>
                </a:cxn>
                <a:cxn ang="0">
                  <a:pos x="T2" y="T3"/>
                </a:cxn>
                <a:cxn ang="0">
                  <a:pos x="T4" y="T5"/>
                </a:cxn>
                <a:cxn ang="0">
                  <a:pos x="T6" y="T7"/>
                </a:cxn>
              </a:cxnLst>
              <a:rect l="0" t="0" r="r" b="b"/>
              <a:pathLst>
                <a:path w="286" h="298">
                  <a:moveTo>
                    <a:pt x="0" y="42"/>
                  </a:moveTo>
                  <a:lnTo>
                    <a:pt x="214" y="0"/>
                  </a:lnTo>
                  <a:lnTo>
                    <a:pt x="174" y="297"/>
                  </a:lnTo>
                  <a:lnTo>
                    <a:pt x="285" y="269"/>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819" name="Freeform 67"/>
            <p:cNvSpPr>
              <a:spLocks/>
            </p:cNvSpPr>
            <p:nvPr/>
          </p:nvSpPr>
          <p:spPr bwMode="auto">
            <a:xfrm>
              <a:off x="2916" y="2538"/>
              <a:ext cx="286" cy="298"/>
            </a:xfrm>
            <a:custGeom>
              <a:avLst/>
              <a:gdLst>
                <a:gd name="T0" fmla="*/ 0 w 286"/>
                <a:gd name="T1" fmla="*/ 42 h 298"/>
                <a:gd name="T2" fmla="*/ 214 w 286"/>
                <a:gd name="T3" fmla="*/ 0 h 298"/>
                <a:gd name="T4" fmla="*/ 174 w 286"/>
                <a:gd name="T5" fmla="*/ 297 h 298"/>
                <a:gd name="T6" fmla="*/ 285 w 286"/>
                <a:gd name="T7" fmla="*/ 269 h 298"/>
              </a:gdLst>
              <a:ahLst/>
              <a:cxnLst>
                <a:cxn ang="0">
                  <a:pos x="T0" y="T1"/>
                </a:cxn>
                <a:cxn ang="0">
                  <a:pos x="T2" y="T3"/>
                </a:cxn>
                <a:cxn ang="0">
                  <a:pos x="T4" y="T5"/>
                </a:cxn>
                <a:cxn ang="0">
                  <a:pos x="T6" y="T7"/>
                </a:cxn>
              </a:cxnLst>
              <a:rect l="0" t="0" r="r" b="b"/>
              <a:pathLst>
                <a:path w="286" h="298">
                  <a:moveTo>
                    <a:pt x="0" y="42"/>
                  </a:moveTo>
                  <a:lnTo>
                    <a:pt x="214" y="0"/>
                  </a:lnTo>
                  <a:lnTo>
                    <a:pt x="174" y="297"/>
                  </a:lnTo>
                  <a:lnTo>
                    <a:pt x="285" y="269"/>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820" name="Freeform 68"/>
            <p:cNvSpPr>
              <a:spLocks/>
            </p:cNvSpPr>
            <p:nvPr/>
          </p:nvSpPr>
          <p:spPr bwMode="auto">
            <a:xfrm>
              <a:off x="3011" y="2622"/>
              <a:ext cx="286" cy="306"/>
            </a:xfrm>
            <a:custGeom>
              <a:avLst/>
              <a:gdLst>
                <a:gd name="T0" fmla="*/ 0 w 286"/>
                <a:gd name="T1" fmla="*/ 50 h 306"/>
                <a:gd name="T2" fmla="*/ 214 w 286"/>
                <a:gd name="T3" fmla="*/ 0 h 306"/>
                <a:gd name="T4" fmla="*/ 182 w 286"/>
                <a:gd name="T5" fmla="*/ 305 h 306"/>
                <a:gd name="T6" fmla="*/ 285 w 286"/>
                <a:gd name="T7" fmla="*/ 270 h 306"/>
              </a:gdLst>
              <a:ahLst/>
              <a:cxnLst>
                <a:cxn ang="0">
                  <a:pos x="T0" y="T1"/>
                </a:cxn>
                <a:cxn ang="0">
                  <a:pos x="T2" y="T3"/>
                </a:cxn>
                <a:cxn ang="0">
                  <a:pos x="T4" y="T5"/>
                </a:cxn>
                <a:cxn ang="0">
                  <a:pos x="T6" y="T7"/>
                </a:cxn>
              </a:cxnLst>
              <a:rect l="0" t="0" r="r" b="b"/>
              <a:pathLst>
                <a:path w="286" h="306">
                  <a:moveTo>
                    <a:pt x="0" y="50"/>
                  </a:moveTo>
                  <a:lnTo>
                    <a:pt x="214" y="0"/>
                  </a:lnTo>
                  <a:lnTo>
                    <a:pt x="182" y="305"/>
                  </a:lnTo>
                  <a:lnTo>
                    <a:pt x="285" y="27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821" name="Freeform 69"/>
            <p:cNvSpPr>
              <a:spLocks/>
            </p:cNvSpPr>
            <p:nvPr/>
          </p:nvSpPr>
          <p:spPr bwMode="auto">
            <a:xfrm>
              <a:off x="3019" y="2615"/>
              <a:ext cx="286" cy="306"/>
            </a:xfrm>
            <a:custGeom>
              <a:avLst/>
              <a:gdLst>
                <a:gd name="T0" fmla="*/ 0 w 286"/>
                <a:gd name="T1" fmla="*/ 50 h 306"/>
                <a:gd name="T2" fmla="*/ 214 w 286"/>
                <a:gd name="T3" fmla="*/ 0 h 306"/>
                <a:gd name="T4" fmla="*/ 182 w 286"/>
                <a:gd name="T5" fmla="*/ 305 h 306"/>
                <a:gd name="T6" fmla="*/ 285 w 286"/>
                <a:gd name="T7" fmla="*/ 270 h 306"/>
              </a:gdLst>
              <a:ahLst/>
              <a:cxnLst>
                <a:cxn ang="0">
                  <a:pos x="T0" y="T1"/>
                </a:cxn>
                <a:cxn ang="0">
                  <a:pos x="T2" y="T3"/>
                </a:cxn>
                <a:cxn ang="0">
                  <a:pos x="T4" y="T5"/>
                </a:cxn>
                <a:cxn ang="0">
                  <a:pos x="T6" y="T7"/>
                </a:cxn>
              </a:cxnLst>
              <a:rect l="0" t="0" r="r" b="b"/>
              <a:pathLst>
                <a:path w="286" h="306">
                  <a:moveTo>
                    <a:pt x="0" y="50"/>
                  </a:moveTo>
                  <a:lnTo>
                    <a:pt x="214" y="0"/>
                  </a:lnTo>
                  <a:lnTo>
                    <a:pt x="182" y="305"/>
                  </a:lnTo>
                  <a:lnTo>
                    <a:pt x="285" y="27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822" name="Freeform 70"/>
            <p:cNvSpPr>
              <a:spLocks/>
            </p:cNvSpPr>
            <p:nvPr/>
          </p:nvSpPr>
          <p:spPr bwMode="auto">
            <a:xfrm>
              <a:off x="2821" y="2049"/>
              <a:ext cx="262" cy="638"/>
            </a:xfrm>
            <a:custGeom>
              <a:avLst/>
              <a:gdLst>
                <a:gd name="T0" fmla="*/ 71 w 262"/>
                <a:gd name="T1" fmla="*/ 524 h 638"/>
                <a:gd name="T2" fmla="*/ 0 w 262"/>
                <a:gd name="T3" fmla="*/ 0 h 638"/>
                <a:gd name="T4" fmla="*/ 261 w 262"/>
                <a:gd name="T5" fmla="*/ 127 h 638"/>
                <a:gd name="T6" fmla="*/ 214 w 262"/>
                <a:gd name="T7" fmla="*/ 637 h 638"/>
                <a:gd name="T8" fmla="*/ 71 w 262"/>
                <a:gd name="T9" fmla="*/ 524 h 638"/>
              </a:gdLst>
              <a:ahLst/>
              <a:cxnLst>
                <a:cxn ang="0">
                  <a:pos x="T0" y="T1"/>
                </a:cxn>
                <a:cxn ang="0">
                  <a:pos x="T2" y="T3"/>
                </a:cxn>
                <a:cxn ang="0">
                  <a:pos x="T4" y="T5"/>
                </a:cxn>
                <a:cxn ang="0">
                  <a:pos x="T6" y="T7"/>
                </a:cxn>
                <a:cxn ang="0">
                  <a:pos x="T8" y="T9"/>
                </a:cxn>
              </a:cxnLst>
              <a:rect l="0" t="0" r="r" b="b"/>
              <a:pathLst>
                <a:path w="262" h="638">
                  <a:moveTo>
                    <a:pt x="71" y="524"/>
                  </a:moveTo>
                  <a:lnTo>
                    <a:pt x="0" y="0"/>
                  </a:lnTo>
                  <a:lnTo>
                    <a:pt x="261" y="127"/>
                  </a:lnTo>
                  <a:lnTo>
                    <a:pt x="214" y="637"/>
                  </a:lnTo>
                  <a:lnTo>
                    <a:pt x="71" y="524"/>
                  </a:lnTo>
                </a:path>
              </a:pathLst>
            </a:custGeom>
            <a:solidFill>
              <a:srgbClr val="B50069"/>
            </a:solidFill>
            <a:ln w="254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823" name="Freeform 71"/>
            <p:cNvSpPr>
              <a:spLocks/>
            </p:cNvSpPr>
            <p:nvPr/>
          </p:nvSpPr>
          <p:spPr bwMode="auto">
            <a:xfrm>
              <a:off x="2828" y="2042"/>
              <a:ext cx="263" cy="638"/>
            </a:xfrm>
            <a:custGeom>
              <a:avLst/>
              <a:gdLst>
                <a:gd name="T0" fmla="*/ 71 w 263"/>
                <a:gd name="T1" fmla="*/ 524 h 638"/>
                <a:gd name="T2" fmla="*/ 0 w 263"/>
                <a:gd name="T3" fmla="*/ 0 h 638"/>
                <a:gd name="T4" fmla="*/ 262 w 263"/>
                <a:gd name="T5" fmla="*/ 127 h 638"/>
                <a:gd name="T6" fmla="*/ 214 w 263"/>
                <a:gd name="T7" fmla="*/ 637 h 638"/>
                <a:gd name="T8" fmla="*/ 71 w 263"/>
                <a:gd name="T9" fmla="*/ 524 h 638"/>
              </a:gdLst>
              <a:ahLst/>
              <a:cxnLst>
                <a:cxn ang="0">
                  <a:pos x="T0" y="T1"/>
                </a:cxn>
                <a:cxn ang="0">
                  <a:pos x="T2" y="T3"/>
                </a:cxn>
                <a:cxn ang="0">
                  <a:pos x="T4" y="T5"/>
                </a:cxn>
                <a:cxn ang="0">
                  <a:pos x="T6" y="T7"/>
                </a:cxn>
                <a:cxn ang="0">
                  <a:pos x="T8" y="T9"/>
                </a:cxn>
              </a:cxnLst>
              <a:rect l="0" t="0" r="r" b="b"/>
              <a:pathLst>
                <a:path w="263" h="638">
                  <a:moveTo>
                    <a:pt x="71" y="524"/>
                  </a:moveTo>
                  <a:lnTo>
                    <a:pt x="0" y="0"/>
                  </a:lnTo>
                  <a:lnTo>
                    <a:pt x="262" y="127"/>
                  </a:lnTo>
                  <a:lnTo>
                    <a:pt x="214" y="637"/>
                  </a:lnTo>
                  <a:lnTo>
                    <a:pt x="71" y="524"/>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824" name="Oval 72"/>
            <p:cNvSpPr>
              <a:spLocks noChangeArrowheads="1"/>
            </p:cNvSpPr>
            <p:nvPr/>
          </p:nvSpPr>
          <p:spPr bwMode="auto">
            <a:xfrm>
              <a:off x="2940" y="1802"/>
              <a:ext cx="103" cy="282"/>
            </a:xfrm>
            <a:prstGeom prst="ellipse">
              <a:avLst/>
            </a:prstGeom>
            <a:solidFill>
              <a:srgbClr val="B50069"/>
            </a:solidFill>
            <a:ln w="25400">
              <a:solidFill>
                <a:schemeClr val="tx1"/>
              </a:solidFill>
              <a:round/>
              <a:headEnd/>
              <a:tailEnd/>
            </a:ln>
            <a:effectLst/>
            <a:extLs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a:p>
          </p:txBody>
        </p:sp>
        <p:sp>
          <p:nvSpPr>
            <p:cNvPr id="202825" name="Oval 73"/>
            <p:cNvSpPr>
              <a:spLocks noChangeArrowheads="1"/>
            </p:cNvSpPr>
            <p:nvPr/>
          </p:nvSpPr>
          <p:spPr bwMode="auto">
            <a:xfrm>
              <a:off x="2932" y="1795"/>
              <a:ext cx="119" cy="296"/>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a:p>
          </p:txBody>
        </p:sp>
        <p:sp>
          <p:nvSpPr>
            <p:cNvPr id="202826" name="Freeform 74"/>
            <p:cNvSpPr>
              <a:spLocks/>
            </p:cNvSpPr>
            <p:nvPr/>
          </p:nvSpPr>
          <p:spPr bwMode="auto">
            <a:xfrm>
              <a:off x="3082" y="2190"/>
              <a:ext cx="358" cy="271"/>
            </a:xfrm>
            <a:custGeom>
              <a:avLst/>
              <a:gdLst>
                <a:gd name="T0" fmla="*/ 0 w 358"/>
                <a:gd name="T1" fmla="*/ 0 h 271"/>
                <a:gd name="T2" fmla="*/ 95 w 358"/>
                <a:gd name="T3" fmla="*/ 227 h 271"/>
                <a:gd name="T4" fmla="*/ 357 w 358"/>
                <a:gd name="T5" fmla="*/ 270 h 271"/>
              </a:gdLst>
              <a:ahLst/>
              <a:cxnLst>
                <a:cxn ang="0">
                  <a:pos x="T0" y="T1"/>
                </a:cxn>
                <a:cxn ang="0">
                  <a:pos x="T2" y="T3"/>
                </a:cxn>
                <a:cxn ang="0">
                  <a:pos x="T4" y="T5"/>
                </a:cxn>
              </a:cxnLst>
              <a:rect l="0" t="0" r="r" b="b"/>
              <a:pathLst>
                <a:path w="358" h="271">
                  <a:moveTo>
                    <a:pt x="0" y="0"/>
                  </a:moveTo>
                  <a:lnTo>
                    <a:pt x="95" y="227"/>
                  </a:lnTo>
                  <a:lnTo>
                    <a:pt x="357" y="270"/>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sp>
          <p:nvSpPr>
            <p:cNvPr id="202827" name="Freeform 75"/>
            <p:cNvSpPr>
              <a:spLocks/>
            </p:cNvSpPr>
            <p:nvPr/>
          </p:nvSpPr>
          <p:spPr bwMode="auto">
            <a:xfrm>
              <a:off x="3090" y="2183"/>
              <a:ext cx="358" cy="270"/>
            </a:xfrm>
            <a:custGeom>
              <a:avLst/>
              <a:gdLst>
                <a:gd name="T0" fmla="*/ 0 w 358"/>
                <a:gd name="T1" fmla="*/ 0 h 270"/>
                <a:gd name="T2" fmla="*/ 95 w 358"/>
                <a:gd name="T3" fmla="*/ 227 h 270"/>
                <a:gd name="T4" fmla="*/ 357 w 358"/>
                <a:gd name="T5" fmla="*/ 269 h 270"/>
              </a:gdLst>
              <a:ahLst/>
              <a:cxnLst>
                <a:cxn ang="0">
                  <a:pos x="T0" y="T1"/>
                </a:cxn>
                <a:cxn ang="0">
                  <a:pos x="T2" y="T3"/>
                </a:cxn>
                <a:cxn ang="0">
                  <a:pos x="T4" y="T5"/>
                </a:cxn>
              </a:cxnLst>
              <a:rect l="0" t="0" r="r" b="b"/>
              <a:pathLst>
                <a:path w="358" h="270">
                  <a:moveTo>
                    <a:pt x="0" y="0"/>
                  </a:moveTo>
                  <a:lnTo>
                    <a:pt x="95" y="227"/>
                  </a:lnTo>
                  <a:lnTo>
                    <a:pt x="357" y="269"/>
                  </a:lnTo>
                </a:path>
              </a:pathLst>
            </a:custGeom>
            <a:noFill/>
            <a:ln w="25400" cap="rnd"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a:p>
          </p:txBody>
        </p:sp>
      </p:grpSp>
      <p:sp>
        <p:nvSpPr>
          <p:cNvPr id="202828" name="Rectangle 76"/>
          <p:cNvSpPr>
            <a:spLocks noChangeArrowheads="1"/>
          </p:cNvSpPr>
          <p:nvPr/>
        </p:nvSpPr>
        <p:spPr bwMode="auto">
          <a:xfrm>
            <a:off x="4083050" y="5123512"/>
            <a:ext cx="1082675" cy="363538"/>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lIns="90487" tIns="44450" rIns="90487" bIns="44450">
            <a:spAutoFit/>
          </a:bodyPr>
          <a:lstStyle/>
          <a:p>
            <a:r>
              <a:rPr lang="en-US" sz="1800" b="1" i="1">
                <a:effectLst>
                  <a:outerShdw blurRad="38100" dist="38100" dir="2700000" algn="tl">
                    <a:srgbClr val="FFFFFF"/>
                  </a:outerShdw>
                </a:effectLst>
                <a:latin typeface="Helvetica" pitchFamily="-128" charset="0"/>
              </a:rPr>
              <a:t>user rep</a:t>
            </a:r>
          </a:p>
        </p:txBody>
      </p:sp>
    </p:spTree>
    <p:extLst>
      <p:ext uri="{BB962C8B-B14F-4D97-AF65-F5344CB8AC3E}">
        <p14:creationId xmlns:p14="http://schemas.microsoft.com/office/powerpoint/2010/main" val="1332630819"/>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AA570E95-0071-4E26-BB2C-0EFB12D1BB53}" type="slidenum">
              <a:rPr lang="en-US"/>
              <a:pPr/>
              <a:t>15</a:t>
            </a:fld>
            <a:endParaRPr lang="en-US"/>
          </a:p>
        </p:txBody>
      </p:sp>
      <p:sp>
        <p:nvSpPr>
          <p:cNvPr id="195586" name="Rectangle 2"/>
          <p:cNvSpPr>
            <a:spLocks noGrp="1" noChangeArrowheads="1"/>
          </p:cNvSpPr>
          <p:nvPr>
            <p:ph type="title"/>
          </p:nvPr>
        </p:nvSpPr>
        <p:spPr/>
        <p:txBody>
          <a:bodyPr/>
          <a:lstStyle/>
          <a:p>
            <a:r>
              <a:rPr lang="en-US"/>
              <a:t>The Players</a:t>
            </a:r>
          </a:p>
        </p:txBody>
      </p:sp>
      <p:sp>
        <p:nvSpPr>
          <p:cNvPr id="195587" name="Rectangle 3"/>
          <p:cNvSpPr>
            <a:spLocks noGrp="1" noChangeArrowheads="1"/>
          </p:cNvSpPr>
          <p:nvPr>
            <p:ph type="body" idx="1"/>
          </p:nvPr>
        </p:nvSpPr>
        <p:spPr/>
        <p:txBody>
          <a:bodyPr>
            <a:normAutofit/>
          </a:bodyPr>
          <a:lstStyle/>
          <a:p>
            <a:pPr>
              <a:spcBef>
                <a:spcPts val="300"/>
              </a:spcBef>
            </a:pPr>
            <a:r>
              <a:rPr lang="en-US" sz="2000" i="1" dirty="0">
                <a:solidFill>
                  <a:schemeClr val="folHlink"/>
                </a:solidFill>
                <a:latin typeface="Palatino" pitchFamily="-128" charset="0"/>
              </a:rPr>
              <a:t>Producer</a:t>
            </a:r>
            <a:r>
              <a:rPr lang="en-US" sz="2000" dirty="0">
                <a:latin typeface="Palatino" pitchFamily="-128" charset="0"/>
              </a:rPr>
              <a:t>—the individual who has developed the work product</a:t>
            </a:r>
          </a:p>
          <a:p>
            <a:pPr lvl="1">
              <a:spcBef>
                <a:spcPts val="300"/>
              </a:spcBef>
            </a:pPr>
            <a:r>
              <a:rPr lang="en-US" sz="2000" dirty="0">
                <a:latin typeface="Palatino" pitchFamily="-128" charset="0"/>
              </a:rPr>
              <a:t>informs the project leader that the work product is complete and that a review is required</a:t>
            </a:r>
          </a:p>
          <a:p>
            <a:pPr>
              <a:spcBef>
                <a:spcPts val="300"/>
              </a:spcBef>
            </a:pPr>
            <a:r>
              <a:rPr lang="en-US" sz="2000" i="1" dirty="0">
                <a:solidFill>
                  <a:schemeClr val="folHlink"/>
                </a:solidFill>
                <a:latin typeface="Palatino" pitchFamily="-128" charset="0"/>
              </a:rPr>
              <a:t>Review leader</a:t>
            </a:r>
            <a:r>
              <a:rPr lang="en-US" sz="2000" i="1" dirty="0">
                <a:latin typeface="Palatino" pitchFamily="-128" charset="0"/>
              </a:rPr>
              <a:t>—</a:t>
            </a:r>
            <a:r>
              <a:rPr lang="en-US" sz="2000" dirty="0">
                <a:latin typeface="Palatino" pitchFamily="-128" charset="0"/>
              </a:rPr>
              <a:t>evaluates the product for readiness, generates copies of product materials, and distributes them to two or three </a:t>
            </a:r>
            <a:r>
              <a:rPr lang="en-US" sz="2000" i="1" dirty="0">
                <a:latin typeface="Palatino" pitchFamily="-128" charset="0"/>
              </a:rPr>
              <a:t>reviewers </a:t>
            </a:r>
            <a:r>
              <a:rPr lang="en-US" sz="2000" dirty="0">
                <a:latin typeface="Palatino" pitchFamily="-128" charset="0"/>
              </a:rPr>
              <a:t>for advance preparation.</a:t>
            </a:r>
          </a:p>
          <a:p>
            <a:pPr>
              <a:spcBef>
                <a:spcPts val="300"/>
              </a:spcBef>
            </a:pPr>
            <a:r>
              <a:rPr lang="en-US" sz="2000" i="1" dirty="0">
                <a:solidFill>
                  <a:schemeClr val="folHlink"/>
                </a:solidFill>
                <a:latin typeface="Palatino" pitchFamily="-128" charset="0"/>
              </a:rPr>
              <a:t>Reviewer(s)</a:t>
            </a:r>
            <a:r>
              <a:rPr lang="en-US" sz="2000" dirty="0">
                <a:latin typeface="Palatino" pitchFamily="-128" charset="0"/>
              </a:rPr>
              <a:t>—expected to spend between one and two hours reviewing the product, making notes, and otherwise becoming familiar with the work.</a:t>
            </a:r>
          </a:p>
          <a:p>
            <a:pPr>
              <a:spcBef>
                <a:spcPts val="300"/>
              </a:spcBef>
            </a:pPr>
            <a:r>
              <a:rPr lang="en-US" sz="2000" i="1" dirty="0">
                <a:solidFill>
                  <a:schemeClr val="folHlink"/>
                </a:solidFill>
                <a:latin typeface="Palatino" pitchFamily="-128" charset="0"/>
              </a:rPr>
              <a:t>Recorder</a:t>
            </a:r>
            <a:r>
              <a:rPr lang="en-US" sz="2000" dirty="0">
                <a:latin typeface="Palatino" pitchFamily="-128" charset="0"/>
              </a:rPr>
              <a:t>—</a:t>
            </a:r>
            <a:r>
              <a:rPr lang="en-US" sz="2000" dirty="0">
                <a:latin typeface="Times" pitchFamily="-128" charset="0"/>
              </a:rPr>
              <a:t>reviewer who records (in writing) all important issues raised during the review.</a:t>
            </a:r>
            <a:r>
              <a:rPr lang="en-US" sz="2000" dirty="0">
                <a:latin typeface="Palatino" pitchFamily="-128" charset="0"/>
              </a:rPr>
              <a:t> </a:t>
            </a:r>
            <a:endParaRPr lang="en-US" sz="2000" dirty="0"/>
          </a:p>
        </p:txBody>
      </p:sp>
    </p:spTree>
    <p:extLst>
      <p:ext uri="{BB962C8B-B14F-4D97-AF65-F5344CB8AC3E}">
        <p14:creationId xmlns:p14="http://schemas.microsoft.com/office/powerpoint/2010/main" val="1300318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AA45D228-590E-4043-B1C6-C98A940E84AB}" type="slidenum">
              <a:rPr lang="en-US"/>
              <a:pPr/>
              <a:t>16</a:t>
            </a:fld>
            <a:endParaRPr lang="en-US"/>
          </a:p>
        </p:txBody>
      </p:sp>
      <p:sp>
        <p:nvSpPr>
          <p:cNvPr id="203778" name="Rectangle 2"/>
          <p:cNvSpPr>
            <a:spLocks noGrp="1" noChangeArrowheads="1"/>
          </p:cNvSpPr>
          <p:nvPr>
            <p:ph type="title"/>
          </p:nvPr>
        </p:nvSpPr>
        <p:spPr/>
        <p:txBody>
          <a:bodyPr/>
          <a:lstStyle/>
          <a:p>
            <a:r>
              <a:rPr lang="en-US" dirty="0"/>
              <a:t>Conducting the Review</a:t>
            </a:r>
          </a:p>
        </p:txBody>
      </p:sp>
      <p:sp>
        <p:nvSpPr>
          <p:cNvPr id="203779" name="Rectangle 3"/>
          <p:cNvSpPr>
            <a:spLocks noGrp="1" noChangeArrowheads="1"/>
          </p:cNvSpPr>
          <p:nvPr>
            <p:ph type="body" idx="1"/>
          </p:nvPr>
        </p:nvSpPr>
        <p:spPr/>
        <p:txBody>
          <a:bodyPr/>
          <a:lstStyle/>
          <a:p>
            <a:pPr>
              <a:lnSpc>
                <a:spcPct val="90000"/>
              </a:lnSpc>
              <a:spcBef>
                <a:spcPts val="600"/>
              </a:spcBef>
            </a:pPr>
            <a:r>
              <a:rPr lang="en-US" sz="2000" b="1" i="1" dirty="0">
                <a:solidFill>
                  <a:srgbClr val="FF0000"/>
                </a:solidFill>
                <a:latin typeface="Palatino" pitchFamily="-128" charset="0"/>
              </a:rPr>
              <a:t>Review the product, not the producer</a:t>
            </a:r>
            <a:r>
              <a:rPr lang="en-US" sz="2000" i="1" dirty="0">
                <a:latin typeface="Palatino" pitchFamily="-128" charset="0"/>
              </a:rPr>
              <a:t>. </a:t>
            </a:r>
          </a:p>
          <a:p>
            <a:pPr>
              <a:lnSpc>
                <a:spcPct val="90000"/>
              </a:lnSpc>
              <a:spcBef>
                <a:spcPts val="600"/>
              </a:spcBef>
            </a:pPr>
            <a:r>
              <a:rPr lang="en-US" sz="2000" i="1" dirty="0">
                <a:latin typeface="Palatino" pitchFamily="-128" charset="0"/>
              </a:rPr>
              <a:t>Set an agenda and maintain it.</a:t>
            </a:r>
            <a:r>
              <a:rPr lang="en-US" sz="2000" dirty="0">
                <a:latin typeface="Palatino" pitchFamily="-128" charset="0"/>
              </a:rPr>
              <a:t> </a:t>
            </a:r>
          </a:p>
          <a:p>
            <a:pPr>
              <a:lnSpc>
                <a:spcPct val="90000"/>
              </a:lnSpc>
              <a:spcBef>
                <a:spcPts val="600"/>
              </a:spcBef>
            </a:pPr>
            <a:r>
              <a:rPr lang="en-US" sz="2000" i="1" dirty="0">
                <a:latin typeface="Palatino" pitchFamily="-128" charset="0"/>
              </a:rPr>
              <a:t>Limit debate and rebuttal. </a:t>
            </a:r>
            <a:endParaRPr lang="en-US" sz="2000" dirty="0">
              <a:latin typeface="Palatino" pitchFamily="-128" charset="0"/>
            </a:endParaRPr>
          </a:p>
          <a:p>
            <a:pPr>
              <a:lnSpc>
                <a:spcPct val="90000"/>
              </a:lnSpc>
              <a:spcBef>
                <a:spcPts val="600"/>
              </a:spcBef>
            </a:pPr>
            <a:r>
              <a:rPr lang="en-US" sz="2000" b="1" i="1" dirty="0">
                <a:solidFill>
                  <a:srgbClr val="FF0000"/>
                </a:solidFill>
                <a:latin typeface="Palatino" pitchFamily="-128" charset="0"/>
              </a:rPr>
              <a:t>Enunciate problem areas, but don't attempt to solve every problem noted. </a:t>
            </a:r>
            <a:endParaRPr lang="en-US" sz="2000" b="1" dirty="0">
              <a:solidFill>
                <a:srgbClr val="FF0000"/>
              </a:solidFill>
              <a:latin typeface="Palatino" pitchFamily="-128" charset="0"/>
            </a:endParaRPr>
          </a:p>
          <a:p>
            <a:pPr>
              <a:lnSpc>
                <a:spcPct val="90000"/>
              </a:lnSpc>
              <a:spcBef>
                <a:spcPts val="600"/>
              </a:spcBef>
            </a:pPr>
            <a:r>
              <a:rPr lang="en-US" sz="2000" i="1" dirty="0">
                <a:latin typeface="Palatino" pitchFamily="-128" charset="0"/>
              </a:rPr>
              <a:t>Take written notes. </a:t>
            </a:r>
            <a:endParaRPr lang="en-US" sz="2000" dirty="0">
              <a:latin typeface="Palatino" pitchFamily="-128" charset="0"/>
            </a:endParaRPr>
          </a:p>
          <a:p>
            <a:pPr>
              <a:lnSpc>
                <a:spcPct val="90000"/>
              </a:lnSpc>
              <a:spcBef>
                <a:spcPts val="600"/>
              </a:spcBef>
            </a:pPr>
            <a:r>
              <a:rPr lang="en-US" sz="2000" b="1" i="1" dirty="0">
                <a:solidFill>
                  <a:srgbClr val="FF0000"/>
                </a:solidFill>
                <a:latin typeface="Palatino" pitchFamily="-128" charset="0"/>
              </a:rPr>
              <a:t>Limit the number of participants and insist upon advance preparation. </a:t>
            </a:r>
            <a:endParaRPr lang="en-US" sz="2000" b="1" dirty="0">
              <a:solidFill>
                <a:srgbClr val="FF0000"/>
              </a:solidFill>
              <a:latin typeface="Palatino" pitchFamily="-128" charset="0"/>
            </a:endParaRPr>
          </a:p>
          <a:p>
            <a:pPr>
              <a:lnSpc>
                <a:spcPct val="90000"/>
              </a:lnSpc>
              <a:spcBef>
                <a:spcPts val="600"/>
              </a:spcBef>
            </a:pPr>
            <a:r>
              <a:rPr lang="en-US" sz="2000" i="1" dirty="0">
                <a:latin typeface="Palatino" pitchFamily="-128" charset="0"/>
              </a:rPr>
              <a:t>Develop a checklist for each product that is likely to be reviewed.</a:t>
            </a:r>
            <a:r>
              <a:rPr lang="en-US" sz="2000" dirty="0">
                <a:latin typeface="Palatino" pitchFamily="-128" charset="0"/>
              </a:rPr>
              <a:t> </a:t>
            </a:r>
          </a:p>
          <a:p>
            <a:pPr>
              <a:lnSpc>
                <a:spcPct val="90000"/>
              </a:lnSpc>
              <a:spcBef>
                <a:spcPts val="600"/>
              </a:spcBef>
            </a:pPr>
            <a:r>
              <a:rPr lang="en-US" sz="2000" i="1" dirty="0">
                <a:latin typeface="Palatino" pitchFamily="-128" charset="0"/>
              </a:rPr>
              <a:t>Allocate resources and schedule time for FTRs.</a:t>
            </a:r>
            <a:r>
              <a:rPr lang="en-US" sz="2000" dirty="0">
                <a:latin typeface="Palatino" pitchFamily="-128" charset="0"/>
              </a:rPr>
              <a:t> </a:t>
            </a:r>
          </a:p>
          <a:p>
            <a:pPr>
              <a:lnSpc>
                <a:spcPct val="90000"/>
              </a:lnSpc>
              <a:spcBef>
                <a:spcPts val="600"/>
              </a:spcBef>
            </a:pPr>
            <a:r>
              <a:rPr lang="en-US" sz="2000" i="1" dirty="0">
                <a:latin typeface="Palatino" pitchFamily="-128" charset="0"/>
              </a:rPr>
              <a:t>Conduct meaningful training for all reviewers.</a:t>
            </a:r>
            <a:r>
              <a:rPr lang="en-US" sz="2000" dirty="0">
                <a:latin typeface="Palatino" pitchFamily="-128" charset="0"/>
              </a:rPr>
              <a:t> </a:t>
            </a:r>
          </a:p>
          <a:p>
            <a:pPr>
              <a:lnSpc>
                <a:spcPct val="90000"/>
              </a:lnSpc>
              <a:spcBef>
                <a:spcPts val="600"/>
              </a:spcBef>
            </a:pPr>
            <a:r>
              <a:rPr lang="en-US" sz="2000" i="1" dirty="0">
                <a:latin typeface="Palatino" pitchFamily="-128" charset="0"/>
              </a:rPr>
              <a:t>Review your early reviews. </a:t>
            </a:r>
            <a:endParaRPr lang="en-US" sz="2000" dirty="0"/>
          </a:p>
        </p:txBody>
      </p:sp>
    </p:spTree>
    <p:extLst>
      <p:ext uri="{BB962C8B-B14F-4D97-AF65-F5344CB8AC3E}">
        <p14:creationId xmlns:p14="http://schemas.microsoft.com/office/powerpoint/2010/main" val="1419903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90800"/>
            <a:ext cx="8229600" cy="1143000"/>
          </a:xfrm>
        </p:spPr>
        <p:txBody>
          <a:bodyPr>
            <a:normAutofit fontScale="90000"/>
          </a:bodyPr>
          <a:lstStyle/>
          <a:p>
            <a:r>
              <a:rPr lang="en-US" dirty="0"/>
              <a:t>Code Review Checklist : Some Examples</a:t>
            </a:r>
          </a:p>
        </p:txBody>
      </p:sp>
    </p:spTree>
    <p:extLst>
      <p:ext uri="{BB962C8B-B14F-4D97-AF65-F5344CB8AC3E}">
        <p14:creationId xmlns:p14="http://schemas.microsoft.com/office/powerpoint/2010/main" val="2304403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a:xfrm>
            <a:off x="457200" y="152400"/>
            <a:ext cx="8229600" cy="632365"/>
          </a:xfrm>
        </p:spPr>
        <p:txBody>
          <a:bodyPr>
            <a:noAutofit/>
          </a:bodyPr>
          <a:lstStyle/>
          <a:p>
            <a:r>
              <a:rPr lang="en-US" sz="3600" dirty="0"/>
              <a:t>Code review checklist: Code writing errors </a:t>
            </a:r>
            <a:br>
              <a:rPr lang="en-US" sz="3600" dirty="0"/>
            </a:br>
            <a:endParaRPr lang="en-US" sz="3600" dirty="0"/>
          </a:p>
        </p:txBody>
      </p:sp>
      <p:sp>
        <p:nvSpPr>
          <p:cNvPr id="210947" name="Rectangle 3"/>
          <p:cNvSpPr>
            <a:spLocks noGrp="1" noChangeArrowheads="1"/>
          </p:cNvSpPr>
          <p:nvPr>
            <p:ph type="body" idx="1"/>
          </p:nvPr>
        </p:nvSpPr>
        <p:spPr>
          <a:xfrm>
            <a:off x="914400" y="990600"/>
            <a:ext cx="7772400" cy="1600200"/>
          </a:xfrm>
        </p:spPr>
        <p:txBody>
          <a:bodyPr>
            <a:normAutofit/>
          </a:bodyPr>
          <a:lstStyle/>
          <a:p>
            <a:pPr>
              <a:lnSpc>
                <a:spcPct val="90000"/>
              </a:lnSpc>
            </a:pPr>
            <a:r>
              <a:rPr lang="en-US" sz="2000" dirty="0"/>
              <a:t>Are the variables assigned the correct length, type, storage class? </a:t>
            </a:r>
          </a:p>
          <a:p>
            <a:pPr lvl="1">
              <a:lnSpc>
                <a:spcPct val="90000"/>
              </a:lnSpc>
            </a:pPr>
            <a:r>
              <a:rPr lang="en-US" sz="2000" dirty="0"/>
              <a:t>E.g. should a variable be declared a string instead of an array of characters?</a:t>
            </a:r>
          </a:p>
          <a:p>
            <a:pPr>
              <a:lnSpc>
                <a:spcPct val="90000"/>
              </a:lnSpc>
            </a:pPr>
            <a:r>
              <a:rPr lang="en-US" sz="2000" dirty="0"/>
              <a:t>If a variable is initialized at its declaration, is it properly initialized and consistent with its type?</a:t>
            </a:r>
          </a:p>
          <a:p>
            <a:pPr marL="0" indent="0">
              <a:lnSpc>
                <a:spcPct val="90000"/>
              </a:lnSpc>
              <a:buNone/>
            </a:pPr>
            <a:endParaRPr lang="en-US" sz="2000" dirty="0"/>
          </a:p>
        </p:txBody>
      </p:sp>
      <p:sp>
        <p:nvSpPr>
          <p:cNvPr id="2" name="Rectangle 1"/>
          <p:cNvSpPr/>
          <p:nvPr/>
        </p:nvSpPr>
        <p:spPr>
          <a:xfrm>
            <a:off x="76200" y="697468"/>
            <a:ext cx="2386038" cy="369332"/>
          </a:xfrm>
          <a:prstGeom prst="rect">
            <a:avLst/>
          </a:prstGeom>
        </p:spPr>
        <p:txBody>
          <a:bodyPr wrap="none">
            <a:spAutoFit/>
          </a:bodyPr>
          <a:lstStyle/>
          <a:p>
            <a:r>
              <a:rPr lang="en-US" b="1" dirty="0">
                <a:solidFill>
                  <a:srgbClr val="FF0000"/>
                </a:solidFill>
              </a:rPr>
              <a:t>Data declaration errors</a:t>
            </a:r>
          </a:p>
        </p:txBody>
      </p:sp>
      <p:sp>
        <p:nvSpPr>
          <p:cNvPr id="3" name="Rectangle 2"/>
          <p:cNvSpPr/>
          <p:nvPr/>
        </p:nvSpPr>
        <p:spPr>
          <a:xfrm>
            <a:off x="90256" y="2590800"/>
            <a:ext cx="2059795" cy="369332"/>
          </a:xfrm>
          <a:prstGeom prst="rect">
            <a:avLst/>
          </a:prstGeom>
        </p:spPr>
        <p:txBody>
          <a:bodyPr wrap="none">
            <a:spAutoFit/>
          </a:bodyPr>
          <a:lstStyle/>
          <a:p>
            <a:r>
              <a:rPr lang="en-US" b="1" dirty="0">
                <a:solidFill>
                  <a:srgbClr val="FF0000"/>
                </a:solidFill>
              </a:rPr>
              <a:t>Computation errors</a:t>
            </a:r>
          </a:p>
        </p:txBody>
      </p:sp>
      <p:sp>
        <p:nvSpPr>
          <p:cNvPr id="4" name="Rectangle 3"/>
          <p:cNvSpPr/>
          <p:nvPr/>
        </p:nvSpPr>
        <p:spPr>
          <a:xfrm>
            <a:off x="533400" y="2960132"/>
            <a:ext cx="7848600" cy="1975926"/>
          </a:xfrm>
          <a:prstGeom prst="rect">
            <a:avLst/>
          </a:prstGeom>
        </p:spPr>
        <p:txBody>
          <a:bodyPr wrap="square">
            <a:spAutoFit/>
          </a:bodyPr>
          <a:lstStyle/>
          <a:p>
            <a:pPr marL="342900" indent="-342900">
              <a:lnSpc>
                <a:spcPct val="90000"/>
              </a:lnSpc>
              <a:buFont typeface="Arial" pitchFamily="34" charset="0"/>
              <a:buChar char="•"/>
            </a:pPr>
            <a:r>
              <a:rPr lang="en-US" sz="2000" dirty="0"/>
              <a:t>Do any calculations that use variables have different data types?</a:t>
            </a:r>
          </a:p>
          <a:p>
            <a:pPr lvl="1">
              <a:lnSpc>
                <a:spcPct val="90000"/>
              </a:lnSpc>
            </a:pPr>
            <a:r>
              <a:rPr lang="en-US" dirty="0"/>
              <a:t>E.g., add a floating-point number to an integer</a:t>
            </a:r>
          </a:p>
          <a:p>
            <a:pPr marL="342900" indent="-342900">
              <a:lnSpc>
                <a:spcPct val="90000"/>
              </a:lnSpc>
              <a:buFont typeface="Arial" pitchFamily="34" charset="0"/>
              <a:buChar char="•"/>
            </a:pPr>
            <a:r>
              <a:rPr lang="en-US" sz="2000" dirty="0"/>
              <a:t>Do any calculations that use variables have the same data type but are different size?</a:t>
            </a:r>
          </a:p>
          <a:p>
            <a:pPr lvl="1">
              <a:lnSpc>
                <a:spcPct val="90000"/>
              </a:lnSpc>
            </a:pPr>
            <a:r>
              <a:rPr lang="en-US" dirty="0"/>
              <a:t>E.g., add a long integer to a short integer</a:t>
            </a:r>
          </a:p>
          <a:p>
            <a:pPr marL="342900" indent="-342900">
              <a:lnSpc>
                <a:spcPct val="90000"/>
              </a:lnSpc>
              <a:buFont typeface="Arial" pitchFamily="34" charset="0"/>
              <a:buChar char="•"/>
            </a:pPr>
            <a:r>
              <a:rPr lang="en-US" sz="2000" dirty="0"/>
              <a:t>Is overflow or underflow in the middle of a numeric calculation possible?</a:t>
            </a:r>
          </a:p>
        </p:txBody>
      </p:sp>
      <p:sp>
        <p:nvSpPr>
          <p:cNvPr id="5" name="Rectangle 4"/>
          <p:cNvSpPr/>
          <p:nvPr/>
        </p:nvSpPr>
        <p:spPr>
          <a:xfrm>
            <a:off x="105792" y="5029200"/>
            <a:ext cx="1953548" cy="369332"/>
          </a:xfrm>
          <a:prstGeom prst="rect">
            <a:avLst/>
          </a:prstGeom>
        </p:spPr>
        <p:txBody>
          <a:bodyPr wrap="none">
            <a:spAutoFit/>
          </a:bodyPr>
          <a:lstStyle/>
          <a:p>
            <a:r>
              <a:rPr lang="en-US" b="1" dirty="0">
                <a:solidFill>
                  <a:srgbClr val="FF0000"/>
                </a:solidFill>
              </a:rPr>
              <a:t>Comparison errors</a:t>
            </a:r>
          </a:p>
        </p:txBody>
      </p:sp>
      <p:sp>
        <p:nvSpPr>
          <p:cNvPr id="6" name="Rectangle 5"/>
          <p:cNvSpPr/>
          <p:nvPr/>
        </p:nvSpPr>
        <p:spPr>
          <a:xfrm>
            <a:off x="533400" y="5334000"/>
            <a:ext cx="4572000" cy="1089529"/>
          </a:xfrm>
          <a:prstGeom prst="rect">
            <a:avLst/>
          </a:prstGeom>
        </p:spPr>
        <p:txBody>
          <a:bodyPr>
            <a:spAutoFit/>
          </a:bodyPr>
          <a:lstStyle/>
          <a:p>
            <a:pPr marL="285750" indent="-285750">
              <a:lnSpc>
                <a:spcPct val="90000"/>
              </a:lnSpc>
              <a:buFont typeface="Arial" pitchFamily="34" charset="0"/>
              <a:buChar char="•"/>
            </a:pPr>
            <a:r>
              <a:rPr lang="en-US" dirty="0"/>
              <a:t>Are the comparisons correct?</a:t>
            </a:r>
          </a:p>
          <a:p>
            <a:pPr lvl="1">
              <a:lnSpc>
                <a:spcPct val="90000"/>
              </a:lnSpc>
            </a:pPr>
            <a:r>
              <a:rPr lang="en-US" dirty="0"/>
              <a:t>E.g., &lt; instead of &lt;=</a:t>
            </a:r>
          </a:p>
          <a:p>
            <a:pPr marL="285750" indent="-285750">
              <a:lnSpc>
                <a:spcPct val="90000"/>
              </a:lnSpc>
              <a:buFont typeface="Arial" pitchFamily="34" charset="0"/>
              <a:buChar char="•"/>
            </a:pPr>
            <a:r>
              <a:rPr lang="en-US" dirty="0"/>
              <a:t>Properly comparing decimal values?</a:t>
            </a:r>
          </a:p>
          <a:p>
            <a:pPr lvl="1">
              <a:lnSpc>
                <a:spcPct val="90000"/>
              </a:lnSpc>
            </a:pPr>
            <a:r>
              <a:rPr lang="en-US" dirty="0"/>
              <a:t>Use EPSILON</a:t>
            </a:r>
          </a:p>
        </p:txBody>
      </p:sp>
      <p:sp>
        <p:nvSpPr>
          <p:cNvPr id="7" name="Rectangle 6"/>
          <p:cNvSpPr/>
          <p:nvPr/>
        </p:nvSpPr>
        <p:spPr>
          <a:xfrm>
            <a:off x="4456220" y="4875151"/>
            <a:ext cx="1989840" cy="369332"/>
          </a:xfrm>
          <a:prstGeom prst="rect">
            <a:avLst/>
          </a:prstGeom>
        </p:spPr>
        <p:txBody>
          <a:bodyPr wrap="none">
            <a:spAutoFit/>
          </a:bodyPr>
          <a:lstStyle/>
          <a:p>
            <a:r>
              <a:rPr lang="en-US" b="1" dirty="0">
                <a:solidFill>
                  <a:srgbClr val="FF0000"/>
                </a:solidFill>
              </a:rPr>
              <a:t>Control flow errors</a:t>
            </a:r>
          </a:p>
        </p:txBody>
      </p:sp>
      <p:sp>
        <p:nvSpPr>
          <p:cNvPr id="8" name="Rectangle 7"/>
          <p:cNvSpPr/>
          <p:nvPr/>
        </p:nvSpPr>
        <p:spPr>
          <a:xfrm>
            <a:off x="4604551" y="5333999"/>
            <a:ext cx="4572000" cy="1089529"/>
          </a:xfrm>
          <a:prstGeom prst="rect">
            <a:avLst/>
          </a:prstGeom>
        </p:spPr>
        <p:txBody>
          <a:bodyPr>
            <a:spAutoFit/>
          </a:bodyPr>
          <a:lstStyle/>
          <a:p>
            <a:pPr marL="285750" indent="-285750">
              <a:lnSpc>
                <a:spcPct val="90000"/>
              </a:lnSpc>
              <a:buFont typeface="Arial" pitchFamily="34" charset="0"/>
              <a:buChar char="•"/>
            </a:pPr>
            <a:r>
              <a:rPr lang="en-US" dirty="0"/>
              <a:t>Do the loops terminate? If not, is that by design?</a:t>
            </a:r>
          </a:p>
          <a:p>
            <a:pPr marL="285750" indent="-285750">
              <a:lnSpc>
                <a:spcPct val="90000"/>
              </a:lnSpc>
              <a:buFont typeface="Arial" pitchFamily="34" charset="0"/>
              <a:buChar char="•"/>
            </a:pPr>
            <a:r>
              <a:rPr lang="en-US" dirty="0"/>
              <a:t>Does every </a:t>
            </a:r>
            <a:r>
              <a:rPr lang="en-US" dirty="0">
                <a:latin typeface="Courier New" pitchFamily="64" charset="0"/>
              </a:rPr>
              <a:t>switch</a:t>
            </a:r>
            <a:r>
              <a:rPr lang="en-US" dirty="0"/>
              <a:t> statement have a </a:t>
            </a:r>
            <a:r>
              <a:rPr lang="en-US" dirty="0">
                <a:latin typeface="Courier New" pitchFamily="64" charset="0"/>
              </a:rPr>
              <a:t>default</a:t>
            </a:r>
            <a:r>
              <a:rPr lang="en-US" dirty="0"/>
              <a:t> clause/break after cases?</a:t>
            </a:r>
          </a:p>
        </p:txBody>
      </p:sp>
    </p:spTree>
    <p:extLst>
      <p:ext uri="{BB962C8B-B14F-4D97-AF65-F5344CB8AC3E}">
        <p14:creationId xmlns:p14="http://schemas.microsoft.com/office/powerpoint/2010/main" val="74934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3200" dirty="0"/>
              <a:t>Code review checklist – code design issues</a:t>
            </a:r>
            <a:br>
              <a:rPr lang="en-US" sz="3200" dirty="0"/>
            </a:br>
            <a:r>
              <a:rPr lang="en-US" sz="3200" dirty="0"/>
              <a:t> Some Smelly code symptoms</a:t>
            </a:r>
          </a:p>
        </p:txBody>
      </p:sp>
      <p:sp>
        <p:nvSpPr>
          <p:cNvPr id="4" name="Content Placeholder 2"/>
          <p:cNvSpPr>
            <a:spLocks noGrp="1"/>
          </p:cNvSpPr>
          <p:nvPr>
            <p:ph idx="1"/>
          </p:nvPr>
        </p:nvSpPr>
        <p:spPr>
          <a:xfrm>
            <a:off x="533400" y="1143000"/>
            <a:ext cx="8229600" cy="4525963"/>
          </a:xfrm>
        </p:spPr>
        <p:txBody>
          <a:bodyPr>
            <a:noAutofit/>
          </a:bodyPr>
          <a:lstStyle/>
          <a:p>
            <a:pPr eaLnBrk="1" hangingPunct="1"/>
            <a:r>
              <a:rPr lang="en-US" sz="1600" b="1" dirty="0">
                <a:ea typeface="ＭＳ Ｐゴシック" pitchFamily="34" charset="-128"/>
              </a:rPr>
              <a:t>Duplicated Code </a:t>
            </a:r>
          </a:p>
          <a:p>
            <a:pPr lvl="1" eaLnBrk="1" hangingPunct="1"/>
            <a:r>
              <a:rPr lang="en-US" sz="1600" b="1" dirty="0">
                <a:ea typeface="ＭＳ Ｐゴシック" pitchFamily="34" charset="-128"/>
              </a:rPr>
              <a:t>bad because if you modify one instance of duplicated code but not the others, you (may) have introduced a bug! </a:t>
            </a:r>
          </a:p>
          <a:p>
            <a:pPr eaLnBrk="1" hangingPunct="1"/>
            <a:r>
              <a:rPr lang="en-US" sz="1600" b="1" dirty="0">
                <a:ea typeface="ＭＳ Ｐゴシック" pitchFamily="34" charset="-128"/>
              </a:rPr>
              <a:t>Long Method </a:t>
            </a:r>
          </a:p>
          <a:p>
            <a:pPr lvl="1" eaLnBrk="1" hangingPunct="1"/>
            <a:r>
              <a:rPr lang="en-US" sz="1600" b="1" dirty="0">
                <a:ea typeface="ＭＳ Ｐゴシック" pitchFamily="34" charset="-128"/>
              </a:rPr>
              <a:t>long methods are more difﬁcult to understand </a:t>
            </a:r>
          </a:p>
          <a:p>
            <a:r>
              <a:rPr lang="en-US" sz="1600" b="1" dirty="0">
                <a:ea typeface="ＭＳ Ｐゴシック" pitchFamily="34" charset="-128"/>
              </a:rPr>
              <a:t>Large Class</a:t>
            </a:r>
          </a:p>
          <a:p>
            <a:pPr lvl="1"/>
            <a:r>
              <a:rPr lang="en-US" sz="1600" b="1" dirty="0">
                <a:ea typeface="ＭＳ Ｐゴシック" pitchFamily="34" charset="-128"/>
              </a:rPr>
              <a:t>classes try to do too much, which reduces cohesion (will talk about cohesion and coupling next time)</a:t>
            </a:r>
          </a:p>
          <a:p>
            <a:r>
              <a:rPr lang="en-US" sz="1600" b="1" dirty="0">
                <a:ea typeface="ＭＳ Ｐゴシック" pitchFamily="34" charset="-128"/>
              </a:rPr>
              <a:t>Long Parameter List </a:t>
            </a:r>
          </a:p>
          <a:p>
            <a:pPr lvl="1"/>
            <a:r>
              <a:rPr lang="en-US" sz="1600" b="1" dirty="0">
                <a:ea typeface="ＭＳ Ｐゴシック" pitchFamily="34" charset="-128"/>
              </a:rPr>
              <a:t>hard to understand, can become inconsistent </a:t>
            </a:r>
          </a:p>
          <a:p>
            <a:pPr>
              <a:lnSpc>
                <a:spcPct val="90000"/>
              </a:lnSpc>
            </a:pPr>
            <a:r>
              <a:rPr lang="en-US" sz="1600" b="1" dirty="0">
                <a:ea typeface="ＭＳ Ｐゴシック" pitchFamily="34" charset="-128"/>
              </a:rPr>
              <a:t>Temporary Field </a:t>
            </a:r>
          </a:p>
          <a:p>
            <a:pPr lvl="1">
              <a:lnSpc>
                <a:spcPct val="90000"/>
              </a:lnSpc>
            </a:pPr>
            <a:r>
              <a:rPr lang="en-US" sz="1600" b="1" dirty="0">
                <a:ea typeface="ＭＳ Ｐゴシック" pitchFamily="34" charset="-128"/>
              </a:rPr>
              <a:t>An attribute of an object is only set in certain circumstances; but an object should need all of its attributes </a:t>
            </a:r>
            <a:endParaRPr lang="en-US" sz="1600" dirty="0">
              <a:ea typeface="ＭＳ Ｐゴシック" pitchFamily="34" charset="-128"/>
            </a:endParaRPr>
          </a:p>
          <a:p>
            <a:pPr lvl="1"/>
            <a:endParaRPr lang="en-US" sz="1600" b="1" dirty="0">
              <a:ea typeface="ＭＳ Ｐゴシック" pitchFamily="34" charset="-128"/>
            </a:endParaRPr>
          </a:p>
          <a:p>
            <a:pPr lvl="1" eaLnBrk="1" hangingPunct="1"/>
            <a:endParaRPr lang="en-US" sz="1600" dirty="0">
              <a:ea typeface="ＭＳ Ｐゴシック" pitchFamily="34" charset="-128"/>
            </a:endParaRPr>
          </a:p>
        </p:txBody>
      </p:sp>
    </p:spTree>
    <p:extLst>
      <p:ext uri="{BB962C8B-B14F-4D97-AF65-F5344CB8AC3E}">
        <p14:creationId xmlns:p14="http://schemas.microsoft.com/office/powerpoint/2010/main" val="15422209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a:xfrm>
            <a:off x="457200" y="249769"/>
            <a:ext cx="8229600" cy="632365"/>
          </a:xfrm>
        </p:spPr>
        <p:txBody>
          <a:bodyPr>
            <a:noAutofit/>
          </a:bodyPr>
          <a:lstStyle/>
          <a:p>
            <a:r>
              <a:rPr lang="en-US" sz="3600" dirty="0"/>
              <a:t>Code review checklist: Code Complexity</a:t>
            </a:r>
            <a:br>
              <a:rPr lang="en-US" sz="3600" dirty="0"/>
            </a:br>
            <a:endParaRPr lang="en-US" sz="3600" dirty="0"/>
          </a:p>
        </p:txBody>
      </p:sp>
      <p:sp>
        <p:nvSpPr>
          <p:cNvPr id="210947" name="Rectangle 3"/>
          <p:cNvSpPr>
            <a:spLocks noGrp="1" noChangeArrowheads="1"/>
          </p:cNvSpPr>
          <p:nvPr>
            <p:ph type="body" idx="1"/>
          </p:nvPr>
        </p:nvSpPr>
        <p:spPr>
          <a:xfrm>
            <a:off x="914400" y="990600"/>
            <a:ext cx="7772400" cy="1600200"/>
          </a:xfrm>
        </p:spPr>
        <p:txBody>
          <a:bodyPr>
            <a:normAutofit/>
          </a:bodyPr>
          <a:lstStyle/>
          <a:p>
            <a:pPr>
              <a:lnSpc>
                <a:spcPct val="90000"/>
              </a:lnSpc>
            </a:pPr>
            <a:r>
              <a:rPr lang="en-US" sz="2000" dirty="0"/>
              <a:t>One of the commonly used criteria is </a:t>
            </a:r>
            <a:r>
              <a:rPr lang="en-US" sz="2000" dirty="0" err="1"/>
              <a:t>cyclomatic</a:t>
            </a:r>
            <a:r>
              <a:rPr lang="en-US" sz="2000" dirty="0"/>
              <a:t> complexity</a:t>
            </a:r>
          </a:p>
          <a:p>
            <a:pPr>
              <a:lnSpc>
                <a:spcPct val="90000"/>
              </a:lnSpc>
            </a:pPr>
            <a:endParaRPr lang="en-US" sz="2000" dirty="0"/>
          </a:p>
          <a:p>
            <a:pPr marL="0" indent="0">
              <a:lnSpc>
                <a:spcPct val="90000"/>
              </a:lnSpc>
              <a:buNone/>
            </a:pPr>
            <a:endParaRPr lang="en-US" sz="2000" dirty="0"/>
          </a:p>
        </p:txBody>
      </p:sp>
      <p:sp>
        <p:nvSpPr>
          <p:cNvPr id="2" name="Rectangle 1"/>
          <p:cNvSpPr/>
          <p:nvPr/>
        </p:nvSpPr>
        <p:spPr>
          <a:xfrm>
            <a:off x="76200" y="697468"/>
            <a:ext cx="4319003" cy="369332"/>
          </a:xfrm>
          <a:prstGeom prst="rect">
            <a:avLst/>
          </a:prstGeom>
        </p:spPr>
        <p:txBody>
          <a:bodyPr wrap="none">
            <a:spAutoFit/>
          </a:bodyPr>
          <a:lstStyle/>
          <a:p>
            <a:r>
              <a:rPr lang="en-US" b="1" dirty="0">
                <a:solidFill>
                  <a:srgbClr val="FF0000"/>
                </a:solidFill>
              </a:rPr>
              <a:t>Code Risk Analysis : Complexity of the code</a:t>
            </a:r>
          </a:p>
        </p:txBody>
      </p:sp>
      <p:sp>
        <p:nvSpPr>
          <p:cNvPr id="3" name="Rectangle 2"/>
          <p:cNvSpPr/>
          <p:nvPr/>
        </p:nvSpPr>
        <p:spPr>
          <a:xfrm>
            <a:off x="318503" y="2286000"/>
            <a:ext cx="8153400" cy="1200329"/>
          </a:xfrm>
          <a:prstGeom prst="rect">
            <a:avLst/>
          </a:prstGeom>
        </p:spPr>
        <p:txBody>
          <a:bodyPr wrap="square">
            <a:spAutoFit/>
          </a:bodyPr>
          <a:lstStyle/>
          <a:p>
            <a:pPr lvl="1">
              <a:lnSpc>
                <a:spcPct val="90000"/>
              </a:lnSpc>
            </a:pPr>
            <a:r>
              <a:rPr lang="en-GB" altLang="en-US" sz="2000" b="1" dirty="0">
                <a:solidFill>
                  <a:srgbClr val="00B050"/>
                </a:solidFill>
                <a:latin typeface="Arial" charset="0"/>
              </a:rPr>
              <a:t>1 – 10		Simple module, little risk</a:t>
            </a:r>
          </a:p>
          <a:p>
            <a:pPr lvl="1">
              <a:lnSpc>
                <a:spcPct val="90000"/>
              </a:lnSpc>
            </a:pPr>
            <a:r>
              <a:rPr lang="en-GB" altLang="en-US" sz="2000" b="1" dirty="0">
                <a:solidFill>
                  <a:srgbClr val="00B050"/>
                </a:solidFill>
                <a:latin typeface="Arial" charset="0"/>
              </a:rPr>
              <a:t>11- 20		moderate risk</a:t>
            </a:r>
          </a:p>
          <a:p>
            <a:pPr lvl="1">
              <a:lnSpc>
                <a:spcPct val="90000"/>
              </a:lnSpc>
            </a:pPr>
            <a:r>
              <a:rPr lang="en-GB" altLang="en-US" sz="2000" dirty="0">
                <a:latin typeface="Arial" charset="0"/>
              </a:rPr>
              <a:t>21 – 50		Complex module, high risk</a:t>
            </a:r>
          </a:p>
          <a:p>
            <a:pPr lvl="1">
              <a:lnSpc>
                <a:spcPct val="90000"/>
              </a:lnSpc>
            </a:pPr>
            <a:r>
              <a:rPr lang="en-GB" altLang="en-US" sz="2000" b="1" dirty="0">
                <a:solidFill>
                  <a:srgbClr val="FF0000"/>
                </a:solidFill>
                <a:latin typeface="Arial" charset="0"/>
              </a:rPr>
              <a:t>&gt;50		              ALMOST Untestable, VERY HIGH RISK</a:t>
            </a:r>
          </a:p>
        </p:txBody>
      </p:sp>
    </p:spTree>
    <p:extLst>
      <p:ext uri="{BB962C8B-B14F-4D97-AF65-F5344CB8AC3E}">
        <p14:creationId xmlns:p14="http://schemas.microsoft.com/office/powerpoint/2010/main" val="1816258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19400"/>
            <a:ext cx="8229600" cy="1143000"/>
          </a:xfrm>
        </p:spPr>
        <p:txBody>
          <a:bodyPr>
            <a:normAutofit fontScale="90000"/>
          </a:bodyPr>
          <a:lstStyle/>
          <a:p>
            <a:r>
              <a:rPr lang="en-US" dirty="0"/>
              <a:t>Code Review- Bar Graph program Example</a:t>
            </a:r>
          </a:p>
        </p:txBody>
      </p:sp>
    </p:spTree>
    <p:extLst>
      <p:ext uri="{BB962C8B-B14F-4D97-AF65-F5344CB8AC3E}">
        <p14:creationId xmlns:p14="http://schemas.microsoft.com/office/powerpoint/2010/main" val="35573245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Code Review Tools</a:t>
            </a:r>
          </a:p>
        </p:txBody>
      </p:sp>
      <p:sp>
        <p:nvSpPr>
          <p:cNvPr id="4" name="TextBox 3"/>
          <p:cNvSpPr txBox="1"/>
          <p:nvPr/>
        </p:nvSpPr>
        <p:spPr>
          <a:xfrm>
            <a:off x="533400" y="1442576"/>
            <a:ext cx="8305800" cy="3970318"/>
          </a:xfrm>
          <a:prstGeom prst="rect">
            <a:avLst/>
          </a:prstGeom>
          <a:noFill/>
        </p:spPr>
        <p:txBody>
          <a:bodyPr wrap="square" rtlCol="0">
            <a:spAutoFit/>
          </a:bodyPr>
          <a:lstStyle/>
          <a:p>
            <a:pPr lvl="1">
              <a:buFont typeface="Wingdings" pitchFamily="2" charset="2"/>
              <a:buNone/>
            </a:pPr>
            <a:r>
              <a:rPr lang="en-US" b="1" u="sng" dirty="0" err="1"/>
              <a:t>Sonorqube</a:t>
            </a:r>
            <a:r>
              <a:rPr lang="en-US" b="1" u="sng" dirty="0"/>
              <a:t> : </a:t>
            </a:r>
          </a:p>
          <a:p>
            <a:pPr marL="742950" lvl="1" indent="-285750">
              <a:buFont typeface="Arial" panose="020B0604020202020204" pitchFamily="34" charset="0"/>
              <a:buChar char="•"/>
            </a:pPr>
            <a:r>
              <a:rPr lang="en-US" dirty="0">
                <a:hlinkClick r:id="rId3"/>
              </a:rPr>
              <a:t>https://www.sonarqube.org/</a:t>
            </a:r>
            <a:endParaRPr lang="en-US" dirty="0"/>
          </a:p>
          <a:p>
            <a:pPr lvl="1">
              <a:buFont typeface="Wingdings" pitchFamily="2" charset="2"/>
              <a:buNone/>
            </a:pPr>
            <a:endParaRPr lang="en-US" dirty="0"/>
          </a:p>
          <a:p>
            <a:endParaRPr lang="en-US" dirty="0"/>
          </a:p>
          <a:p>
            <a:r>
              <a:rPr lang="en-US" dirty="0"/>
              <a:t>        </a:t>
            </a:r>
            <a:r>
              <a:rPr lang="en-US" b="1" u="sng" dirty="0" err="1"/>
              <a:t>FindBugs</a:t>
            </a:r>
            <a:r>
              <a:rPr lang="en-US" b="1" u="sng" dirty="0"/>
              <a:t>:</a:t>
            </a:r>
          </a:p>
          <a:p>
            <a:pPr marL="742950" lvl="1" indent="-285750">
              <a:buFont typeface="Arial" panose="020B0604020202020204" pitchFamily="34" charset="0"/>
              <a:buChar char="•"/>
            </a:pPr>
            <a:r>
              <a:rPr lang="en-US" dirty="0"/>
              <a:t>Static code review plugin for eclipse.</a:t>
            </a:r>
          </a:p>
          <a:p>
            <a:pPr marL="742950" lvl="1" indent="-285750">
              <a:buFont typeface="Arial" panose="020B0604020202020204" pitchFamily="34" charset="0"/>
              <a:buChar char="•"/>
            </a:pPr>
            <a:r>
              <a:rPr lang="en-US" dirty="0"/>
              <a:t>Its analyzes the code for about 200 possible bugs such as unused variables, memory allocation/de-allocation issues …etc.</a:t>
            </a:r>
          </a:p>
          <a:p>
            <a:pPr lvl="1"/>
            <a:r>
              <a:rPr lang="en-US" dirty="0"/>
              <a:t>      </a:t>
            </a:r>
            <a:r>
              <a:rPr lang="en-US" dirty="0">
                <a:hlinkClick r:id="rId4"/>
              </a:rPr>
              <a:t>http://findbugs.sourceforge.net/bugDescriptions.html</a:t>
            </a:r>
            <a:endParaRPr lang="en-US" dirty="0"/>
          </a:p>
          <a:p>
            <a:endParaRPr lang="en-US" dirty="0"/>
          </a:p>
          <a:p>
            <a:endParaRPr lang="en-US" dirty="0"/>
          </a:p>
          <a:p>
            <a:endParaRPr lang="en-US" dirty="0"/>
          </a:p>
          <a:p>
            <a:endParaRPr lang="en-US" dirty="0"/>
          </a:p>
          <a:p>
            <a:r>
              <a:rPr lang="en-US" dirty="0"/>
              <a:t>			</a:t>
            </a:r>
            <a:endParaRPr lang="en-US" sz="4800" dirty="0"/>
          </a:p>
        </p:txBody>
      </p:sp>
    </p:spTree>
    <p:extLst>
      <p:ext uri="{BB962C8B-B14F-4D97-AF65-F5344CB8AC3E}">
        <p14:creationId xmlns:p14="http://schemas.microsoft.com/office/powerpoint/2010/main" val="3526617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TotalTime>
  <Words>1244</Words>
  <Application>Microsoft Office PowerPoint</Application>
  <PresentationFormat>On-screen Show (4:3)</PresentationFormat>
  <Paragraphs>151</Paragraphs>
  <Slides>22</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1" baseType="lpstr">
      <vt:lpstr>Arial</vt:lpstr>
      <vt:lpstr>Calibri</vt:lpstr>
      <vt:lpstr>Courier New</vt:lpstr>
      <vt:lpstr>Helvetica</vt:lpstr>
      <vt:lpstr>Palatino</vt:lpstr>
      <vt:lpstr>Times</vt:lpstr>
      <vt:lpstr>Wingdings</vt:lpstr>
      <vt:lpstr>Office Theme</vt:lpstr>
      <vt:lpstr>Visio</vt:lpstr>
      <vt:lpstr>CSE 464 Software Quality Assurance and Testing</vt:lpstr>
      <vt:lpstr>Quick Recap </vt:lpstr>
      <vt:lpstr>The Test Method Pendulum</vt:lpstr>
      <vt:lpstr>Static Testing</vt:lpstr>
      <vt:lpstr>Quick Recap: Quality Assurance Activities in the Waterfall Model</vt:lpstr>
      <vt:lpstr>What is Review?</vt:lpstr>
      <vt:lpstr>Few definitions</vt:lpstr>
      <vt:lpstr>Few definitions</vt:lpstr>
      <vt:lpstr>Few definitions</vt:lpstr>
      <vt:lpstr>Informal (Technical) Reviews</vt:lpstr>
      <vt:lpstr>Review: Reference Model</vt:lpstr>
      <vt:lpstr>Formal Technical Reviews (FTR)</vt:lpstr>
      <vt:lpstr>The Review Meeting</vt:lpstr>
      <vt:lpstr>A Typical Review Meeting</vt:lpstr>
      <vt:lpstr>The Players</vt:lpstr>
      <vt:lpstr>Conducting the Review</vt:lpstr>
      <vt:lpstr>Code Review Checklist : Some Examples</vt:lpstr>
      <vt:lpstr>Code review checklist: Code writing errors  </vt:lpstr>
      <vt:lpstr>Code review checklist – code design issues  Some Smelly code symptoms</vt:lpstr>
      <vt:lpstr>Code review checklist: Code Complexity </vt:lpstr>
      <vt:lpstr>Code Review- Bar Graph program Example</vt:lpstr>
      <vt:lpstr>Code Review Tools</vt:lpstr>
    </vt:vector>
  </TitlesOfParts>
  <Company>Arizona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464/598 Software Quality Assurance and Testing</dc:title>
  <dc:creator>Pushpa Wijesinghe</dc:creator>
  <cp:lastModifiedBy>Janaka Balasooriya</cp:lastModifiedBy>
  <cp:revision>29</cp:revision>
  <dcterms:created xsi:type="dcterms:W3CDTF">2012-10-02T01:56:45Z</dcterms:created>
  <dcterms:modified xsi:type="dcterms:W3CDTF">2022-03-10T03:12:52Z</dcterms:modified>
</cp:coreProperties>
</file>