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89" r:id="rId3"/>
    <p:sldId id="290" r:id="rId4"/>
    <p:sldId id="291" r:id="rId5"/>
    <p:sldId id="279" r:id="rId6"/>
    <p:sldId id="280" r:id="rId7"/>
    <p:sldId id="281" r:id="rId8"/>
    <p:sldId id="282" r:id="rId9"/>
    <p:sldId id="283" r:id="rId10"/>
    <p:sldId id="272" r:id="rId11"/>
    <p:sldId id="273" r:id="rId12"/>
    <p:sldId id="257" r:id="rId13"/>
    <p:sldId id="262" r:id="rId14"/>
    <p:sldId id="258" r:id="rId15"/>
    <p:sldId id="259" r:id="rId16"/>
    <p:sldId id="287" r:id="rId17"/>
    <p:sldId id="286" r:id="rId18"/>
    <p:sldId id="260" r:id="rId19"/>
    <p:sldId id="261" r:id="rId20"/>
    <p:sldId id="263" r:id="rId21"/>
    <p:sldId id="270" r:id="rId22"/>
    <p:sldId id="285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930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27143-F863-4C44-A2CD-92C4AA5D98B0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88D27-AE42-4822-BB11-F1598FB10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1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68E4-F2E8-4057-BD6D-DBE4FC99E09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108B-55D8-4241-9B7B-BC520B787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0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68E4-F2E8-4057-BD6D-DBE4FC99E09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108B-55D8-4241-9B7B-BC520B787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09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68E4-F2E8-4057-BD6D-DBE4FC99E09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108B-55D8-4241-9B7B-BC520B787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45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68E4-F2E8-4057-BD6D-DBE4FC99E09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108B-55D8-4241-9B7B-BC520B787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328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68E4-F2E8-4057-BD6D-DBE4FC99E09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108B-55D8-4241-9B7B-BC520B787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05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68E4-F2E8-4057-BD6D-DBE4FC99E09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108B-55D8-4241-9B7B-BC520B787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549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68E4-F2E8-4057-BD6D-DBE4FC99E09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108B-55D8-4241-9B7B-BC520B787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945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68E4-F2E8-4057-BD6D-DBE4FC99E09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108B-55D8-4241-9B7B-BC520B787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686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68E4-F2E8-4057-BD6D-DBE4FC99E09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108B-55D8-4241-9B7B-BC520B787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7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68E4-F2E8-4057-BD6D-DBE4FC99E09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108B-55D8-4241-9B7B-BC520B787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858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68E4-F2E8-4057-BD6D-DBE4FC99E09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108B-55D8-4241-9B7B-BC520B787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551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D668E4-F2E8-4057-BD6D-DBE4FC99E09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8108B-55D8-4241-9B7B-BC520B787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3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114800"/>
            <a:ext cx="7772400" cy="1470025"/>
          </a:xfrm>
        </p:spPr>
        <p:txBody>
          <a:bodyPr>
            <a:noAutofit/>
          </a:bodyPr>
          <a:lstStyle/>
          <a:p>
            <a:br>
              <a:rPr lang="en-US" sz="2800" dirty="0"/>
            </a:br>
            <a:r>
              <a:rPr lang="en-US" sz="2800" dirty="0"/>
              <a:t>Design Consideration and </a:t>
            </a:r>
            <a:br>
              <a:rPr lang="en-US" sz="2800" dirty="0"/>
            </a:br>
            <a:r>
              <a:rPr lang="en-US" sz="2800" dirty="0"/>
              <a:t>Introduction to Test Automation </a:t>
            </a:r>
            <a:br>
              <a:rPr lang="en-US" sz="2800" dirty="0"/>
            </a:br>
            <a:r>
              <a:rPr lang="en-US" sz="2800" dirty="0"/>
              <a:t>(Selenium as a Web Application Test Automation Tool)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62200"/>
            <a:ext cx="6400800" cy="1752600"/>
          </a:xfrm>
        </p:spPr>
        <p:txBody>
          <a:bodyPr>
            <a:noAutofit/>
          </a:bodyPr>
          <a:lstStyle/>
          <a:p>
            <a:r>
              <a:rPr lang="en-US" sz="3600" dirty="0"/>
              <a:t>Web Application Testing – II</a:t>
            </a:r>
          </a:p>
        </p:txBody>
      </p:sp>
    </p:spTree>
    <p:extLst>
      <p:ext uri="{BB962C8B-B14F-4D97-AF65-F5344CB8AC3E}">
        <p14:creationId xmlns:p14="http://schemas.microsoft.com/office/powerpoint/2010/main" val="2658182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1143000"/>
          </a:xfrm>
        </p:spPr>
        <p:txBody>
          <a:bodyPr/>
          <a:lstStyle/>
          <a:p>
            <a:r>
              <a:rPr lang="en-US" dirty="0"/>
              <a:t>Client Server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99178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8" y="10438"/>
            <a:ext cx="9125211" cy="623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0939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43779" y="152400"/>
            <a:ext cx="8229600" cy="914400"/>
          </a:xfrm>
        </p:spPr>
        <p:txBody>
          <a:bodyPr/>
          <a:lstStyle/>
          <a:p>
            <a:pPr eaLnBrk="1" hangingPunct="1"/>
            <a:r>
              <a:rPr lang="en-US" dirty="0"/>
              <a:t>A Typical  3-tier Web Application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767549" y="1715611"/>
            <a:ext cx="7427651" cy="2294878"/>
            <a:chOff x="1108969" y="1667522"/>
            <a:chExt cx="7427651" cy="2294878"/>
          </a:xfrm>
        </p:grpSpPr>
        <p:sp>
          <p:nvSpPr>
            <p:cNvPr id="2" name="Rectangle 1"/>
            <p:cNvSpPr/>
            <p:nvPr/>
          </p:nvSpPr>
          <p:spPr>
            <a:xfrm>
              <a:off x="1108969" y="2209800"/>
              <a:ext cx="1295400" cy="990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Client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3657600" y="1667522"/>
              <a:ext cx="3505200" cy="229487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833674" y="2023554"/>
              <a:ext cx="1676400" cy="143929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Server Scripts – Receives/responds to user calls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943600" y="2187606"/>
              <a:ext cx="1028700" cy="11248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Data Management Modules</a:t>
              </a:r>
            </a:p>
            <a:p>
              <a:pPr algn="ctr"/>
              <a:endParaRPr lang="en-US" dirty="0"/>
            </a:p>
          </p:txBody>
        </p:sp>
        <p:sp>
          <p:nvSpPr>
            <p:cNvPr id="3" name="Flowchart: Magnetic Disk 2"/>
            <p:cNvSpPr/>
            <p:nvPr/>
          </p:nvSpPr>
          <p:spPr>
            <a:xfrm>
              <a:off x="7850820" y="2301166"/>
              <a:ext cx="685800" cy="838200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Arrow 6"/>
            <p:cNvSpPr/>
            <p:nvPr/>
          </p:nvSpPr>
          <p:spPr>
            <a:xfrm>
              <a:off x="2514600" y="2382175"/>
              <a:ext cx="978408" cy="152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7095108" y="2518299"/>
              <a:ext cx="723900" cy="152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ight Arrow 10"/>
            <p:cNvSpPr/>
            <p:nvPr/>
          </p:nvSpPr>
          <p:spPr>
            <a:xfrm>
              <a:off x="5546324" y="2382175"/>
              <a:ext cx="397276" cy="152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ight Arrow 12"/>
            <p:cNvSpPr/>
            <p:nvPr/>
          </p:nvSpPr>
          <p:spPr>
            <a:xfrm rot="10800000">
              <a:off x="5525609" y="2863051"/>
              <a:ext cx="417991" cy="152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Arrow 13"/>
            <p:cNvSpPr/>
            <p:nvPr/>
          </p:nvSpPr>
          <p:spPr>
            <a:xfrm rot="10800000">
              <a:off x="2514600" y="2895600"/>
              <a:ext cx="978408" cy="152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ight Arrow 14"/>
            <p:cNvSpPr/>
            <p:nvPr/>
          </p:nvSpPr>
          <p:spPr>
            <a:xfrm rot="10800000">
              <a:off x="7086230" y="2786850"/>
              <a:ext cx="723900" cy="152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11252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67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Client-Server Web Application</a:t>
            </a:r>
            <a:br>
              <a:rPr lang="en-US" dirty="0"/>
            </a:br>
            <a:r>
              <a:rPr lang="en-US" dirty="0" err="1"/>
              <a:t>AddressBook</a:t>
            </a:r>
            <a:r>
              <a:rPr lang="en-US" dirty="0"/>
              <a:t> example </a:t>
            </a:r>
          </a:p>
        </p:txBody>
      </p:sp>
    </p:spTree>
    <p:extLst>
      <p:ext uri="{BB962C8B-B14F-4D97-AF65-F5344CB8AC3E}">
        <p14:creationId xmlns:p14="http://schemas.microsoft.com/office/powerpoint/2010/main" val="3535068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Web Application Testing : </a:t>
            </a:r>
            <a:r>
              <a:rPr lang="en-US" dirty="0" err="1"/>
              <a:t>Addressbook</a:t>
            </a:r>
            <a:r>
              <a:rPr lang="en-US" dirty="0"/>
              <a:t> Version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3124940" y="1905000"/>
            <a:ext cx="49530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 err="1"/>
              <a:t>addressbookses.php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  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060" y="3733800"/>
            <a:ext cx="114374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Insert.php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781800" y="3760062"/>
            <a:ext cx="129614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update.php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800600" y="3722702"/>
            <a:ext cx="1295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delete.php</a:t>
            </a:r>
            <a:endParaRPr lang="en-US" dirty="0"/>
          </a:p>
        </p:txBody>
      </p:sp>
      <p:sp>
        <p:nvSpPr>
          <p:cNvPr id="10" name="Can 9"/>
          <p:cNvSpPr/>
          <p:nvPr/>
        </p:nvSpPr>
        <p:spPr>
          <a:xfrm>
            <a:off x="5372470" y="6172200"/>
            <a:ext cx="914400" cy="53035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8434" y="990600"/>
            <a:ext cx="16320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dbconnect.php</a:t>
            </a:r>
            <a:endParaRPr lang="en-US" dirty="0"/>
          </a:p>
        </p:txBody>
      </p:sp>
      <p:cxnSp>
        <p:nvCxnSpPr>
          <p:cNvPr id="13" name="Straight Arrow Connector 12"/>
          <p:cNvCxnSpPr>
            <a:stCxn id="4" idx="2"/>
          </p:cNvCxnSpPr>
          <p:nvPr/>
        </p:nvCxnSpPr>
        <p:spPr>
          <a:xfrm>
            <a:off x="5601440" y="2743200"/>
            <a:ext cx="0" cy="10168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2"/>
          </p:cNvCxnSpPr>
          <p:nvPr/>
        </p:nvCxnSpPr>
        <p:spPr>
          <a:xfrm flipH="1">
            <a:off x="3886200" y="2743200"/>
            <a:ext cx="1715240" cy="99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4" idx="2"/>
          </p:cNvCxnSpPr>
          <p:nvPr/>
        </p:nvCxnSpPr>
        <p:spPr>
          <a:xfrm>
            <a:off x="5601440" y="2743200"/>
            <a:ext cx="1485160" cy="99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591669" y="4419600"/>
            <a:ext cx="1960944" cy="1752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2"/>
          </p:cNvCxnSpPr>
          <p:nvPr/>
        </p:nvCxnSpPr>
        <p:spPr>
          <a:xfrm flipH="1">
            <a:off x="6096001" y="4445862"/>
            <a:ext cx="1333869" cy="1659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8" idx="2"/>
            <a:endCxn id="10" idx="1"/>
          </p:cNvCxnSpPr>
          <p:nvPr/>
        </p:nvCxnSpPr>
        <p:spPr>
          <a:xfrm>
            <a:off x="5448300" y="4408502"/>
            <a:ext cx="381370" cy="17636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Up-Down Arrow 29"/>
          <p:cNvSpPr/>
          <p:nvPr/>
        </p:nvSpPr>
        <p:spPr>
          <a:xfrm rot="5400000">
            <a:off x="2469690" y="1655779"/>
            <a:ext cx="242316" cy="91449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/>
          <p:nvPr/>
        </p:nvSpPr>
        <p:spPr>
          <a:xfrm rot="6987238">
            <a:off x="6912994" y="1687598"/>
            <a:ext cx="322366" cy="1054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28600" y="1371600"/>
            <a:ext cx="1905000" cy="990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Client</a:t>
            </a:r>
            <a:r>
              <a:rPr lang="en-US" dirty="0" err="1"/>
              <a:t>t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6477000" y="5716680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Software Architecture: Version 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5716680"/>
            <a:ext cx="50295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You can try this application locally using WAMP:</a:t>
            </a:r>
          </a:p>
          <a:p>
            <a:r>
              <a:rPr lang="en-US" dirty="0"/>
              <a:t>http://www.wampserver.com/en/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2558534"/>
            <a:ext cx="183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userloginses.html</a:t>
            </a:r>
          </a:p>
        </p:txBody>
      </p:sp>
    </p:spTree>
    <p:extLst>
      <p:ext uri="{BB962C8B-B14F-4D97-AF65-F5344CB8AC3E}">
        <p14:creationId xmlns:p14="http://schemas.microsoft.com/office/powerpoint/2010/main" val="2217235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514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Problems with the Current Design of </a:t>
            </a:r>
            <a:r>
              <a:rPr lang="en-US" dirty="0" err="1"/>
              <a:t>AddressBook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077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24940" y="1905000"/>
            <a:ext cx="4953000" cy="1371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addressbook.php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     manageAddress1.php</a:t>
            </a:r>
          </a:p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971060" y="3733800"/>
            <a:ext cx="114374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Insert.php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295400" y="3815917"/>
            <a:ext cx="1143740" cy="6384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helper.php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6781800" y="3760062"/>
            <a:ext cx="129614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update.php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800600" y="3722702"/>
            <a:ext cx="1295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delete.php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895600" y="4876800"/>
            <a:ext cx="518234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DatabaseOpe.php</a:t>
            </a:r>
            <a:endParaRPr lang="en-US" dirty="0"/>
          </a:p>
        </p:txBody>
      </p:sp>
      <p:sp>
        <p:nvSpPr>
          <p:cNvPr id="10" name="Can 9"/>
          <p:cNvSpPr/>
          <p:nvPr/>
        </p:nvSpPr>
        <p:spPr>
          <a:xfrm>
            <a:off x="5190699" y="6200683"/>
            <a:ext cx="914400" cy="53035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200" y="4953000"/>
            <a:ext cx="16320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dbconnect.php</a:t>
            </a:r>
            <a:endParaRPr lang="en-US" dirty="0"/>
          </a:p>
        </p:txBody>
      </p:sp>
      <p:cxnSp>
        <p:nvCxnSpPr>
          <p:cNvPr id="12" name="Straight Arrow Connector 11"/>
          <p:cNvCxnSpPr>
            <a:stCxn id="4" idx="2"/>
          </p:cNvCxnSpPr>
          <p:nvPr/>
        </p:nvCxnSpPr>
        <p:spPr>
          <a:xfrm>
            <a:off x="5601440" y="3276600"/>
            <a:ext cx="0" cy="4834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4" idx="2"/>
          </p:cNvCxnSpPr>
          <p:nvPr/>
        </p:nvCxnSpPr>
        <p:spPr>
          <a:xfrm flipH="1">
            <a:off x="3886200" y="3276600"/>
            <a:ext cx="171524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" idx="2"/>
          </p:cNvCxnSpPr>
          <p:nvPr/>
        </p:nvCxnSpPr>
        <p:spPr>
          <a:xfrm>
            <a:off x="5601440" y="3276600"/>
            <a:ext cx="148516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own Arrow 14"/>
          <p:cNvSpPr/>
          <p:nvPr/>
        </p:nvSpPr>
        <p:spPr>
          <a:xfrm>
            <a:off x="5345038" y="2209800"/>
            <a:ext cx="293762" cy="5334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>
            <a:off x="2489447" y="3961230"/>
            <a:ext cx="489204" cy="3059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endCxn id="9" idx="0"/>
          </p:cNvCxnSpPr>
          <p:nvPr/>
        </p:nvCxnSpPr>
        <p:spPr>
          <a:xfrm>
            <a:off x="3591669" y="4419600"/>
            <a:ext cx="1895101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2"/>
          </p:cNvCxnSpPr>
          <p:nvPr/>
        </p:nvCxnSpPr>
        <p:spPr>
          <a:xfrm flipH="1">
            <a:off x="5552613" y="4445862"/>
            <a:ext cx="1877257" cy="4198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8" idx="2"/>
            <a:endCxn id="9" idx="0"/>
          </p:cNvCxnSpPr>
          <p:nvPr/>
        </p:nvCxnSpPr>
        <p:spPr>
          <a:xfrm>
            <a:off x="5448300" y="4408502"/>
            <a:ext cx="38470" cy="4682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Up-Down Arrow 19"/>
          <p:cNvSpPr/>
          <p:nvPr/>
        </p:nvSpPr>
        <p:spPr>
          <a:xfrm rot="5400000">
            <a:off x="2469690" y="1655779"/>
            <a:ext cx="242316" cy="91449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>
            <a:off x="2470212" y="5049330"/>
            <a:ext cx="489204" cy="3407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28600" y="1371600"/>
            <a:ext cx="1905000" cy="990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Client</a:t>
            </a:r>
            <a:r>
              <a:rPr lang="en-US" dirty="0" err="1"/>
              <a:t>t</a:t>
            </a:r>
            <a:endParaRPr lang="en-US" dirty="0"/>
          </a:p>
        </p:txBody>
      </p:sp>
      <p:sp>
        <p:nvSpPr>
          <p:cNvPr id="23" name="Up-Down Arrow 22"/>
          <p:cNvSpPr/>
          <p:nvPr/>
        </p:nvSpPr>
        <p:spPr>
          <a:xfrm>
            <a:off x="5396484" y="5534118"/>
            <a:ext cx="484632" cy="66656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38200" y="6086012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Architecture</a:t>
            </a:r>
          </a:p>
        </p:txBody>
      </p:sp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Addressbook</a:t>
            </a:r>
            <a:r>
              <a:rPr lang="en-US" dirty="0"/>
              <a:t> Version 2 – Better Design</a:t>
            </a:r>
          </a:p>
        </p:txBody>
      </p:sp>
    </p:spTree>
    <p:extLst>
      <p:ext uri="{BB962C8B-B14F-4D97-AF65-F5344CB8AC3E}">
        <p14:creationId xmlns:p14="http://schemas.microsoft.com/office/powerpoint/2010/main" val="379190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5C73FB-DC87-4DED-99DE-0B9E90F7A470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594" y="609600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These slides are designed to accompany </a:t>
            </a:r>
            <a:r>
              <a:rPr lang="en-US" i="1" dirty="0"/>
              <a:t>Software Engineering: A Practitioner’s Approach, 7/e </a:t>
            </a:r>
            <a:r>
              <a:rPr lang="en-US" dirty="0"/>
              <a:t>(McGraw-Hill 2009). Slides copyright 2009 by Roger Pressman. </a:t>
            </a: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373856" y="0"/>
            <a:ext cx="8229600" cy="7620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dirty="0"/>
              <a:t>Database Testing – A Generic View</a:t>
            </a:r>
            <a:endParaRPr lang="en-US" sz="4400" dirty="0">
              <a:latin typeface="Times" pitchFamily="-128" charset="0"/>
            </a:endParaRPr>
          </a:p>
        </p:txBody>
      </p:sp>
      <p:pic>
        <p:nvPicPr>
          <p:cNvPr id="1331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988" y="930275"/>
            <a:ext cx="4519612" cy="5645361"/>
          </a:xfrm>
          <a:prstGeom prst="rect">
            <a:avLst/>
          </a:prstGeom>
          <a:solidFill>
            <a:srgbClr val="96E3F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1252" name="Text Box 4"/>
          <p:cNvSpPr txBox="1">
            <a:spLocks noChangeArrowheads="1"/>
          </p:cNvSpPr>
          <p:nvPr/>
        </p:nvSpPr>
        <p:spPr bwMode="auto">
          <a:xfrm>
            <a:off x="849313" y="2112963"/>
            <a:ext cx="3182006" cy="590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1800" b="1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</a:rPr>
              <a:t>Tests are defined for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1800" b="1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-128" charset="0"/>
              </a:rPr>
              <a:t>each layer</a:t>
            </a:r>
          </a:p>
        </p:txBody>
      </p:sp>
      <p:sp>
        <p:nvSpPr>
          <p:cNvPr id="13319" name="Line 5"/>
          <p:cNvSpPr>
            <a:spLocks noChangeShapeType="1"/>
          </p:cNvSpPr>
          <p:nvPr/>
        </p:nvSpPr>
        <p:spPr bwMode="auto">
          <a:xfrm flipV="1">
            <a:off x="3240088" y="1190624"/>
            <a:ext cx="1028129" cy="116124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0" name="Line 6"/>
          <p:cNvSpPr>
            <a:spLocks noChangeShapeType="1"/>
          </p:cNvSpPr>
          <p:nvPr/>
        </p:nvSpPr>
        <p:spPr bwMode="auto">
          <a:xfrm flipV="1">
            <a:off x="3271838" y="1838324"/>
            <a:ext cx="928432" cy="46943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1" name="Line 7"/>
          <p:cNvSpPr>
            <a:spLocks noChangeShapeType="1"/>
          </p:cNvSpPr>
          <p:nvPr/>
        </p:nvSpPr>
        <p:spPr bwMode="auto">
          <a:xfrm>
            <a:off x="3303588" y="2333625"/>
            <a:ext cx="928432" cy="24327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2" name="Line 8"/>
          <p:cNvSpPr>
            <a:spLocks noChangeShapeType="1"/>
          </p:cNvSpPr>
          <p:nvPr/>
        </p:nvSpPr>
        <p:spPr bwMode="auto">
          <a:xfrm>
            <a:off x="3273425" y="2420938"/>
            <a:ext cx="988665" cy="99589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3" name="Line 9"/>
          <p:cNvSpPr>
            <a:spLocks noChangeShapeType="1"/>
          </p:cNvSpPr>
          <p:nvPr/>
        </p:nvSpPr>
        <p:spPr bwMode="auto">
          <a:xfrm>
            <a:off x="3228976" y="2506663"/>
            <a:ext cx="1028128" cy="176942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78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24940" y="1905000"/>
            <a:ext cx="4953000" cy="1371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addressbook.php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     manageAddress1.php</a:t>
            </a:r>
          </a:p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971060" y="3733800"/>
            <a:ext cx="114374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Insert.php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295400" y="3815917"/>
            <a:ext cx="1143740" cy="6384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helper.php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6781800" y="3760062"/>
            <a:ext cx="129614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update.php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800600" y="3722702"/>
            <a:ext cx="1295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delete.php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895600" y="4876800"/>
            <a:ext cx="518234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DatabaseOpe.php</a:t>
            </a:r>
            <a:endParaRPr lang="en-US" dirty="0"/>
          </a:p>
        </p:txBody>
      </p:sp>
      <p:sp>
        <p:nvSpPr>
          <p:cNvPr id="10" name="Can 9"/>
          <p:cNvSpPr/>
          <p:nvPr/>
        </p:nvSpPr>
        <p:spPr>
          <a:xfrm>
            <a:off x="5271886" y="6172200"/>
            <a:ext cx="914400" cy="53035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200" y="4953000"/>
            <a:ext cx="163201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dbconnect.php</a:t>
            </a:r>
            <a:endParaRPr lang="en-US" dirty="0"/>
          </a:p>
        </p:txBody>
      </p:sp>
      <p:cxnSp>
        <p:nvCxnSpPr>
          <p:cNvPr id="12" name="Straight Arrow Connector 11"/>
          <p:cNvCxnSpPr>
            <a:stCxn id="4" idx="2"/>
          </p:cNvCxnSpPr>
          <p:nvPr/>
        </p:nvCxnSpPr>
        <p:spPr>
          <a:xfrm>
            <a:off x="5601440" y="3276600"/>
            <a:ext cx="0" cy="4834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4" idx="2"/>
          </p:cNvCxnSpPr>
          <p:nvPr/>
        </p:nvCxnSpPr>
        <p:spPr>
          <a:xfrm flipH="1">
            <a:off x="3886200" y="3276600"/>
            <a:ext cx="171524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" idx="2"/>
          </p:cNvCxnSpPr>
          <p:nvPr/>
        </p:nvCxnSpPr>
        <p:spPr>
          <a:xfrm>
            <a:off x="5601440" y="3276600"/>
            <a:ext cx="148516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own Arrow 14"/>
          <p:cNvSpPr/>
          <p:nvPr/>
        </p:nvSpPr>
        <p:spPr>
          <a:xfrm>
            <a:off x="5345038" y="2209800"/>
            <a:ext cx="293762" cy="53340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>
            <a:off x="2489447" y="3961230"/>
            <a:ext cx="489204" cy="3059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endCxn id="9" idx="0"/>
          </p:cNvCxnSpPr>
          <p:nvPr/>
        </p:nvCxnSpPr>
        <p:spPr>
          <a:xfrm>
            <a:off x="3591669" y="4419600"/>
            <a:ext cx="1895101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2"/>
          </p:cNvCxnSpPr>
          <p:nvPr/>
        </p:nvCxnSpPr>
        <p:spPr>
          <a:xfrm flipH="1">
            <a:off x="5552613" y="4445862"/>
            <a:ext cx="1877257" cy="4198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8" idx="2"/>
            <a:endCxn id="9" idx="0"/>
          </p:cNvCxnSpPr>
          <p:nvPr/>
        </p:nvCxnSpPr>
        <p:spPr>
          <a:xfrm>
            <a:off x="5448300" y="4408502"/>
            <a:ext cx="38470" cy="4682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Up-Down Arrow 19"/>
          <p:cNvSpPr/>
          <p:nvPr/>
        </p:nvSpPr>
        <p:spPr>
          <a:xfrm rot="5400000">
            <a:off x="2469690" y="1655779"/>
            <a:ext cx="242316" cy="91449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>
            <a:off x="2470212" y="5049330"/>
            <a:ext cx="489204" cy="3407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28600" y="1371600"/>
            <a:ext cx="1905000" cy="990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Client</a:t>
            </a:r>
            <a:r>
              <a:rPr lang="en-US" dirty="0" err="1"/>
              <a:t>t</a:t>
            </a:r>
            <a:endParaRPr lang="en-US" dirty="0"/>
          </a:p>
        </p:txBody>
      </p:sp>
      <p:sp>
        <p:nvSpPr>
          <p:cNvPr id="23" name="Up-Down Arrow 22"/>
          <p:cNvSpPr/>
          <p:nvPr/>
        </p:nvSpPr>
        <p:spPr>
          <a:xfrm>
            <a:off x="5486770" y="5562015"/>
            <a:ext cx="484632" cy="66656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38200" y="6086012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Architecture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81800" y="2743200"/>
            <a:ext cx="1296140" cy="5334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Input 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81800" y="5059687"/>
            <a:ext cx="1296140" cy="5334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Database </a:t>
            </a:r>
            <a:r>
              <a:rPr lang="en-US" sz="1200" dirty="0" err="1"/>
              <a:t>OperationsTest</a:t>
            </a:r>
            <a:endParaRPr lang="en-US" sz="1200" dirty="0"/>
          </a:p>
        </p:txBody>
      </p:sp>
      <p:sp>
        <p:nvSpPr>
          <p:cNvPr id="27" name="Rounded Rectangle 26"/>
          <p:cNvSpPr/>
          <p:nvPr/>
        </p:nvSpPr>
        <p:spPr>
          <a:xfrm>
            <a:off x="3292620" y="4429032"/>
            <a:ext cx="1187159" cy="2191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Query Gen Test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5220" y="4463525"/>
            <a:ext cx="1187159" cy="2191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Query Gen Test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90781" y="4472402"/>
            <a:ext cx="1187159" cy="2191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Query Gen Test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6441" y="2372186"/>
            <a:ext cx="1187159" cy="21916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UI Test</a:t>
            </a:r>
          </a:p>
        </p:txBody>
      </p:sp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Addressbook</a:t>
            </a:r>
            <a:r>
              <a:rPr lang="en-US" dirty="0"/>
              <a:t> Test Architecture</a:t>
            </a:r>
          </a:p>
        </p:txBody>
      </p:sp>
    </p:spTree>
    <p:extLst>
      <p:ext uri="{BB962C8B-B14F-4D97-AF65-F5344CB8AC3E}">
        <p14:creationId xmlns:p14="http://schemas.microsoft.com/office/powerpoint/2010/main" val="1457794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in Testing Web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Some unit testing framework to test server side code (</a:t>
            </a:r>
            <a:r>
              <a:rPr lang="en-US" dirty="0" err="1"/>
              <a:t>phpUnit</a:t>
            </a:r>
            <a:r>
              <a:rPr lang="en-US" dirty="0"/>
              <a:t>, </a:t>
            </a:r>
            <a:r>
              <a:rPr lang="en-US" dirty="0" err="1"/>
              <a:t>simpleTest</a:t>
            </a:r>
            <a:r>
              <a:rPr lang="en-US" dirty="0"/>
              <a:t> …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Framework such as </a:t>
            </a:r>
            <a:r>
              <a:rPr lang="en-US" dirty="0" err="1"/>
              <a:t>DBUnit</a:t>
            </a:r>
            <a:r>
              <a:rPr lang="en-US" dirty="0"/>
              <a:t> to test database related functionalities.</a:t>
            </a:r>
          </a:p>
          <a:p>
            <a:r>
              <a:rPr lang="en-US" dirty="0"/>
              <a:t>Tool such as Selenium to test user scenarios through UI.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short Article from IBM:</a:t>
            </a:r>
          </a:p>
          <a:p>
            <a:pPr marL="0" indent="0">
              <a:buNone/>
            </a:pPr>
            <a:r>
              <a:rPr lang="en-US" dirty="0"/>
              <a:t> http://www.ibm.com/developerworks/web/library/wa-webapptesting/</a:t>
            </a:r>
          </a:p>
        </p:txBody>
      </p:sp>
    </p:spTree>
    <p:extLst>
      <p:ext uri="{BB962C8B-B14F-4D97-AF65-F5344CB8AC3E}">
        <p14:creationId xmlns:p14="http://schemas.microsoft.com/office/powerpoint/2010/main" val="744965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Test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In general, test automation entails automating a manual process that uses a </a:t>
            </a:r>
            <a:r>
              <a:rPr lang="en-US" altLang="en-US" b="1" dirty="0">
                <a:solidFill>
                  <a:srgbClr val="FF0000"/>
                </a:solidFill>
              </a:rPr>
              <a:t>formalized testing process</a:t>
            </a:r>
            <a:r>
              <a:rPr lang="en-US" altLang="en-US" dirty="0"/>
              <a:t>.</a:t>
            </a:r>
          </a:p>
          <a:p>
            <a:r>
              <a:rPr lang="en-US" dirty="0"/>
              <a:t>Test Automation</a:t>
            </a:r>
          </a:p>
          <a:p>
            <a:pPr lvl="1"/>
            <a:r>
              <a:rPr lang="en-US" dirty="0"/>
              <a:t>Saves money and time</a:t>
            </a:r>
          </a:p>
          <a:p>
            <a:pPr lvl="1"/>
            <a:r>
              <a:rPr lang="en-US" dirty="0"/>
              <a:t>Increases the accuracy</a:t>
            </a:r>
          </a:p>
          <a:p>
            <a:pPr lvl="1"/>
            <a:r>
              <a:rPr lang="en-US" dirty="0"/>
              <a:t>Faster</a:t>
            </a:r>
          </a:p>
          <a:p>
            <a:pPr lvl="1"/>
            <a:r>
              <a:rPr lang="en-US" dirty="0"/>
              <a:t>Can do certain things that manual testing can’t do</a:t>
            </a:r>
          </a:p>
          <a:p>
            <a:pPr lvl="2"/>
            <a:r>
              <a:rPr lang="en-US" dirty="0"/>
              <a:t>Simulating load balancing</a:t>
            </a:r>
          </a:p>
          <a:p>
            <a:pPr lvl="2"/>
            <a:r>
              <a:rPr lang="en-US" dirty="0"/>
              <a:t>Network traffic  …</a:t>
            </a:r>
            <a:r>
              <a:rPr lang="en-US" dirty="0" err="1"/>
              <a:t>etc</a:t>
            </a:r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061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 Commonly Used Test Automation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Quick Test Professional (QTP) – Java, Windows, and Web </a:t>
            </a:r>
          </a:p>
          <a:p>
            <a:r>
              <a:rPr lang="en-US" dirty="0" err="1"/>
              <a:t>Watir</a:t>
            </a:r>
            <a:r>
              <a:rPr lang="en-US" dirty="0"/>
              <a:t> – Ruby</a:t>
            </a:r>
          </a:p>
          <a:p>
            <a:r>
              <a:rPr lang="en-US" dirty="0"/>
              <a:t>Selenium – Web Applications</a:t>
            </a:r>
          </a:p>
          <a:p>
            <a:r>
              <a:rPr lang="en-US" dirty="0" err="1"/>
              <a:t>LoadRunner</a:t>
            </a:r>
            <a:r>
              <a:rPr lang="en-US" dirty="0"/>
              <a:t> (HP) – Mobile and Many varieties of web applications</a:t>
            </a:r>
          </a:p>
          <a:p>
            <a:r>
              <a:rPr lang="en-US" dirty="0"/>
              <a:t>Rational Performance Tester – Web and Server Applications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376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Selenium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229600" cy="4525963"/>
          </a:xfrm>
        </p:spPr>
        <p:txBody>
          <a:bodyPr/>
          <a:lstStyle/>
          <a:p>
            <a:r>
              <a:rPr lang="en-US" dirty="0"/>
              <a:t>Selenium is a toolkit that can automate web application testing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 Selenium tests can be run on multiple browsers and supports several languages like Java, C#, PHP and Python.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Many assertion statements provide an efficient way of comparing expected and actual results similar to </a:t>
            </a:r>
            <a:r>
              <a:rPr lang="en-US" altLang="en-US" dirty="0" err="1"/>
              <a:t>Junit</a:t>
            </a:r>
            <a:r>
              <a:rPr lang="en-US" altLang="en-US" dirty="0"/>
              <a:t>. Here assertion statements can be used to test web content.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569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4322"/>
          </a:xfrm>
        </p:spPr>
        <p:txBody>
          <a:bodyPr/>
          <a:lstStyle/>
          <a:p>
            <a:r>
              <a:rPr lang="en-US" dirty="0"/>
              <a:t>Selenium Tool Kit</a:t>
            </a:r>
          </a:p>
        </p:txBody>
      </p:sp>
      <p:sp>
        <p:nvSpPr>
          <p:cNvPr id="4" name="Oval 3"/>
          <p:cNvSpPr/>
          <p:nvPr/>
        </p:nvSpPr>
        <p:spPr>
          <a:xfrm>
            <a:off x="3820443" y="3535747"/>
            <a:ext cx="1798320" cy="1371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Selenium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5633548" y="1686492"/>
            <a:ext cx="2667000" cy="7620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Selenium 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9751" y="1646610"/>
            <a:ext cx="2667000" cy="762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Selenium RC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(Obsolete)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6342" y="4466503"/>
            <a:ext cx="2667000" cy="7620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WebDriver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7237" y="4013341"/>
            <a:ext cx="2667000" cy="7620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Selenium Grid</a:t>
            </a:r>
          </a:p>
        </p:txBody>
      </p:sp>
      <p:sp>
        <p:nvSpPr>
          <p:cNvPr id="22" name="Right Arrow 21"/>
          <p:cNvSpPr/>
          <p:nvPr/>
        </p:nvSpPr>
        <p:spPr>
          <a:xfrm rot="18355255">
            <a:off x="5100840" y="292021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 rot="15069658">
            <a:off x="3524707" y="2747550"/>
            <a:ext cx="102757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/>
          <p:cNvSpPr/>
          <p:nvPr/>
        </p:nvSpPr>
        <p:spPr>
          <a:xfrm rot="1487235">
            <a:off x="5667385" y="4346878"/>
            <a:ext cx="548156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/>
          <p:cNvSpPr/>
          <p:nvPr/>
        </p:nvSpPr>
        <p:spPr>
          <a:xfrm rot="10310767">
            <a:off x="2753660" y="403762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45245" y="251264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Firefox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7842" y="3898381"/>
            <a:ext cx="1690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Multiple-Browsers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679" y="3090011"/>
            <a:ext cx="205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Run Tests in Parallel in different environments</a:t>
            </a:r>
          </a:p>
        </p:txBody>
      </p:sp>
      <p:sp>
        <p:nvSpPr>
          <p:cNvPr id="15" name="Right Arrow 14"/>
          <p:cNvSpPr/>
          <p:nvPr/>
        </p:nvSpPr>
        <p:spPr>
          <a:xfrm rot="6319741">
            <a:off x="3853136" y="5171586"/>
            <a:ext cx="915568" cy="5247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631611" y="5912150"/>
            <a:ext cx="2667000" cy="7620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RemoteWebDriver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446702" y="6017738"/>
            <a:ext cx="2173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Execute Test cases in a remote machine</a:t>
            </a:r>
          </a:p>
        </p:txBody>
      </p:sp>
    </p:spTree>
    <p:extLst>
      <p:ext uri="{BB962C8B-B14F-4D97-AF65-F5344CB8AC3E}">
        <p14:creationId xmlns:p14="http://schemas.microsoft.com/office/powerpoint/2010/main" val="3553056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197"/>
            <a:ext cx="8229600" cy="972403"/>
          </a:xfrm>
        </p:spPr>
        <p:txBody>
          <a:bodyPr>
            <a:normAutofit fontScale="90000"/>
          </a:bodyPr>
          <a:lstStyle/>
          <a:p>
            <a:r>
              <a:rPr lang="en-US" dirty="0"/>
              <a:t>Supporting Languages and Browsers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58254" y="1219200"/>
            <a:ext cx="428994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Google Chrome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Internet Explorer 6, 7, 8, 9, 10 - 32 and 64-bit where applicable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Firefox: latest ESR, previous ESR, current release, one previous release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Safari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Opera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latin typeface="verdana" panose="020B0604030504040204" pitchFamily="34" charset="0"/>
              </a:rPr>
              <a:t>HtmlUnit</a:t>
            </a:r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latin typeface="verdana" panose="020B0604030504040204" pitchFamily="34" charset="0"/>
              </a:rPr>
              <a:t>phantomjs</a:t>
            </a:r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Android (with </a:t>
            </a:r>
            <a:r>
              <a:rPr lang="en-US" dirty="0" err="1">
                <a:solidFill>
                  <a:srgbClr val="000000"/>
                </a:solidFill>
                <a:latin typeface="verdana" panose="020B0604030504040204" pitchFamily="34" charset="0"/>
              </a:rPr>
              <a:t>Selendroid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 or </a:t>
            </a:r>
            <a:r>
              <a:rPr lang="en-US" dirty="0" err="1">
                <a:solidFill>
                  <a:srgbClr val="000000"/>
                </a:solidFill>
                <a:latin typeface="verdana" panose="020B0604030504040204" pitchFamily="34" charset="0"/>
              </a:rPr>
              <a:t>appium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iOS (with </a:t>
            </a:r>
            <a:r>
              <a:rPr lang="en-US" dirty="0" err="1">
                <a:solidFill>
                  <a:srgbClr val="000000"/>
                </a:solidFill>
                <a:latin typeface="verdana" panose="020B0604030504040204" pitchFamily="34" charset="0"/>
              </a:rPr>
              <a:t>ios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-driver or </a:t>
            </a:r>
            <a:r>
              <a:rPr lang="en-US" dirty="0" err="1">
                <a:solidFill>
                  <a:srgbClr val="000000"/>
                </a:solidFill>
                <a:latin typeface="verdana" panose="020B0604030504040204" pitchFamily="34" charset="0"/>
              </a:rPr>
              <a:t>appium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)</a:t>
            </a: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56579" y="1371600"/>
            <a:ext cx="342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C#,</a:t>
            </a:r>
          </a:p>
          <a:p>
            <a:r>
              <a:rPr lang="en-US" dirty="0"/>
              <a:t>Ruby</a:t>
            </a:r>
          </a:p>
          <a:p>
            <a:r>
              <a:rPr lang="en-US" dirty="0"/>
              <a:t>Python,</a:t>
            </a:r>
          </a:p>
          <a:p>
            <a:r>
              <a:rPr lang="en-US" dirty="0"/>
              <a:t>Java.</a:t>
            </a:r>
          </a:p>
        </p:txBody>
      </p:sp>
    </p:spTree>
    <p:extLst>
      <p:ext uri="{BB962C8B-B14F-4D97-AF65-F5344CB8AC3E}">
        <p14:creationId xmlns:p14="http://schemas.microsoft.com/office/powerpoint/2010/main" val="3709171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Selenium RC -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2025" y="10934700"/>
            <a:ext cx="6400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http://www.seleniumhq.org/docs/05_selenium_rc.jsp</a:t>
            </a:r>
          </a:p>
        </p:txBody>
      </p:sp>
      <p:pic>
        <p:nvPicPr>
          <p:cNvPr id="1026" name="Picture 2" descr="_images/chapt5_img02_Architecture_Diagram_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46" y="777923"/>
            <a:ext cx="7445353" cy="5622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371600" y="6390564"/>
            <a:ext cx="6019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http://www.seleniumhq.org/docs/05_selenium_rc.jsp</a:t>
            </a:r>
          </a:p>
        </p:txBody>
      </p:sp>
    </p:spTree>
    <p:extLst>
      <p:ext uri="{BB962C8B-B14F-4D97-AF65-F5344CB8AC3E}">
        <p14:creationId xmlns:p14="http://schemas.microsoft.com/office/powerpoint/2010/main" val="659963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709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Selenium - IDE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735157"/>
            <a:ext cx="5029200" cy="614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7543800" y="914400"/>
            <a:ext cx="1219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URL</a:t>
            </a:r>
          </a:p>
        </p:txBody>
      </p:sp>
      <p:sp>
        <p:nvSpPr>
          <p:cNvPr id="4" name="Rectangle 3"/>
          <p:cNvSpPr/>
          <p:nvPr/>
        </p:nvSpPr>
        <p:spPr>
          <a:xfrm>
            <a:off x="7536872" y="5410200"/>
            <a:ext cx="1226127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9000" y="2074718"/>
            <a:ext cx="1524000" cy="11256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Commands</a:t>
            </a:r>
          </a:p>
          <a:p>
            <a:pPr algn="ctr"/>
            <a:r>
              <a:rPr lang="en-US" dirty="0"/>
              <a:t>/Data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6019800" y="1143000"/>
            <a:ext cx="16764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5181600" y="2362200"/>
            <a:ext cx="2362200" cy="2753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5410200" y="5905500"/>
            <a:ext cx="2286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435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Selenium IDE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911316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736" y="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Testing Login Functionality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64126" y="685800"/>
            <a:ext cx="7765473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763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667000"/>
            <a:ext cx="8229600" cy="1143000"/>
          </a:xfrm>
        </p:spPr>
        <p:txBody>
          <a:bodyPr/>
          <a:lstStyle/>
          <a:p>
            <a:r>
              <a:rPr lang="en-US" dirty="0"/>
              <a:t>Selenium </a:t>
            </a:r>
            <a:r>
              <a:rPr lang="en-US" dirty="0" err="1"/>
              <a:t>WebDriver</a:t>
            </a:r>
            <a:r>
              <a:rPr lang="en-US" dirty="0"/>
              <a:t> Demo</a:t>
            </a:r>
          </a:p>
        </p:txBody>
      </p:sp>
    </p:spTree>
    <p:extLst>
      <p:ext uri="{BB962C8B-B14F-4D97-AF65-F5344CB8AC3E}">
        <p14:creationId xmlns:p14="http://schemas.microsoft.com/office/powerpoint/2010/main" val="3119299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Next Time: More  About Selenium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1417638"/>
            <a:ext cx="9144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More about selenium web driver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Locating web elements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Working with web elements (mouse, keyboard interactions)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Navigation  (back and forward)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SQL Injection and Security Testing for Web Applications</a:t>
            </a:r>
          </a:p>
        </p:txBody>
      </p:sp>
    </p:spTree>
    <p:extLst>
      <p:ext uri="{BB962C8B-B14F-4D97-AF65-F5344CB8AC3E}">
        <p14:creationId xmlns:p14="http://schemas.microsoft.com/office/powerpoint/2010/main" val="480701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645</Words>
  <Application>Microsoft Office PowerPoint</Application>
  <PresentationFormat>On-screen Show (4:3)</PresentationFormat>
  <Paragraphs>138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Helvetica</vt:lpstr>
      <vt:lpstr>Times</vt:lpstr>
      <vt:lpstr>verdana</vt:lpstr>
      <vt:lpstr>Office Theme</vt:lpstr>
      <vt:lpstr> Design Consideration and  Introduction to Test Automation  (Selenium as a Web Application Test Automation Tool)</vt:lpstr>
      <vt:lpstr>Client Server Applications</vt:lpstr>
      <vt:lpstr>PowerPoint Presentation</vt:lpstr>
      <vt:lpstr>A Typical  3-tier Web Application</vt:lpstr>
      <vt:lpstr>Client-Server Web Application AddressBook example </vt:lpstr>
      <vt:lpstr>Web Application Testing : Addressbook Version 1</vt:lpstr>
      <vt:lpstr>Problems with the Current Design of AddressBook</vt:lpstr>
      <vt:lpstr>Addressbook Version 2 – Better Design</vt:lpstr>
      <vt:lpstr>Database Testing – A Generic View</vt:lpstr>
      <vt:lpstr>Addressbook Test Architecture</vt:lpstr>
      <vt:lpstr>Tools in Testing Web Applications</vt:lpstr>
      <vt:lpstr>What is Test Automation</vt:lpstr>
      <vt:lpstr>Some Commonly Used Test Automation Tools</vt:lpstr>
      <vt:lpstr>What is Selenium</vt:lpstr>
      <vt:lpstr>Selenium Tool Kit</vt:lpstr>
      <vt:lpstr>Supporting Languages and Browsers</vt:lpstr>
      <vt:lpstr>Selenium RC - Architecture</vt:lpstr>
      <vt:lpstr>Selenium - IDE</vt:lpstr>
      <vt:lpstr>Selenium IDE Example</vt:lpstr>
      <vt:lpstr>Testing Login Functionality</vt:lpstr>
      <vt:lpstr>Selenium WebDriver Demo</vt:lpstr>
      <vt:lpstr>Next Time: More  About Selenium Testing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Automation – Selenium as a Web Application Test Automation Tool</dc:title>
  <dc:creator>janaka</dc:creator>
  <cp:lastModifiedBy>Janaka Balasooriya</cp:lastModifiedBy>
  <cp:revision>29</cp:revision>
  <dcterms:created xsi:type="dcterms:W3CDTF">2013-11-18T15:43:24Z</dcterms:created>
  <dcterms:modified xsi:type="dcterms:W3CDTF">2022-10-31T17:24:20Z</dcterms:modified>
</cp:coreProperties>
</file>