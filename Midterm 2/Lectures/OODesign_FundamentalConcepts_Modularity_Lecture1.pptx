
<file path=[Content_Types].xml><?xml version="1.0" encoding="utf-8"?>
<Types xmlns="http://schemas.openxmlformats.org/package/2006/content-types"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415" r:id="rId3"/>
    <p:sldId id="445" r:id="rId4"/>
    <p:sldId id="424" r:id="rId5"/>
    <p:sldId id="408" r:id="rId6"/>
    <p:sldId id="410" r:id="rId7"/>
    <p:sldId id="441" r:id="rId8"/>
    <p:sldId id="442" r:id="rId9"/>
    <p:sldId id="444" r:id="rId10"/>
    <p:sldId id="411" r:id="rId11"/>
    <p:sldId id="433" r:id="rId12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FFFF"/>
    <a:srgbClr val="FF00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1" autoAdjust="0"/>
    <p:restoredTop sz="94660"/>
  </p:normalViewPr>
  <p:slideViewPr>
    <p:cSldViewPr>
      <p:cViewPr varScale="1">
        <p:scale>
          <a:sx n="86" d="100"/>
          <a:sy n="86" d="100"/>
        </p:scale>
        <p:origin x="936" y="4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649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34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1D3836-5C8F-4F3B-AAC1-41DEBED35A55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649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34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B345C-6C28-4CAF-9AC1-451552B21F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735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B85F00AE-A56E-406D-AEB7-3AD9133B5FFF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9788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15790"/>
            <a:ext cx="5608320" cy="4183380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7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67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C009E05C-5A2C-4478-8307-C1C3B7A265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852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26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45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70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47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98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2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60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666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262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551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520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85751-B3B2-4B17-BD1A-3398C3F7C492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883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99"/>
                </a:solidFill>
              </a:rPr>
              <a:t>CSE 464: Software Quality Assurance and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57600"/>
            <a:ext cx="6781800" cy="251460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6600"/>
                </a:solidFill>
              </a:rPr>
              <a:t>Design </a:t>
            </a:r>
            <a:r>
              <a:rPr lang="en-US" b="1" dirty="0">
                <a:solidFill>
                  <a:srgbClr val="FF6600"/>
                </a:solidFill>
              </a:rPr>
              <a:t>Considerations of Object Oriented Applications for better Quality</a:t>
            </a:r>
            <a:endParaRPr lang="en-US" dirty="0"/>
          </a:p>
          <a:p>
            <a:r>
              <a:rPr lang="en-US" b="1" dirty="0" err="1">
                <a:solidFill>
                  <a:srgbClr val="000099"/>
                </a:solidFill>
              </a:rPr>
              <a:t>Janaka</a:t>
            </a:r>
            <a:r>
              <a:rPr lang="en-US" b="1" dirty="0">
                <a:solidFill>
                  <a:srgbClr val="000099"/>
                </a:solidFill>
              </a:rPr>
              <a:t> </a:t>
            </a:r>
            <a:r>
              <a:rPr lang="en-US" b="1" dirty="0" err="1">
                <a:solidFill>
                  <a:srgbClr val="000099"/>
                </a:solidFill>
              </a:rPr>
              <a:t>Balasooriya</a:t>
            </a:r>
            <a:endParaRPr lang="en-US" b="1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686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Helvetica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F0596DBA-9901-4948-B582-9E04CA7CFBED}" type="slidenum">
              <a:rPr lang="en-US" b="0" smtClean="0">
                <a:latin typeface="Arial" charset="0"/>
              </a:rPr>
              <a:pPr/>
              <a:t>2</a:t>
            </a:fld>
            <a:endParaRPr lang="en-US" b="0">
              <a:latin typeface="Arial" charset="0"/>
            </a:endParaRPr>
          </a:p>
        </p:txBody>
      </p:sp>
      <p:sp>
        <p:nvSpPr>
          <p:cNvPr id="25190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999624" y="255390"/>
            <a:ext cx="5401928" cy="728405"/>
          </a:xfrm>
        </p:spPr>
        <p:txBody>
          <a:bodyPr wrap="none" lIns="63500" tIns="25400" rIns="63500" bIns="25400" anchor="t">
            <a:spAutoFit/>
          </a:bodyPr>
          <a:lstStyle/>
          <a:p>
            <a:pPr eaLnBrk="1" hangingPunct="1">
              <a:defRPr/>
            </a:pPr>
            <a:r>
              <a:rPr lang="en-US"/>
              <a:t>Fundamental Concepts</a:t>
            </a:r>
          </a:p>
        </p:txBody>
      </p:sp>
      <p:sp>
        <p:nvSpPr>
          <p:cNvPr id="25190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976313" y="1576983"/>
            <a:ext cx="8001000" cy="4029075"/>
          </a:xfrm>
        </p:spPr>
        <p:txBody>
          <a:bodyPr lIns="90487" tIns="44450" rIns="90487" bIns="44450">
            <a:normAutofit fontScale="85000" lnSpcReduction="20000"/>
          </a:bodyPr>
          <a:lstStyle/>
          <a:p>
            <a:pPr marL="0" indent="0" eaLnBrk="1" hangingPunct="1">
              <a:buNone/>
              <a:defRPr/>
            </a:pPr>
            <a:r>
              <a:rPr lang="en-US" dirty="0">
                <a:solidFill>
                  <a:schemeClr val="folHlink"/>
                </a:solidFill>
              </a:rPr>
              <a:t>1</a:t>
            </a:r>
            <a:r>
              <a:rPr lang="en-US" dirty="0">
                <a:solidFill>
                  <a:srgbClr val="00B050"/>
                </a:solidFill>
              </a:rPr>
              <a:t>. abstraction—data, interface, control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B050"/>
                </a:solidFill>
              </a:rPr>
              <a:t>Information hiding—controlled interfaces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B050"/>
                </a:solidFill>
              </a:rPr>
              <a:t>Inheritance and polymorphism</a:t>
            </a:r>
          </a:p>
          <a:p>
            <a:pPr marL="0" indent="0">
              <a:buNone/>
              <a:defRPr/>
            </a:pPr>
            <a:r>
              <a:rPr lang="en-US" b="1" dirty="0">
                <a:solidFill>
                  <a:srgbClr val="000099"/>
                </a:solidFill>
              </a:rPr>
              <a:t>2. modularity—compartmentalization of data and function</a:t>
            </a:r>
          </a:p>
          <a:p>
            <a:pPr lvl="1">
              <a:defRPr/>
            </a:pPr>
            <a:r>
              <a:rPr lang="en-US" b="1" dirty="0">
                <a:solidFill>
                  <a:srgbClr val="000099"/>
                </a:solidFill>
              </a:rPr>
              <a:t>Functional independence—single-minded function and low coupling</a:t>
            </a:r>
          </a:p>
          <a:p>
            <a:pPr lvl="1" eaLnBrk="1" hangingPunct="1">
              <a:defRPr/>
            </a:pPr>
            <a:endParaRPr lang="en-US" dirty="0">
              <a:solidFill>
                <a:schemeClr val="folHlink"/>
              </a:solidFill>
            </a:endParaRPr>
          </a:p>
          <a:p>
            <a:pPr marL="0" indent="0" eaLnBrk="1" hangingPunct="1">
              <a:buNone/>
              <a:defRPr/>
            </a:pPr>
            <a:r>
              <a:rPr lang="en-US" dirty="0">
                <a:solidFill>
                  <a:schemeClr val="folHlink"/>
                </a:solidFill>
              </a:rPr>
              <a:t>3. architecture</a:t>
            </a:r>
            <a:r>
              <a:rPr lang="en-US" dirty="0"/>
              <a:t>—the overall structure of the software</a:t>
            </a:r>
          </a:p>
          <a:p>
            <a:pPr lvl="1" eaLnBrk="1" hangingPunct="1">
              <a:defRPr/>
            </a:pPr>
            <a:r>
              <a:rPr lang="en-US" dirty="0">
                <a:solidFill>
                  <a:schemeClr val="folHlink"/>
                </a:solidFill>
              </a:rPr>
              <a:t>patterns</a:t>
            </a:r>
            <a:r>
              <a:rPr lang="en-US" dirty="0"/>
              <a:t>—”conveys the essence” of a proven design solution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6926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Helvetica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F0596DBA-9901-4948-B582-9E04CA7CFBED}" type="slidenum">
              <a:rPr lang="en-US" b="0" smtClean="0">
                <a:latin typeface="Arial" charset="0"/>
              </a:rPr>
              <a:pPr/>
              <a:t>3</a:t>
            </a:fld>
            <a:endParaRPr lang="en-US" b="0">
              <a:latin typeface="Arial" charset="0"/>
            </a:endParaRPr>
          </a:p>
        </p:txBody>
      </p:sp>
      <p:sp>
        <p:nvSpPr>
          <p:cNvPr id="25190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785082" y="2590800"/>
            <a:ext cx="5336974" cy="728405"/>
          </a:xfrm>
        </p:spPr>
        <p:txBody>
          <a:bodyPr wrap="none" lIns="63500" tIns="25400" rIns="63500" bIns="25400" anchor="t">
            <a:spAutoFit/>
          </a:bodyPr>
          <a:lstStyle/>
          <a:p>
            <a:pPr eaLnBrk="1" hangingPunct="1">
              <a:defRPr/>
            </a:pPr>
            <a:r>
              <a:rPr lang="en-US" dirty="0"/>
              <a:t>Modularity – Lecture 1</a:t>
            </a:r>
          </a:p>
        </p:txBody>
      </p:sp>
    </p:spTree>
    <p:extLst>
      <p:ext uri="{BB962C8B-B14F-4D97-AF65-F5344CB8AC3E}">
        <p14:creationId xmlns:p14="http://schemas.microsoft.com/office/powerpoint/2010/main" val="268290088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Helvetica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F9D95438-EEFB-452C-B435-123A5334D201}" type="slidenum">
              <a:rPr lang="en-US" b="0" smtClean="0">
                <a:latin typeface="Arial" charset="0"/>
              </a:rPr>
              <a:pPr/>
              <a:t>4</a:t>
            </a:fld>
            <a:endParaRPr lang="en-US" b="0">
              <a:latin typeface="Arial" charset="0"/>
            </a:endParaRPr>
          </a:p>
        </p:txBody>
      </p:sp>
      <p:sp>
        <p:nvSpPr>
          <p:cNvPr id="25600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836094" y="287537"/>
            <a:ext cx="3770263" cy="728405"/>
          </a:xfrm>
        </p:spPr>
        <p:txBody>
          <a:bodyPr wrap="none" lIns="63500" tIns="25400" rIns="63500" bIns="25400" anchor="t">
            <a:spAutoFit/>
          </a:bodyPr>
          <a:lstStyle/>
          <a:p>
            <a:pPr eaLnBrk="1" hangingPunct="1">
              <a:defRPr/>
            </a:pPr>
            <a:r>
              <a:rPr lang="en-US"/>
              <a:t>Modular Design</a:t>
            </a:r>
          </a:p>
        </p:txBody>
      </p:sp>
      <p:pic>
        <p:nvPicPr>
          <p:cNvPr id="17412" name="Picture 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838" y="980480"/>
            <a:ext cx="7027862" cy="521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061368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709"/>
            <a:ext cx="8229600" cy="962891"/>
          </a:xfrm>
        </p:spPr>
        <p:txBody>
          <a:bodyPr/>
          <a:lstStyle/>
          <a:p>
            <a:r>
              <a:rPr lang="en-US" dirty="0"/>
              <a:t>Coupling and Cohesion </a:t>
            </a:r>
          </a:p>
        </p:txBody>
      </p:sp>
      <p:pic>
        <p:nvPicPr>
          <p:cNvPr id="4" name="Picture 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587" y="1066800"/>
            <a:ext cx="6967537" cy="283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1144586" y="4419600"/>
            <a:ext cx="769461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A well defined object exhibits</a:t>
            </a:r>
          </a:p>
          <a:p>
            <a:pPr lvl="1"/>
            <a:r>
              <a:rPr lang="en-US" sz="3600" dirty="0"/>
              <a:t>High cohesion</a:t>
            </a:r>
          </a:p>
          <a:p>
            <a:pPr lvl="1"/>
            <a:r>
              <a:rPr lang="en-US" sz="3600" dirty="0"/>
              <a:t>Low coupling</a:t>
            </a:r>
          </a:p>
        </p:txBody>
      </p:sp>
    </p:spTree>
    <p:extLst>
      <p:ext uri="{BB962C8B-B14F-4D97-AF65-F5344CB8AC3E}">
        <p14:creationId xmlns:p14="http://schemas.microsoft.com/office/powerpoint/2010/main" val="3062830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3" name="Rectangle 45"/>
          <p:cNvSpPr>
            <a:spLocks noChangeArrowheads="1"/>
          </p:cNvSpPr>
          <p:nvPr/>
        </p:nvSpPr>
        <p:spPr bwMode="auto">
          <a:xfrm>
            <a:off x="4267200" y="3709016"/>
            <a:ext cx="4800600" cy="253938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sz="4000" dirty="0"/>
              <a:t>Coupling: Degree of dependence among components (objects)</a:t>
            </a:r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990600" y="2133600"/>
            <a:ext cx="685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990600" y="2819400"/>
            <a:ext cx="685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4" name="Rectangle 6"/>
          <p:cNvSpPr>
            <a:spLocks noChangeArrowheads="1"/>
          </p:cNvSpPr>
          <p:nvPr/>
        </p:nvSpPr>
        <p:spPr bwMode="auto">
          <a:xfrm>
            <a:off x="1981200" y="2819400"/>
            <a:ext cx="685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5" name="Rectangle 7"/>
          <p:cNvSpPr>
            <a:spLocks noChangeArrowheads="1"/>
          </p:cNvSpPr>
          <p:nvPr/>
        </p:nvSpPr>
        <p:spPr bwMode="auto">
          <a:xfrm>
            <a:off x="1981200" y="2133600"/>
            <a:ext cx="685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0" name="Rectangle 12"/>
          <p:cNvSpPr>
            <a:spLocks noChangeArrowheads="1"/>
          </p:cNvSpPr>
          <p:nvPr/>
        </p:nvSpPr>
        <p:spPr bwMode="auto">
          <a:xfrm>
            <a:off x="5029200" y="2057400"/>
            <a:ext cx="685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1" name="Rectangle 13"/>
          <p:cNvSpPr>
            <a:spLocks noChangeArrowheads="1"/>
          </p:cNvSpPr>
          <p:nvPr/>
        </p:nvSpPr>
        <p:spPr bwMode="auto">
          <a:xfrm>
            <a:off x="5029200" y="2743200"/>
            <a:ext cx="685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2" name="Rectangle 14"/>
          <p:cNvSpPr>
            <a:spLocks noChangeArrowheads="1"/>
          </p:cNvSpPr>
          <p:nvPr/>
        </p:nvSpPr>
        <p:spPr bwMode="auto">
          <a:xfrm>
            <a:off x="6019800" y="2743200"/>
            <a:ext cx="685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3" name="Rectangle 15"/>
          <p:cNvSpPr>
            <a:spLocks noChangeArrowheads="1"/>
          </p:cNvSpPr>
          <p:nvPr/>
        </p:nvSpPr>
        <p:spPr bwMode="auto">
          <a:xfrm>
            <a:off x="6019800" y="2057400"/>
            <a:ext cx="685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4" name="Rectangle 16"/>
          <p:cNvSpPr>
            <a:spLocks noChangeArrowheads="1"/>
          </p:cNvSpPr>
          <p:nvPr/>
        </p:nvSpPr>
        <p:spPr bwMode="auto">
          <a:xfrm>
            <a:off x="838200" y="4038600"/>
            <a:ext cx="685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5" name="Rectangle 17"/>
          <p:cNvSpPr>
            <a:spLocks noChangeArrowheads="1"/>
          </p:cNvSpPr>
          <p:nvPr/>
        </p:nvSpPr>
        <p:spPr bwMode="auto">
          <a:xfrm>
            <a:off x="838200" y="4724400"/>
            <a:ext cx="685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6" name="Rectangle 18"/>
          <p:cNvSpPr>
            <a:spLocks noChangeArrowheads="1"/>
          </p:cNvSpPr>
          <p:nvPr/>
        </p:nvSpPr>
        <p:spPr bwMode="auto">
          <a:xfrm>
            <a:off x="1828800" y="4724400"/>
            <a:ext cx="685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7" name="Rectangle 19"/>
          <p:cNvSpPr>
            <a:spLocks noChangeArrowheads="1"/>
          </p:cNvSpPr>
          <p:nvPr/>
        </p:nvSpPr>
        <p:spPr bwMode="auto">
          <a:xfrm>
            <a:off x="1828800" y="4038600"/>
            <a:ext cx="685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8" name="Text Box 20"/>
          <p:cNvSpPr txBox="1">
            <a:spLocks noChangeArrowheads="1"/>
          </p:cNvSpPr>
          <p:nvPr/>
        </p:nvSpPr>
        <p:spPr bwMode="auto">
          <a:xfrm>
            <a:off x="974725" y="3236913"/>
            <a:ext cx="1962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No dependencies</a:t>
            </a:r>
          </a:p>
        </p:txBody>
      </p:sp>
      <p:sp>
        <p:nvSpPr>
          <p:cNvPr id="12309" name="Text Box 21"/>
          <p:cNvSpPr txBox="1">
            <a:spLocks noChangeArrowheads="1"/>
          </p:cNvSpPr>
          <p:nvPr/>
        </p:nvSpPr>
        <p:spPr bwMode="auto">
          <a:xfrm>
            <a:off x="4191000" y="3160713"/>
            <a:ext cx="3956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Loosely coupled-some dependencies</a:t>
            </a:r>
          </a:p>
        </p:txBody>
      </p:sp>
      <p:sp>
        <p:nvSpPr>
          <p:cNvPr id="12310" name="Line 22"/>
          <p:cNvSpPr>
            <a:spLocks noChangeShapeType="1"/>
          </p:cNvSpPr>
          <p:nvPr/>
        </p:nvSpPr>
        <p:spPr bwMode="auto">
          <a:xfrm>
            <a:off x="5715000" y="2209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1" name="Line 23"/>
          <p:cNvSpPr>
            <a:spLocks noChangeShapeType="1"/>
          </p:cNvSpPr>
          <p:nvPr/>
        </p:nvSpPr>
        <p:spPr bwMode="auto">
          <a:xfrm>
            <a:off x="5181600" y="2438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2" name="Line 24"/>
          <p:cNvSpPr>
            <a:spLocks noChangeShapeType="1"/>
          </p:cNvSpPr>
          <p:nvPr/>
        </p:nvSpPr>
        <p:spPr bwMode="auto">
          <a:xfrm>
            <a:off x="6324600" y="2438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3" name="Line 25"/>
          <p:cNvSpPr>
            <a:spLocks noChangeShapeType="1"/>
          </p:cNvSpPr>
          <p:nvPr/>
        </p:nvSpPr>
        <p:spPr bwMode="auto">
          <a:xfrm flipV="1">
            <a:off x="5410200" y="2438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4" name="Line 26"/>
          <p:cNvSpPr>
            <a:spLocks noChangeShapeType="1"/>
          </p:cNvSpPr>
          <p:nvPr/>
        </p:nvSpPr>
        <p:spPr bwMode="auto">
          <a:xfrm flipV="1">
            <a:off x="6553200" y="2438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5" name="Line 27"/>
          <p:cNvSpPr>
            <a:spLocks noChangeShapeType="1"/>
          </p:cNvSpPr>
          <p:nvPr/>
        </p:nvSpPr>
        <p:spPr bwMode="auto">
          <a:xfrm flipH="1">
            <a:off x="5715000" y="2971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6" name="Line 28"/>
          <p:cNvSpPr>
            <a:spLocks noChangeShapeType="1"/>
          </p:cNvSpPr>
          <p:nvPr/>
        </p:nvSpPr>
        <p:spPr bwMode="auto">
          <a:xfrm flipV="1">
            <a:off x="990600" y="4419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7" name="Line 29"/>
          <p:cNvSpPr>
            <a:spLocks noChangeShapeType="1"/>
          </p:cNvSpPr>
          <p:nvPr/>
        </p:nvSpPr>
        <p:spPr bwMode="auto">
          <a:xfrm flipV="1">
            <a:off x="1143000" y="4419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8" name="Line 30"/>
          <p:cNvSpPr>
            <a:spLocks noChangeShapeType="1"/>
          </p:cNvSpPr>
          <p:nvPr/>
        </p:nvSpPr>
        <p:spPr bwMode="auto">
          <a:xfrm flipV="1">
            <a:off x="1295400" y="4419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9" name="Line 31"/>
          <p:cNvSpPr>
            <a:spLocks noChangeShapeType="1"/>
          </p:cNvSpPr>
          <p:nvPr/>
        </p:nvSpPr>
        <p:spPr bwMode="auto">
          <a:xfrm flipV="1">
            <a:off x="1905000" y="4419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20" name="Line 32"/>
          <p:cNvSpPr>
            <a:spLocks noChangeShapeType="1"/>
          </p:cNvSpPr>
          <p:nvPr/>
        </p:nvSpPr>
        <p:spPr bwMode="auto">
          <a:xfrm flipV="1">
            <a:off x="2057400" y="4419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22" name="Line 34"/>
          <p:cNvSpPr>
            <a:spLocks noChangeShapeType="1"/>
          </p:cNvSpPr>
          <p:nvPr/>
        </p:nvSpPr>
        <p:spPr bwMode="auto">
          <a:xfrm>
            <a:off x="1524000" y="4114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23" name="Line 35"/>
          <p:cNvSpPr>
            <a:spLocks noChangeShapeType="1"/>
          </p:cNvSpPr>
          <p:nvPr/>
        </p:nvSpPr>
        <p:spPr bwMode="auto">
          <a:xfrm>
            <a:off x="1524000" y="43434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24" name="Line 36"/>
          <p:cNvSpPr>
            <a:spLocks noChangeShapeType="1"/>
          </p:cNvSpPr>
          <p:nvPr/>
        </p:nvSpPr>
        <p:spPr bwMode="auto">
          <a:xfrm>
            <a:off x="1524000" y="4876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25" name="Line 37"/>
          <p:cNvSpPr>
            <a:spLocks noChangeShapeType="1"/>
          </p:cNvSpPr>
          <p:nvPr/>
        </p:nvSpPr>
        <p:spPr bwMode="auto">
          <a:xfrm flipH="1">
            <a:off x="1524000" y="4191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26" name="Line 38"/>
          <p:cNvSpPr>
            <a:spLocks noChangeShapeType="1"/>
          </p:cNvSpPr>
          <p:nvPr/>
        </p:nvSpPr>
        <p:spPr bwMode="auto">
          <a:xfrm>
            <a:off x="1524000" y="4267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27" name="Line 39"/>
          <p:cNvSpPr>
            <a:spLocks noChangeShapeType="1"/>
          </p:cNvSpPr>
          <p:nvPr/>
        </p:nvSpPr>
        <p:spPr bwMode="auto">
          <a:xfrm flipH="1">
            <a:off x="1524000" y="4953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28" name="Line 40"/>
          <p:cNvSpPr>
            <a:spLocks noChangeShapeType="1"/>
          </p:cNvSpPr>
          <p:nvPr/>
        </p:nvSpPr>
        <p:spPr bwMode="auto">
          <a:xfrm flipH="1">
            <a:off x="1524000" y="5029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29" name="Line 41"/>
          <p:cNvSpPr>
            <a:spLocks noChangeShapeType="1"/>
          </p:cNvSpPr>
          <p:nvPr/>
        </p:nvSpPr>
        <p:spPr bwMode="auto">
          <a:xfrm flipV="1">
            <a:off x="1447800" y="4419600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30" name="Line 42"/>
          <p:cNvSpPr>
            <a:spLocks noChangeShapeType="1"/>
          </p:cNvSpPr>
          <p:nvPr/>
        </p:nvSpPr>
        <p:spPr bwMode="auto">
          <a:xfrm flipV="1">
            <a:off x="1447800" y="4495800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31" name="Text Box 43"/>
          <p:cNvSpPr txBox="1">
            <a:spLocks noChangeArrowheads="1"/>
          </p:cNvSpPr>
          <p:nvPr/>
        </p:nvSpPr>
        <p:spPr bwMode="auto">
          <a:xfrm>
            <a:off x="381000" y="5218113"/>
            <a:ext cx="3803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Highly coupled-many dependencies</a:t>
            </a:r>
          </a:p>
        </p:txBody>
      </p:sp>
      <p:sp>
        <p:nvSpPr>
          <p:cNvPr id="12332" name="Rectangle 44"/>
          <p:cNvSpPr>
            <a:spLocks noChangeArrowheads="1"/>
          </p:cNvSpPr>
          <p:nvPr/>
        </p:nvSpPr>
        <p:spPr bwMode="auto">
          <a:xfrm>
            <a:off x="4343400" y="4406900"/>
            <a:ext cx="48768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400" dirty="0"/>
              <a:t>High coupling makes modifying parts of the system difficult, e.g., modifying a component affects all the components to which the component is connected</a:t>
            </a:r>
            <a:r>
              <a:rPr lang="en-US" sz="2400" dirty="0">
                <a:solidFill>
                  <a:schemeClr val="accent2"/>
                </a:solidFill>
              </a:rPr>
              <a:t>. </a:t>
            </a:r>
          </a:p>
        </p:txBody>
      </p:sp>
      <p:sp>
        <p:nvSpPr>
          <p:cNvPr id="2" name="Rectangle 1"/>
          <p:cNvSpPr/>
          <p:nvPr/>
        </p:nvSpPr>
        <p:spPr>
          <a:xfrm>
            <a:off x="38100" y="6022726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Reference: </a:t>
            </a:r>
          </a:p>
          <a:p>
            <a:r>
              <a:rPr lang="en-US" dirty="0" err="1"/>
              <a:t>Pfleeger</a:t>
            </a:r>
            <a:r>
              <a:rPr lang="en-US" dirty="0"/>
              <a:t>, S., </a:t>
            </a:r>
            <a:r>
              <a:rPr lang="en-US" i="1" dirty="0"/>
              <a:t>Software Engineering Theory and Practice. Prentice Hall, 2001.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904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Types of Coupling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90600"/>
            <a:ext cx="8382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b="1" dirty="0"/>
              <a:t>Content Coupling</a:t>
            </a:r>
            <a:r>
              <a:rPr lang="en-US" altLang="en-US" sz="2400" dirty="0"/>
              <a:t>:  One module directly connected to the inner working of another module. </a:t>
            </a:r>
            <a:endParaRPr lang="en-US" altLang="en-US" sz="2400" b="1" dirty="0"/>
          </a:p>
          <a:p>
            <a:pPr algn="ctr"/>
            <a:endParaRPr lang="en-US" altLang="en-US" sz="2400" b="1" dirty="0"/>
          </a:p>
          <a:p>
            <a:r>
              <a:rPr lang="en-US" altLang="en-US" sz="2400" b="1" dirty="0"/>
              <a:t>Common Coupling: </a:t>
            </a:r>
            <a:r>
              <a:rPr lang="en-US" altLang="en-US" sz="2400" dirty="0"/>
              <a:t>Two modules share a global data item.</a:t>
            </a:r>
          </a:p>
          <a:p>
            <a:pPr algn="ctr"/>
            <a:endParaRPr lang="en-US" altLang="en-US" sz="2400" b="1" dirty="0"/>
          </a:p>
          <a:p>
            <a:r>
              <a:rPr lang="en-US" altLang="en-US" sz="2400" b="1" dirty="0"/>
              <a:t>Control Coupling: </a:t>
            </a:r>
            <a:r>
              <a:rPr lang="en-US" altLang="en-US" sz="2400" dirty="0"/>
              <a:t>Data in one module is used to determine the order of execution of another module.</a:t>
            </a:r>
          </a:p>
          <a:p>
            <a:endParaRPr lang="en-US" altLang="en-US" sz="2400" b="1" dirty="0"/>
          </a:p>
          <a:p>
            <a:r>
              <a:rPr lang="en-US" altLang="en-US" sz="2400" b="1" dirty="0"/>
              <a:t>Stamp Coupling: </a:t>
            </a:r>
            <a:r>
              <a:rPr lang="en-US" altLang="en-US" sz="2400" dirty="0"/>
              <a:t>One module passes non-global data structures/objects to another module.</a:t>
            </a:r>
          </a:p>
          <a:p>
            <a:endParaRPr lang="en-US" altLang="en-US" sz="2400" b="1" dirty="0"/>
          </a:p>
          <a:p>
            <a:r>
              <a:rPr lang="en-US" altLang="en-US" sz="2400" b="1" dirty="0"/>
              <a:t>Data Coupling:  </a:t>
            </a:r>
            <a:r>
              <a:rPr lang="en-US" altLang="en-US" sz="2400" dirty="0"/>
              <a:t>One module pass elementary data types such as </a:t>
            </a:r>
            <a:r>
              <a:rPr lang="en-US" altLang="en-US" sz="2400" dirty="0" err="1"/>
              <a:t>int</a:t>
            </a:r>
            <a:r>
              <a:rPr lang="en-US" altLang="en-US" sz="2400" dirty="0"/>
              <a:t>, float, char as parameters to the other.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48137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838200"/>
          </a:xfrm>
        </p:spPr>
        <p:txBody>
          <a:bodyPr/>
          <a:lstStyle/>
          <a:p>
            <a:r>
              <a:rPr lang="en-US" dirty="0"/>
              <a:t>Coupling and Quality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962400"/>
            <a:ext cx="85344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Low			Coupling Spectrum       		High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81200"/>
            <a:ext cx="129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Coupling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981199"/>
            <a:ext cx="106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Stamp Coupling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76817" y="1978239"/>
            <a:ext cx="106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Control Coupling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1984159"/>
            <a:ext cx="106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Common Coupling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984159"/>
            <a:ext cx="106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Content Coupling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295400" y="2624570"/>
            <a:ext cx="152400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/>
          <p:cNvSpPr/>
          <p:nvPr/>
        </p:nvSpPr>
        <p:spPr>
          <a:xfrm>
            <a:off x="3124200" y="2630490"/>
            <a:ext cx="152400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Arrow 13"/>
          <p:cNvSpPr/>
          <p:nvPr/>
        </p:nvSpPr>
        <p:spPr>
          <a:xfrm>
            <a:off x="4724400" y="2630490"/>
            <a:ext cx="152400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own Arrow 14"/>
          <p:cNvSpPr/>
          <p:nvPr/>
        </p:nvSpPr>
        <p:spPr>
          <a:xfrm>
            <a:off x="6172200" y="2630490"/>
            <a:ext cx="152400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wn Arrow 15"/>
          <p:cNvSpPr/>
          <p:nvPr/>
        </p:nvSpPr>
        <p:spPr>
          <a:xfrm>
            <a:off x="7772400" y="2630490"/>
            <a:ext cx="152400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952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792162"/>
          </a:xfrm>
        </p:spPr>
        <p:txBody>
          <a:bodyPr/>
          <a:lstStyle/>
          <a:p>
            <a:r>
              <a:rPr lang="en-US" dirty="0"/>
              <a:t>Cohesion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1219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97164" y="1235563"/>
            <a:ext cx="859443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The degree to which all elements of a component are directed towards a single task and all elements directed towards that task are contained in a single component.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819400"/>
            <a:ext cx="5257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class </a:t>
            </a:r>
            <a:r>
              <a:rPr lang="en-US" dirty="0" err="1"/>
              <a:t>compXYX</a:t>
            </a:r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    string x, y, z;</a:t>
            </a:r>
          </a:p>
          <a:p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 p, q;</a:t>
            </a:r>
          </a:p>
          <a:p>
            <a:endParaRPr lang="en-US" dirty="0"/>
          </a:p>
          <a:p>
            <a:r>
              <a:rPr lang="en-US" dirty="0"/>
              <a:t>   A(){   p = </a:t>
            </a:r>
            <a:r>
              <a:rPr lang="en-US" dirty="0" err="1"/>
              <a:t>x.length</a:t>
            </a:r>
            <a:r>
              <a:rPr lang="en-US" dirty="0"/>
              <a:t>();}</a:t>
            </a:r>
          </a:p>
          <a:p>
            <a:endParaRPr lang="en-US" dirty="0"/>
          </a:p>
          <a:p>
            <a:r>
              <a:rPr lang="en-US" dirty="0"/>
              <a:t>    B() { q = </a:t>
            </a:r>
            <a:r>
              <a:rPr lang="en-US" dirty="0" err="1"/>
              <a:t>y.length</a:t>
            </a:r>
            <a:r>
              <a:rPr lang="en-US" dirty="0"/>
              <a:t>() – </a:t>
            </a:r>
            <a:r>
              <a:rPr lang="en-US" dirty="0" err="1"/>
              <a:t>z.length</a:t>
            </a:r>
            <a:r>
              <a:rPr lang="en-US" dirty="0"/>
              <a:t>()}</a:t>
            </a:r>
          </a:p>
          <a:p>
            <a:endParaRPr lang="en-US" dirty="0"/>
          </a:p>
          <a:p>
            <a:r>
              <a:rPr lang="en-US" dirty="0"/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1752600" y="5486400"/>
            <a:ext cx="30480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Lack of Cohesion</a:t>
            </a:r>
          </a:p>
        </p:txBody>
      </p:sp>
    </p:spTree>
    <p:extLst>
      <p:ext uri="{BB962C8B-B14F-4D97-AF65-F5344CB8AC3E}">
        <p14:creationId xmlns:p14="http://schemas.microsoft.com/office/powerpoint/2010/main" val="406059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590800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Coupling and Cohesion Activity</a:t>
            </a:r>
          </a:p>
        </p:txBody>
      </p:sp>
    </p:spTree>
    <p:extLst>
      <p:ext uri="{BB962C8B-B14F-4D97-AF65-F5344CB8AC3E}">
        <p14:creationId xmlns:p14="http://schemas.microsoft.com/office/powerpoint/2010/main" val="3270736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81000" y="1371600"/>
            <a:ext cx="86106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Arial" charset="0"/>
              </a:rPr>
              <a:t>[1] Martin Fowler. Refactoring: Improving the Design of Existing Code, Addison-Wesley,  1999. ISBN 0-201-48567-2</a:t>
            </a:r>
          </a:p>
          <a:p>
            <a:endParaRPr lang="en-US" sz="2800" dirty="0">
              <a:latin typeface="Arial" charset="0"/>
            </a:endParaRPr>
          </a:p>
          <a:p>
            <a:r>
              <a:rPr lang="en-US" sz="2800" dirty="0">
                <a:latin typeface="Times New Roman" charset="0"/>
              </a:rPr>
              <a:t>[2] Java Solutions, 2012 Pearson Education, </a:t>
            </a:r>
            <a:r>
              <a:rPr lang="en-US" sz="2800" dirty="0" err="1">
                <a:latin typeface="Times New Roman" charset="0"/>
              </a:rPr>
              <a:t>Inc</a:t>
            </a:r>
            <a:endParaRPr lang="en-US" sz="2800" dirty="0">
              <a:latin typeface="Times New Roman" charset="0"/>
            </a:endParaRPr>
          </a:p>
          <a:p>
            <a:endParaRPr lang="en-US" sz="2800" dirty="0">
              <a:latin typeface="Arial" charset="0"/>
            </a:endParaRPr>
          </a:p>
          <a:p>
            <a:endParaRPr lang="en-US" sz="2800" dirty="0">
              <a:latin typeface="Arial" charset="0"/>
            </a:endParaRP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69561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2346</TotalTime>
  <Words>380</Words>
  <Application>Microsoft Office PowerPoint</Application>
  <PresentationFormat>On-screen Show (4:3)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Office Theme</vt:lpstr>
      <vt:lpstr>CSE 464: Software Quality Assurance and Testing</vt:lpstr>
      <vt:lpstr>Fundamental Concepts</vt:lpstr>
      <vt:lpstr>Modularity – Lecture 1</vt:lpstr>
      <vt:lpstr>Modular Design</vt:lpstr>
      <vt:lpstr>Coupling and Cohesion </vt:lpstr>
      <vt:lpstr>Coupling: Degree of dependence among components (objects)</vt:lpstr>
      <vt:lpstr>Types of Coupling</vt:lpstr>
      <vt:lpstr>Coupling and Quality Impact</vt:lpstr>
      <vt:lpstr>Cohesion</vt:lpstr>
      <vt:lpstr>Coupling and Cohesion Activity</vt:lpstr>
      <vt:lpstr>References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494/598 : Software Quality Assurance and Testing</dc:title>
  <dc:creator>pushpa</dc:creator>
  <cp:lastModifiedBy>Janaka Balasooriya</cp:lastModifiedBy>
  <cp:revision>195</cp:revision>
  <cp:lastPrinted>2014-10-15T17:53:03Z</cp:lastPrinted>
  <dcterms:created xsi:type="dcterms:W3CDTF">2011-08-13T19:09:36Z</dcterms:created>
  <dcterms:modified xsi:type="dcterms:W3CDTF">2022-03-10T03:15:03Z</dcterms:modified>
</cp:coreProperties>
</file>