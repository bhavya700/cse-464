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90" r:id="rId3"/>
    <p:sldId id="391" r:id="rId4"/>
    <p:sldId id="392" r:id="rId5"/>
    <p:sldId id="393" r:id="rId6"/>
    <p:sldId id="394" r:id="rId7"/>
    <p:sldId id="311" r:id="rId8"/>
    <p:sldId id="349" r:id="rId9"/>
    <p:sldId id="377" r:id="rId10"/>
    <p:sldId id="379" r:id="rId11"/>
    <p:sldId id="346" r:id="rId12"/>
    <p:sldId id="378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8" autoAdjust="0"/>
    <p:restoredTop sz="94638"/>
  </p:normalViewPr>
  <p:slideViewPr>
    <p:cSldViewPr>
      <p:cViewPr varScale="1">
        <p:scale>
          <a:sx n="128" d="100"/>
          <a:sy n="128" d="100"/>
        </p:scale>
        <p:origin x="13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254" tIns="0" rIns="19254" bIns="0" anchor="b"/>
          <a:lstStyle>
            <a:lvl1pPr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/>
            <a:fld id="{B9F30305-F8CB-4DA2-A798-587DEA98D8A5}" type="slidenum">
              <a:rPr lang="en-US" sz="1100" b="0" i="1">
                <a:solidFill>
                  <a:schemeClr val="tx1"/>
                </a:solidFill>
              </a:rPr>
              <a:pPr algn="r"/>
              <a:t>7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7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254" tIns="0" rIns="19254" bIns="0" anchor="b"/>
          <a:lstStyle>
            <a:lvl1pPr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/>
            <a:fld id="{B9F30305-F8CB-4DA2-A798-587DEA98D8A5}" type="slidenum">
              <a:rPr lang="en-US" sz="1100" b="0" i="1">
                <a:solidFill>
                  <a:schemeClr val="tx1"/>
                </a:solidFill>
              </a:rPr>
              <a:pPr algn="r"/>
              <a:t>11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34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254" tIns="0" rIns="19254" bIns="0" anchor="b"/>
          <a:lstStyle>
            <a:lvl1pPr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/>
            <a:fld id="{B9F30305-F8CB-4DA2-A798-587DEA98D8A5}" type="slidenum">
              <a:rPr lang="en-US" sz="1100" b="0" i="1">
                <a:solidFill>
                  <a:schemeClr val="tx1"/>
                </a:solidFill>
              </a:rPr>
              <a:pPr algn="r"/>
              <a:t>13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9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F07EC14-A02E-43BC-B799-DF1C771A2570}" type="slidenum">
              <a:rPr lang="en-US" sz="1100" b="0">
                <a:solidFill>
                  <a:schemeClr val="tx1"/>
                </a:solidFill>
              </a:rPr>
              <a:pPr/>
              <a:t>14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785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2B81A01-3CB7-45E5-87E7-D4BD1EC359C0}" type="slidenum">
              <a:rPr lang="en-US" sz="1100" b="0">
                <a:solidFill>
                  <a:schemeClr val="tx1"/>
                </a:solidFill>
              </a:rPr>
              <a:pPr/>
              <a:t>17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516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1503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1503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ABE6F7C-CCF5-41B7-9DDD-7BC9BD8A2B26}" type="slidenum">
              <a:rPr lang="en-US" sz="1100" b="0">
                <a:solidFill>
                  <a:schemeClr val="tx1"/>
                </a:solidFill>
              </a:rPr>
              <a:pPr/>
              <a:t>19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2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838"/>
            <a:ext cx="7772400" cy="915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8113" y="1085850"/>
            <a:ext cx="8867775" cy="51784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75" y="6361113"/>
            <a:ext cx="3732213" cy="3444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6538" y="6350000"/>
            <a:ext cx="2895600" cy="355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3425" y="6338888"/>
            <a:ext cx="1905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430ED-F44B-4D64-B9D3-71785B8215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7481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5CB60-0ADB-4461-9603-35F613FBE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0280" y="585216"/>
            <a:ext cx="2995070" cy="3312346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20280" y="4087144"/>
            <a:ext cx="2995070" cy="204471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endParaRPr lang="en-US" sz="2200" b="1"/>
          </a:p>
          <a:p>
            <a:pPr algn="l">
              <a:lnSpc>
                <a:spcPct val="90000"/>
              </a:lnSpc>
            </a:pPr>
            <a:r>
              <a:rPr lang="en-US" sz="2200" b="1"/>
              <a:t>Structural (code-based) Based Testing - III</a:t>
            </a:r>
          </a:p>
          <a:p>
            <a:pPr algn="l">
              <a:lnSpc>
                <a:spcPct val="90000"/>
              </a:lnSpc>
            </a:pPr>
            <a:r>
              <a:rPr lang="en-US" sz="2200"/>
              <a:t>Data Path Testing </a:t>
            </a:r>
          </a:p>
          <a:p>
            <a:pPr algn="l">
              <a:lnSpc>
                <a:spcPct val="90000"/>
              </a:lnSpc>
            </a:pPr>
            <a:r>
              <a:rPr lang="en-US" sz="2200" b="1" err="1"/>
              <a:t>Janaka</a:t>
            </a:r>
            <a:r>
              <a:rPr lang="en-US" sz="2200" b="1"/>
              <a:t> </a:t>
            </a:r>
            <a:r>
              <a:rPr lang="en-US" sz="2200" b="1" err="1"/>
              <a:t>Balasooriya</a:t>
            </a:r>
            <a:endParaRPr lang="en-US" sz="2200" b="1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C9B70EBF-9A5F-46ED-9C63-A8CDCE264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023" y="1374098"/>
            <a:ext cx="5106795" cy="39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Floating Point Calculations</a:t>
            </a:r>
          </a:p>
        </p:txBody>
      </p:sp>
    </p:spTree>
    <p:extLst>
      <p:ext uri="{BB962C8B-B14F-4D97-AF65-F5344CB8AC3E}">
        <p14:creationId xmlns:p14="http://schemas.microsoft.com/office/powerpoint/2010/main" val="121931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6668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Titl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Floating point error</a:t>
            </a:r>
          </a:p>
        </p:txBody>
      </p:sp>
      <p:sp>
        <p:nvSpPr>
          <p:cNvPr id="29699" name="Content Placeholder 9"/>
          <p:cNvSpPr>
            <a:spLocks noGrp="1"/>
          </p:cNvSpPr>
          <p:nvPr>
            <p:ph idx="1"/>
          </p:nvPr>
        </p:nvSpPr>
        <p:spPr>
          <a:xfrm>
            <a:off x="381000" y="962025"/>
            <a:ext cx="8229600" cy="4525963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Comparison of Floating-Point Numbers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Floating-point numbers have limited precision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Round-off errors can lead to unexpected results</a:t>
            </a:r>
          </a:p>
        </p:txBody>
      </p:sp>
      <p:sp>
        <p:nvSpPr>
          <p:cNvPr id="29700" name="Slide Number Placeholder 1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200">
                <a:solidFill>
                  <a:srgbClr val="898989"/>
                </a:solidFill>
              </a:rPr>
              <a:t>Page </a:t>
            </a:r>
            <a:fld id="{926A84B6-C270-4477-B133-C6B438029080}" type="slidenum">
              <a:rPr lang="en-US" sz="1200">
                <a:solidFill>
                  <a:srgbClr val="898989"/>
                </a:solidFill>
              </a:rPr>
              <a:pPr eaLnBrk="1" hangingPunct="1"/>
              <a:t>3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1000" y="2743200"/>
            <a:ext cx="8382000" cy="3124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double</a:t>
            </a:r>
            <a:r>
              <a:rPr lang="en-US" sz="2000" kern="0" dirty="0">
                <a:latin typeface="Consolas" pitchFamily="49" charset="0"/>
              </a:rPr>
              <a:t> r = Math.sqrt(2.0);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if</a:t>
            </a:r>
            <a:r>
              <a:rPr lang="en-US" sz="2000" kern="0" dirty="0">
                <a:latin typeface="Consolas" pitchFamily="49" charset="0"/>
              </a:rPr>
              <a:t> (r * r == 2.0)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{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   </a:t>
            </a:r>
            <a:r>
              <a:rPr lang="en-US" sz="2000" kern="0" dirty="0" err="1">
                <a:latin typeface="Consolas" pitchFamily="49" charset="0"/>
              </a:rPr>
              <a:t>System.out.println</a:t>
            </a:r>
            <a:r>
              <a:rPr lang="en-US" sz="2000" kern="0" dirty="0">
                <a:latin typeface="Consolas" pitchFamily="49" charset="0"/>
              </a:rPr>
              <a:t>("Math.sqrt(2.0) squared is 2.0");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}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else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{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   </a:t>
            </a:r>
            <a:r>
              <a:rPr lang="en-US" sz="2000" kern="0" dirty="0" err="1">
                <a:latin typeface="Consolas" pitchFamily="49" charset="0"/>
              </a:rPr>
              <a:t>System.out.println</a:t>
            </a:r>
            <a:r>
              <a:rPr lang="en-US" sz="2000" kern="0" dirty="0">
                <a:latin typeface="Consolas" pitchFamily="49" charset="0"/>
              </a:rPr>
              <a:t>("Math.sqrt(2.0) squared is not 2.0</a:t>
            </a:r>
            <a:br>
              <a:rPr lang="en-US" sz="2000" kern="0" dirty="0">
                <a:latin typeface="Consolas" pitchFamily="49" charset="0"/>
              </a:rPr>
            </a:br>
            <a:r>
              <a:rPr lang="en-US" sz="2000" kern="0" dirty="0">
                <a:latin typeface="Consolas" pitchFamily="49" charset="0"/>
              </a:rPr>
              <a:t> but " + r * r);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}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81000" y="5867400"/>
            <a:ext cx="8305800" cy="609600"/>
          </a:xfrm>
          <a:prstGeom prst="rect">
            <a:avLst/>
          </a:prstGeom>
          <a:solidFill>
            <a:srgbClr val="FAE1A4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Output: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Math.sqrt(2.0) squared is not 2.0 but 2.00000000000000044</a:t>
            </a:r>
            <a:endParaRPr lang="en-US" sz="2000" b="1" kern="0" dirty="0">
              <a:latin typeface="Consolas" pitchFamily="49" charset="0"/>
            </a:endParaRPr>
          </a:p>
        </p:txBody>
      </p:sp>
      <p:sp>
        <p:nvSpPr>
          <p:cNvPr id="29703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1000"/>
              <a:t>Copyright © 2013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208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422275" y="152400"/>
            <a:ext cx="8229600" cy="868362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The use of EPSILON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422275" y="1143000"/>
            <a:ext cx="8229600" cy="4525963"/>
          </a:xfrm>
        </p:spPr>
        <p:txBody>
          <a:bodyPr/>
          <a:lstStyle/>
          <a:p>
            <a:r>
              <a:rPr lang="en-US" sz="2800" dirty="0">
                <a:ea typeface="ＭＳ Ｐゴシック" pitchFamily="34" charset="-128"/>
              </a:rPr>
              <a:t>Use a very small value to compare the difference if floating-point values are </a:t>
            </a:r>
            <a:r>
              <a:rPr lang="ja-JP" altLang="en-US" sz="2800" dirty="0">
                <a:ea typeface="ＭＳ Ｐゴシック" pitchFamily="34" charset="-128"/>
              </a:rPr>
              <a:t>‘</a:t>
            </a:r>
            <a:r>
              <a:rPr lang="en-US" altLang="ja-JP" sz="2800" i="1" dirty="0">
                <a:ea typeface="ＭＳ Ｐゴシック" pitchFamily="34" charset="-128"/>
              </a:rPr>
              <a:t>close enough</a:t>
            </a:r>
            <a:r>
              <a:rPr lang="ja-JP" altLang="en-US" sz="2800" dirty="0">
                <a:ea typeface="ＭＳ Ｐゴシック" pitchFamily="34" charset="-128"/>
              </a:rPr>
              <a:t>’</a:t>
            </a:r>
            <a:endParaRPr lang="en-US" altLang="ja-JP" sz="2800" dirty="0">
              <a:ea typeface="ＭＳ Ｐゴシック" pitchFamily="34" charset="-128"/>
            </a:endParaRPr>
          </a:p>
          <a:p>
            <a:pPr lvl="1"/>
            <a:r>
              <a:rPr lang="en-US" sz="2400" dirty="0">
                <a:ea typeface="ＭＳ Ｐゴシック" pitchFamily="34" charset="-128"/>
              </a:rPr>
              <a:t>The magnitude of their difference should be less than some threshold 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Mathematically, we would write that x and y are close enough if:</a:t>
            </a:r>
          </a:p>
          <a:p>
            <a:endParaRPr lang="en-US" sz="2800" dirty="0">
              <a:ea typeface="ＭＳ Ｐゴシック" pitchFamily="34" charset="-128"/>
            </a:endParaRPr>
          </a:p>
          <a:p>
            <a:endParaRPr lang="en-US" sz="2800" dirty="0">
              <a:ea typeface="ＭＳ Ｐゴシック" pitchFamily="34" charset="-128"/>
            </a:endParaRPr>
          </a:p>
          <a:p>
            <a:endParaRPr lang="en-US" sz="2800" dirty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200">
                <a:solidFill>
                  <a:srgbClr val="898989"/>
                </a:solidFill>
              </a:rPr>
              <a:t>Page </a:t>
            </a:r>
            <a:fld id="{CE610A0D-9D9D-4887-9248-4CF5FB33A2AA}" type="slidenum">
              <a:rPr lang="en-US" sz="1200">
                <a:solidFill>
                  <a:srgbClr val="898989"/>
                </a:solidFill>
              </a:rPr>
              <a:pPr eaLnBrk="1" hangingPunct="1"/>
              <a:t>4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4800" y="3962400"/>
            <a:ext cx="8686800" cy="2286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final double </a:t>
            </a:r>
            <a:r>
              <a:rPr lang="en-US" sz="2000" kern="0" dirty="0">
                <a:solidFill>
                  <a:srgbClr val="0033CC"/>
                </a:solidFill>
                <a:latin typeface="Consolas" pitchFamily="49" charset="0"/>
              </a:rPr>
              <a:t>EPSILON</a:t>
            </a:r>
            <a:r>
              <a:rPr lang="en-US" sz="2000" kern="0" dirty="0">
                <a:latin typeface="Consolas" pitchFamily="49" charset="0"/>
              </a:rPr>
              <a:t> = 1E-14;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double</a:t>
            </a:r>
            <a:r>
              <a:rPr lang="en-US" sz="2000" kern="0" dirty="0">
                <a:latin typeface="Consolas" pitchFamily="49" charset="0"/>
              </a:rPr>
              <a:t> r = Math.sqrt(2.0);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C00000"/>
                </a:solidFill>
                <a:latin typeface="Consolas" pitchFamily="49" charset="0"/>
              </a:rPr>
              <a:t>if</a:t>
            </a:r>
            <a:r>
              <a:rPr lang="en-US" sz="2000" kern="0" dirty="0">
                <a:latin typeface="Consolas" pitchFamily="49" charset="0"/>
              </a:rPr>
              <a:t> (Math.abs(r * r - 2.0) &lt; </a:t>
            </a:r>
            <a:r>
              <a:rPr lang="en-US" sz="2000" kern="0" dirty="0">
                <a:solidFill>
                  <a:srgbClr val="0033CC"/>
                </a:solidFill>
                <a:latin typeface="Consolas" pitchFamily="49" charset="0"/>
              </a:rPr>
              <a:t>EPSILON</a:t>
            </a:r>
            <a:r>
              <a:rPr lang="en-US" sz="2000" kern="0" dirty="0">
                <a:latin typeface="Consolas" pitchFamily="49" charset="0"/>
              </a:rPr>
              <a:t>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{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   </a:t>
            </a:r>
            <a:r>
              <a:rPr lang="en-US" sz="2000" kern="0" dirty="0" err="1">
                <a:latin typeface="Consolas" pitchFamily="49" charset="0"/>
              </a:rPr>
              <a:t>System.out.println</a:t>
            </a:r>
            <a:r>
              <a:rPr lang="en-US" sz="2000" kern="0" dirty="0">
                <a:latin typeface="Consolas" pitchFamily="49" charset="0"/>
              </a:rPr>
              <a:t>("Math.sqrt(2.0) squared is approx.   </a:t>
            </a:r>
            <a:br>
              <a:rPr lang="en-US" sz="2000" kern="0" dirty="0">
                <a:latin typeface="Consolas" pitchFamily="49" charset="0"/>
              </a:rPr>
            </a:br>
            <a:r>
              <a:rPr lang="en-US" sz="2000" kern="0" dirty="0">
                <a:latin typeface="Consolas" pitchFamily="49" charset="0"/>
              </a:rPr>
              <a:t> 2.0");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}</a:t>
            </a:r>
          </a:p>
        </p:txBody>
      </p:sp>
      <p:pic>
        <p:nvPicPr>
          <p:cNvPr id="3072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76600"/>
            <a:ext cx="171767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1000"/>
              <a:t>Copyright © 2013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862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/>
          <a:lstStyle/>
          <a:p>
            <a:r>
              <a:rPr lang="en-US" dirty="0"/>
              <a:t>DU-Path Testing</a:t>
            </a:r>
          </a:p>
        </p:txBody>
      </p:sp>
    </p:spTree>
    <p:extLst>
      <p:ext uri="{BB962C8B-B14F-4D97-AF65-F5344CB8AC3E}">
        <p14:creationId xmlns:p14="http://schemas.microsoft.com/office/powerpoint/2010/main" val="188680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7"/>
          <p:cNvSpPr>
            <a:spLocks noGrp="1" noChangeArrowheads="1"/>
          </p:cNvSpPr>
          <p:nvPr>
            <p:ph type="title"/>
          </p:nvPr>
        </p:nvSpPr>
        <p:spPr bwMode="auto"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/>
              <a:t>The Test Method Pendulum</a:t>
            </a:r>
          </a:p>
        </p:txBody>
      </p:sp>
      <p:graphicFrame>
        <p:nvGraphicFramePr>
          <p:cNvPr id="66568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609600" y="1370013"/>
          <a:ext cx="7239000" cy="455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32189" imgH="2977560" progId="Visio.Drawing.11">
                  <p:embed/>
                </p:oleObj>
              </mc:Choice>
              <mc:Fallback>
                <p:oleObj name="Visio" r:id="rId2" imgW="4732189" imgH="2977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0013"/>
                        <a:ext cx="7239000" cy="455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57200" y="1143000"/>
            <a:ext cx="2667000" cy="3048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2628357" y="3429000"/>
            <a:ext cx="978408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20852" y="1113772"/>
            <a:ext cx="3505200" cy="3048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848600" y="3683696"/>
            <a:ext cx="978408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7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1312"/>
            <a:ext cx="8686800" cy="457200"/>
          </a:xfrm>
        </p:spPr>
        <p:txBody>
          <a:bodyPr>
            <a:noAutofit/>
          </a:bodyPr>
          <a:lstStyle/>
          <a:p>
            <a:r>
              <a:rPr lang="en-US" sz="4000" b="1" dirty="0"/>
              <a:t>Data Define-Use Path Testing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47027" y="990600"/>
            <a:ext cx="8686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Basic path testing basically  test the logical paths and decision making nodes.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D-U path testing focus on the data of the program.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 given program may use lots of data variables, data structures …</a:t>
            </a:r>
            <a:r>
              <a:rPr lang="en-US" sz="2800" dirty="0" err="1"/>
              <a:t>etc</a:t>
            </a:r>
            <a:endParaRPr lang="en-US" sz="2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It is important that we generate test cases to test the correctness of modifications to data variables as the program is being executed.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D-U path testing investigates </a:t>
            </a:r>
            <a:r>
              <a:rPr lang="en-US" sz="2800" b="1" dirty="0">
                <a:solidFill>
                  <a:srgbClr val="FF0000"/>
                </a:solidFill>
              </a:rPr>
              <a:t>date flow </a:t>
            </a:r>
            <a:r>
              <a:rPr lang="en-US" sz="2800" dirty="0"/>
              <a:t>in the program to uncover any bugs.</a:t>
            </a:r>
          </a:p>
        </p:txBody>
      </p:sp>
    </p:spTree>
    <p:extLst>
      <p:ext uri="{BB962C8B-B14F-4D97-AF65-F5344CB8AC3E}">
        <p14:creationId xmlns:p14="http://schemas.microsoft.com/office/powerpoint/2010/main" val="6970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14600"/>
            <a:ext cx="8229600" cy="1143000"/>
          </a:xfrm>
        </p:spPr>
        <p:txBody>
          <a:bodyPr/>
          <a:lstStyle/>
          <a:p>
            <a:r>
              <a:rPr lang="en-US" dirty="0"/>
              <a:t>D (definition)-U (use) Path Testing</a:t>
            </a:r>
          </a:p>
        </p:txBody>
      </p:sp>
    </p:spTree>
    <p:extLst>
      <p:ext uri="{BB962C8B-B14F-4D97-AF65-F5344CB8AC3E}">
        <p14:creationId xmlns:p14="http://schemas.microsoft.com/office/powerpoint/2010/main" val="1148144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D-U Path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44624"/>
            <a:ext cx="7848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Definition (change of data stored in a variable):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  assignment statements  ( x=   y * z; defines x)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  declarations  (</a:t>
            </a:r>
            <a:r>
              <a:rPr lang="en-US" sz="2400" dirty="0" err="1"/>
              <a:t>int</a:t>
            </a:r>
            <a:r>
              <a:rPr lang="en-US" sz="2400" dirty="0"/>
              <a:t> x = 56;, defines x)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  reading data from input devices ( </a:t>
            </a:r>
            <a:r>
              <a:rPr lang="en-US" sz="2400" dirty="0" err="1"/>
              <a:t>cin</a:t>
            </a:r>
            <a:r>
              <a:rPr lang="en-US" sz="2400" dirty="0"/>
              <a:t>&gt;&gt; x, defines x)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… </a:t>
            </a:r>
            <a:r>
              <a:rPr lang="en-US" sz="2400" dirty="0" err="1"/>
              <a:t>etc</a:t>
            </a:r>
            <a:endParaRPr lang="en-US" sz="2400" dirty="0"/>
          </a:p>
          <a:p>
            <a:pPr marL="742950" lvl="1" indent="-285750">
              <a:buFont typeface="Arial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itchFamily="34" charset="0"/>
              <a:buChar char="•"/>
            </a:pPr>
            <a:endParaRPr lang="en-US" sz="2400" dirty="0"/>
          </a:p>
          <a:p>
            <a:r>
              <a:rPr lang="en-US" sz="2400" dirty="0"/>
              <a:t>Use (</a:t>
            </a:r>
            <a:r>
              <a:rPr lang="en-US" sz="2400" u="sng" dirty="0"/>
              <a:t>usage of the data stored in a variable):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2400" u="sng" dirty="0"/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400" dirty="0"/>
              <a:t>assignment statements  ( x=   y * z; uses y and z)</a:t>
            </a:r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400" dirty="0"/>
              <a:t>output  (</a:t>
            </a:r>
            <a:r>
              <a:rPr lang="en-US" sz="2400" dirty="0" err="1"/>
              <a:t>cout</a:t>
            </a:r>
            <a:r>
              <a:rPr lang="en-US" sz="2400" dirty="0"/>
              <a:t>&lt;&lt; x;)</a:t>
            </a:r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400" dirty="0"/>
              <a:t>…</a:t>
            </a:r>
            <a:r>
              <a:rPr lang="en-US" sz="2400" dirty="0" err="1"/>
              <a:t>etc</a:t>
            </a:r>
            <a:endParaRPr lang="en-US" sz="2400" dirty="0"/>
          </a:p>
          <a:p>
            <a:pPr marL="742950" lvl="2" indent="-285750">
              <a:buFont typeface="Arial" pitchFamily="34" charset="0"/>
              <a:buChar char="•"/>
            </a:pPr>
            <a:endParaRPr lang="en-US" sz="2400" dirty="0"/>
          </a:p>
          <a:p>
            <a:endParaRPr lang="en-US" sz="2400" u="sng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65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D-U path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564" y="914400"/>
            <a:ext cx="838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public class </a:t>
            </a:r>
            <a:r>
              <a:rPr lang="en-US" sz="2000" b="1" dirty="0" err="1"/>
              <a:t>simpleDataFlow</a:t>
            </a:r>
            <a:r>
              <a:rPr lang="en-US" sz="2000" b="1" dirty="0"/>
              <a:t> {</a:t>
            </a:r>
          </a:p>
          <a:p>
            <a:r>
              <a:rPr lang="en-US" sz="2000" b="1" dirty="0"/>
              <a:t>public static  </a:t>
            </a:r>
            <a:r>
              <a:rPr lang="en-US" sz="2000" b="1" dirty="0" err="1"/>
              <a:t>int</a:t>
            </a:r>
            <a:r>
              <a:rPr lang="en-US" sz="2000" b="1" dirty="0"/>
              <a:t> computations(</a:t>
            </a:r>
            <a:r>
              <a:rPr lang="en-US" sz="2000" b="1" dirty="0" err="1"/>
              <a:t>int</a:t>
            </a:r>
            <a:r>
              <a:rPr lang="en-US" sz="2000" b="1" dirty="0"/>
              <a:t>  x , </a:t>
            </a:r>
            <a:r>
              <a:rPr lang="en-US" sz="2000" b="1" dirty="0" err="1"/>
              <a:t>int</a:t>
            </a:r>
            <a:r>
              <a:rPr lang="en-US" sz="2000" b="1" dirty="0"/>
              <a:t> y)</a:t>
            </a:r>
          </a:p>
          <a:p>
            <a:r>
              <a:rPr lang="en-US" sz="2000" dirty="0"/>
              <a:t>{</a:t>
            </a:r>
          </a:p>
          <a:p>
            <a:pPr lvl="1"/>
            <a:r>
              <a:rPr lang="en-US" sz="2000" b="1" dirty="0" err="1"/>
              <a:t>int</a:t>
            </a:r>
            <a:r>
              <a:rPr lang="en-US" sz="2000" b="1" dirty="0"/>
              <a:t> z = 0;</a:t>
            </a:r>
          </a:p>
          <a:p>
            <a:pPr lvl="2"/>
            <a:r>
              <a:rPr lang="en-US" sz="2000" b="1" dirty="0"/>
              <a:t>if(x &gt; 0)</a:t>
            </a:r>
          </a:p>
          <a:p>
            <a:pPr lvl="2"/>
            <a:r>
              <a:rPr lang="en-US" sz="2000" dirty="0"/>
              <a:t>{</a:t>
            </a:r>
          </a:p>
          <a:p>
            <a:pPr lvl="3"/>
            <a:r>
              <a:rPr lang="en-US" sz="2000" dirty="0"/>
              <a:t>z = x + y;</a:t>
            </a:r>
          </a:p>
          <a:p>
            <a:pPr lvl="3"/>
            <a:r>
              <a:rPr lang="en-US" sz="2000" dirty="0"/>
              <a:t>x=0;</a:t>
            </a:r>
          </a:p>
          <a:p>
            <a:pPr lvl="2"/>
            <a:r>
              <a:rPr lang="en-US" sz="2000" dirty="0"/>
              <a:t>}</a:t>
            </a:r>
            <a:r>
              <a:rPr lang="en-US" sz="2000" b="1" dirty="0"/>
              <a:t>else</a:t>
            </a:r>
          </a:p>
          <a:p>
            <a:pPr lvl="2"/>
            <a:r>
              <a:rPr lang="en-US" sz="2000" dirty="0"/>
              <a:t>{</a:t>
            </a:r>
          </a:p>
          <a:p>
            <a:pPr lvl="3"/>
            <a:r>
              <a:rPr lang="en-US" sz="2000" dirty="0"/>
              <a:t>   z = x  - y;</a:t>
            </a:r>
          </a:p>
          <a:p>
            <a:pPr lvl="3"/>
            <a:r>
              <a:rPr lang="en-US" sz="2000" dirty="0"/>
              <a:t>   y=0;</a:t>
            </a:r>
          </a:p>
          <a:p>
            <a:pPr lvl="2"/>
            <a:r>
              <a:rPr lang="en-US" sz="2000" dirty="0"/>
              <a:t>}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return z;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289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819400"/>
            <a:ext cx="8686800" cy="457200"/>
          </a:xfrm>
        </p:spPr>
        <p:txBody>
          <a:bodyPr>
            <a:noAutofit/>
          </a:bodyPr>
          <a:lstStyle/>
          <a:p>
            <a:r>
              <a:rPr lang="en-US" sz="2800" b="1" dirty="0"/>
              <a:t>In-class activity</a:t>
            </a:r>
            <a:br>
              <a:rPr lang="en-US" sz="2800" b="1" dirty="0"/>
            </a:br>
            <a:r>
              <a:rPr lang="en-US" sz="2800" b="1" dirty="0"/>
              <a:t>Data-Flow Testing for IsValidMod10 Function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8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04800"/>
            <a:ext cx="8001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public static </a:t>
            </a:r>
            <a:r>
              <a:rPr lang="en-US" sz="1600" dirty="0" err="1"/>
              <a:t>boolean</a:t>
            </a:r>
            <a:r>
              <a:rPr lang="en-US" sz="1600" dirty="0"/>
              <a:t> IsValidMod10Number(String  number)</a:t>
            </a:r>
          </a:p>
          <a:p>
            <a:r>
              <a:rPr lang="en-US" sz="1600" dirty="0"/>
              <a:t>    {  	</a:t>
            </a:r>
          </a:p>
          <a:p>
            <a:r>
              <a:rPr lang="en-US" sz="1600" dirty="0"/>
              <a:t>                  </a:t>
            </a:r>
            <a:r>
              <a:rPr lang="en-US" sz="1600" dirty="0" err="1"/>
              <a:t>int</a:t>
            </a:r>
            <a:r>
              <a:rPr lang="en-US" sz="1600" dirty="0"/>
              <a:t> [] </a:t>
            </a:r>
            <a:r>
              <a:rPr lang="en-US" sz="1600" dirty="0" err="1"/>
              <a:t>numberArray</a:t>
            </a:r>
            <a:r>
              <a:rPr lang="en-US" sz="1600" dirty="0"/>
              <a:t> = new </a:t>
            </a:r>
            <a:r>
              <a:rPr lang="en-US" sz="1600" dirty="0" err="1"/>
              <a:t>int</a:t>
            </a:r>
            <a:r>
              <a:rPr lang="en-US" sz="1600" dirty="0"/>
              <a:t>[</a:t>
            </a:r>
            <a:r>
              <a:rPr lang="en-US" sz="1600" dirty="0" err="1"/>
              <a:t>number.length</a:t>
            </a:r>
            <a:r>
              <a:rPr lang="en-US" sz="1600" dirty="0"/>
              <a:t>()];</a:t>
            </a:r>
          </a:p>
          <a:p>
            <a:r>
              <a:rPr lang="en-US" sz="1600" dirty="0"/>
              <a:t>                  </a:t>
            </a:r>
            <a:r>
              <a:rPr lang="en-US" sz="1600" dirty="0" err="1"/>
              <a:t>boolean</a:t>
            </a:r>
            <a:r>
              <a:rPr lang="en-US" sz="1600" dirty="0"/>
              <a:t> </a:t>
            </a:r>
            <a:r>
              <a:rPr lang="en-US" sz="1600" dirty="0" err="1"/>
              <a:t>checkBit</a:t>
            </a:r>
            <a:r>
              <a:rPr lang="en-US" sz="1600" dirty="0"/>
              <a:t> = false;</a:t>
            </a:r>
          </a:p>
          <a:p>
            <a:r>
              <a:rPr lang="en-US" sz="1600" dirty="0"/>
              <a:t>              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sumTotal</a:t>
            </a:r>
            <a:r>
              <a:rPr lang="en-US" sz="1600" dirty="0"/>
              <a:t> =0;</a:t>
            </a:r>
          </a:p>
          <a:p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 &lt; </a:t>
            </a:r>
            <a:r>
              <a:rPr lang="en-US" sz="1600" dirty="0" err="1"/>
              <a:t>number.length</a:t>
            </a:r>
            <a:r>
              <a:rPr lang="en-US" sz="1600" dirty="0"/>
              <a:t>() ; </a:t>
            </a:r>
            <a:r>
              <a:rPr lang="en-US" sz="1600" dirty="0" err="1"/>
              <a:t>i</a:t>
            </a:r>
            <a:r>
              <a:rPr lang="en-US" sz="1600" dirty="0"/>
              <a:t>++)</a:t>
            </a:r>
          </a:p>
          <a:p>
            <a:r>
              <a:rPr lang="en-US" sz="1600" dirty="0"/>
              <a:t>		{</a:t>
            </a:r>
          </a:p>
          <a:p>
            <a:r>
              <a:rPr lang="en-US" sz="1600" dirty="0"/>
              <a:t>			</a:t>
            </a:r>
            <a:r>
              <a:rPr lang="en-US" sz="1600" dirty="0" err="1"/>
              <a:t>numberArray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= (</a:t>
            </a:r>
            <a:r>
              <a:rPr lang="en-US" sz="1600" dirty="0" err="1"/>
              <a:t>int</a:t>
            </a:r>
            <a:r>
              <a:rPr lang="en-US" sz="1600" dirty="0"/>
              <a:t>) </a:t>
            </a:r>
            <a:r>
              <a:rPr lang="en-US" sz="1600" dirty="0" err="1"/>
              <a:t>number.charAt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);</a:t>
            </a:r>
          </a:p>
          <a:p>
            <a:r>
              <a:rPr lang="en-US" sz="1600" dirty="0"/>
              <a:t>	   	 }</a:t>
            </a:r>
          </a:p>
          <a:p>
            <a:r>
              <a:rPr lang="en-US" sz="1600" dirty="0"/>
              <a:t>	  	 for(</a:t>
            </a:r>
            <a:r>
              <a:rPr lang="en-US" sz="1600" dirty="0" err="1"/>
              <a:t>int</a:t>
            </a:r>
            <a:r>
              <a:rPr lang="en-US" sz="1600" dirty="0"/>
              <a:t> index = </a:t>
            </a:r>
            <a:r>
              <a:rPr lang="en-US" sz="1600" dirty="0" err="1"/>
              <a:t>numberArray.length</a:t>
            </a:r>
            <a:r>
              <a:rPr lang="en-US" sz="1600" dirty="0"/>
              <a:t> -1 ; index &gt;= 0 ; index--)</a:t>
            </a:r>
          </a:p>
          <a:p>
            <a:r>
              <a:rPr lang="en-US" sz="1600" dirty="0"/>
              <a:t>	    	{</a:t>
            </a:r>
          </a:p>
          <a:p>
            <a:r>
              <a:rPr lang="en-US" sz="1600" dirty="0"/>
              <a:t>			if(</a:t>
            </a:r>
            <a:r>
              <a:rPr lang="en-US" sz="1600" dirty="0" err="1"/>
              <a:t>checkBit</a:t>
            </a:r>
            <a:r>
              <a:rPr lang="en-US" sz="1600" dirty="0"/>
              <a:t>)</a:t>
            </a:r>
          </a:p>
          <a:p>
            <a:r>
              <a:rPr lang="en-US" sz="1600" dirty="0"/>
              <a:t>			{</a:t>
            </a:r>
          </a:p>
          <a:p>
            <a:r>
              <a:rPr lang="en-US" sz="1600" dirty="0"/>
              <a:t>			</a:t>
            </a:r>
            <a:r>
              <a:rPr lang="en-US" sz="1600" dirty="0" err="1"/>
              <a:t>numberArray</a:t>
            </a:r>
            <a:r>
              <a:rPr lang="en-US" sz="1600" dirty="0"/>
              <a:t>[index] *=2;</a:t>
            </a:r>
          </a:p>
          <a:p>
            <a:r>
              <a:rPr lang="en-US" sz="1600" dirty="0"/>
              <a:t>				if(</a:t>
            </a:r>
            <a:r>
              <a:rPr lang="en-US" sz="1600" dirty="0" err="1"/>
              <a:t>numberArray</a:t>
            </a:r>
            <a:r>
              <a:rPr lang="en-US" sz="1600" dirty="0"/>
              <a:t>[index] &gt; 9)</a:t>
            </a:r>
          </a:p>
          <a:p>
            <a:r>
              <a:rPr lang="en-US" sz="1600" dirty="0"/>
              <a:t>		                  		 {</a:t>
            </a:r>
          </a:p>
          <a:p>
            <a:r>
              <a:rPr lang="en-US" sz="1600" dirty="0"/>
              <a:t>				  </a:t>
            </a:r>
            <a:r>
              <a:rPr lang="en-US" sz="1600" dirty="0" err="1"/>
              <a:t>numberArray</a:t>
            </a:r>
            <a:r>
              <a:rPr lang="en-US" sz="1600" dirty="0"/>
              <a:t>[index] -= 9;  </a:t>
            </a:r>
          </a:p>
          <a:p>
            <a:r>
              <a:rPr lang="en-US" sz="1600" dirty="0"/>
              <a:t>				  }</a:t>
            </a:r>
          </a:p>
          <a:p>
            <a:r>
              <a:rPr lang="en-US" sz="1600" dirty="0"/>
              <a:t>	              		  }</a:t>
            </a:r>
          </a:p>
          <a:p>
            <a:r>
              <a:rPr lang="en-US" sz="1600" dirty="0"/>
              <a:t>	   	    </a:t>
            </a:r>
            <a:r>
              <a:rPr lang="en-US" sz="1600" dirty="0" err="1"/>
              <a:t>sumTotal</a:t>
            </a:r>
            <a:r>
              <a:rPr lang="en-US" sz="1600" dirty="0"/>
              <a:t> += </a:t>
            </a:r>
            <a:r>
              <a:rPr lang="en-US" sz="1600" dirty="0" err="1"/>
              <a:t>numberArray</a:t>
            </a:r>
            <a:r>
              <a:rPr lang="en-US" sz="1600" dirty="0"/>
              <a:t>[index];</a:t>
            </a:r>
          </a:p>
          <a:p>
            <a:r>
              <a:rPr lang="en-US" sz="1600" dirty="0"/>
              <a:t>	      	    </a:t>
            </a:r>
            <a:r>
              <a:rPr lang="en-US" sz="1600" dirty="0" err="1"/>
              <a:t>checkBit</a:t>
            </a:r>
            <a:r>
              <a:rPr lang="en-US" sz="1600" dirty="0"/>
              <a:t> = !</a:t>
            </a:r>
            <a:r>
              <a:rPr lang="en-US" sz="1600" dirty="0" err="1"/>
              <a:t>checkBit</a:t>
            </a:r>
            <a:r>
              <a:rPr lang="en-US" sz="1600" dirty="0"/>
              <a:t>;</a:t>
            </a:r>
          </a:p>
          <a:p>
            <a:r>
              <a:rPr lang="en-US" sz="1600" dirty="0"/>
              <a:t>	 	  }</a:t>
            </a:r>
          </a:p>
          <a:p>
            <a:r>
              <a:rPr lang="en-US" sz="1600" dirty="0"/>
              <a:t>	   return </a:t>
            </a:r>
            <a:r>
              <a:rPr lang="en-US" sz="1600" dirty="0" err="1"/>
              <a:t>sumTotal</a:t>
            </a:r>
            <a:r>
              <a:rPr lang="en-US" sz="1600" dirty="0"/>
              <a:t> % 10 ==0;</a:t>
            </a:r>
          </a:p>
          <a:p>
            <a:r>
              <a:rPr lang="en-US" sz="1600" dirty="0"/>
              <a:t>}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6AE398-1B2A-7515-2093-93544506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4648200"/>
            <a:ext cx="4254500" cy="19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2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819400"/>
            <a:ext cx="8686800" cy="457200"/>
          </a:xfrm>
        </p:spPr>
        <p:txBody>
          <a:bodyPr>
            <a:noAutofit/>
          </a:bodyPr>
          <a:lstStyle/>
          <a:p>
            <a:r>
              <a:rPr lang="en-US" sz="2800" b="1" dirty="0"/>
              <a:t>Data-Flow Testing for IsValidMod10 Function</a:t>
            </a:r>
            <a:br>
              <a:rPr lang="en-US" sz="2800" b="1" dirty="0"/>
            </a:br>
            <a:r>
              <a:rPr lang="en-US" sz="2800" b="1" dirty="0"/>
              <a:t>Discussion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01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482600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Example Data-Flow – Stats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838200" y="609600"/>
            <a:ext cx="6959600" cy="5743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]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+=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/ 2 ];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(double)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0.o;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+ ((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 * 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- 1 );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("length: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("mean: 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("median: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6366037"/>
            <a:ext cx="6301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Reference: Introduction to Software Testing, © </a:t>
            </a:r>
            <a:r>
              <a:rPr lang="en-US" dirty="0" err="1"/>
              <a:t>Ammann</a:t>
            </a:r>
            <a:r>
              <a:rPr lang="en-US" dirty="0"/>
              <a:t> &amp; Offutt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006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5" name="Group 58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</p:grpSpPr>
        <p:grpSp>
          <p:nvGrpSpPr>
            <p:cNvPr id="30739" name="Group 6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0771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2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0740" name="Group 9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0769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0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0741" name="Line 15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42" name="Group 21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0767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8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0743" name="Group 24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0765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6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0744" name="Group 27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0763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4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0745" name="Group 37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0761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2" name="Text Box 3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0746" name="Group 40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0759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0747" name="Group 43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0757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0748" name="AutoShape 48"/>
            <p:cNvCxnSpPr>
              <a:cxnSpLocks noChangeShapeType="1"/>
              <a:stCxn id="30769" idx="4"/>
              <a:endCxn id="30767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AutoShape 49"/>
            <p:cNvCxnSpPr>
              <a:cxnSpLocks noChangeShapeType="1"/>
              <a:stCxn id="30767" idx="4"/>
              <a:endCxn id="30763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0" name="AutoShape 50"/>
            <p:cNvCxnSpPr>
              <a:cxnSpLocks noChangeShapeType="1"/>
              <a:stCxn id="30763" idx="3"/>
              <a:endCxn id="30765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1" name="AutoShape 52"/>
            <p:cNvCxnSpPr>
              <a:cxnSpLocks noChangeShapeType="1"/>
              <a:stCxn id="30763" idx="6"/>
              <a:endCxn id="30761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2" name="AutoShape 53"/>
            <p:cNvCxnSpPr>
              <a:cxnSpLocks noChangeShapeType="1"/>
              <a:stCxn id="30765" idx="3"/>
              <a:endCxn id="30763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3" name="AutoShape 54"/>
            <p:cNvCxnSpPr>
              <a:cxnSpLocks noChangeShapeType="1"/>
              <a:stCxn id="30761" idx="4"/>
              <a:endCxn id="30759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4" name="AutoShape 55"/>
            <p:cNvCxnSpPr>
              <a:cxnSpLocks noChangeShapeType="1"/>
              <a:stCxn id="30759" idx="6"/>
              <a:endCxn id="30771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5" name="AutoShape 56"/>
            <p:cNvCxnSpPr>
              <a:cxnSpLocks noChangeShapeType="1"/>
              <a:stCxn id="30759" idx="3"/>
              <a:endCxn id="30757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6" name="AutoShape 57"/>
            <p:cNvCxnSpPr>
              <a:cxnSpLocks noChangeShapeType="1"/>
              <a:stCxn id="30757" idx="3"/>
              <a:endCxn id="30759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7507" y="-20637"/>
            <a:ext cx="8229600" cy="706437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Flow Graph for Stats </a:t>
            </a:r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452813" y="957263"/>
            <a:ext cx="2606675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( numbers 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length = numbers.length</a:t>
            </a: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3444875" y="2149475"/>
            <a:ext cx="130333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 = 0</a:t>
            </a:r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0025" y="3205163"/>
            <a:ext cx="2263775" cy="698500"/>
            <a:chOff x="679" y="2019"/>
            <a:chExt cx="1426" cy="440"/>
          </a:xfrm>
        </p:grpSpPr>
        <p:sp>
          <p:nvSpPr>
            <p:cNvPr id="30737" name="Text Box 62"/>
            <p:cNvSpPr txBox="1">
              <a:spLocks noChangeArrowheads="1"/>
            </p:cNvSpPr>
            <p:nvPr/>
          </p:nvSpPr>
          <p:spPr bwMode="auto">
            <a:xfrm>
              <a:off x="1284" y="2019"/>
              <a:ext cx="82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&gt;= length</a:t>
              </a:r>
            </a:p>
          </p:txBody>
        </p:sp>
        <p:sp>
          <p:nvSpPr>
            <p:cNvPr id="30738" name="Text Box 63"/>
            <p:cNvSpPr txBox="1">
              <a:spLocks noChangeArrowheads="1"/>
            </p:cNvSpPr>
            <p:nvPr/>
          </p:nvSpPr>
          <p:spPr bwMode="auto">
            <a:xfrm>
              <a:off x="679" y="2324"/>
              <a:ext cx="82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1851025" y="4457700"/>
            <a:ext cx="21478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sum += numbers [ i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i++</a:t>
            </a:r>
          </a:p>
        </p:txBody>
      </p:sp>
      <p:sp>
        <p:nvSpPr>
          <p:cNvPr id="202817" name="Text Box 65"/>
          <p:cNvSpPr txBox="1">
            <a:spLocks noChangeArrowheads="1"/>
          </p:cNvSpPr>
          <p:nvPr/>
        </p:nvSpPr>
        <p:spPr bwMode="auto">
          <a:xfrm>
            <a:off x="4278313" y="3844925"/>
            <a:ext cx="28797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med = numbers [ length / 2 ]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mean = sum / (double) length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varsum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 = 0</a:t>
            </a:r>
          </a:p>
        </p:txBody>
      </p: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3578225" y="5181600"/>
            <a:ext cx="2214563" cy="611188"/>
            <a:chOff x="1207" y="3264"/>
            <a:chExt cx="1395" cy="385"/>
          </a:xfrm>
        </p:grpSpPr>
        <p:sp>
          <p:nvSpPr>
            <p:cNvPr id="30735" name="Text Box 66"/>
            <p:cNvSpPr txBox="1">
              <a:spLocks noChangeArrowheads="1"/>
            </p:cNvSpPr>
            <p:nvPr/>
          </p:nvSpPr>
          <p:spPr bwMode="auto">
            <a:xfrm>
              <a:off x="1781" y="3264"/>
              <a:ext cx="82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&gt;= length</a:t>
              </a:r>
            </a:p>
          </p:txBody>
        </p:sp>
        <p:sp>
          <p:nvSpPr>
            <p:cNvPr id="30736" name="Text Box 67"/>
            <p:cNvSpPr txBox="1">
              <a:spLocks noChangeArrowheads="1"/>
            </p:cNvSpPr>
            <p:nvPr/>
          </p:nvSpPr>
          <p:spPr bwMode="auto">
            <a:xfrm>
              <a:off x="1207" y="3514"/>
              <a:ext cx="82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&lt; length</a:t>
              </a:r>
            </a:p>
          </p:txBody>
        </p:sp>
      </p:grpSp>
      <p:sp>
        <p:nvSpPr>
          <p:cNvPr id="202820" name="Text Box 68"/>
          <p:cNvSpPr txBox="1">
            <a:spLocks noChangeArrowheads="1"/>
          </p:cNvSpPr>
          <p:nvPr/>
        </p:nvSpPr>
        <p:spPr bwMode="auto">
          <a:xfrm>
            <a:off x="1841500" y="6181725"/>
            <a:ext cx="14192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varsum = …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i++</a:t>
            </a:r>
          </a:p>
        </p:txBody>
      </p:sp>
      <p:sp>
        <p:nvSpPr>
          <p:cNvPr id="202821" name="Text Box 69"/>
          <p:cNvSpPr txBox="1">
            <a:spLocks noChangeArrowheads="1"/>
          </p:cNvSpPr>
          <p:nvPr/>
        </p:nvSpPr>
        <p:spPr bwMode="auto">
          <a:xfrm>
            <a:off x="4921250" y="5634038"/>
            <a:ext cx="30051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600" b="0">
                <a:solidFill>
                  <a:schemeClr val="tx2"/>
                </a:solidFill>
              </a:rPr>
              <a:t>var = varsum / ( length - 1.0 )</a:t>
            </a:r>
          </a:p>
          <a:p>
            <a:r>
              <a:rPr lang="en-US" sz="1600" b="0">
                <a:solidFill>
                  <a:schemeClr val="tx2"/>
                </a:solidFill>
              </a:rPr>
              <a:t>sd  = Math.sqrt ( var )</a:t>
            </a:r>
          </a:p>
          <a:p>
            <a:r>
              <a:rPr lang="en-US" sz="1600" b="0">
                <a:solidFill>
                  <a:schemeClr val="tx2"/>
                </a:solidFill>
              </a:rPr>
              <a:t>print (length, mean, med, var, sd)</a:t>
            </a:r>
          </a:p>
        </p:txBody>
      </p:sp>
    </p:spTree>
    <p:extLst>
      <p:ext uri="{BB962C8B-B14F-4D97-AF65-F5344CB8AC3E}">
        <p14:creationId xmlns:p14="http://schemas.microsoft.com/office/powerpoint/2010/main" val="351624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87" grpId="0"/>
      <p:bldP spid="202811" grpId="0"/>
      <p:bldP spid="202816" grpId="0"/>
      <p:bldP spid="202817" grpId="0"/>
      <p:bldP spid="202820" grpId="0"/>
      <p:bldP spid="2028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9" name="Group 2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</p:grpSpPr>
        <p:grpSp>
          <p:nvGrpSpPr>
            <p:cNvPr id="31763" name="Group 3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1795" name="Oval 4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6" name="Text Box 5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1764" name="Group 6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1793" name="Oval 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4" name="Text Box 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1765" name="Line 9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66" name="Group 10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1791" name="Oval 1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2" name="Text Box 1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1767" name="Group 13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1789" name="Oval 1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0" name="Text Box 1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1768" name="Group 16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1787" name="Oval 1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8" name="Text Box 18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1769" name="Group 19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1785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2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1770" name="Group 22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1783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2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1771" name="Group 25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1781" name="Oval 2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27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1772" name="AutoShape 28"/>
            <p:cNvCxnSpPr>
              <a:cxnSpLocks noChangeShapeType="1"/>
              <a:stCxn id="31793" idx="4"/>
              <a:endCxn id="31791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AutoShape 29"/>
            <p:cNvCxnSpPr>
              <a:cxnSpLocks noChangeShapeType="1"/>
              <a:stCxn id="31791" idx="4"/>
              <a:endCxn id="31787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4" name="AutoShape 30"/>
            <p:cNvCxnSpPr>
              <a:cxnSpLocks noChangeShapeType="1"/>
              <a:stCxn id="31787" idx="3"/>
              <a:endCxn id="31789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5" name="AutoShape 31"/>
            <p:cNvCxnSpPr>
              <a:cxnSpLocks noChangeShapeType="1"/>
              <a:stCxn id="31787" idx="6"/>
              <a:endCxn id="31785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6" name="AutoShape 32"/>
            <p:cNvCxnSpPr>
              <a:cxnSpLocks noChangeShapeType="1"/>
              <a:stCxn id="31789" idx="3"/>
              <a:endCxn id="31787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7" name="AutoShape 33"/>
            <p:cNvCxnSpPr>
              <a:cxnSpLocks noChangeShapeType="1"/>
              <a:stCxn id="31785" idx="4"/>
              <a:endCxn id="31783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8" name="AutoShape 34"/>
            <p:cNvCxnSpPr>
              <a:cxnSpLocks noChangeShapeType="1"/>
              <a:stCxn id="31783" idx="6"/>
              <a:endCxn id="31795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9" name="AutoShape 35"/>
            <p:cNvCxnSpPr>
              <a:cxnSpLocks noChangeShapeType="1"/>
              <a:stCxn id="31783" idx="3"/>
              <a:endCxn id="31781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0" name="AutoShape 36"/>
            <p:cNvCxnSpPr>
              <a:cxnSpLocks noChangeShapeType="1"/>
              <a:stCxn id="31781" idx="3"/>
              <a:endCxn id="31783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750" name="Rectangle 37"/>
          <p:cNvSpPr>
            <a:spLocks noGrp="1" noChangeArrowheads="1"/>
          </p:cNvSpPr>
          <p:nvPr>
            <p:ph type="title"/>
          </p:nvPr>
        </p:nvSpPr>
        <p:spPr>
          <a:xfrm>
            <a:off x="558800" y="-69850"/>
            <a:ext cx="8229600" cy="847725"/>
          </a:xfrm>
        </p:spPr>
        <p:txBody>
          <a:bodyPr/>
          <a:lstStyle/>
          <a:p>
            <a:r>
              <a:rPr lang="en-US" dirty="0"/>
              <a:t>CFG for Stats – With </a:t>
            </a:r>
            <a:r>
              <a:rPr lang="en-US" dirty="0" err="1"/>
              <a:t>Defs</a:t>
            </a:r>
            <a:r>
              <a:rPr lang="en-US" dirty="0"/>
              <a:t> &amp; Uses</a:t>
            </a:r>
          </a:p>
        </p:txBody>
      </p:sp>
      <p:sp>
        <p:nvSpPr>
          <p:cNvPr id="205862" name="Text Box 38"/>
          <p:cNvSpPr txBox="1">
            <a:spLocks noChangeArrowheads="1"/>
          </p:cNvSpPr>
          <p:nvPr/>
        </p:nvSpPr>
        <p:spPr bwMode="auto">
          <a:xfrm>
            <a:off x="3406775" y="1243013"/>
            <a:ext cx="32686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(1) = { numbers, sum, length }</a:t>
            </a:r>
          </a:p>
        </p:txBody>
      </p:sp>
      <p:sp>
        <p:nvSpPr>
          <p:cNvPr id="205863" name="Text Box 39"/>
          <p:cNvSpPr txBox="1">
            <a:spLocks noChangeArrowheads="1"/>
          </p:cNvSpPr>
          <p:nvPr/>
        </p:nvSpPr>
        <p:spPr bwMode="auto">
          <a:xfrm>
            <a:off x="3444875" y="2182813"/>
            <a:ext cx="1303338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(2) = { i }</a:t>
            </a:r>
          </a:p>
        </p:txBody>
      </p:sp>
      <p:sp>
        <p:nvSpPr>
          <p:cNvPr id="205868" name="Text Box 44"/>
          <p:cNvSpPr txBox="1">
            <a:spLocks noChangeArrowheads="1"/>
          </p:cNvSpPr>
          <p:nvPr/>
        </p:nvSpPr>
        <p:spPr bwMode="auto">
          <a:xfrm>
            <a:off x="4278313" y="3959225"/>
            <a:ext cx="3244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(5) = { med, mean,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use (5) = { numbers, length, sum }</a:t>
            </a:r>
          </a:p>
        </p:txBody>
      </p:sp>
      <p:sp>
        <p:nvSpPr>
          <p:cNvPr id="205873" name="Text Box 49"/>
          <p:cNvSpPr txBox="1">
            <a:spLocks noChangeArrowheads="1"/>
          </p:cNvSpPr>
          <p:nvPr/>
        </p:nvSpPr>
        <p:spPr bwMode="auto">
          <a:xfrm>
            <a:off x="4921250" y="5634038"/>
            <a:ext cx="42227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600" b="0">
                <a:solidFill>
                  <a:schemeClr val="tx2"/>
                </a:solidFill>
              </a:rPr>
              <a:t>def (8) = { var, sd }</a:t>
            </a:r>
          </a:p>
          <a:p>
            <a:r>
              <a:rPr lang="en-US" sz="1600" b="0">
                <a:solidFill>
                  <a:schemeClr val="tx2"/>
                </a:solidFill>
              </a:rPr>
              <a:t>use (8) = { varsum, length, mean,</a:t>
            </a:r>
          </a:p>
          <a:p>
            <a:r>
              <a:rPr lang="en-US" sz="1600" b="0">
                <a:solidFill>
                  <a:schemeClr val="tx2"/>
                </a:solidFill>
              </a:rPr>
              <a:t>                   med, var, sd }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1647825" y="3205163"/>
            <a:ext cx="4327525" cy="573087"/>
            <a:chOff x="1038" y="2019"/>
            <a:chExt cx="2726" cy="361"/>
          </a:xfrm>
        </p:grpSpPr>
        <p:sp>
          <p:nvSpPr>
            <p:cNvPr id="31761" name="Text Box 41"/>
            <p:cNvSpPr txBox="1">
              <a:spLocks noChangeArrowheads="1"/>
            </p:cNvSpPr>
            <p:nvPr/>
          </p:nvSpPr>
          <p:spPr bwMode="auto">
            <a:xfrm>
              <a:off x="2331" y="2019"/>
              <a:ext cx="143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(3, 5) = { i, length }</a:t>
              </a:r>
            </a:p>
          </p:txBody>
        </p:sp>
        <p:sp>
          <p:nvSpPr>
            <p:cNvPr id="31762" name="Text Box 50"/>
            <p:cNvSpPr txBox="1">
              <a:spLocks noChangeArrowheads="1"/>
            </p:cNvSpPr>
            <p:nvPr/>
          </p:nvSpPr>
          <p:spPr bwMode="auto">
            <a:xfrm>
              <a:off x="1038" y="2245"/>
              <a:ext cx="143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(3, 4) = { i, length }</a:t>
              </a:r>
            </a:p>
          </p:txBody>
        </p:sp>
      </p:grpSp>
      <p:sp>
        <p:nvSpPr>
          <p:cNvPr id="205867" name="Text Box 43"/>
          <p:cNvSpPr txBox="1">
            <a:spLocks noChangeArrowheads="1"/>
          </p:cNvSpPr>
          <p:nvPr/>
        </p:nvSpPr>
        <p:spPr bwMode="auto">
          <a:xfrm>
            <a:off x="1222375" y="4457700"/>
            <a:ext cx="27543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(4) = { 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use (4) = { sum, numbers, i }</a:t>
            </a:r>
          </a:p>
        </p:txBody>
      </p: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2451100" y="5140325"/>
            <a:ext cx="4327525" cy="573088"/>
            <a:chOff x="1544" y="3238"/>
            <a:chExt cx="2726" cy="361"/>
          </a:xfrm>
        </p:grpSpPr>
        <p:sp>
          <p:nvSpPr>
            <p:cNvPr id="31759" name="Text Box 51"/>
            <p:cNvSpPr txBox="1">
              <a:spLocks noChangeArrowheads="1"/>
            </p:cNvSpPr>
            <p:nvPr/>
          </p:nvSpPr>
          <p:spPr bwMode="auto">
            <a:xfrm>
              <a:off x="2837" y="3238"/>
              <a:ext cx="143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(6, 8) = { i, length }</a:t>
              </a:r>
            </a:p>
          </p:txBody>
        </p:sp>
        <p:sp>
          <p:nvSpPr>
            <p:cNvPr id="31760" name="Text Box 52"/>
            <p:cNvSpPr txBox="1">
              <a:spLocks noChangeArrowheads="1"/>
            </p:cNvSpPr>
            <p:nvPr/>
          </p:nvSpPr>
          <p:spPr bwMode="auto">
            <a:xfrm>
              <a:off x="1544" y="3464"/>
              <a:ext cx="143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(6, 7) = { i, length }</a:t>
              </a:r>
            </a:p>
          </p:txBody>
        </p:sp>
      </p:grpSp>
      <p:sp>
        <p:nvSpPr>
          <p:cNvPr id="205872" name="Text Box 48"/>
          <p:cNvSpPr txBox="1">
            <a:spLocks noChangeArrowheads="1"/>
          </p:cNvSpPr>
          <p:nvPr/>
        </p:nvSpPr>
        <p:spPr bwMode="auto">
          <a:xfrm>
            <a:off x="149225" y="6078538"/>
            <a:ext cx="35464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def (7) = {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use (7) = { varsum, numbers, i, mean }</a:t>
            </a:r>
          </a:p>
        </p:txBody>
      </p:sp>
    </p:spTree>
    <p:extLst>
      <p:ext uri="{BB962C8B-B14F-4D97-AF65-F5344CB8AC3E}">
        <p14:creationId xmlns:p14="http://schemas.microsoft.com/office/powerpoint/2010/main" val="337591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2" grpId="0"/>
      <p:bldP spid="205863" grpId="0"/>
      <p:bldP spid="205868" grpId="0"/>
      <p:bldP spid="205873" grpId="0"/>
      <p:bldP spid="205867" grpId="0"/>
      <p:bldP spid="2058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277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dirty="0">
                <a:solidFill>
                  <a:schemeClr val="tx1"/>
                </a:solidFill>
              </a:rPr>
              <a:t>© </a:t>
            </a:r>
            <a:r>
              <a:rPr lang="en-US" sz="900" b="0" dirty="0" err="1">
                <a:solidFill>
                  <a:schemeClr val="tx1"/>
                </a:solidFill>
              </a:rPr>
              <a:t>Ammann</a:t>
            </a:r>
            <a:r>
              <a:rPr lang="en-US" sz="900" b="0" dirty="0">
                <a:solidFill>
                  <a:schemeClr val="tx1"/>
                </a:solidFill>
              </a:rPr>
              <a:t> &amp; Offutt</a:t>
            </a:r>
          </a:p>
        </p:txBody>
      </p:sp>
      <p:sp>
        <p:nvSpPr>
          <p:cNvPr id="327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CBF5694-E750-46E9-AB59-BD12A5CF2E69}" type="slidenum">
              <a:rPr lang="en-US" sz="900" b="0" smtClean="0">
                <a:solidFill>
                  <a:schemeClr val="tx1"/>
                </a:solidFill>
              </a:rPr>
              <a:pPr/>
              <a:t>17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Defs</a:t>
            </a:r>
            <a:r>
              <a:rPr lang="en-US" dirty="0"/>
              <a:t> and Uses Tables for Stats </a:t>
            </a:r>
          </a:p>
        </p:txBody>
      </p:sp>
      <p:graphicFrame>
        <p:nvGraphicFramePr>
          <p:cNvPr id="209003" name="Group 10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4043581"/>
              </p:ext>
            </p:extLst>
          </p:nvPr>
        </p:nvGraphicFramePr>
        <p:xfrm>
          <a:off x="1295400" y="1219200"/>
          <a:ext cx="5748337" cy="4551364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Def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numbers, sum,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{ numbers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length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sum, i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numbers,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med, mean,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varsum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numbers, length,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varsum, i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varsum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numbers,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mean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var, sd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varsum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length,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mean, med,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sd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71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 Pairs for Stats </a:t>
            </a:r>
          </a:p>
        </p:txBody>
      </p:sp>
      <p:graphicFrame>
        <p:nvGraphicFramePr>
          <p:cNvPr id="204890" name="Group 9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098160"/>
              </p:ext>
            </p:extLst>
          </p:nvPr>
        </p:nvGraphicFramePr>
        <p:xfrm>
          <a:off x="1279525" y="1143000"/>
          <a:ext cx="6423025" cy="4886328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3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variable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DU Pairs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numbers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4) (1, 5) (1, 7)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length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5) (1, 8) (1, (3,4)) (1, (3,5)) (1, (6,7)) (1, (6,8))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med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(5, 8)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(8, 8)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sd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(8, 8)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 (5, 8)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4) (1, 5) (4, 4) (4, 5)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varsum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 (5, 8) (7, 7) (7, 8)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323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(2, 4) (2, (3,4)) (2, (3,5)) (2, 7) (2, (6,7)) (2,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4) (4, (3,4)) (4, (3,5)) (4, 7) (4, (6,7)) (4,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 (5, (6,7)) 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7) (7, (6,7)) (7, (6,8))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10354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481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482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BF26E40-DE59-4CD1-97A6-2D47B54B5C64}" type="slidenum">
              <a:rPr lang="en-US" sz="900" b="0" smtClean="0">
                <a:solidFill>
                  <a:schemeClr val="tx1"/>
                </a:solidFill>
              </a:rPr>
              <a:pPr/>
              <a:t>19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722312"/>
          </a:xfrm>
        </p:spPr>
        <p:txBody>
          <a:bodyPr>
            <a:normAutofit fontScale="90000"/>
          </a:bodyPr>
          <a:lstStyle/>
          <a:p>
            <a:r>
              <a:rPr lang="en-US" dirty="0"/>
              <a:t>DU Paths for Stats</a:t>
            </a:r>
          </a:p>
        </p:txBody>
      </p:sp>
      <p:graphicFrame>
        <p:nvGraphicFramePr>
          <p:cNvPr id="220338" name="Group 17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14861339"/>
              </p:ext>
            </p:extLst>
          </p:nvPr>
        </p:nvGraphicFramePr>
        <p:xfrm>
          <a:off x="138113" y="763588"/>
          <a:ext cx="4357687" cy="5511801"/>
        </p:xfrm>
        <a:graphic>
          <a:graphicData uri="http://schemas.openxmlformats.org/drawingml/2006/table">
            <a:tbl>
              <a:tblPr/>
              <a:tblGrid>
                <a:gridCol w="118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DU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5, 6, 7 ]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5, 6, 8 ]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med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 path needed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 path needed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[ 4, 3, 5 ]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0329" name="Group 16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1160263"/>
              </p:ext>
            </p:extLst>
          </p:nvPr>
        </p:nvGraphicFramePr>
        <p:xfrm>
          <a:off x="4625975" y="763588"/>
          <a:ext cx="4357688" cy="5527675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8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variable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DU Pairs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</a:rPr>
                        <a:t>DU Paths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(5, 8)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8 ]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varsum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(7, 8)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[ 7, 6, 8 ]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(2, 4)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(2,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(2,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(7, (6,8))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[ 4,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[ 7, 6, 8 ]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916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 Paths for Stats – No Duplicates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58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There are 38 DU paths for Stats, but only 12 unique</a:t>
            </a:r>
          </a:p>
        </p:txBody>
      </p:sp>
      <p:grpSp>
        <p:nvGrpSpPr>
          <p:cNvPr id="35847" name="Group 26"/>
          <p:cNvGrpSpPr>
            <a:grpSpLocks/>
          </p:cNvGrpSpPr>
          <p:nvPr/>
        </p:nvGrpSpPr>
        <p:grpSpPr bwMode="auto">
          <a:xfrm>
            <a:off x="2549525" y="1789113"/>
            <a:ext cx="3181350" cy="1933575"/>
            <a:chOff x="1550" y="1127"/>
            <a:chExt cx="2004" cy="1218"/>
          </a:xfrm>
        </p:grpSpPr>
        <p:sp>
          <p:nvSpPr>
            <p:cNvPr id="35876" name="Text Box 5"/>
            <p:cNvSpPr txBox="1">
              <a:spLocks noChangeArrowheads="1"/>
            </p:cNvSpPr>
            <p:nvPr/>
          </p:nvSpPr>
          <p:spPr bwMode="auto">
            <a:xfrm>
              <a:off x="1550" y="1127"/>
              <a:ext cx="1275" cy="121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/>
                <a:t>[ 1, 2, 3, 4 ]</a:t>
              </a:r>
            </a:p>
            <a:p>
              <a:r>
                <a:rPr lang="en-US"/>
                <a:t>[ 1, 2, 3, 5 ]</a:t>
              </a:r>
            </a:p>
            <a:p>
              <a:r>
                <a:rPr lang="en-US"/>
                <a:t>[ 1, 2, 3, 5, 6, 7 ]</a:t>
              </a:r>
            </a:p>
            <a:p>
              <a:r>
                <a:rPr lang="en-US"/>
                <a:t>[ 1, 2, 3, 5, 6, 8 ]</a:t>
              </a:r>
            </a:p>
            <a:p>
              <a:r>
                <a:rPr lang="en-US"/>
                <a:t>[ 2, 3, 4 ]</a:t>
              </a:r>
            </a:p>
            <a:p>
              <a:r>
                <a:rPr lang="en-US"/>
                <a:t>[ 2, 3, 5 ]</a:t>
              </a:r>
            </a:p>
          </p:txBody>
        </p:sp>
        <p:sp>
          <p:nvSpPr>
            <p:cNvPr id="35877" name="Text Box 6"/>
            <p:cNvSpPr txBox="1">
              <a:spLocks noChangeArrowheads="1"/>
            </p:cNvSpPr>
            <p:nvPr/>
          </p:nvSpPr>
          <p:spPr bwMode="auto">
            <a:xfrm>
              <a:off x="2827" y="1127"/>
              <a:ext cx="727" cy="121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/>
                <a:t>[ 4, 3, 4 ]</a:t>
              </a:r>
            </a:p>
            <a:p>
              <a:r>
                <a:rPr lang="en-US"/>
                <a:t>[ 4, 3, 5 ]</a:t>
              </a:r>
            </a:p>
            <a:p>
              <a:r>
                <a:rPr lang="en-US"/>
                <a:t>[ 5, 6, 7 ]</a:t>
              </a:r>
            </a:p>
            <a:p>
              <a:r>
                <a:rPr lang="en-US"/>
                <a:t>[ 5, 6, 8 ]</a:t>
              </a:r>
            </a:p>
            <a:p>
              <a:r>
                <a:rPr lang="en-US"/>
                <a:t>[ 7, 6, 7 ]</a:t>
              </a:r>
            </a:p>
            <a:p>
              <a:r>
                <a:rPr lang="en-US"/>
                <a:t>[ 7, 6, 8 ]</a:t>
              </a: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2330450" y="2209800"/>
            <a:ext cx="4248150" cy="2206625"/>
            <a:chOff x="1468" y="1392"/>
            <a:chExt cx="2676" cy="1390"/>
          </a:xfrm>
        </p:grpSpPr>
        <p:grpSp>
          <p:nvGrpSpPr>
            <p:cNvPr id="35868" name="Group 46"/>
            <p:cNvGrpSpPr>
              <a:grpSpLocks/>
            </p:cNvGrpSpPr>
            <p:nvPr/>
          </p:nvGrpSpPr>
          <p:grpSpPr bwMode="auto">
            <a:xfrm>
              <a:off x="1468" y="2530"/>
              <a:ext cx="2676" cy="252"/>
              <a:chOff x="1468" y="2530"/>
              <a:chExt cx="2676" cy="252"/>
            </a:xfrm>
          </p:grpSpPr>
          <p:sp>
            <p:nvSpPr>
              <p:cNvPr id="35874" name="Text Box 17"/>
              <p:cNvSpPr txBox="1">
                <a:spLocks noChangeArrowheads="1"/>
              </p:cNvSpPr>
              <p:nvPr/>
            </p:nvSpPr>
            <p:spPr bwMode="auto">
              <a:xfrm>
                <a:off x="1616" y="2530"/>
                <a:ext cx="2528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4 expect a loop not to be “entered”</a:t>
                </a:r>
              </a:p>
            </p:txBody>
          </p:sp>
          <p:sp>
            <p:nvSpPr>
              <p:cNvPr id="227346" name="AutoShape 18"/>
              <p:cNvSpPr>
                <a:spLocks noChangeArrowheads="1"/>
              </p:cNvSpPr>
              <p:nvPr/>
            </p:nvSpPr>
            <p:spPr bwMode="auto">
              <a:xfrm>
                <a:off x="1468" y="2596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5869" name="Group 33"/>
            <p:cNvGrpSpPr>
              <a:grpSpLocks/>
            </p:cNvGrpSpPr>
            <p:nvPr/>
          </p:nvGrpSpPr>
          <p:grpSpPr bwMode="auto">
            <a:xfrm>
              <a:off x="1538" y="1392"/>
              <a:ext cx="2142" cy="916"/>
              <a:chOff x="1538" y="1392"/>
              <a:chExt cx="2142" cy="916"/>
            </a:xfrm>
          </p:grpSpPr>
          <p:sp>
            <p:nvSpPr>
              <p:cNvPr id="227348" name="AutoShape 20"/>
              <p:cNvSpPr>
                <a:spLocks noChangeArrowheads="1"/>
              </p:cNvSpPr>
              <p:nvPr/>
            </p:nvSpPr>
            <p:spPr bwMode="auto">
              <a:xfrm>
                <a:off x="1538" y="2171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7349" name="AutoShape 21"/>
              <p:cNvSpPr>
                <a:spLocks noChangeArrowheads="1"/>
              </p:cNvSpPr>
              <p:nvPr/>
            </p:nvSpPr>
            <p:spPr bwMode="auto">
              <a:xfrm>
                <a:off x="1538" y="1777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7351" name="AutoShape 23"/>
              <p:cNvSpPr>
                <a:spLocks noChangeArrowheads="1"/>
              </p:cNvSpPr>
              <p:nvPr/>
            </p:nvSpPr>
            <p:spPr bwMode="auto">
              <a:xfrm>
                <a:off x="3550" y="1788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7352" name="AutoShape 24"/>
              <p:cNvSpPr>
                <a:spLocks noChangeArrowheads="1"/>
              </p:cNvSpPr>
              <p:nvPr/>
            </p:nvSpPr>
            <p:spPr bwMode="auto">
              <a:xfrm>
                <a:off x="1538" y="1392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1941513" y="1897063"/>
            <a:ext cx="5008562" cy="3984625"/>
            <a:chOff x="1223" y="1195"/>
            <a:chExt cx="3155" cy="2510"/>
          </a:xfrm>
        </p:grpSpPr>
        <p:grpSp>
          <p:nvGrpSpPr>
            <p:cNvPr id="35862" name="Group 34"/>
            <p:cNvGrpSpPr>
              <a:grpSpLocks/>
            </p:cNvGrpSpPr>
            <p:nvPr/>
          </p:nvGrpSpPr>
          <p:grpSpPr bwMode="auto">
            <a:xfrm>
              <a:off x="3539" y="1195"/>
              <a:ext cx="144" cy="910"/>
              <a:chOff x="3539" y="1195"/>
              <a:chExt cx="144" cy="910"/>
            </a:xfrm>
          </p:grpSpPr>
          <p:sp>
            <p:nvSpPr>
              <p:cNvPr id="35866" name="AutoShape 28"/>
              <p:cNvSpPr>
                <a:spLocks noChangeArrowheads="1"/>
              </p:cNvSpPr>
              <p:nvPr/>
            </p:nvSpPr>
            <p:spPr bwMode="auto">
              <a:xfrm>
                <a:off x="3540" y="119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67" name="AutoShape 30"/>
              <p:cNvSpPr>
                <a:spLocks noChangeArrowheads="1"/>
              </p:cNvSpPr>
              <p:nvPr/>
            </p:nvSpPr>
            <p:spPr bwMode="auto">
              <a:xfrm>
                <a:off x="3539" y="1961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3" name="Group 44"/>
            <p:cNvGrpSpPr>
              <a:grpSpLocks/>
            </p:cNvGrpSpPr>
            <p:nvPr/>
          </p:nvGrpSpPr>
          <p:grpSpPr bwMode="auto">
            <a:xfrm>
              <a:off x="1223" y="3453"/>
              <a:ext cx="3155" cy="252"/>
              <a:chOff x="1223" y="3453"/>
              <a:chExt cx="3155" cy="252"/>
            </a:xfrm>
          </p:grpSpPr>
          <p:sp>
            <p:nvSpPr>
              <p:cNvPr id="35864" name="Text Box 31"/>
              <p:cNvSpPr txBox="1">
                <a:spLocks noChangeArrowheads="1"/>
              </p:cNvSpPr>
              <p:nvPr/>
            </p:nvSpPr>
            <p:spPr bwMode="auto">
              <a:xfrm>
                <a:off x="1382" y="3453"/>
                <a:ext cx="2996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>
                    <a:solidFill>
                      <a:schemeClr val="accent1"/>
                    </a:solidFill>
                  </a:rPr>
                  <a:t>2 require at least </a:t>
                </a:r>
                <a:r>
                  <a:rPr lang="en-US" u="sng">
                    <a:solidFill>
                      <a:schemeClr val="accent1"/>
                    </a:solidFill>
                  </a:rPr>
                  <a:t>two</a:t>
                </a:r>
                <a:r>
                  <a:rPr lang="en-US">
                    <a:solidFill>
                      <a:schemeClr val="accent1"/>
                    </a:solidFill>
                  </a:rPr>
                  <a:t> iterations of a loop</a:t>
                </a:r>
              </a:p>
            </p:txBody>
          </p:sp>
          <p:sp>
            <p:nvSpPr>
              <p:cNvPr id="35865" name="AutoShape 43"/>
              <p:cNvSpPr>
                <a:spLocks noChangeArrowheads="1"/>
              </p:cNvSpPr>
              <p:nvPr/>
            </p:nvSpPr>
            <p:spPr bwMode="auto">
              <a:xfrm>
                <a:off x="1223" y="351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1955800" y="1873250"/>
            <a:ext cx="4994275" cy="3275013"/>
            <a:chOff x="1955800" y="1873250"/>
            <a:chExt cx="4994275" cy="3275013"/>
          </a:xfrm>
        </p:grpSpPr>
        <p:grpSp>
          <p:nvGrpSpPr>
            <p:cNvPr id="35851" name="Group 48"/>
            <p:cNvGrpSpPr>
              <a:grpSpLocks/>
            </p:cNvGrpSpPr>
            <p:nvPr/>
          </p:nvGrpSpPr>
          <p:grpSpPr bwMode="auto">
            <a:xfrm>
              <a:off x="1955800" y="1873250"/>
              <a:ext cx="4994275" cy="3275013"/>
              <a:chOff x="1232" y="1180"/>
              <a:chExt cx="3146" cy="2063"/>
            </a:xfrm>
          </p:grpSpPr>
          <p:grpSp>
            <p:nvGrpSpPr>
              <p:cNvPr id="35853" name="Group 32"/>
              <p:cNvGrpSpPr>
                <a:grpSpLocks/>
              </p:cNvGrpSpPr>
              <p:nvPr/>
            </p:nvGrpSpPr>
            <p:grpSpPr bwMode="auto">
              <a:xfrm>
                <a:off x="1510" y="1180"/>
                <a:ext cx="2204" cy="1129"/>
                <a:chOff x="1510" y="1180"/>
                <a:chExt cx="2204" cy="1129"/>
              </a:xfrm>
            </p:grpSpPr>
            <p:sp>
              <p:nvSpPr>
                <p:cNvPr id="35857" name="AutoShape 10"/>
                <p:cNvSpPr>
                  <a:spLocks noChangeArrowheads="1"/>
                </p:cNvSpPr>
                <p:nvPr/>
              </p:nvSpPr>
              <p:spPr bwMode="auto">
                <a:xfrm>
                  <a:off x="3570" y="138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858" name="AutoShape 11"/>
                <p:cNvSpPr>
                  <a:spLocks noChangeArrowheads="1"/>
                </p:cNvSpPr>
                <p:nvPr/>
              </p:nvSpPr>
              <p:spPr bwMode="auto">
                <a:xfrm>
                  <a:off x="3570" y="1601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859" name="AutoShape 12"/>
                <p:cNvSpPr>
                  <a:spLocks noChangeArrowheads="1"/>
                </p:cNvSpPr>
                <p:nvPr/>
              </p:nvSpPr>
              <p:spPr bwMode="auto">
                <a:xfrm>
                  <a:off x="1510" y="1962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860" name="AutoShape 13"/>
                <p:cNvSpPr>
                  <a:spLocks noChangeArrowheads="1"/>
                </p:cNvSpPr>
                <p:nvPr/>
              </p:nvSpPr>
              <p:spPr bwMode="auto">
                <a:xfrm>
                  <a:off x="1510" y="1180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861" name="AutoShape 29"/>
                <p:cNvSpPr>
                  <a:spLocks noChangeArrowheads="1"/>
                </p:cNvSpPr>
                <p:nvPr/>
              </p:nvSpPr>
              <p:spPr bwMode="auto">
                <a:xfrm>
                  <a:off x="3569" y="2165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5854" name="Group 45"/>
              <p:cNvGrpSpPr>
                <a:grpSpLocks/>
              </p:cNvGrpSpPr>
              <p:nvPr/>
            </p:nvGrpSpPr>
            <p:grpSpPr bwMode="auto">
              <a:xfrm>
                <a:off x="1232" y="2991"/>
                <a:ext cx="3146" cy="252"/>
                <a:chOff x="1232" y="2991"/>
                <a:chExt cx="3146" cy="252"/>
              </a:xfrm>
            </p:grpSpPr>
            <p:sp>
              <p:nvSpPr>
                <p:cNvPr id="3585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382" y="2991"/>
                  <a:ext cx="2996" cy="25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>
                      <a:solidFill>
                        <a:schemeClr val="hlink"/>
                      </a:solidFill>
                    </a:rPr>
                    <a:t>6 require at least one iteration of a loop</a:t>
                  </a:r>
                </a:p>
              </p:txBody>
            </p:sp>
            <p:sp>
              <p:nvSpPr>
                <p:cNvPr id="35856" name="AutoShape 38"/>
                <p:cNvSpPr>
                  <a:spLocks noChangeArrowheads="1"/>
                </p:cNvSpPr>
                <p:nvPr/>
              </p:nvSpPr>
              <p:spPr bwMode="auto">
                <a:xfrm>
                  <a:off x="1232" y="305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5852" name="AutoShape 12"/>
            <p:cNvSpPr>
              <a:spLocks noChangeArrowheads="1"/>
            </p:cNvSpPr>
            <p:nvPr/>
          </p:nvSpPr>
          <p:spPr bwMode="auto">
            <a:xfrm>
              <a:off x="2405145" y="2497055"/>
              <a:ext cx="228600" cy="228600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368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FD6DBFE-E7C1-4488-85DB-7317EB4616DC}" type="slidenum">
              <a:rPr lang="en-US" sz="900" b="0" smtClean="0">
                <a:solidFill>
                  <a:schemeClr val="tx1"/>
                </a:solidFill>
              </a:rPr>
              <a:pPr/>
              <a:t>21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38" y="27709"/>
            <a:ext cx="8229600" cy="734291"/>
          </a:xfrm>
        </p:spPr>
        <p:txBody>
          <a:bodyPr>
            <a:normAutofit fontScale="90000"/>
          </a:bodyPr>
          <a:lstStyle/>
          <a:p>
            <a:r>
              <a:rPr lang="en-US" dirty="0"/>
              <a:t>Test Cases and Test Paths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73075" y="1003300"/>
            <a:ext cx="8196263" cy="1809750"/>
            <a:chOff x="219" y="2144"/>
            <a:chExt cx="5163" cy="1140"/>
          </a:xfrm>
        </p:grpSpPr>
        <p:sp>
          <p:nvSpPr>
            <p:cNvPr id="36878" name="Text Box 5"/>
            <p:cNvSpPr txBox="1">
              <a:spLocks noChangeArrowheads="1"/>
            </p:cNvSpPr>
            <p:nvPr/>
          </p:nvSpPr>
          <p:spPr bwMode="auto">
            <a:xfrm>
              <a:off x="219" y="2144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400">
                  <a:solidFill>
                    <a:schemeClr val="tx2"/>
                  </a:solidFill>
                </a:rPr>
                <a:t>Test Case : </a:t>
              </a:r>
              <a:r>
                <a:rPr lang="en-US" sz="2400">
                  <a:solidFill>
                    <a:schemeClr val="tx1"/>
                  </a:solidFill>
                </a:rPr>
                <a:t>numbers = (44) ; length = 1</a:t>
              </a:r>
            </a:p>
            <a:p>
              <a:r>
                <a:rPr lang="en-US" sz="2400">
                  <a:solidFill>
                    <a:schemeClr val="tx2"/>
                  </a:solidFill>
                </a:rPr>
                <a:t>Test Path</a:t>
              </a:r>
              <a:r>
                <a:rPr lang="en-US" sz="2400">
                  <a:solidFill>
                    <a:schemeClr val="tx1"/>
                  </a:solidFill>
                </a:rPr>
                <a:t> : [ 1, 2, 3, 4, 3, 5, 6, 7, 6, 8 ]</a:t>
              </a:r>
              <a:endParaRPr lang="en-US" sz="2800">
                <a:solidFill>
                  <a:schemeClr val="tx1"/>
                </a:solidFill>
              </a:endParaRPr>
            </a:p>
            <a:p>
              <a:r>
                <a:rPr lang="en-US" sz="2400" u="sng">
                  <a:solidFill>
                    <a:schemeClr val="tx2"/>
                  </a:solidFill>
                </a:rPr>
                <a:t>Additional DU Paths covered (no sidetrips)</a:t>
              </a:r>
            </a:p>
            <a:p>
              <a:r>
                <a:rPr lang="en-US">
                  <a:solidFill>
                    <a:schemeClr val="tx1"/>
                  </a:solidFill>
                </a:rPr>
                <a:t>[ 1, 2, 3, 4 ]   [ 2, 3, 4 ]   [ 4, 3, 5 ]   [ 5, 6, 7 ]   [ 7, 6, 8 ]</a:t>
              </a:r>
            </a:p>
            <a:p>
              <a:r>
                <a:rPr lang="en-US" i="1">
                  <a:solidFill>
                    <a:schemeClr val="tx1"/>
                  </a:solidFill>
                </a:rPr>
                <a:t>The five  stars       that require at least one iteration of a loop</a:t>
              </a:r>
            </a:p>
          </p:txBody>
        </p:sp>
        <p:sp>
          <p:nvSpPr>
            <p:cNvPr id="36879" name="AutoShape 6"/>
            <p:cNvSpPr>
              <a:spLocks noChangeArrowheads="1"/>
            </p:cNvSpPr>
            <p:nvPr/>
          </p:nvSpPr>
          <p:spPr bwMode="auto">
            <a:xfrm>
              <a:off x="1286" y="3103"/>
              <a:ext cx="144" cy="144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73075" y="2924175"/>
            <a:ext cx="8196263" cy="1809750"/>
            <a:chOff x="284" y="1847"/>
            <a:chExt cx="5163" cy="1140"/>
          </a:xfrm>
        </p:grpSpPr>
        <p:sp>
          <p:nvSpPr>
            <p:cNvPr id="36876" name="Text Box 9"/>
            <p:cNvSpPr txBox="1">
              <a:spLocks noChangeArrowheads="1"/>
            </p:cNvSpPr>
            <p:nvPr/>
          </p:nvSpPr>
          <p:spPr bwMode="auto">
            <a:xfrm>
              <a:off x="284" y="1847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400">
                  <a:solidFill>
                    <a:schemeClr val="tx2"/>
                  </a:solidFill>
                </a:rPr>
                <a:t>Test Case : </a:t>
              </a:r>
              <a:r>
                <a:rPr lang="en-US" sz="2400">
                  <a:solidFill>
                    <a:schemeClr val="tx1"/>
                  </a:solidFill>
                </a:rPr>
                <a:t>numbers = (2, 10, 15) ; length = 3</a:t>
              </a:r>
            </a:p>
            <a:p>
              <a:r>
                <a:rPr lang="en-US" sz="2400">
                  <a:solidFill>
                    <a:schemeClr val="tx2"/>
                  </a:solidFill>
                </a:rPr>
                <a:t>Test Path</a:t>
              </a:r>
              <a:r>
                <a:rPr lang="en-US" sz="2400">
                  <a:solidFill>
                    <a:schemeClr val="tx1"/>
                  </a:solidFill>
                </a:rPr>
                <a:t> : [ 1, 2, 3, 4, 3, 4, 3, 4, 3, 5, 6, 7, 6, 7, 6, 7, 6, 8 ]</a:t>
              </a:r>
            </a:p>
            <a:p>
              <a:r>
                <a:rPr lang="en-US" sz="2400" u="sng">
                  <a:solidFill>
                    <a:schemeClr val="tx2"/>
                  </a:solidFill>
                </a:rPr>
                <a:t>DU Paths covered (no sidetrips)</a:t>
              </a:r>
            </a:p>
            <a:p>
              <a:r>
                <a:rPr lang="en-US">
                  <a:solidFill>
                    <a:schemeClr val="tx1"/>
                  </a:solidFill>
                </a:rPr>
                <a:t>[ 4, 3, 4 ]   [ 7, 6, 7 ]</a:t>
              </a:r>
            </a:p>
            <a:p>
              <a:r>
                <a:rPr lang="en-US" i="1">
                  <a:solidFill>
                    <a:schemeClr val="tx1"/>
                  </a:solidFill>
                </a:rPr>
                <a:t>The two stars       that require at least two iterations of a loop</a:t>
              </a:r>
              <a:endParaRPr lang="en-US" sz="2400" i="1">
                <a:solidFill>
                  <a:schemeClr val="tx1"/>
                </a:solidFill>
              </a:endParaRPr>
            </a:p>
          </p:txBody>
        </p:sp>
        <p:sp>
          <p:nvSpPr>
            <p:cNvPr id="36877" name="AutoShape 10"/>
            <p:cNvSpPr>
              <a:spLocks noChangeArrowheads="1"/>
            </p:cNvSpPr>
            <p:nvPr/>
          </p:nvSpPr>
          <p:spPr bwMode="auto">
            <a:xfrm>
              <a:off x="1288" y="2809"/>
              <a:ext cx="143" cy="144"/>
            </a:xfrm>
            <a:prstGeom prst="star8">
              <a:avLst>
                <a:gd name="adj" fmla="val 38250"/>
              </a:avLst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73075" y="4845050"/>
            <a:ext cx="8196263" cy="1200150"/>
            <a:chOff x="299" y="2966"/>
            <a:chExt cx="5163" cy="756"/>
          </a:xfrm>
        </p:grpSpPr>
        <p:sp>
          <p:nvSpPr>
            <p:cNvPr id="36874" name="Text Box 13"/>
            <p:cNvSpPr txBox="1">
              <a:spLocks noChangeArrowheads="1"/>
            </p:cNvSpPr>
            <p:nvPr/>
          </p:nvSpPr>
          <p:spPr bwMode="auto">
            <a:xfrm>
              <a:off x="299" y="2966"/>
              <a:ext cx="5163" cy="75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400">
                  <a:solidFill>
                    <a:schemeClr val="tx1"/>
                  </a:solidFill>
                </a:rPr>
                <a:t>Other DU paths    require arrays with length 0 to skip loops</a:t>
              </a:r>
            </a:p>
            <a:p>
              <a:r>
                <a:rPr lang="en-US" sz="2400">
                  <a:solidFill>
                    <a:schemeClr val="tx1"/>
                  </a:solidFill>
                </a:rPr>
                <a:t>But the method fails with index out of bounds exception…</a:t>
              </a:r>
            </a:p>
            <a:p>
              <a:r>
                <a:rPr lang="en-US" sz="2400">
                  <a:solidFill>
                    <a:schemeClr val="tx1"/>
                  </a:solidFill>
                </a:rPr>
                <a:t>     </a:t>
              </a:r>
              <a:r>
                <a:rPr lang="en-US"/>
                <a:t>med = numbers [length / 2];</a:t>
              </a:r>
            </a:p>
          </p:txBody>
        </p:sp>
        <p:sp>
          <p:nvSpPr>
            <p:cNvPr id="228363" name="AutoShape 11"/>
            <p:cNvSpPr>
              <a:spLocks noChangeArrowheads="1"/>
            </p:cNvSpPr>
            <p:nvPr/>
          </p:nvSpPr>
          <p:spPr bwMode="auto">
            <a:xfrm>
              <a:off x="1699" y="3063"/>
              <a:ext cx="130" cy="137"/>
            </a:xfrm>
            <a:prstGeom prst="star5">
              <a:avLst/>
            </a:prstGeom>
            <a:solidFill>
              <a:schemeClr val="tx2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5010150" y="5492750"/>
            <a:ext cx="1931988" cy="1073150"/>
          </a:xfrm>
          <a:prstGeom prst="star16">
            <a:avLst>
              <a:gd name="adj" fmla="val 37500"/>
            </a:avLst>
          </a:prstGeom>
          <a:solidFill>
            <a:schemeClr val="hlink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 fault was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found</a:t>
            </a:r>
          </a:p>
        </p:txBody>
      </p:sp>
    </p:spTree>
    <p:extLst>
      <p:ext uri="{BB962C8B-B14F-4D97-AF65-F5344CB8AC3E}">
        <p14:creationId xmlns:p14="http://schemas.microsoft.com/office/powerpoint/2010/main" val="104551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2441</Words>
  <Application>Microsoft Macintosh PowerPoint</Application>
  <PresentationFormat>On-screen Show (4:3)</PresentationFormat>
  <Paragraphs>366</Paragraphs>
  <Slides>21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Arial</vt:lpstr>
      <vt:lpstr>Calibri</vt:lpstr>
      <vt:lpstr>Consolas</vt:lpstr>
      <vt:lpstr>Helvetica</vt:lpstr>
      <vt:lpstr>Times New Roman</vt:lpstr>
      <vt:lpstr>Wingdings</vt:lpstr>
      <vt:lpstr>Office Theme</vt:lpstr>
      <vt:lpstr>Visio</vt:lpstr>
      <vt:lpstr>CSE 464 : Software Quality Assurance and Testing</vt:lpstr>
      <vt:lpstr>Floating Point Calculations</vt:lpstr>
      <vt:lpstr>Floating point error</vt:lpstr>
      <vt:lpstr>The use of EPSILON</vt:lpstr>
      <vt:lpstr>DU-Path Testing</vt:lpstr>
      <vt:lpstr>The Test Method Pendulum</vt:lpstr>
      <vt:lpstr>Data Define-Use Path Testing </vt:lpstr>
      <vt:lpstr>D (definition)-U (use) Path Testing</vt:lpstr>
      <vt:lpstr>What is D-U Path Testing</vt:lpstr>
      <vt:lpstr>D-U path Example 1</vt:lpstr>
      <vt:lpstr>In-class activity Data-Flow Testing for IsValidMod10 Function</vt:lpstr>
      <vt:lpstr>PowerPoint Presentation</vt:lpstr>
      <vt:lpstr>Data-Flow Testing for IsValidMod10 Function Discussion</vt:lpstr>
      <vt:lpstr>Another Example Data-Flow – Stats</vt:lpstr>
      <vt:lpstr>Control Flow Graph for Stats </vt:lpstr>
      <vt:lpstr>CFG for Stats – With Defs &amp; Uses</vt:lpstr>
      <vt:lpstr>Defs and Uses Tables for Stats </vt:lpstr>
      <vt:lpstr>DU Pairs for Stats </vt:lpstr>
      <vt:lpstr>DU Paths for Stats</vt:lpstr>
      <vt:lpstr>DU Paths for Stats – No Duplicates</vt:lpstr>
      <vt:lpstr>Test Cases and Test Paths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Bhavya Patel (Student)</cp:lastModifiedBy>
  <cp:revision>163</cp:revision>
  <cp:lastPrinted>2011-08-23T15:27:31Z</cp:lastPrinted>
  <dcterms:created xsi:type="dcterms:W3CDTF">2011-08-13T19:09:36Z</dcterms:created>
  <dcterms:modified xsi:type="dcterms:W3CDTF">2025-11-05T10:52:35Z</dcterms:modified>
</cp:coreProperties>
</file>