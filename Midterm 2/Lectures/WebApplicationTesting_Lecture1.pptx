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300" r:id="rId4"/>
    <p:sldId id="311" r:id="rId5"/>
    <p:sldId id="260" r:id="rId6"/>
    <p:sldId id="313" r:id="rId7"/>
    <p:sldId id="342" r:id="rId8"/>
    <p:sldId id="294" r:id="rId9"/>
    <p:sldId id="312" r:id="rId10"/>
    <p:sldId id="318" r:id="rId11"/>
    <p:sldId id="340" r:id="rId12"/>
    <p:sldId id="34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270" y="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8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C3001-6A9D-4150-8590-7459DC59C045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66400D-2D03-4833-99F5-936625AFF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472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>
              <a:defRPr sz="19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02756" indent="-270291" defTabSz="914485">
              <a:defRPr sz="19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081164" indent="-216233" defTabSz="914485">
              <a:defRPr sz="19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513629" indent="-216233" defTabSz="914485">
              <a:defRPr sz="19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946095" indent="-216233" defTabSz="914485">
              <a:defRPr sz="19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39BA71CF-2453-4197-81A4-7876A7E81256}" type="slidenum">
              <a:rPr lang="en-US" sz="1000" b="0">
                <a:solidFill>
                  <a:schemeClr val="tx1"/>
                </a:solidFill>
              </a:rPr>
              <a:pPr/>
              <a:t>10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8471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4878-D5C9-4C11-A39F-5E3698BF8611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73A41-40E7-42EE-9400-EE871C7B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137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4878-D5C9-4C11-A39F-5E3698BF8611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73A41-40E7-42EE-9400-EE871C7B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002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4878-D5C9-4C11-A39F-5E3698BF8611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73A41-40E7-42EE-9400-EE871C7B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84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4878-D5C9-4C11-A39F-5E3698BF8611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73A41-40E7-42EE-9400-EE871C7B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452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4878-D5C9-4C11-A39F-5E3698BF8611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73A41-40E7-42EE-9400-EE871C7B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923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4878-D5C9-4C11-A39F-5E3698BF8611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73A41-40E7-42EE-9400-EE871C7B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257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4878-D5C9-4C11-A39F-5E3698BF8611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73A41-40E7-42EE-9400-EE871C7B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841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4878-D5C9-4C11-A39F-5E3698BF8611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73A41-40E7-42EE-9400-EE871C7B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412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4878-D5C9-4C11-A39F-5E3698BF8611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73A41-40E7-42EE-9400-EE871C7B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073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4878-D5C9-4C11-A39F-5E3698BF8611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73A41-40E7-42EE-9400-EE871C7B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945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4878-D5C9-4C11-A39F-5E3698BF8611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73A41-40E7-42EE-9400-EE871C7B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658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C4878-D5C9-4C11-A39F-5E3698BF8611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173A41-40E7-42EE-9400-EE871C7B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359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smodi.com/files/SOA_Web2_Report.pdf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>
                <a:solidFill>
                  <a:srgbClr val="000099"/>
                </a:solidFill>
              </a:rPr>
              <a:t>CSE 464 </a:t>
            </a:r>
            <a:r>
              <a:rPr lang="en-US" b="1" dirty="0">
                <a:solidFill>
                  <a:srgbClr val="000099"/>
                </a:solidFill>
              </a:rPr>
              <a:t>: Software Quality Assurance and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" y="3657600"/>
            <a:ext cx="8915400" cy="12192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6600"/>
                </a:solidFill>
              </a:rPr>
              <a:t>Testing Web Application / Distributed Software - I</a:t>
            </a:r>
            <a:endParaRPr lang="en-US" dirty="0"/>
          </a:p>
          <a:p>
            <a:r>
              <a:rPr lang="en-US" b="1" dirty="0" err="1">
                <a:solidFill>
                  <a:srgbClr val="000099"/>
                </a:solidFill>
              </a:rPr>
              <a:t>Janaka</a:t>
            </a:r>
            <a:r>
              <a:rPr lang="en-US" b="1" dirty="0">
                <a:solidFill>
                  <a:srgbClr val="000099"/>
                </a:solidFill>
              </a:rPr>
              <a:t> </a:t>
            </a:r>
            <a:r>
              <a:rPr lang="en-US" b="1" dirty="0" err="1">
                <a:solidFill>
                  <a:srgbClr val="000099"/>
                </a:solidFill>
              </a:rPr>
              <a:t>Balasooriya</a:t>
            </a:r>
            <a:endParaRPr lang="en-US" b="1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696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2964" y="228600"/>
            <a:ext cx="8686800" cy="6397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Testing Distributed /Web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1719" y="838200"/>
            <a:ext cx="83820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 this series of lectures we will try to understand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What is a distributed software?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Different types of web applications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2400" dirty="0"/>
              <a:t>Client-Server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2400" dirty="0"/>
              <a:t>Service Oriented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2400" dirty="0"/>
              <a:t>Cloud Applications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Web application vs. Traditional Software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Testing web applications : A Bigger Picture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Test Automation  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2400" dirty="0"/>
              <a:t>Selenium as a Test Automation Tool for Web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Gray box testing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2400" dirty="0"/>
              <a:t>Gray box testing in Web Applications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Software Architectures for Web Applications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Challenges in Web application testing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3200" dirty="0"/>
          </a:p>
          <a:p>
            <a:pPr marL="285750" indent="-285750">
              <a:buFont typeface="Arial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37816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E1D81B-A73D-4393-8BA8-E890E822373A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762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Distributed Computing Introduction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914400"/>
            <a:ext cx="7772400" cy="762000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US"/>
          </a:p>
          <a:p>
            <a:pPr eaLnBrk="1" hangingPunct="1"/>
            <a:endParaRPr lang="en-US"/>
          </a:p>
        </p:txBody>
      </p:sp>
      <p:sp>
        <p:nvSpPr>
          <p:cNvPr id="5125" name="Text Box 4"/>
          <p:cNvSpPr txBox="1">
            <a:spLocks noChangeArrowheads="1"/>
          </p:cNvSpPr>
          <p:nvPr/>
        </p:nvSpPr>
        <p:spPr bwMode="auto">
          <a:xfrm>
            <a:off x="4572000" y="1752600"/>
            <a:ext cx="4114800" cy="3554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dirty="0">
                <a:latin typeface="Comic Sans MS" pitchFamily="66" charset="0"/>
              </a:rPr>
              <a:t> Any information system has  requesters and service providers. 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dirty="0">
                <a:latin typeface="Comic Sans MS" pitchFamily="66" charset="0"/>
              </a:rPr>
              <a:t> In general, information systems are designed around three layers: presentation layer, application layer, resource management layer.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dirty="0">
                <a:latin typeface="Comic Sans MS" pitchFamily="66" charset="0"/>
              </a:rPr>
              <a:t> The way these layers are arranged between service provider and the service requester determine if it is 1-tier, 2-tier,3-tier or n-tier. </a:t>
            </a:r>
          </a:p>
          <a:p>
            <a:pPr eaLnBrk="1" hangingPunct="1">
              <a:spcBef>
                <a:spcPct val="50000"/>
              </a:spcBef>
            </a:pPr>
            <a:r>
              <a:rPr lang="en-US" dirty="0">
                <a:latin typeface="Comic Sans MS" pitchFamily="66" charset="0"/>
              </a:rPr>
              <a:t> </a:t>
            </a: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228600" y="1066800"/>
            <a:ext cx="6858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buClr>
                <a:srgbClr val="FF9900"/>
              </a:buClr>
              <a:buFont typeface="Wingdings" pitchFamily="2" charset="2"/>
              <a:buChar char="q"/>
              <a:defRPr/>
            </a:pPr>
            <a:r>
              <a:rPr 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cs typeface="+mn-cs"/>
              </a:rPr>
              <a:t>Distributed Information Systems</a:t>
            </a:r>
          </a:p>
        </p:txBody>
      </p:sp>
      <p:grpSp>
        <p:nvGrpSpPr>
          <p:cNvPr id="5127" name="Group 6"/>
          <p:cNvGrpSpPr>
            <a:grpSpLocks/>
          </p:cNvGrpSpPr>
          <p:nvPr/>
        </p:nvGrpSpPr>
        <p:grpSpPr bwMode="auto">
          <a:xfrm>
            <a:off x="1219200" y="2209800"/>
            <a:ext cx="2971800" cy="3454400"/>
            <a:chOff x="768" y="1392"/>
            <a:chExt cx="1872" cy="2176"/>
          </a:xfrm>
        </p:grpSpPr>
        <p:sp>
          <p:nvSpPr>
            <p:cNvPr id="5128" name="AutoShape 7"/>
            <p:cNvSpPr>
              <a:spLocks noChangeArrowheads="1"/>
            </p:cNvSpPr>
            <p:nvPr/>
          </p:nvSpPr>
          <p:spPr bwMode="auto">
            <a:xfrm>
              <a:off x="1344" y="1392"/>
              <a:ext cx="720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5129" name="AutoShape 8"/>
            <p:cNvSpPr>
              <a:spLocks noChangeArrowheads="1"/>
            </p:cNvSpPr>
            <p:nvPr/>
          </p:nvSpPr>
          <p:spPr bwMode="auto">
            <a:xfrm>
              <a:off x="1280" y="3328"/>
              <a:ext cx="768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5130" name="Rectangle 9"/>
            <p:cNvSpPr>
              <a:spLocks noChangeArrowheads="1"/>
            </p:cNvSpPr>
            <p:nvPr/>
          </p:nvSpPr>
          <p:spPr bwMode="auto">
            <a:xfrm>
              <a:off x="1056" y="2064"/>
              <a:ext cx="129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5131" name="Rectangle 10"/>
            <p:cNvSpPr>
              <a:spLocks noChangeArrowheads="1"/>
            </p:cNvSpPr>
            <p:nvPr/>
          </p:nvSpPr>
          <p:spPr bwMode="auto">
            <a:xfrm>
              <a:off x="1056" y="2400"/>
              <a:ext cx="129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5132" name="Rectangle 11"/>
            <p:cNvSpPr>
              <a:spLocks noChangeArrowheads="1"/>
            </p:cNvSpPr>
            <p:nvPr/>
          </p:nvSpPr>
          <p:spPr bwMode="auto">
            <a:xfrm>
              <a:off x="1056" y="2736"/>
              <a:ext cx="129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5133" name="AutoShape 12"/>
            <p:cNvSpPr>
              <a:spLocks noChangeArrowheads="1"/>
            </p:cNvSpPr>
            <p:nvPr/>
          </p:nvSpPr>
          <p:spPr bwMode="auto">
            <a:xfrm>
              <a:off x="1584" y="3072"/>
              <a:ext cx="192" cy="240"/>
            </a:xfrm>
            <a:prstGeom prst="up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5134" name="AutoShape 13"/>
            <p:cNvSpPr>
              <a:spLocks noChangeArrowheads="1"/>
            </p:cNvSpPr>
            <p:nvPr/>
          </p:nvSpPr>
          <p:spPr bwMode="auto">
            <a:xfrm>
              <a:off x="1584" y="1680"/>
              <a:ext cx="192" cy="240"/>
            </a:xfrm>
            <a:prstGeom prst="up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5135" name="AutoShape 14"/>
            <p:cNvSpPr>
              <a:spLocks noChangeArrowheads="1"/>
            </p:cNvSpPr>
            <p:nvPr/>
          </p:nvSpPr>
          <p:spPr bwMode="auto">
            <a:xfrm>
              <a:off x="1584" y="2592"/>
              <a:ext cx="144" cy="144"/>
            </a:xfrm>
            <a:prstGeom prst="upDownArrow">
              <a:avLst>
                <a:gd name="adj1" fmla="val 50000"/>
                <a:gd name="adj2" fmla="val 2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5136" name="AutoShape 15"/>
            <p:cNvSpPr>
              <a:spLocks noChangeArrowheads="1"/>
            </p:cNvSpPr>
            <p:nvPr/>
          </p:nvSpPr>
          <p:spPr bwMode="auto">
            <a:xfrm>
              <a:off x="1584" y="2256"/>
              <a:ext cx="144" cy="144"/>
            </a:xfrm>
            <a:prstGeom prst="upDownArrow">
              <a:avLst>
                <a:gd name="adj1" fmla="val 50000"/>
                <a:gd name="adj2" fmla="val 2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5137" name="AutoShape 16"/>
            <p:cNvSpPr>
              <a:spLocks noChangeArrowheads="1"/>
            </p:cNvSpPr>
            <p:nvPr/>
          </p:nvSpPr>
          <p:spPr bwMode="auto">
            <a:xfrm>
              <a:off x="768" y="1920"/>
              <a:ext cx="1872" cy="1152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5138" name="Text Box 17"/>
            <p:cNvSpPr txBox="1">
              <a:spLocks noChangeArrowheads="1"/>
            </p:cNvSpPr>
            <p:nvPr/>
          </p:nvSpPr>
          <p:spPr bwMode="auto">
            <a:xfrm rot="-5394195">
              <a:off x="330" y="2334"/>
              <a:ext cx="11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400">
                  <a:latin typeface="Calibri" pitchFamily="34" charset="0"/>
                </a:rPr>
                <a:t>Information system</a:t>
              </a:r>
            </a:p>
          </p:txBody>
        </p:sp>
        <p:sp>
          <p:nvSpPr>
            <p:cNvPr id="5139" name="Text Box 18"/>
            <p:cNvSpPr txBox="1">
              <a:spLocks noChangeArrowheads="1"/>
            </p:cNvSpPr>
            <p:nvPr/>
          </p:nvSpPr>
          <p:spPr bwMode="auto">
            <a:xfrm>
              <a:off x="1036" y="2044"/>
              <a:ext cx="129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sz="1600">
                <a:latin typeface="Calibri" pitchFamily="34" charset="0"/>
              </a:endParaRPr>
            </a:p>
          </p:txBody>
        </p:sp>
        <p:sp>
          <p:nvSpPr>
            <p:cNvPr id="5140" name="Text Box 19"/>
            <p:cNvSpPr txBox="1">
              <a:spLocks noChangeArrowheads="1"/>
            </p:cNvSpPr>
            <p:nvPr/>
          </p:nvSpPr>
          <p:spPr bwMode="auto">
            <a:xfrm>
              <a:off x="1076" y="2394"/>
              <a:ext cx="129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sz="1600">
                <a:latin typeface="Calibri" pitchFamily="34" charset="0"/>
              </a:endParaRPr>
            </a:p>
          </p:txBody>
        </p:sp>
        <p:sp>
          <p:nvSpPr>
            <p:cNvPr id="5141" name="Text Box 20"/>
            <p:cNvSpPr txBox="1">
              <a:spLocks noChangeArrowheads="1"/>
            </p:cNvSpPr>
            <p:nvPr/>
          </p:nvSpPr>
          <p:spPr bwMode="auto">
            <a:xfrm>
              <a:off x="1130" y="2736"/>
              <a:ext cx="12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sz="1600">
                <a:latin typeface="Calibri" pitchFamily="34" charset="0"/>
              </a:endParaRPr>
            </a:p>
          </p:txBody>
        </p:sp>
        <p:sp>
          <p:nvSpPr>
            <p:cNvPr id="5142" name="Text Box 21"/>
            <p:cNvSpPr txBox="1">
              <a:spLocks noChangeArrowheads="1"/>
            </p:cNvSpPr>
            <p:nvPr/>
          </p:nvSpPr>
          <p:spPr bwMode="auto">
            <a:xfrm>
              <a:off x="1392" y="1449"/>
              <a:ext cx="62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200">
                  <a:latin typeface="Comic Sans MS" pitchFamily="66" charset="0"/>
                </a:rPr>
                <a:t>Client</a:t>
              </a:r>
            </a:p>
          </p:txBody>
        </p:sp>
        <p:sp>
          <p:nvSpPr>
            <p:cNvPr id="5143" name="Text Box 22"/>
            <p:cNvSpPr txBox="1">
              <a:spLocks noChangeArrowheads="1"/>
            </p:cNvSpPr>
            <p:nvPr/>
          </p:nvSpPr>
          <p:spPr bwMode="auto">
            <a:xfrm>
              <a:off x="912" y="2080"/>
              <a:ext cx="163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200">
                  <a:latin typeface="Comic Sans MS" pitchFamily="66" charset="0"/>
                </a:rPr>
                <a:t>presentation  layer</a:t>
              </a:r>
            </a:p>
          </p:txBody>
        </p:sp>
        <p:sp>
          <p:nvSpPr>
            <p:cNvPr id="5144" name="Text Box 23"/>
            <p:cNvSpPr txBox="1">
              <a:spLocks noChangeArrowheads="1"/>
            </p:cNvSpPr>
            <p:nvPr/>
          </p:nvSpPr>
          <p:spPr bwMode="auto">
            <a:xfrm>
              <a:off x="896" y="2752"/>
              <a:ext cx="163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200">
                  <a:latin typeface="Comic Sans MS" pitchFamily="66" charset="0"/>
                </a:rPr>
                <a:t>resource management  layer</a:t>
              </a:r>
            </a:p>
          </p:txBody>
        </p:sp>
        <p:sp>
          <p:nvSpPr>
            <p:cNvPr id="5145" name="Text Box 24"/>
            <p:cNvSpPr txBox="1">
              <a:spLocks noChangeArrowheads="1"/>
            </p:cNvSpPr>
            <p:nvPr/>
          </p:nvSpPr>
          <p:spPr bwMode="auto">
            <a:xfrm>
              <a:off x="880" y="2416"/>
              <a:ext cx="163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200">
                  <a:latin typeface="Comic Sans MS" pitchFamily="66" charset="0"/>
                </a:rPr>
                <a:t>application logic  layer</a:t>
              </a:r>
            </a:p>
          </p:txBody>
        </p:sp>
        <p:sp>
          <p:nvSpPr>
            <p:cNvPr id="5146" name="Text Box 25"/>
            <p:cNvSpPr txBox="1">
              <a:spLocks noChangeArrowheads="1"/>
            </p:cNvSpPr>
            <p:nvPr/>
          </p:nvSpPr>
          <p:spPr bwMode="auto">
            <a:xfrm>
              <a:off x="928" y="3360"/>
              <a:ext cx="148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200">
                  <a:latin typeface="Comic Sans MS" pitchFamily="66" charset="0"/>
                </a:rPr>
                <a:t>service provider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191987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1456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Evolution of Web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771344"/>
            <a:ext cx="6324600" cy="51506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743200" y="6368534"/>
            <a:ext cx="3214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Web 2.0 =&gt; web of applications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57400" y="5921980"/>
            <a:ext cx="60336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http://www.gsmodi.com/files/SOA_Web2_Report.pdf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154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/>
              <a:t>Web Application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Client server architecture</a:t>
            </a:r>
          </a:p>
          <a:p>
            <a:r>
              <a:rPr lang="en-US" sz="4000" dirty="0"/>
              <a:t>SOA architecture</a:t>
            </a:r>
          </a:p>
          <a:p>
            <a:r>
              <a:rPr lang="en-US" sz="4000" dirty="0"/>
              <a:t>Cloud computing</a:t>
            </a:r>
          </a:p>
          <a:p>
            <a:pPr marL="0" indent="0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208039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95600"/>
            <a:ext cx="8229600" cy="1143000"/>
          </a:xfrm>
        </p:spPr>
        <p:txBody>
          <a:bodyPr/>
          <a:lstStyle/>
          <a:p>
            <a:r>
              <a:rPr lang="en-US" dirty="0"/>
              <a:t>Client Server Applications</a:t>
            </a:r>
          </a:p>
        </p:txBody>
      </p:sp>
    </p:spTree>
    <p:extLst>
      <p:ext uri="{BB962C8B-B14F-4D97-AF65-F5344CB8AC3E}">
        <p14:creationId xmlns:p14="http://schemas.microsoft.com/office/powerpoint/2010/main" val="794890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8" y="10438"/>
            <a:ext cx="9125211" cy="623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494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43779" y="152400"/>
            <a:ext cx="8229600" cy="914400"/>
          </a:xfrm>
        </p:spPr>
        <p:txBody>
          <a:bodyPr/>
          <a:lstStyle/>
          <a:p>
            <a:pPr eaLnBrk="1" hangingPunct="1"/>
            <a:r>
              <a:rPr lang="en-US" dirty="0"/>
              <a:t>A Typical  3-tier Web Application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767549" y="1715611"/>
            <a:ext cx="7427651" cy="2294878"/>
            <a:chOff x="1108969" y="1667522"/>
            <a:chExt cx="7427651" cy="2294878"/>
          </a:xfrm>
        </p:grpSpPr>
        <p:sp>
          <p:nvSpPr>
            <p:cNvPr id="2" name="Rectangle 1"/>
            <p:cNvSpPr/>
            <p:nvPr/>
          </p:nvSpPr>
          <p:spPr>
            <a:xfrm>
              <a:off x="1108969" y="2209800"/>
              <a:ext cx="1295400" cy="9906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Client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3657600" y="1667522"/>
              <a:ext cx="3505200" cy="229487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833674" y="2023554"/>
              <a:ext cx="1676400" cy="143929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Server Scripts – Receives/responds to user calls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943600" y="2187606"/>
              <a:ext cx="1028700" cy="11248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Data Management Modules</a:t>
              </a:r>
            </a:p>
            <a:p>
              <a:pPr algn="ctr"/>
              <a:endParaRPr lang="en-US" dirty="0"/>
            </a:p>
          </p:txBody>
        </p:sp>
        <p:sp>
          <p:nvSpPr>
            <p:cNvPr id="3" name="Flowchart: Magnetic Disk 2"/>
            <p:cNvSpPr/>
            <p:nvPr/>
          </p:nvSpPr>
          <p:spPr>
            <a:xfrm>
              <a:off x="7850820" y="2301166"/>
              <a:ext cx="685800" cy="838200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Arrow 6"/>
            <p:cNvSpPr/>
            <p:nvPr/>
          </p:nvSpPr>
          <p:spPr>
            <a:xfrm>
              <a:off x="2514600" y="2382175"/>
              <a:ext cx="978408" cy="152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7095108" y="2518299"/>
              <a:ext cx="723900" cy="152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ight Arrow 10"/>
            <p:cNvSpPr/>
            <p:nvPr/>
          </p:nvSpPr>
          <p:spPr>
            <a:xfrm>
              <a:off x="5546324" y="2382175"/>
              <a:ext cx="397276" cy="152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ight Arrow 12"/>
            <p:cNvSpPr/>
            <p:nvPr/>
          </p:nvSpPr>
          <p:spPr>
            <a:xfrm rot="10800000">
              <a:off x="5525609" y="2863051"/>
              <a:ext cx="417991" cy="152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ight Arrow 13"/>
            <p:cNvSpPr/>
            <p:nvPr/>
          </p:nvSpPr>
          <p:spPr>
            <a:xfrm rot="10800000">
              <a:off x="2514600" y="2895600"/>
              <a:ext cx="978408" cy="152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ight Arrow 14"/>
            <p:cNvSpPr/>
            <p:nvPr/>
          </p:nvSpPr>
          <p:spPr>
            <a:xfrm rot="10800000">
              <a:off x="7086230" y="2786850"/>
              <a:ext cx="723900" cy="152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47480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0"/>
            <a:ext cx="6934200" cy="3767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767137"/>
            <a:ext cx="5029200" cy="2709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744203"/>
            <a:ext cx="3733800" cy="2590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295400" y="6464425"/>
            <a:ext cx="7696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Reference: Testing applications on the Web, Hang Nguyen, Bob Johnson, Michael Hackett</a:t>
            </a:r>
          </a:p>
        </p:txBody>
      </p:sp>
    </p:spTree>
    <p:extLst>
      <p:ext uri="{BB962C8B-B14F-4D97-AF65-F5344CB8AC3E}">
        <p14:creationId xmlns:p14="http://schemas.microsoft.com/office/powerpoint/2010/main" val="3698224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686800" cy="914400"/>
          </a:xfrm>
        </p:spPr>
        <p:txBody>
          <a:bodyPr>
            <a:normAutofit/>
          </a:bodyPr>
          <a:lstStyle/>
          <a:p>
            <a:r>
              <a:rPr lang="en-US" sz="3600" b="1" dirty="0"/>
              <a:t>Issues in Testing a Typical Web Software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229600" cy="4525963"/>
          </a:xfrm>
        </p:spPr>
        <p:txBody>
          <a:bodyPr>
            <a:noAutofit/>
          </a:bodyPr>
          <a:lstStyle/>
          <a:p>
            <a:r>
              <a:rPr lang="en-US" sz="2400" dirty="0"/>
              <a:t>Web applications are  loosely coupled and components are distributed</a:t>
            </a:r>
          </a:p>
          <a:p>
            <a:r>
              <a:rPr lang="en-US" sz="2400" dirty="0"/>
              <a:t>Data pertaining to one application is scattered among different devices</a:t>
            </a:r>
          </a:p>
          <a:p>
            <a:r>
              <a:rPr lang="en-US" sz="2400" dirty="0"/>
              <a:t>Heterogeneity of devices, configurations and software systems </a:t>
            </a:r>
          </a:p>
          <a:p>
            <a:r>
              <a:rPr lang="en-US" sz="2400" dirty="0"/>
              <a:t>Dynamic adaptation to  local settings</a:t>
            </a:r>
          </a:p>
          <a:p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81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D52F35D1-B799-4AA7-B9EB-8DEEE7DB7A17}" type="slidenum">
              <a:rPr lang="en-US" sz="900" b="0" smtClean="0">
                <a:solidFill>
                  <a:schemeClr val="tx1"/>
                </a:solidFill>
                <a:latin typeface="Arial" pitchFamily="34" charset="0"/>
              </a:rPr>
              <a:pPr/>
              <a:t>10</a:t>
            </a:fld>
            <a:endParaRPr lang="en-US" sz="900" b="0">
              <a:solidFill>
                <a:schemeClr val="tx1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9158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5720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Testing Web Applications : A Bigger Picture</a:t>
            </a:r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33400"/>
            <a:ext cx="6781800" cy="6169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00800"/>
            <a:ext cx="5486400" cy="457200"/>
          </a:xfrm>
        </p:spPr>
        <p:txBody>
          <a:bodyPr/>
          <a:lstStyle/>
          <a:p>
            <a:r>
              <a:rPr lang="en-US" dirty="0"/>
              <a:t>These slides are designed to accompany </a:t>
            </a:r>
            <a:r>
              <a:rPr lang="en-US" i="1" dirty="0"/>
              <a:t>Software Engineering: A Practitioner’s Approach, 7/e </a:t>
            </a:r>
            <a:r>
              <a:rPr lang="en-US" dirty="0"/>
              <a:t>(McGraw-Hill 2009). Slides copyright 2009 by Roger Pressman. </a:t>
            </a:r>
          </a:p>
        </p:txBody>
      </p:sp>
    </p:spTree>
    <p:extLst>
      <p:ext uri="{BB962C8B-B14F-4D97-AF65-F5344CB8AC3E}">
        <p14:creationId xmlns:p14="http://schemas.microsoft.com/office/powerpoint/2010/main" val="369647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>
            <a:normAutofit/>
          </a:bodyPr>
          <a:lstStyle/>
          <a:p>
            <a:r>
              <a:rPr lang="en-US" sz="3600" b="1" dirty="0"/>
              <a:t>Gray-Box Testing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Gray-Box testing incorporates elements of both black-box and  glass-box (white-box) testing</a:t>
            </a:r>
          </a:p>
          <a:p>
            <a:r>
              <a:rPr lang="en-US" dirty="0"/>
              <a:t>Gray-Box testing considers</a:t>
            </a:r>
          </a:p>
          <a:p>
            <a:pPr lvl="1"/>
            <a:r>
              <a:rPr lang="en-US" dirty="0"/>
              <a:t>Testing outcome on the end user</a:t>
            </a:r>
          </a:p>
          <a:p>
            <a:pPr lvl="1"/>
            <a:r>
              <a:rPr lang="en-US" dirty="0"/>
              <a:t>System specific technical knowledge</a:t>
            </a:r>
          </a:p>
          <a:p>
            <a:pPr lvl="1"/>
            <a:r>
              <a:rPr lang="en-US" dirty="0"/>
              <a:t>Operating environment</a:t>
            </a:r>
          </a:p>
          <a:p>
            <a:pPr lvl="1"/>
            <a:r>
              <a:rPr lang="en-US" dirty="0"/>
              <a:t>Application design in the context of interoperability of system components</a:t>
            </a:r>
          </a:p>
          <a:p>
            <a:r>
              <a:rPr lang="en-US" dirty="0"/>
              <a:t>Gray-box testing is the most appropriate testing technique for web application testing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863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371</Words>
  <Application>Microsoft Office PowerPoint</Application>
  <PresentationFormat>On-screen Show (4:3)</PresentationFormat>
  <Paragraphs>61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Comic Sans MS</vt:lpstr>
      <vt:lpstr>Times New Roman</vt:lpstr>
      <vt:lpstr>Wingdings</vt:lpstr>
      <vt:lpstr>Office Theme</vt:lpstr>
      <vt:lpstr>CSE 464 : Software Quality Assurance and Testing</vt:lpstr>
      <vt:lpstr>Testing Distributed /Web Applications</vt:lpstr>
      <vt:lpstr>Distributed Computing Introduction</vt:lpstr>
      <vt:lpstr>Evolution of Web</vt:lpstr>
      <vt:lpstr>Web Application Categories</vt:lpstr>
      <vt:lpstr>Client Server Applications</vt:lpstr>
      <vt:lpstr>PowerPoint Presentation</vt:lpstr>
      <vt:lpstr>A Typical  3-tier Web Application</vt:lpstr>
      <vt:lpstr>PowerPoint Presentation</vt:lpstr>
      <vt:lpstr>Issues in Testing a Typical Web Software</vt:lpstr>
      <vt:lpstr>Testing Web Applications : A Bigger Picture</vt:lpstr>
      <vt:lpstr>Gray-Box Testing Approach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494/598 : Software Quality Assurance and Testing</dc:title>
  <dc:creator>Janaka Balasooriya</dc:creator>
  <cp:lastModifiedBy>Janaka Balasooriya</cp:lastModifiedBy>
  <cp:revision>69</cp:revision>
  <dcterms:created xsi:type="dcterms:W3CDTF">2011-11-02T17:35:01Z</dcterms:created>
  <dcterms:modified xsi:type="dcterms:W3CDTF">2022-10-31T17:23:14Z</dcterms:modified>
</cp:coreProperties>
</file>